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6" r:id="rId2"/>
  </p:sldMasterIdLst>
  <p:notesMasterIdLst>
    <p:notesMasterId r:id="rId42"/>
  </p:notesMasterIdLst>
  <p:sldIdLst>
    <p:sldId id="256" r:id="rId3"/>
    <p:sldId id="257" r:id="rId4"/>
    <p:sldId id="277" r:id="rId5"/>
    <p:sldId id="258" r:id="rId6"/>
    <p:sldId id="259" r:id="rId7"/>
    <p:sldId id="315" r:id="rId8"/>
    <p:sldId id="323" r:id="rId9"/>
    <p:sldId id="261" r:id="rId10"/>
    <p:sldId id="316" r:id="rId11"/>
    <p:sldId id="263" r:id="rId12"/>
    <p:sldId id="262" r:id="rId13"/>
    <p:sldId id="265" r:id="rId14"/>
    <p:sldId id="305" r:id="rId15"/>
    <p:sldId id="304" r:id="rId16"/>
    <p:sldId id="264" r:id="rId17"/>
    <p:sldId id="319" r:id="rId18"/>
    <p:sldId id="317" r:id="rId19"/>
    <p:sldId id="318" r:id="rId20"/>
    <p:sldId id="320" r:id="rId21"/>
    <p:sldId id="321" r:id="rId22"/>
    <p:sldId id="306" r:id="rId23"/>
    <p:sldId id="284" r:id="rId24"/>
    <p:sldId id="273" r:id="rId25"/>
    <p:sldId id="307" r:id="rId26"/>
    <p:sldId id="308" r:id="rId27"/>
    <p:sldId id="309" r:id="rId28"/>
    <p:sldId id="310" r:id="rId29"/>
    <p:sldId id="311" r:id="rId30"/>
    <p:sldId id="312" r:id="rId31"/>
    <p:sldId id="313" r:id="rId32"/>
    <p:sldId id="314" r:id="rId33"/>
    <p:sldId id="266" r:id="rId34"/>
    <p:sldId id="267" r:id="rId35"/>
    <p:sldId id="268" r:id="rId36"/>
    <p:sldId id="269" r:id="rId37"/>
    <p:sldId id="270" r:id="rId38"/>
    <p:sldId id="322" r:id="rId39"/>
    <p:sldId id="271" r:id="rId40"/>
    <p:sldId id="276" r:id="rId41"/>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104" d="100"/>
          <a:sy n="104" d="100"/>
        </p:scale>
        <p:origin x="1280" y="80"/>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notesMaster" Target="notesMasters/notesMaster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slide" Target="slides/slide29.xml"/><Relationship Id="rId44"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presProps" Target="presProp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tableStyles" Target="tableStyles.xml"/><Relationship Id="rId20" Type="http://schemas.openxmlformats.org/officeDocument/2006/relationships/slide" Target="slides/slide18.xml"/><Relationship Id="rId41"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4488"/>
          </a:xfrm>
          <a:prstGeom prst="rect">
            <a:avLst/>
          </a:prstGeom>
        </p:spPr>
        <p:txBody>
          <a:bodyPr vert="horz" lIns="91440" tIns="45720" rIns="91440" bIns="45720" rtlCol="0"/>
          <a:lstStyle>
            <a:lvl1pPr algn="l">
              <a:defRPr sz="1200"/>
            </a:lvl1pPr>
          </a:lstStyle>
          <a:p>
            <a:endParaRPr lang="en-ZA"/>
          </a:p>
        </p:txBody>
      </p:sp>
      <p:sp>
        <p:nvSpPr>
          <p:cNvPr id="3" name="Date Placeholder 2"/>
          <p:cNvSpPr>
            <a:spLocks noGrp="1"/>
          </p:cNvSpPr>
          <p:nvPr>
            <p:ph type="dt" idx="1"/>
          </p:nvPr>
        </p:nvSpPr>
        <p:spPr>
          <a:xfrm>
            <a:off x="5180013" y="0"/>
            <a:ext cx="3962400" cy="344488"/>
          </a:xfrm>
          <a:prstGeom prst="rect">
            <a:avLst/>
          </a:prstGeom>
        </p:spPr>
        <p:txBody>
          <a:bodyPr vert="horz" lIns="91440" tIns="45720" rIns="91440" bIns="45720" rtlCol="0"/>
          <a:lstStyle>
            <a:lvl1pPr algn="r">
              <a:defRPr sz="1200"/>
            </a:lvl1pPr>
          </a:lstStyle>
          <a:p>
            <a:fld id="{3F6566F9-FC2A-4E50-AE47-734F561EEBE3}" type="datetimeFigureOut">
              <a:rPr lang="en-ZA" smtClean="0"/>
              <a:t>2026/02/07</a:t>
            </a:fld>
            <a:endParaRPr lang="en-ZA"/>
          </a:p>
        </p:txBody>
      </p:sp>
      <p:sp>
        <p:nvSpPr>
          <p:cNvPr id="4" name="Slide Image Placeholder 3"/>
          <p:cNvSpPr>
            <a:spLocks noGrp="1" noRot="1" noChangeAspect="1"/>
          </p:cNvSpPr>
          <p:nvPr>
            <p:ph type="sldImg" idx="2"/>
          </p:nvPr>
        </p:nvSpPr>
        <p:spPr>
          <a:xfrm>
            <a:off x="3028950" y="857250"/>
            <a:ext cx="3086100" cy="2314575"/>
          </a:xfrm>
          <a:prstGeom prst="rect">
            <a:avLst/>
          </a:prstGeom>
          <a:noFill/>
          <a:ln w="12700">
            <a:solidFill>
              <a:prstClr val="black"/>
            </a:solidFill>
          </a:ln>
        </p:spPr>
        <p:txBody>
          <a:bodyPr vert="horz" lIns="91440" tIns="45720" rIns="91440" bIns="45720" rtlCol="0" anchor="ctr"/>
          <a:lstStyle/>
          <a:p>
            <a:endParaRPr lang="en-ZA"/>
          </a:p>
        </p:txBody>
      </p:sp>
      <p:sp>
        <p:nvSpPr>
          <p:cNvPr id="5" name="Notes Placeholder 4"/>
          <p:cNvSpPr>
            <a:spLocks noGrp="1"/>
          </p:cNvSpPr>
          <p:nvPr>
            <p:ph type="body" sz="quarter" idx="3"/>
          </p:nvPr>
        </p:nvSpPr>
        <p:spPr>
          <a:xfrm>
            <a:off x="914400" y="3300413"/>
            <a:ext cx="7315200" cy="27003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ZA"/>
          </a:p>
        </p:txBody>
      </p:sp>
      <p:sp>
        <p:nvSpPr>
          <p:cNvPr id="6" name="Footer Placeholder 5"/>
          <p:cNvSpPr>
            <a:spLocks noGrp="1"/>
          </p:cNvSpPr>
          <p:nvPr>
            <p:ph type="ftr" sz="quarter" idx="4"/>
          </p:nvPr>
        </p:nvSpPr>
        <p:spPr>
          <a:xfrm>
            <a:off x="0" y="6513513"/>
            <a:ext cx="3962400" cy="344487"/>
          </a:xfrm>
          <a:prstGeom prst="rect">
            <a:avLst/>
          </a:prstGeom>
        </p:spPr>
        <p:txBody>
          <a:bodyPr vert="horz" lIns="91440" tIns="45720" rIns="91440" bIns="45720" rtlCol="0" anchor="b"/>
          <a:lstStyle>
            <a:lvl1pPr algn="l">
              <a:defRPr sz="1200"/>
            </a:lvl1pPr>
          </a:lstStyle>
          <a:p>
            <a:endParaRPr lang="en-ZA"/>
          </a:p>
        </p:txBody>
      </p:sp>
      <p:sp>
        <p:nvSpPr>
          <p:cNvPr id="7" name="Slide Number Placeholder 6"/>
          <p:cNvSpPr>
            <a:spLocks noGrp="1"/>
          </p:cNvSpPr>
          <p:nvPr>
            <p:ph type="sldNum" sz="quarter" idx="5"/>
          </p:nvPr>
        </p:nvSpPr>
        <p:spPr>
          <a:xfrm>
            <a:off x="5180013" y="6513513"/>
            <a:ext cx="3962400" cy="344487"/>
          </a:xfrm>
          <a:prstGeom prst="rect">
            <a:avLst/>
          </a:prstGeom>
        </p:spPr>
        <p:txBody>
          <a:bodyPr vert="horz" lIns="91440" tIns="45720" rIns="91440" bIns="45720" rtlCol="0" anchor="b"/>
          <a:lstStyle>
            <a:lvl1pPr algn="r">
              <a:defRPr sz="1200"/>
            </a:lvl1pPr>
          </a:lstStyle>
          <a:p>
            <a:fld id="{A60FB5BB-BBA3-4F12-98BD-5DBB233DA0FA}" type="slidenum">
              <a:rPr lang="en-ZA" smtClean="0"/>
              <a:t>‹#›</a:t>
            </a:fld>
            <a:endParaRPr lang="en-ZA"/>
          </a:p>
        </p:txBody>
      </p:sp>
    </p:spTree>
    <p:extLst>
      <p:ext uri="{BB962C8B-B14F-4D97-AF65-F5344CB8AC3E}">
        <p14:creationId xmlns:p14="http://schemas.microsoft.com/office/powerpoint/2010/main" val="4435115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7">
            <a:extLst>
              <a:ext uri="{FF2B5EF4-FFF2-40B4-BE49-F238E27FC236}">
                <a16:creationId xmlns:a16="http://schemas.microsoft.com/office/drawing/2014/main" id="{6E2A5BBD-2FB5-768E-2C84-3CEF0651AA00}"/>
              </a:ext>
            </a:extLst>
          </p:cNvPr>
          <p:cNvSpPr>
            <a:spLocks noGrp="1" noChangeArrowheads="1"/>
          </p:cNvSpPr>
          <p:nvPr>
            <p:ph type="sldNum" sz="quarter" idx="5"/>
          </p:nvPr>
        </p:nvSpPr>
        <p:spPr>
          <a:ln/>
        </p:spPr>
        <p:txBody>
          <a:bodyPr/>
          <a:lstStyle/>
          <a:p>
            <a:fld id="{835FF90F-DEA6-4E6B-9D90-AD7A8AE829F7}" type="slidenum">
              <a:rPr lang="en-US" altLang="en-US"/>
              <a:pPr/>
              <a:t>13</a:t>
            </a:fld>
            <a:endParaRPr lang="en-US" altLang="en-US"/>
          </a:p>
        </p:txBody>
      </p:sp>
      <p:sp>
        <p:nvSpPr>
          <p:cNvPr id="157698" name="Rectangle 2">
            <a:extLst>
              <a:ext uri="{FF2B5EF4-FFF2-40B4-BE49-F238E27FC236}">
                <a16:creationId xmlns:a16="http://schemas.microsoft.com/office/drawing/2014/main" id="{C692545F-2B97-924C-C461-DEC60C479491}"/>
              </a:ext>
            </a:extLst>
          </p:cNvPr>
          <p:cNvSpPr>
            <a:spLocks noGrp="1" noRot="1" noChangeAspect="1" noChangeArrowheads="1" noTextEdit="1"/>
          </p:cNvSpPr>
          <p:nvPr>
            <p:ph type="sldImg"/>
          </p:nvPr>
        </p:nvSpPr>
        <p:spPr>
          <a:ln/>
        </p:spPr>
      </p:sp>
      <p:sp>
        <p:nvSpPr>
          <p:cNvPr id="157699" name="Rectangle 3">
            <a:extLst>
              <a:ext uri="{FF2B5EF4-FFF2-40B4-BE49-F238E27FC236}">
                <a16:creationId xmlns:a16="http://schemas.microsoft.com/office/drawing/2014/main" id="{31EB431C-E01B-F2B1-35F8-3C8E29542B0C}"/>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4" name="Rectangle 2">
            <a:extLst>
              <a:ext uri="{FF2B5EF4-FFF2-40B4-BE49-F238E27FC236}">
                <a16:creationId xmlns:a16="http://schemas.microsoft.com/office/drawing/2014/main" id="{17AC3AC9-1440-7844-0519-B1B5FA07FD97}"/>
              </a:ext>
            </a:extLst>
          </p:cNvPr>
          <p:cNvSpPr>
            <a:spLocks noGrp="1" noChangeArrowheads="1"/>
          </p:cNvSpPr>
          <p:nvPr>
            <p:ph type="body" idx="1"/>
          </p:nvPr>
        </p:nvSpPr>
        <p:spPr>
          <a:noFill/>
        </p:spPr>
        <p:txBody>
          <a:bodyPr/>
          <a:lstStyle/>
          <a:p>
            <a:r>
              <a:rPr lang="en-US" altLang="en-US">
                <a:latin typeface="Times New Roman" panose="02020603050405020304" pitchFamily="18" charset="0"/>
              </a:rPr>
              <a:t>Systems Engineering is the application of scientific and engineering methods to transform user needs into a description of the system that will fill those needs.  Software engineers need to be intimately involved in systems engineering efforts to provide software expertise and assist in evaluating design decisions.  Trade studies are performed and alternatives are evaluated to determine the most appropriate system design and allocation of system requirements to hardware and software.  A required function in a car, for example, may perform much faster if it is implemented in hardware instead of software.  However, it may be more expensive to implement in hardware.  If the car being designed is a sports car, the increase in price may be acceptable.  However, if it is a family car, the need to keep the price affordable may lead the systems designers to implement the function in software.  It is important for the hardware and software engineers to be involved in the systems engineering activities to help the systems analyst make these kinds of trade-offs.</a:t>
            </a:r>
          </a:p>
          <a:p>
            <a:r>
              <a:rPr lang="en-US" altLang="en-US">
                <a:latin typeface="Times New Roman" panose="02020603050405020304" pitchFamily="18" charset="0"/>
              </a:rPr>
              <a:t>The above process shows how a specific car model would first be conceptually defined.  Then more detailed requirements are determined and an initial design completed.  Finally the systems requirements are separated and allocated to hardware related requirements and software related requirements.  The software engineer helps determine what requirements are appropriate to implement in software.  Items such as the digital dashboard displays, engine control systems like timing, fuel injection and emission control are all controlled by software.  The software engineering process starts during the system engineering phase. </a:t>
            </a:r>
          </a:p>
          <a:p>
            <a:r>
              <a:rPr lang="en-US" altLang="en-US" sz="1100">
                <a:latin typeface="Times New Roman" panose="02020603050405020304" pitchFamily="18" charset="0"/>
              </a:rPr>
              <a:t>Note:  Circles on this chart represent processes and parallel lines represent products which can be stored and retrieved.</a:t>
            </a:r>
          </a:p>
        </p:txBody>
      </p:sp>
      <p:sp>
        <p:nvSpPr>
          <p:cNvPr id="69635" name="Rectangle 3">
            <a:extLst>
              <a:ext uri="{FF2B5EF4-FFF2-40B4-BE49-F238E27FC236}">
                <a16:creationId xmlns:a16="http://schemas.microsoft.com/office/drawing/2014/main" id="{9758B151-5980-CDBF-C4E6-6BE5E444332C}"/>
              </a:ext>
            </a:extLst>
          </p:cNvPr>
          <p:cNvSpPr>
            <a:spLocks noGrp="1" noRot="1" noChangeAspect="1" noChangeArrowheads="1" noTextEdit="1"/>
          </p:cNvSpPr>
          <p:nvPr>
            <p:ph type="sldImg"/>
          </p:nvPr>
        </p:nvSpPr>
        <p:spPr>
          <a:xfrm>
            <a:off x="1154113" y="693738"/>
            <a:ext cx="4549775" cy="3413125"/>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34D4F9E9-942B-6F28-80BD-87BDFF30D05F}"/>
              </a:ext>
            </a:extLst>
          </p:cNvPr>
          <p:cNvSpPr>
            <a:spLocks noGrp="1" noChangeArrowheads="1"/>
          </p:cNvSpPr>
          <p:nvPr>
            <p:ph type="body" idx="1"/>
          </p:nvPr>
        </p:nvSpPr>
        <p:spPr>
          <a:xfrm>
            <a:off x="914400" y="4267200"/>
            <a:ext cx="5029200" cy="4114800"/>
          </a:xfrm>
          <a:noFill/>
        </p:spPr>
        <p:txBody>
          <a:bodyPr/>
          <a:lstStyle/>
          <a:p>
            <a:r>
              <a:rPr lang="en-US" altLang="en-US">
                <a:latin typeface="Times New Roman" panose="02020603050405020304" pitchFamily="18" charset="0"/>
              </a:rPr>
              <a:t>Verification and validation (V&amp;V) is the process of determining whether the requirements for a system or component are complete and correct, the products of each development phase fulfill the requirements or conditions imposed by the previous phase, and the final system or component complies with specified requirements.</a:t>
            </a:r>
          </a:p>
          <a:p>
            <a:r>
              <a:rPr lang="en-US" altLang="en-US" dirty="0">
                <a:latin typeface="Times New Roman" panose="02020603050405020304" pitchFamily="18" charset="0"/>
              </a:rPr>
              <a:t>Validation is the process of evaluating a software component during the development process to determine whether it satisfies specified requirements.</a:t>
            </a:r>
          </a:p>
          <a:p>
            <a:r>
              <a:rPr lang="en-US" altLang="en-US" dirty="0">
                <a:latin typeface="Times New Roman" panose="02020603050405020304" pitchFamily="18" charset="0"/>
              </a:rPr>
              <a:t>Verification is the process of evaluating a software component to determine whether the product of a given development phase satisfies the conditions imposed at the start of that phase.  </a:t>
            </a:r>
          </a:p>
          <a:p>
            <a:r>
              <a:rPr lang="en-US" altLang="en-US" dirty="0">
                <a:latin typeface="Times New Roman" panose="02020603050405020304" pitchFamily="18" charset="0"/>
              </a:rPr>
              <a:t>Human beings are fallible, and they make mistakes even if they adopt the most sophisticated and thoughtful design techniques, erroneous results can never be avoided.  Consequently, the product of any engineering activity, such as our car, must be validated against its requirements throughout its development to ensure that errors are not propagated to later phases.</a:t>
            </a:r>
          </a:p>
          <a:p>
            <a:r>
              <a:rPr lang="en-US" altLang="en-US" dirty="0">
                <a:latin typeface="Times New Roman" panose="02020603050405020304" pitchFamily="18" charset="0"/>
              </a:rPr>
              <a:t>During the design and construction of our car, one must repeatedly verify the product in all its intermediate development stages.  For instance, the first blueprints of the car are verified by using suitable equations to forecast whether the car’s frame will withstand the impact of an accident at 30 mph.  Prototypes of the car are also built to further enhance confidence.  And throughout the development phases the software design, code, and test would be compared to the requirements to validate that the car is being built as initially specified.  For instance, can the car do 0 to 60 mph in the specified 10 seconds.</a:t>
            </a:r>
          </a:p>
          <a:p>
            <a:endParaRPr lang="en-US" altLang="en-US" dirty="0">
              <a:latin typeface="Times New Roman" panose="02020603050405020304" pitchFamily="18" charset="0"/>
            </a:endParaRPr>
          </a:p>
          <a:p>
            <a:endParaRPr lang="en-US" altLang="en-US" dirty="0">
              <a:latin typeface="Times New Roman" panose="02020603050405020304" pitchFamily="18" charset="0"/>
            </a:endParaRPr>
          </a:p>
        </p:txBody>
      </p:sp>
      <p:sp>
        <p:nvSpPr>
          <p:cNvPr id="82947" name="Rectangle 3">
            <a:extLst>
              <a:ext uri="{FF2B5EF4-FFF2-40B4-BE49-F238E27FC236}">
                <a16:creationId xmlns:a16="http://schemas.microsoft.com/office/drawing/2014/main" id="{76A898B0-99EC-C7BF-8625-2D42CBC954CB}"/>
              </a:ext>
            </a:extLst>
          </p:cNvPr>
          <p:cNvSpPr>
            <a:spLocks noGrp="1" noRot="1" noChangeAspect="1" noChangeArrowheads="1" noTextEdit="1"/>
          </p:cNvSpPr>
          <p:nvPr>
            <p:ph type="sldImg"/>
          </p:nvPr>
        </p:nvSpPr>
        <p:spPr>
          <a:xfrm>
            <a:off x="1154113" y="693738"/>
            <a:ext cx="4549775" cy="3413125"/>
          </a:xfrm>
          <a:ln cap="flat"/>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189E96FC-61C1-456B-7860-7DE8133AA0A8}"/>
              </a:ext>
            </a:extLst>
          </p:cNvPr>
          <p:cNvSpPr>
            <a:spLocks noGrp="1" noChangeArrowheads="1"/>
          </p:cNvSpPr>
          <p:nvPr>
            <p:ph type="body" idx="1"/>
          </p:nvPr>
        </p:nvSpPr>
        <p:spPr>
          <a:noFill/>
        </p:spPr>
        <p:txBody>
          <a:bodyPr/>
          <a:lstStyle/>
          <a:p>
            <a:r>
              <a:rPr lang="en-US" altLang="en-US">
                <a:latin typeface="Times New Roman" panose="02020603050405020304" pitchFamily="18" charset="0"/>
              </a:rPr>
              <a:t>This list shows a small subset of questions asked during the Formal Inspection of the software requirements document.</a:t>
            </a:r>
          </a:p>
        </p:txBody>
      </p:sp>
      <p:sp>
        <p:nvSpPr>
          <p:cNvPr id="71683" name="Rectangle 3">
            <a:extLst>
              <a:ext uri="{FF2B5EF4-FFF2-40B4-BE49-F238E27FC236}">
                <a16:creationId xmlns:a16="http://schemas.microsoft.com/office/drawing/2014/main" id="{5580A0E0-9D4D-B6E7-0059-C8FA345DA663}"/>
              </a:ext>
            </a:extLst>
          </p:cNvPr>
          <p:cNvSpPr>
            <a:spLocks noGrp="1" noRot="1" noChangeAspect="1" noChangeArrowheads="1" noTextEdit="1"/>
          </p:cNvSpPr>
          <p:nvPr>
            <p:ph type="sldImg"/>
          </p:nvPr>
        </p:nvSpPr>
        <p:spPr>
          <a:xfrm>
            <a:off x="1168400" y="650875"/>
            <a:ext cx="4549775" cy="3413125"/>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p:txBody>
          <a:bodyPr lIns="0" tIns="0" rIns="0" bIns="0"/>
          <a:lstStyle>
            <a:lvl1pPr>
              <a:defRPr sz="1400" b="0" i="0">
                <a:solidFill>
                  <a:schemeClr val="tx1"/>
                </a:solidFill>
                <a:latin typeface="Arial"/>
                <a:cs typeface="Aria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400" b="0" i="0">
                <a:solidFill>
                  <a:schemeClr val="tx1"/>
                </a:solidFill>
                <a:latin typeface="Calibri"/>
                <a:cs typeface="Calibri"/>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2" cstate="print"/>
          <a:stretch>
            <a:fillRect/>
          </a:stretch>
        </p:blipFill>
        <p:spPr>
          <a:xfrm>
            <a:off x="1523" y="0"/>
            <a:ext cx="9142463" cy="6857999"/>
          </a:xfrm>
          <a:prstGeom prst="rect">
            <a:avLst/>
          </a:prstGeom>
        </p:spPr>
      </p:pic>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371600" y="3840480"/>
            <a:ext cx="64008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6428310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body" idx="1"/>
          </p:nvPr>
        </p:nvSpPr>
        <p:spPr/>
        <p:txBody>
          <a:bodyPr lIns="0" tIns="0" rIns="0" bIns="0"/>
          <a:lstStyle>
            <a:lvl1pPr>
              <a:defRPr/>
            </a:lvl1pPr>
          </a:lstStyle>
          <a:p>
            <a:endParaRPr/>
          </a:p>
        </p:txBody>
      </p:sp>
      <p:sp>
        <p:nvSpPr>
          <p:cNvPr id="4" name="Holder 4"/>
          <p:cNvSpPr>
            <a:spLocks noGrp="1"/>
          </p:cNvSpPr>
          <p:nvPr>
            <p:ph type="ftr" sz="quarter" idx="5"/>
          </p:nvPr>
        </p:nvSpPr>
        <p:spPr/>
        <p:txBody>
          <a:bodyPr lIns="0" tIns="0" rIns="0" bIns="0"/>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86892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sz="half" idx="2"/>
          </p:nvPr>
        </p:nvSpPr>
        <p:spPr>
          <a:xfrm>
            <a:off x="457200" y="1577340"/>
            <a:ext cx="397764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276999"/>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18670320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a:lvl1pPr>
          </a:lstStyle>
          <a:p>
            <a:endParaRPr/>
          </a:p>
        </p:txBody>
      </p:sp>
      <p:sp>
        <p:nvSpPr>
          <p:cNvPr id="3" name="Holder 3"/>
          <p:cNvSpPr>
            <a:spLocks noGrp="1"/>
          </p:cNvSpPr>
          <p:nvPr>
            <p:ph type="ftr" sz="quarter" idx="5"/>
          </p:nvPr>
        </p:nvSpPr>
        <p:spPr/>
        <p:txBody>
          <a:bodyPr lIns="0" tIns="0" rIns="0" bIns="0"/>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7690545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2/7/2026</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3234178723"/>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image" Target="../media/image1.jp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8.xml"/><Relationship Id="rId7" Type="http://schemas.openxmlformats.org/officeDocument/2006/relationships/image" Target="../media/image3.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5" Type="http://schemas.openxmlformats.org/officeDocument/2006/relationships/slideLayout" Target="../slideLayouts/slideLayout10.xml"/><Relationship Id="rId4"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1523" y="160735"/>
            <a:ext cx="9140951" cy="6697264"/>
          </a:xfrm>
          <a:prstGeom prst="rect">
            <a:avLst/>
          </a:prstGeom>
        </p:spPr>
      </p:pic>
      <p:sp>
        <p:nvSpPr>
          <p:cNvPr id="2" name="Holder 2"/>
          <p:cNvSpPr>
            <a:spLocks noGrp="1"/>
          </p:cNvSpPr>
          <p:nvPr>
            <p:ph type="title"/>
          </p:nvPr>
        </p:nvSpPr>
        <p:spPr>
          <a:xfrm>
            <a:off x="1048988" y="271843"/>
            <a:ext cx="7046023" cy="695960"/>
          </a:xfrm>
          <a:prstGeom prst="rect">
            <a:avLst/>
          </a:prstGeom>
        </p:spPr>
        <p:txBody>
          <a:bodyPr wrap="square" lIns="0" tIns="0" rIns="0" bIns="0">
            <a:spAutoFit/>
          </a:bodyPr>
          <a:lstStyle>
            <a:lvl1pPr>
              <a:defRPr sz="4400" b="0" i="0">
                <a:solidFill>
                  <a:schemeClr val="tx1"/>
                </a:solidFill>
                <a:latin typeface="Calibri"/>
                <a:cs typeface="Calibri"/>
              </a:defRPr>
            </a:lvl1pPr>
          </a:lstStyle>
          <a:p>
            <a:endParaRPr/>
          </a:p>
        </p:txBody>
      </p:sp>
      <p:sp>
        <p:nvSpPr>
          <p:cNvPr id="3" name="Holder 3"/>
          <p:cNvSpPr>
            <a:spLocks noGrp="1"/>
          </p:cNvSpPr>
          <p:nvPr>
            <p:ph type="body" idx="1"/>
          </p:nvPr>
        </p:nvSpPr>
        <p:spPr>
          <a:xfrm>
            <a:off x="2394160" y="2861354"/>
            <a:ext cx="4355678" cy="1542414"/>
          </a:xfrm>
          <a:prstGeom prst="rect">
            <a:avLst/>
          </a:prstGeom>
        </p:spPr>
        <p:txBody>
          <a:bodyPr wrap="square" lIns="0" tIns="0" rIns="0" bIns="0">
            <a:spAutoFit/>
          </a:bodyPr>
          <a:lstStyle>
            <a:lvl1pPr>
              <a:defRPr sz="1400" b="0" i="0">
                <a:solidFill>
                  <a:schemeClr val="tx1"/>
                </a:solidFill>
                <a:latin typeface="Arial"/>
                <a:cs typeface="Arial"/>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a:xfrm>
            <a:off x="6583680" y="6377940"/>
            <a:ext cx="2103120" cy="34290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6" name="bg object 16"/>
          <p:cNvPicPr/>
          <p:nvPr/>
        </p:nvPicPr>
        <p:blipFill>
          <a:blip r:embed="rId7" cstate="print"/>
          <a:stretch>
            <a:fillRect/>
          </a:stretch>
        </p:blipFill>
        <p:spPr>
          <a:xfrm>
            <a:off x="6725227" y="274544"/>
            <a:ext cx="1714500" cy="302559"/>
          </a:xfrm>
          <a:prstGeom prst="rect">
            <a:avLst/>
          </a:prstGeom>
        </p:spPr>
      </p:pic>
      <p:sp>
        <p:nvSpPr>
          <p:cNvPr id="2" name="Holder 2"/>
          <p:cNvSpPr>
            <a:spLocks noGrp="1"/>
          </p:cNvSpPr>
          <p:nvPr>
            <p:ph type="title"/>
          </p:nvPr>
        </p:nvSpPr>
        <p:spPr>
          <a:xfrm>
            <a:off x="457200" y="274320"/>
            <a:ext cx="8229600" cy="276999"/>
          </a:xfrm>
          <a:prstGeom prst="rect">
            <a:avLst/>
          </a:prstGeom>
        </p:spPr>
        <p:txBody>
          <a:bodyPr wrap="square" lIns="0" tIns="0" rIns="0" bIns="0">
            <a:spAutoFit/>
          </a:bodyPr>
          <a:lstStyle>
            <a:lvl1pPr>
              <a:defRPr/>
            </a:lvl1pPr>
          </a:lstStyle>
          <a:p>
            <a:endParaRPr/>
          </a:p>
        </p:txBody>
      </p:sp>
      <p:sp>
        <p:nvSpPr>
          <p:cNvPr id="3" name="Holder 3"/>
          <p:cNvSpPr>
            <a:spLocks noGrp="1"/>
          </p:cNvSpPr>
          <p:nvPr>
            <p:ph type="body" idx="1"/>
          </p:nvPr>
        </p:nvSpPr>
        <p:spPr>
          <a:xfrm>
            <a:off x="457200" y="1577340"/>
            <a:ext cx="8229600" cy="276999"/>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a:xfrm>
            <a:off x="848821" y="6332732"/>
            <a:ext cx="4914900" cy="149400"/>
          </a:xfrm>
          <a:prstGeom prst="rect">
            <a:avLst/>
          </a:prstGeom>
        </p:spPr>
        <p:txBody>
          <a:bodyPr wrap="square" lIns="0" tIns="0" rIns="0" bIns="0">
            <a:spAutoFit/>
          </a:bodyPr>
          <a:lstStyle>
            <a:lvl1pPr>
              <a:defRPr sz="971" b="0" i="0">
                <a:solidFill>
                  <a:schemeClr val="tx1"/>
                </a:solidFill>
                <a:latin typeface="Arial"/>
                <a:cs typeface="Arial"/>
              </a:defRPr>
            </a:lvl1pPr>
          </a:lstStyle>
          <a:p>
            <a:pPr marL="11206"/>
            <a:r>
              <a:rPr lang="en-US" spc="-53"/>
              <a:t>(©A.</a:t>
            </a:r>
            <a:r>
              <a:rPr lang="en-US" spc="13"/>
              <a:t> </a:t>
            </a:r>
            <a:r>
              <a:rPr lang="en-US" spc="-106"/>
              <a:t>Ramos,</a:t>
            </a:r>
            <a:r>
              <a:rPr lang="en-US" spc="-9"/>
              <a:t> </a:t>
            </a:r>
            <a:r>
              <a:rPr lang="en-US" spc="-62"/>
              <a:t>August</a:t>
            </a:r>
            <a:r>
              <a:rPr lang="en-US" spc="31"/>
              <a:t> </a:t>
            </a:r>
            <a:r>
              <a:rPr lang="en-US" spc="-71"/>
              <a:t>2014,</a:t>
            </a:r>
            <a:r>
              <a:rPr lang="en-US" spc="-62"/>
              <a:t> </a:t>
            </a:r>
            <a:r>
              <a:rPr lang="en-US" spc="-88"/>
              <a:t>June</a:t>
            </a:r>
            <a:r>
              <a:rPr lang="en-US" spc="-35"/>
              <a:t> </a:t>
            </a:r>
            <a:r>
              <a:rPr lang="en-US" spc="-62"/>
              <a:t>2016,</a:t>
            </a:r>
            <a:r>
              <a:rPr lang="en-US" spc="-44"/>
              <a:t> </a:t>
            </a:r>
            <a:r>
              <a:rPr lang="en-US" spc="-62"/>
              <a:t>August</a:t>
            </a:r>
            <a:r>
              <a:rPr lang="en-US" spc="22"/>
              <a:t> </a:t>
            </a:r>
            <a:r>
              <a:rPr lang="en-US" spc="-57"/>
              <a:t>2018,</a:t>
            </a:r>
            <a:r>
              <a:rPr lang="en-US" spc="13"/>
              <a:t> </a:t>
            </a:r>
            <a:r>
              <a:rPr lang="en-US" spc="-101"/>
              <a:t>Dec</a:t>
            </a:r>
            <a:r>
              <a:rPr lang="en-US" spc="-26"/>
              <a:t> </a:t>
            </a:r>
            <a:r>
              <a:rPr lang="en-US" spc="-66"/>
              <a:t>2018.</a:t>
            </a:r>
            <a:r>
              <a:rPr lang="en-US" spc="-44"/>
              <a:t> </a:t>
            </a:r>
            <a:r>
              <a:rPr lang="en-US" spc="-9"/>
              <a:t>All</a:t>
            </a:r>
            <a:r>
              <a:rPr lang="en-US" spc="-66"/>
              <a:t> </a:t>
            </a:r>
            <a:r>
              <a:rPr lang="en-US" spc="-31"/>
              <a:t>rights</a:t>
            </a:r>
            <a:r>
              <a:rPr lang="en-US" spc="9"/>
              <a:t> </a:t>
            </a:r>
            <a:r>
              <a:rPr lang="en-US" spc="-57"/>
              <a:t>reserved</a:t>
            </a:r>
            <a:r>
              <a:rPr lang="en-US" spc="110"/>
              <a:t> </a:t>
            </a:r>
            <a:r>
              <a:rPr lang="en-US" spc="-44"/>
              <a:t>by</a:t>
            </a:r>
            <a:r>
              <a:rPr lang="en-US" spc="-119"/>
              <a:t> </a:t>
            </a:r>
            <a:r>
              <a:rPr lang="en-US"/>
              <a:t>the</a:t>
            </a:r>
            <a:r>
              <a:rPr lang="en-US" spc="-84"/>
              <a:t> </a:t>
            </a:r>
            <a:r>
              <a:rPr lang="en-US" spc="-9"/>
              <a:t>author.)</a:t>
            </a:r>
            <a:endParaRPr lang="en-US" spc="-9" dirty="0"/>
          </a:p>
        </p:txBody>
      </p:sp>
      <p:sp>
        <p:nvSpPr>
          <p:cNvPr id="5" name="Holder 5"/>
          <p:cNvSpPr>
            <a:spLocks noGrp="1"/>
          </p:cNvSpPr>
          <p:nvPr>
            <p:ph type="dt" sz="half" idx="6"/>
          </p:nvPr>
        </p:nvSpPr>
        <p:spPr>
          <a:xfrm>
            <a:off x="457200" y="6377940"/>
            <a:ext cx="2103120" cy="276999"/>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2/7/2026</a:t>
            </a:fld>
            <a:endParaRPr lang="en-US"/>
          </a:p>
        </p:txBody>
      </p:sp>
      <p:sp>
        <p:nvSpPr>
          <p:cNvPr id="6" name="Holder 6"/>
          <p:cNvSpPr>
            <a:spLocks noGrp="1"/>
          </p:cNvSpPr>
          <p:nvPr>
            <p:ph type="sldNum" sz="quarter" idx="7"/>
          </p:nvPr>
        </p:nvSpPr>
        <p:spPr>
          <a:xfrm>
            <a:off x="6583680" y="6377940"/>
            <a:ext cx="2103120" cy="276999"/>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extLst>
      <p:ext uri="{BB962C8B-B14F-4D97-AF65-F5344CB8AC3E}">
        <p14:creationId xmlns:p14="http://schemas.microsoft.com/office/powerpoint/2010/main" val="2898523786"/>
      </p:ext>
    </p:extLst>
  </p:cSld>
  <p:clrMap bg1="lt1" tx1="dk1" bg2="lt2" tx2="dk2" accent1="accent1" accent2="accent2" accent3="accent3" accent4="accent4" accent5="accent5" accent6="accent6" hlink="hlink" folHlink="folHlink"/>
  <p:sldLayoutIdLst>
    <p:sldLayoutId id="2147483667" r:id="rId1"/>
    <p:sldLayoutId id="2147483668" r:id="rId2"/>
    <p:sldLayoutId id="2147483669" r:id="rId3"/>
    <p:sldLayoutId id="2147483670" r:id="rId4"/>
    <p:sldLayoutId id="2147483671" r:id="rId5"/>
  </p:sldLayoutIdLst>
  <p:txStyles>
    <p:titleStyle>
      <a:lvl1pPr>
        <a:defRPr>
          <a:latin typeface="+mj-lt"/>
          <a:ea typeface="+mj-ea"/>
          <a:cs typeface="+mj-cs"/>
        </a:defRPr>
      </a:lvl1pPr>
    </p:titleStyle>
    <p:body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bodyStyle>
    <p:otherStyle>
      <a:lvl1pPr marL="0">
        <a:defRPr>
          <a:latin typeface="+mn-lt"/>
          <a:ea typeface="+mn-ea"/>
          <a:cs typeface="+mn-cs"/>
        </a:defRPr>
      </a:lvl1pPr>
      <a:lvl2pPr marL="403433">
        <a:defRPr>
          <a:latin typeface="+mn-lt"/>
          <a:ea typeface="+mn-ea"/>
          <a:cs typeface="+mn-cs"/>
        </a:defRPr>
      </a:lvl2pPr>
      <a:lvl3pPr marL="806867">
        <a:defRPr>
          <a:latin typeface="+mn-lt"/>
          <a:ea typeface="+mn-ea"/>
          <a:cs typeface="+mn-cs"/>
        </a:defRPr>
      </a:lvl3pPr>
      <a:lvl4pPr marL="1210300">
        <a:defRPr>
          <a:latin typeface="+mn-lt"/>
          <a:ea typeface="+mn-ea"/>
          <a:cs typeface="+mn-cs"/>
        </a:defRPr>
      </a:lvl4pPr>
      <a:lvl5pPr marL="1613733">
        <a:defRPr>
          <a:latin typeface="+mn-lt"/>
          <a:ea typeface="+mn-ea"/>
          <a:cs typeface="+mn-cs"/>
        </a:defRPr>
      </a:lvl5pPr>
      <a:lvl6pPr marL="2017166">
        <a:defRPr>
          <a:latin typeface="+mn-lt"/>
          <a:ea typeface="+mn-ea"/>
          <a:cs typeface="+mn-cs"/>
        </a:defRPr>
      </a:lvl6pPr>
      <a:lvl7pPr marL="2420600">
        <a:defRPr>
          <a:latin typeface="+mn-lt"/>
          <a:ea typeface="+mn-ea"/>
          <a:cs typeface="+mn-cs"/>
        </a:defRPr>
      </a:lvl7pPr>
      <a:lvl8pPr marL="2824033">
        <a:defRPr>
          <a:latin typeface="+mn-lt"/>
          <a:ea typeface="+mn-ea"/>
          <a:cs typeface="+mn-cs"/>
        </a:defRPr>
      </a:lvl8pPr>
      <a:lvl9pPr marL="3227466">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hyperlink" Target="mailto:mhlangast@tut.ac.za" TargetMode="Externa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image" Target="../media/image9.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10.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8" Type="http://schemas.openxmlformats.org/officeDocument/2006/relationships/image" Target="../media/image21.pn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image" Target="../media/image11.png"/><Relationship Id="rId1" Type="http://schemas.openxmlformats.org/officeDocument/2006/relationships/slideLayout" Target="../slideLayouts/slideLayout10.xml"/><Relationship Id="rId6" Type="http://schemas.openxmlformats.org/officeDocument/2006/relationships/image" Target="../media/image19.png"/><Relationship Id="rId11" Type="http://schemas.openxmlformats.org/officeDocument/2006/relationships/image" Target="../media/image15.png"/><Relationship Id="rId5" Type="http://schemas.openxmlformats.org/officeDocument/2006/relationships/image" Target="../media/image18.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14.png"/></Relationships>
</file>

<file path=ppt/slides/_rels/slide2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19.pn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15.png"/></Relationships>
</file>

<file path=ppt/slides/_rels/slide27.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19.pn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15.png"/></Relationships>
</file>

<file path=ppt/slides/_rels/slide2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19.pn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24.png"/><Relationship Id="rId7" Type="http://schemas.openxmlformats.org/officeDocument/2006/relationships/image" Target="../media/image21.png"/><Relationship Id="rId2" Type="http://schemas.openxmlformats.org/officeDocument/2006/relationships/image" Target="../media/image23.png"/><Relationship Id="rId1" Type="http://schemas.openxmlformats.org/officeDocument/2006/relationships/slideLayout" Target="../slideLayouts/slideLayout10.xml"/><Relationship Id="rId6" Type="http://schemas.openxmlformats.org/officeDocument/2006/relationships/image" Target="../media/image26.png"/><Relationship Id="rId5" Type="http://schemas.openxmlformats.org/officeDocument/2006/relationships/image" Target="../media/image19.png"/><Relationship Id="rId10" Type="http://schemas.openxmlformats.org/officeDocument/2006/relationships/image" Target="../media/image16.png"/><Relationship Id="rId4" Type="http://schemas.openxmlformats.org/officeDocument/2006/relationships/image" Target="../media/image25.png"/><Relationship Id="rId9" Type="http://schemas.openxmlformats.org/officeDocument/2006/relationships/image" Target="../media/image15.png"/></Relationships>
</file>

<file path=ppt/slides/_rels/slide30.xml.rels><?xml version="1.0" encoding="UTF-8" standalone="yes"?>
<Relationships xmlns="http://schemas.openxmlformats.org/package/2006/relationships"><Relationship Id="rId13" Type="http://schemas.openxmlformats.org/officeDocument/2006/relationships/image" Target="../media/image33.png"/><Relationship Id="rId18" Type="http://schemas.openxmlformats.org/officeDocument/2006/relationships/image" Target="../media/image38.png"/><Relationship Id="rId26" Type="http://schemas.openxmlformats.org/officeDocument/2006/relationships/image" Target="../media/image46.png"/><Relationship Id="rId39" Type="http://schemas.openxmlformats.org/officeDocument/2006/relationships/image" Target="../media/image59.png"/><Relationship Id="rId21" Type="http://schemas.openxmlformats.org/officeDocument/2006/relationships/image" Target="../media/image41.png"/><Relationship Id="rId34" Type="http://schemas.openxmlformats.org/officeDocument/2006/relationships/image" Target="../media/image54.png"/><Relationship Id="rId42" Type="http://schemas.openxmlformats.org/officeDocument/2006/relationships/image" Target="../media/image60.png"/><Relationship Id="rId7" Type="http://schemas.openxmlformats.org/officeDocument/2006/relationships/image" Target="../media/image21.png"/><Relationship Id="rId2" Type="http://schemas.openxmlformats.org/officeDocument/2006/relationships/image" Target="../media/image3.png"/><Relationship Id="rId16" Type="http://schemas.openxmlformats.org/officeDocument/2006/relationships/image" Target="../media/image36.png"/><Relationship Id="rId29" Type="http://schemas.openxmlformats.org/officeDocument/2006/relationships/image" Target="../media/image49.png"/><Relationship Id="rId1" Type="http://schemas.openxmlformats.org/officeDocument/2006/relationships/slideLayout" Target="../slideLayouts/slideLayout10.xml"/><Relationship Id="rId6" Type="http://schemas.openxmlformats.org/officeDocument/2006/relationships/image" Target="../media/image26.png"/><Relationship Id="rId11" Type="http://schemas.openxmlformats.org/officeDocument/2006/relationships/image" Target="../media/image31.png"/><Relationship Id="rId24" Type="http://schemas.openxmlformats.org/officeDocument/2006/relationships/image" Target="../media/image44.png"/><Relationship Id="rId32" Type="http://schemas.openxmlformats.org/officeDocument/2006/relationships/image" Target="../media/image52.png"/><Relationship Id="rId37" Type="http://schemas.openxmlformats.org/officeDocument/2006/relationships/image" Target="../media/image57.png"/><Relationship Id="rId40" Type="http://schemas.openxmlformats.org/officeDocument/2006/relationships/image" Target="../media/image22.png"/><Relationship Id="rId45" Type="http://schemas.openxmlformats.org/officeDocument/2006/relationships/image" Target="../media/image63.png"/><Relationship Id="rId5" Type="http://schemas.openxmlformats.org/officeDocument/2006/relationships/image" Target="../media/image19.png"/><Relationship Id="rId15" Type="http://schemas.openxmlformats.org/officeDocument/2006/relationships/image" Target="../media/image35.png"/><Relationship Id="rId23" Type="http://schemas.openxmlformats.org/officeDocument/2006/relationships/image" Target="../media/image43.png"/><Relationship Id="rId28" Type="http://schemas.openxmlformats.org/officeDocument/2006/relationships/image" Target="../media/image48.png"/><Relationship Id="rId36" Type="http://schemas.openxmlformats.org/officeDocument/2006/relationships/image" Target="../media/image56.png"/><Relationship Id="rId10" Type="http://schemas.openxmlformats.org/officeDocument/2006/relationships/image" Target="../media/image30.png"/><Relationship Id="rId19" Type="http://schemas.openxmlformats.org/officeDocument/2006/relationships/image" Target="../media/image39.png"/><Relationship Id="rId31" Type="http://schemas.openxmlformats.org/officeDocument/2006/relationships/image" Target="../media/image51.png"/><Relationship Id="rId44" Type="http://schemas.openxmlformats.org/officeDocument/2006/relationships/image" Target="../media/image62.png"/><Relationship Id="rId4" Type="http://schemas.openxmlformats.org/officeDocument/2006/relationships/image" Target="../media/image24.png"/><Relationship Id="rId9" Type="http://schemas.openxmlformats.org/officeDocument/2006/relationships/image" Target="../media/image29.png"/><Relationship Id="rId14" Type="http://schemas.openxmlformats.org/officeDocument/2006/relationships/image" Target="../media/image34.png"/><Relationship Id="rId22" Type="http://schemas.openxmlformats.org/officeDocument/2006/relationships/image" Target="../media/image42.png"/><Relationship Id="rId27" Type="http://schemas.openxmlformats.org/officeDocument/2006/relationships/image" Target="../media/image47.png"/><Relationship Id="rId30" Type="http://schemas.openxmlformats.org/officeDocument/2006/relationships/image" Target="../media/image50.png"/><Relationship Id="rId35" Type="http://schemas.openxmlformats.org/officeDocument/2006/relationships/image" Target="../media/image55.png"/><Relationship Id="rId43" Type="http://schemas.openxmlformats.org/officeDocument/2006/relationships/image" Target="../media/image61.png"/><Relationship Id="rId8" Type="http://schemas.openxmlformats.org/officeDocument/2006/relationships/image" Target="../media/image28.png"/><Relationship Id="rId3" Type="http://schemas.openxmlformats.org/officeDocument/2006/relationships/image" Target="../media/image27.png"/><Relationship Id="rId12" Type="http://schemas.openxmlformats.org/officeDocument/2006/relationships/image" Target="../media/image32.png"/><Relationship Id="rId17" Type="http://schemas.openxmlformats.org/officeDocument/2006/relationships/image" Target="../media/image37.png"/><Relationship Id="rId25" Type="http://schemas.openxmlformats.org/officeDocument/2006/relationships/image" Target="../media/image45.png"/><Relationship Id="rId33" Type="http://schemas.openxmlformats.org/officeDocument/2006/relationships/image" Target="../media/image53.png"/><Relationship Id="rId38" Type="http://schemas.openxmlformats.org/officeDocument/2006/relationships/image" Target="../media/image58.png"/><Relationship Id="rId46" Type="http://schemas.openxmlformats.org/officeDocument/2006/relationships/image" Target="../media/image64.png"/><Relationship Id="rId20" Type="http://schemas.openxmlformats.org/officeDocument/2006/relationships/image" Target="../media/image40.png"/><Relationship Id="rId41" Type="http://schemas.openxmlformats.org/officeDocument/2006/relationships/image" Target="../media/image15.png"/></Relationships>
</file>

<file path=ppt/slides/_rels/slide3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65.png"/><Relationship Id="rId7" Type="http://schemas.openxmlformats.org/officeDocument/2006/relationships/image" Target="../media/image69.png"/><Relationship Id="rId2" Type="http://schemas.openxmlformats.org/officeDocument/2006/relationships/image" Target="../media/image3.png"/><Relationship Id="rId1" Type="http://schemas.openxmlformats.org/officeDocument/2006/relationships/slideLayout" Target="../slideLayouts/slideLayout10.xml"/><Relationship Id="rId6" Type="http://schemas.openxmlformats.org/officeDocument/2006/relationships/image" Target="../media/image68.png"/><Relationship Id="rId11" Type="http://schemas.openxmlformats.org/officeDocument/2006/relationships/image" Target="../media/image63.png"/><Relationship Id="rId5" Type="http://schemas.openxmlformats.org/officeDocument/2006/relationships/image" Target="../media/image67.png"/><Relationship Id="rId10" Type="http://schemas.openxmlformats.org/officeDocument/2006/relationships/image" Target="../media/image61.png"/><Relationship Id="rId4" Type="http://schemas.openxmlformats.org/officeDocument/2006/relationships/image" Target="../media/image66.png"/><Relationship Id="rId9" Type="http://schemas.openxmlformats.org/officeDocument/2006/relationships/image" Target="../media/image1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71.jpg"/><Relationship Id="rId1" Type="http://schemas.openxmlformats.org/officeDocument/2006/relationships/slideLayout" Target="../slideLayouts/slideLayout4.xml"/></Relationships>
</file>

<file path=ppt/slides/_rels/slide3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5263822" y="5318886"/>
            <a:ext cx="3592195" cy="514350"/>
          </a:xfrm>
          <a:prstGeom prst="rect">
            <a:avLst/>
          </a:prstGeom>
        </p:spPr>
        <p:txBody>
          <a:bodyPr vert="horz" wrap="square" lIns="0" tIns="12700" rIns="0" bIns="0" rtlCol="0">
            <a:spAutoFit/>
          </a:bodyPr>
          <a:lstStyle/>
          <a:p>
            <a:pPr marL="12700">
              <a:lnSpc>
                <a:spcPct val="100000"/>
              </a:lnSpc>
              <a:spcBef>
                <a:spcPts val="100"/>
              </a:spcBef>
            </a:pPr>
            <a:r>
              <a:rPr sz="1800" b="1" dirty="0">
                <a:solidFill>
                  <a:srgbClr val="FFFFFF"/>
                </a:solidFill>
                <a:latin typeface="Trebuchet MS"/>
                <a:cs typeface="Trebuchet MS"/>
              </a:rPr>
              <a:t>Department</a:t>
            </a:r>
            <a:r>
              <a:rPr sz="1800" b="1" spc="-35" dirty="0">
                <a:solidFill>
                  <a:srgbClr val="FFFFFF"/>
                </a:solidFill>
                <a:latin typeface="Trebuchet MS"/>
                <a:cs typeface="Trebuchet MS"/>
              </a:rPr>
              <a:t> </a:t>
            </a:r>
            <a:r>
              <a:rPr sz="1800" b="1" dirty="0">
                <a:solidFill>
                  <a:srgbClr val="FFFFFF"/>
                </a:solidFill>
                <a:latin typeface="Trebuchet MS"/>
                <a:cs typeface="Trebuchet MS"/>
              </a:rPr>
              <a:t>of</a:t>
            </a:r>
            <a:r>
              <a:rPr sz="1800" b="1" spc="-70" dirty="0">
                <a:solidFill>
                  <a:srgbClr val="FFFFFF"/>
                </a:solidFill>
                <a:latin typeface="Trebuchet MS"/>
                <a:cs typeface="Trebuchet MS"/>
              </a:rPr>
              <a:t> </a:t>
            </a:r>
            <a:r>
              <a:rPr sz="1800" b="1" dirty="0">
                <a:solidFill>
                  <a:srgbClr val="FFFFFF"/>
                </a:solidFill>
                <a:latin typeface="Trebuchet MS"/>
                <a:cs typeface="Trebuchet MS"/>
              </a:rPr>
              <a:t>Computer</a:t>
            </a:r>
            <a:r>
              <a:rPr sz="1800" b="1" spc="-50" dirty="0">
                <a:solidFill>
                  <a:srgbClr val="FFFFFF"/>
                </a:solidFill>
                <a:latin typeface="Trebuchet MS"/>
                <a:cs typeface="Trebuchet MS"/>
              </a:rPr>
              <a:t> </a:t>
            </a:r>
            <a:r>
              <a:rPr sz="1800" b="1" spc="-10" dirty="0">
                <a:solidFill>
                  <a:srgbClr val="FFFFFF"/>
                </a:solidFill>
                <a:latin typeface="Trebuchet MS"/>
                <a:cs typeface="Trebuchet MS"/>
              </a:rPr>
              <a:t>Science</a:t>
            </a:r>
            <a:endParaRPr sz="1800">
              <a:latin typeface="Trebuchet MS"/>
              <a:cs typeface="Trebuchet MS"/>
            </a:endParaRPr>
          </a:p>
          <a:p>
            <a:pPr marR="5080" algn="r">
              <a:lnSpc>
                <a:spcPct val="100000"/>
              </a:lnSpc>
              <a:spcBef>
                <a:spcPts val="10"/>
              </a:spcBef>
            </a:pPr>
            <a:r>
              <a:rPr sz="1400" dirty="0">
                <a:solidFill>
                  <a:srgbClr val="FFFFFF"/>
                </a:solidFill>
                <a:latin typeface="Trebuchet MS"/>
                <a:cs typeface="Trebuchet MS"/>
              </a:rPr>
              <a:t>Faculty</a:t>
            </a:r>
            <a:r>
              <a:rPr sz="1400" spc="-20" dirty="0">
                <a:solidFill>
                  <a:srgbClr val="FFFFFF"/>
                </a:solidFill>
                <a:latin typeface="Trebuchet MS"/>
                <a:cs typeface="Trebuchet MS"/>
              </a:rPr>
              <a:t> </a:t>
            </a:r>
            <a:r>
              <a:rPr sz="1400" dirty="0">
                <a:solidFill>
                  <a:srgbClr val="FFFFFF"/>
                </a:solidFill>
                <a:latin typeface="Trebuchet MS"/>
                <a:cs typeface="Trebuchet MS"/>
              </a:rPr>
              <a:t>of</a:t>
            </a:r>
            <a:r>
              <a:rPr sz="1400" spc="-25" dirty="0">
                <a:solidFill>
                  <a:srgbClr val="FFFFFF"/>
                </a:solidFill>
                <a:latin typeface="Trebuchet MS"/>
                <a:cs typeface="Trebuchet MS"/>
              </a:rPr>
              <a:t> ICT</a:t>
            </a:r>
            <a:endParaRPr sz="1400">
              <a:latin typeface="Trebuchet MS"/>
              <a:cs typeface="Trebuchet M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1600200" y="2514600"/>
            <a:ext cx="6324600" cy="750847"/>
          </a:xfrm>
          <a:prstGeom prst="rect">
            <a:avLst/>
          </a:prstGeom>
        </p:spPr>
        <p:txBody>
          <a:bodyPr vert="horz" wrap="square" lIns="0" tIns="12065" rIns="0" bIns="0" rtlCol="0">
            <a:spAutoFit/>
          </a:bodyPr>
          <a:lstStyle/>
          <a:p>
            <a:pPr marL="12700">
              <a:lnSpc>
                <a:spcPct val="100000"/>
              </a:lnSpc>
              <a:spcBef>
                <a:spcPts val="95"/>
              </a:spcBef>
            </a:pPr>
            <a:r>
              <a:rPr sz="4800" b="1" spc="-10" dirty="0">
                <a:latin typeface="Arial"/>
                <a:cs typeface="Arial"/>
              </a:rPr>
              <a:t>Computing</a:t>
            </a:r>
            <a:r>
              <a:rPr lang="en-US" sz="4800" b="1" spc="-10" dirty="0">
                <a:latin typeface="Arial"/>
                <a:cs typeface="Arial"/>
              </a:rPr>
              <a:t> Discipline</a:t>
            </a:r>
            <a:endParaRPr sz="4800" dirty="0">
              <a:latin typeface="Arial"/>
              <a:cs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spc="-8" dirty="0">
                <a:latin typeface="Arial" panose="020B0604020202020204" pitchFamily="34" charset="0"/>
                <a:cs typeface="Arial" panose="020B0604020202020204" pitchFamily="34" charset="0"/>
              </a:rPr>
              <a:t>Agenda</a:t>
            </a:r>
          </a:p>
        </p:txBody>
      </p:sp>
      <p:sp>
        <p:nvSpPr>
          <p:cNvPr id="3" name="object 3"/>
          <p:cNvSpPr txBox="1"/>
          <p:nvPr/>
        </p:nvSpPr>
        <p:spPr>
          <a:xfrm>
            <a:off x="859384" y="2352389"/>
            <a:ext cx="4855616" cy="2804774"/>
          </a:xfrm>
          <a:prstGeom prst="rect">
            <a:avLst/>
          </a:prstGeom>
        </p:spPr>
        <p:txBody>
          <a:bodyPr vert="horz" wrap="square" lIns="0" tIns="115729" rIns="0" bIns="0" rtlCol="0">
            <a:spAutoFit/>
          </a:bodyPr>
          <a:lstStyle/>
          <a:p>
            <a:pPr marL="146209" indent="-136684">
              <a:spcBef>
                <a:spcPts val="911"/>
              </a:spcBef>
              <a:buClr>
                <a:srgbClr val="252525"/>
              </a:buClr>
              <a:buFont typeface="Garamond"/>
              <a:buChar char="◦"/>
              <a:tabLst>
                <a:tab pos="146209" algn="l"/>
              </a:tabLst>
            </a:pPr>
            <a:r>
              <a:rPr sz="1600" spc="-8" dirty="0">
                <a:latin typeface="Arial" panose="020B0604020202020204" pitchFamily="34" charset="0"/>
                <a:cs typeface="Arial" panose="020B0604020202020204" pitchFamily="34" charset="0"/>
              </a:rPr>
              <a:t>Introduction</a:t>
            </a:r>
            <a:endParaRPr sz="1600" dirty="0">
              <a:latin typeface="Arial" panose="020B0604020202020204" pitchFamily="34" charset="0"/>
              <a:cs typeface="Arial" panose="020B0604020202020204" pitchFamily="34" charset="0"/>
            </a:endParaRPr>
          </a:p>
          <a:p>
            <a:pPr marL="146209" indent="-136684">
              <a:spcBef>
                <a:spcPts val="836"/>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Background</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About</a:t>
            </a:r>
            <a:r>
              <a:rPr sz="1600" spc="-53"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Myself</a:t>
            </a:r>
            <a:endParaRPr sz="1600" dirty="0">
              <a:latin typeface="Arial" panose="020B0604020202020204" pitchFamily="34" charset="0"/>
              <a:cs typeface="Arial" panose="020B0604020202020204" pitchFamily="34" charset="0"/>
            </a:endParaRPr>
          </a:p>
          <a:p>
            <a:pPr marL="146209" indent="-136684">
              <a:spcBef>
                <a:spcPts val="836"/>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Course</a:t>
            </a:r>
            <a:r>
              <a:rPr sz="1600" spc="-19"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Overview</a:t>
            </a:r>
            <a:endParaRPr sz="1600" dirty="0">
              <a:latin typeface="Arial" panose="020B0604020202020204" pitchFamily="34" charset="0"/>
              <a:cs typeface="Arial" panose="020B0604020202020204" pitchFamily="34" charset="0"/>
            </a:endParaRPr>
          </a:p>
          <a:p>
            <a:pPr marL="146209" indent="-136684">
              <a:spcBef>
                <a:spcPts val="84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Class</a:t>
            </a:r>
            <a:r>
              <a:rPr sz="1600" spc="-45"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Introductions</a:t>
            </a:r>
            <a:endParaRPr sz="1600" dirty="0">
              <a:latin typeface="Arial" panose="020B0604020202020204" pitchFamily="34" charset="0"/>
              <a:cs typeface="Arial" panose="020B0604020202020204" pitchFamily="34" charset="0"/>
            </a:endParaRPr>
          </a:p>
          <a:p>
            <a:pPr marL="146209" indent="-136684">
              <a:spcBef>
                <a:spcPts val="836"/>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Approach</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be</a:t>
            </a:r>
            <a:r>
              <a:rPr sz="1600" spc="-23" dirty="0">
                <a:latin typeface="Arial" panose="020B0604020202020204" pitchFamily="34" charset="0"/>
                <a:cs typeface="Arial" panose="020B0604020202020204" pitchFamily="34" charset="0"/>
              </a:rPr>
              <a:t> </a:t>
            </a:r>
            <a:r>
              <a:rPr sz="1600" spc="-15" dirty="0">
                <a:latin typeface="Arial" panose="020B0604020202020204" pitchFamily="34" charset="0"/>
                <a:cs typeface="Arial" panose="020B0604020202020204" pitchFamily="34" charset="0"/>
              </a:rPr>
              <a:t>used</a:t>
            </a:r>
            <a:endParaRPr sz="1600" dirty="0">
              <a:latin typeface="Arial" panose="020B0604020202020204" pitchFamily="34" charset="0"/>
              <a:cs typeface="Arial" panose="020B0604020202020204" pitchFamily="34" charset="0"/>
            </a:endParaRPr>
          </a:p>
          <a:p>
            <a:pPr marL="145733" indent="-136208">
              <a:spcBef>
                <a:spcPts val="840"/>
              </a:spcBef>
              <a:buClr>
                <a:srgbClr val="252525"/>
              </a:buClr>
              <a:buFont typeface="Garamond"/>
              <a:buChar char="◦"/>
              <a:tabLst>
                <a:tab pos="145733" algn="l"/>
              </a:tabLst>
            </a:pPr>
            <a:r>
              <a:rPr sz="1600" dirty="0">
                <a:latin typeface="Arial" panose="020B0604020202020204" pitchFamily="34" charset="0"/>
                <a:cs typeface="Arial" panose="020B0604020202020204" pitchFamily="34" charset="0"/>
              </a:rPr>
              <a:t>Unit</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1:</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1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Computing</a:t>
            </a:r>
            <a:r>
              <a:rPr sz="1600" spc="-26"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Discipline</a:t>
            </a:r>
            <a:endParaRPr sz="1600" dirty="0">
              <a:latin typeface="Arial" panose="020B0604020202020204" pitchFamily="34" charset="0"/>
              <a:cs typeface="Arial" panose="020B0604020202020204" pitchFamily="34" charset="0"/>
            </a:endParaRPr>
          </a:p>
          <a:p>
            <a:pPr marL="146209" indent="-136684">
              <a:spcBef>
                <a:spcPts val="836"/>
              </a:spcBef>
              <a:buClr>
                <a:srgbClr val="252525"/>
              </a:buClr>
              <a:buFont typeface="Garamond"/>
              <a:buChar char="◦"/>
              <a:tabLst>
                <a:tab pos="146209" algn="l"/>
              </a:tabLst>
            </a:pPr>
            <a:r>
              <a:rPr sz="1600" spc="-8" dirty="0">
                <a:latin typeface="Arial" panose="020B0604020202020204" pitchFamily="34" charset="0"/>
                <a:cs typeface="Arial" panose="020B0604020202020204" pitchFamily="34" charset="0"/>
              </a:rPr>
              <a:t>Questions/Discussion</a:t>
            </a:r>
            <a:endParaRPr sz="1600" dirty="0">
              <a:latin typeface="Arial" panose="020B0604020202020204" pitchFamily="34" charset="0"/>
              <a:cs typeface="Arial" panose="020B0604020202020204" pitchFamily="34" charset="0"/>
            </a:endParaRPr>
          </a:p>
          <a:p>
            <a:pPr marL="146209" indent="-136684">
              <a:spcBef>
                <a:spcPts val="836"/>
              </a:spcBef>
              <a:buClr>
                <a:srgbClr val="252525"/>
              </a:buClr>
              <a:buFont typeface="Garamond"/>
              <a:buChar char="◦"/>
              <a:tabLst>
                <a:tab pos="146209" algn="l"/>
              </a:tabLst>
            </a:pPr>
            <a:r>
              <a:rPr sz="1600" spc="-19" dirty="0">
                <a:latin typeface="Arial" panose="020B0604020202020204" pitchFamily="34" charset="0"/>
                <a:cs typeface="Arial" panose="020B0604020202020204" pitchFamily="34" charset="0"/>
              </a:rPr>
              <a:t>End</a:t>
            </a:r>
            <a:endParaRPr sz="1600" dirty="0">
              <a:latin typeface="Arial" panose="020B0604020202020204" pitchFamily="34" charset="0"/>
              <a:cs typeface="Arial" panose="020B06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dirty="0"/>
              <a:t>About</a:t>
            </a:r>
            <a:r>
              <a:rPr spc="-90" dirty="0"/>
              <a:t> </a:t>
            </a:r>
            <a:r>
              <a:rPr lang="en-US" spc="-8" dirty="0"/>
              <a:t>m</a:t>
            </a:r>
            <a:r>
              <a:rPr spc="-8" dirty="0"/>
              <a:t>yself</a:t>
            </a:r>
          </a:p>
        </p:txBody>
      </p:sp>
      <p:sp>
        <p:nvSpPr>
          <p:cNvPr id="3" name="object 3"/>
          <p:cNvSpPr txBox="1"/>
          <p:nvPr/>
        </p:nvSpPr>
        <p:spPr>
          <a:xfrm>
            <a:off x="859383" y="2458688"/>
            <a:ext cx="6836817" cy="1302280"/>
          </a:xfrm>
          <a:prstGeom prst="rect">
            <a:avLst/>
          </a:prstGeom>
        </p:spPr>
        <p:txBody>
          <a:bodyPr vert="horz" wrap="square" lIns="0" tIns="9525" rIns="0" bIns="0" rtlCol="0">
            <a:spAutoFit/>
          </a:bodyPr>
          <a:lstStyle/>
          <a:p>
            <a:pPr marL="146209" indent="-136684">
              <a:spcBef>
                <a:spcPts val="75"/>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ICT</a:t>
            </a:r>
            <a:r>
              <a:rPr sz="1600" spc="-41"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Lecturer</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with</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over</a:t>
            </a:r>
            <a:r>
              <a:rPr sz="1600" spc="-34" dirty="0">
                <a:latin typeface="Arial" panose="020B0604020202020204" pitchFamily="34" charset="0"/>
                <a:cs typeface="Arial" panose="020B0604020202020204" pitchFamily="34" charset="0"/>
              </a:rPr>
              <a:t> </a:t>
            </a:r>
            <a:r>
              <a:rPr lang="en-US" sz="1600" dirty="0">
                <a:latin typeface="Arial" panose="020B0604020202020204" pitchFamily="34" charset="0"/>
                <a:cs typeface="Arial" panose="020B0604020202020204" pitchFamily="34" charset="0"/>
              </a:rPr>
              <a:t>15</a:t>
            </a:r>
            <a:r>
              <a:rPr sz="1600" spc="-1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years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15"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experience</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Areas</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specialty</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t>
            </a:r>
            <a:r>
              <a:rPr sz="1600" spc="-30" dirty="0">
                <a:latin typeface="Arial" panose="020B0604020202020204" pitchFamily="34" charset="0"/>
                <a:cs typeface="Arial" panose="020B0604020202020204" pitchFamily="34" charset="0"/>
              </a:rPr>
              <a:t> </a:t>
            </a:r>
            <a:r>
              <a:rPr lang="en-US" sz="1600" spc="-8" dirty="0">
                <a:latin typeface="Arial" panose="020B0604020202020204" pitchFamily="34" charset="0"/>
                <a:cs typeface="Arial" panose="020B0604020202020204" pitchFamily="34" charset="0"/>
              </a:rPr>
              <a:t>Computer Vision, Image processing, Deep Learning</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lang="en-US" sz="1600" dirty="0">
                <a:latin typeface="Arial" panose="020B0604020202020204" pitchFamily="34" charset="0"/>
                <a:cs typeface="Arial" panose="020B0604020202020204" pitchFamily="34" charset="0"/>
              </a:rPr>
              <a:t>Publication  - more than 10 papers published</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Holds</a:t>
            </a:r>
            <a:r>
              <a:rPr sz="1600" spc="-4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a:t>
            </a:r>
            <a:r>
              <a:rPr lang="en-US" sz="1600" dirty="0">
                <a:latin typeface="Arial" panose="020B0604020202020204" pitchFamily="34" charset="0"/>
                <a:cs typeface="Arial" panose="020B0604020202020204" pitchFamily="34" charset="0"/>
              </a:rPr>
              <a:t>aster’s Degree </a:t>
            </a:r>
            <a:r>
              <a:rPr sz="1600" dirty="0">
                <a:latin typeface="Arial" panose="020B0604020202020204" pitchFamily="34" charset="0"/>
                <a:cs typeface="Arial" panose="020B0604020202020204" pitchFamily="34" charset="0"/>
              </a:rPr>
              <a:t>(Computer</a:t>
            </a:r>
            <a:r>
              <a:rPr sz="1600" spc="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Science)</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26" dirty="0">
                <a:latin typeface="Arial" panose="020B0604020202020204" pitchFamily="34" charset="0"/>
                <a:cs typeface="Arial" panose="020B0604020202020204" pitchFamily="34" charset="0"/>
              </a:rPr>
              <a:t> </a:t>
            </a:r>
            <a:r>
              <a:rPr lang="en-US" sz="1600" spc="-19" dirty="0">
                <a:latin typeface="Arial" panose="020B0604020202020204" pitchFamily="34" charset="0"/>
                <a:cs typeface="Arial" panose="020B0604020202020204" pitchFamily="34" charset="0"/>
              </a:rPr>
              <a:t>PhD Candidate</a:t>
            </a:r>
            <a:endParaRPr sz="1600" dirty="0">
              <a:latin typeface="Arial" panose="020B0604020202020204" pitchFamily="34" charset="0"/>
              <a:cs typeface="Arial" panose="020B0604020202020204" pitchFamily="34" charset="0"/>
            </a:endParaRPr>
          </a:p>
        </p:txBody>
      </p:sp>
      <p:sp>
        <p:nvSpPr>
          <p:cNvPr id="5" name="TextBox 4">
            <a:extLst>
              <a:ext uri="{FF2B5EF4-FFF2-40B4-BE49-F238E27FC236}">
                <a16:creationId xmlns:a16="http://schemas.microsoft.com/office/drawing/2014/main" id="{3127AC5B-FDD6-A60F-27CF-88CE9DF5374A}"/>
              </a:ext>
            </a:extLst>
          </p:cNvPr>
          <p:cNvSpPr txBox="1"/>
          <p:nvPr/>
        </p:nvSpPr>
        <p:spPr>
          <a:xfrm>
            <a:off x="1981200" y="4248088"/>
            <a:ext cx="4572000" cy="1077218"/>
          </a:xfrm>
          <a:prstGeom prst="rect">
            <a:avLst/>
          </a:prstGeom>
          <a:noFill/>
        </p:spPr>
        <p:txBody>
          <a:bodyPr wrap="square">
            <a:spAutoFit/>
          </a:bodyPr>
          <a:lstStyle/>
          <a:p>
            <a:pPr algn="ctr">
              <a:lnSpc>
                <a:spcPct val="100000"/>
              </a:lnSpc>
              <a:spcBef>
                <a:spcPts val="95"/>
              </a:spcBef>
            </a:pPr>
            <a:r>
              <a:rPr lang="en-US" sz="2800" b="1" dirty="0">
                <a:latin typeface="Trebuchet MS"/>
                <a:cs typeface="Trebuchet MS"/>
              </a:rPr>
              <a:t>Sandile Mhlanga</a:t>
            </a:r>
            <a:endParaRPr lang="en-US" sz="2800" dirty="0">
              <a:latin typeface="Trebuchet MS"/>
              <a:cs typeface="Trebuchet MS"/>
            </a:endParaRPr>
          </a:p>
          <a:p>
            <a:pPr marL="156845" marR="150495" algn="ctr">
              <a:lnSpc>
                <a:spcPct val="100000"/>
              </a:lnSpc>
              <a:spcBef>
                <a:spcPts val="30"/>
              </a:spcBef>
            </a:pPr>
            <a:r>
              <a:rPr lang="en-US" sz="1800" b="1" i="1" u="sng" spc="-10" dirty="0">
                <a:solidFill>
                  <a:srgbClr val="0000FF"/>
                </a:solidFill>
                <a:uFill>
                  <a:solidFill>
                    <a:srgbClr val="0000FF"/>
                  </a:solidFill>
                </a:uFill>
                <a:latin typeface="Trebuchet MS"/>
                <a:cs typeface="Trebuchet MS"/>
                <a:hlinkClick r:id="rId2"/>
              </a:rPr>
              <a:t>mhlangast@tut.ac.za</a:t>
            </a:r>
            <a:r>
              <a:rPr lang="en-US" sz="1800" b="1" i="1" spc="-10" dirty="0">
                <a:solidFill>
                  <a:srgbClr val="0000FF"/>
                </a:solidFill>
                <a:latin typeface="Trebuchet MS"/>
                <a:cs typeface="Trebuchet MS"/>
              </a:rPr>
              <a:t> </a:t>
            </a:r>
            <a:r>
              <a:rPr lang="en-US" sz="1800" b="1" i="1" u="sng" spc="-10" dirty="0">
                <a:solidFill>
                  <a:srgbClr val="0000FF"/>
                </a:solidFill>
                <a:uFill>
                  <a:solidFill>
                    <a:srgbClr val="0000FF"/>
                  </a:solidFill>
                </a:uFill>
                <a:latin typeface="Trebuchet MS"/>
                <a:cs typeface="Trebuchet MS"/>
              </a:rPr>
              <a:t>mhlanga.thamies@gmail.com</a:t>
            </a:r>
            <a:r>
              <a:rPr lang="en-US" sz="1800" b="1" i="1" spc="-10" dirty="0">
                <a:solidFill>
                  <a:srgbClr val="0000FF"/>
                </a:solidFill>
                <a:latin typeface="Trebuchet MS"/>
                <a:cs typeface="Trebuchet MS"/>
              </a:rPr>
              <a:t>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90600" y="685800"/>
            <a:ext cx="5284517" cy="893764"/>
          </a:xfrm>
          <a:prstGeom prst="rect">
            <a:avLst/>
          </a:prstGeom>
        </p:spPr>
        <p:txBody>
          <a:bodyPr vert="horz" wrap="square" lIns="0" tIns="214560" rIns="0" bIns="0" rtlCol="0">
            <a:spAutoFit/>
          </a:bodyPr>
          <a:lstStyle/>
          <a:p>
            <a:pPr marL="9525">
              <a:spcBef>
                <a:spcPts val="71"/>
              </a:spcBef>
            </a:pPr>
            <a:r>
              <a:rPr dirty="0"/>
              <a:t>Course</a:t>
            </a:r>
            <a:r>
              <a:rPr spc="-71" dirty="0"/>
              <a:t> </a:t>
            </a:r>
            <a:r>
              <a:rPr spc="-8" dirty="0"/>
              <a:t>Overview</a:t>
            </a:r>
          </a:p>
        </p:txBody>
      </p:sp>
      <p:sp>
        <p:nvSpPr>
          <p:cNvPr id="3" name="object 3"/>
          <p:cNvSpPr txBox="1">
            <a:spLocks noGrp="1"/>
          </p:cNvSpPr>
          <p:nvPr>
            <p:ph type="body" idx="1"/>
          </p:nvPr>
        </p:nvSpPr>
        <p:spPr>
          <a:xfrm>
            <a:off x="685800" y="1828800"/>
            <a:ext cx="8153400" cy="4117409"/>
          </a:xfrm>
          <a:prstGeom prst="rect">
            <a:avLst/>
          </a:prstGeom>
        </p:spPr>
        <p:txBody>
          <a:bodyPr vert="horz" wrap="square" lIns="0" tIns="9525" rIns="0" bIns="0" rtlCol="0">
            <a:spAutoFit/>
          </a:bodyPr>
          <a:lstStyle/>
          <a:p>
            <a:pPr marL="146209" marR="3810" indent="-137160">
              <a:lnSpc>
                <a:spcPct val="110000"/>
              </a:lnSpc>
              <a:spcBef>
                <a:spcPts val="75"/>
              </a:spcBef>
              <a:buClr>
                <a:srgbClr val="252525"/>
              </a:buClr>
              <a:buFont typeface="Garamond"/>
              <a:buChar char="◦"/>
              <a:tabLst>
                <a:tab pos="146209" algn="l"/>
              </a:tabLst>
            </a:pPr>
            <a:r>
              <a:rPr sz="1800" dirty="0"/>
              <a:t>Expose</a:t>
            </a:r>
            <a:r>
              <a:rPr sz="1800" spc="-23" dirty="0"/>
              <a:t> </a:t>
            </a:r>
            <a:r>
              <a:rPr sz="1800" dirty="0"/>
              <a:t>students</a:t>
            </a:r>
            <a:r>
              <a:rPr sz="1800" spc="-23" dirty="0"/>
              <a:t> </a:t>
            </a:r>
            <a:r>
              <a:rPr sz="1800" dirty="0"/>
              <a:t>in</a:t>
            </a:r>
            <a:r>
              <a:rPr sz="1800" spc="-38" dirty="0"/>
              <a:t> </a:t>
            </a:r>
            <a:r>
              <a:rPr sz="1800" dirty="0"/>
              <a:t>the</a:t>
            </a:r>
            <a:r>
              <a:rPr sz="1800" spc="-30" dirty="0"/>
              <a:t> </a:t>
            </a:r>
            <a:r>
              <a:rPr sz="1800" dirty="0"/>
              <a:t>evolution</a:t>
            </a:r>
            <a:r>
              <a:rPr sz="1800" spc="-49" dirty="0"/>
              <a:t> </a:t>
            </a:r>
            <a:r>
              <a:rPr sz="1800" dirty="0"/>
              <a:t>and</a:t>
            </a:r>
            <a:r>
              <a:rPr sz="1800" spc="-23" dirty="0"/>
              <a:t> </a:t>
            </a:r>
            <a:r>
              <a:rPr sz="1800" dirty="0"/>
              <a:t>continuing</a:t>
            </a:r>
            <a:r>
              <a:rPr sz="1800" spc="-38" dirty="0"/>
              <a:t> </a:t>
            </a:r>
            <a:r>
              <a:rPr sz="1800" dirty="0"/>
              <a:t>developments</a:t>
            </a:r>
            <a:r>
              <a:rPr sz="1800" spc="-34" dirty="0"/>
              <a:t> </a:t>
            </a:r>
            <a:r>
              <a:rPr sz="1800" dirty="0"/>
              <a:t>in</a:t>
            </a:r>
            <a:r>
              <a:rPr sz="1800" spc="-30" dirty="0"/>
              <a:t> </a:t>
            </a:r>
            <a:r>
              <a:rPr sz="1800" dirty="0"/>
              <a:t>the</a:t>
            </a:r>
            <a:r>
              <a:rPr sz="1800" spc="-30" dirty="0"/>
              <a:t> </a:t>
            </a:r>
            <a:r>
              <a:rPr sz="1800" dirty="0"/>
              <a:t>field</a:t>
            </a:r>
            <a:r>
              <a:rPr sz="1800" spc="-30" dirty="0"/>
              <a:t> </a:t>
            </a:r>
            <a:r>
              <a:rPr sz="1800" dirty="0"/>
              <a:t>of</a:t>
            </a:r>
            <a:r>
              <a:rPr sz="1800" spc="-23" dirty="0"/>
              <a:t> </a:t>
            </a:r>
            <a:r>
              <a:rPr sz="1800" dirty="0"/>
              <a:t>Computing</a:t>
            </a:r>
            <a:r>
              <a:rPr sz="1800" spc="-23" dirty="0"/>
              <a:t> </a:t>
            </a:r>
            <a:r>
              <a:rPr sz="1800" dirty="0"/>
              <a:t>and</a:t>
            </a:r>
            <a:r>
              <a:rPr sz="1800" spc="-26" dirty="0"/>
              <a:t> </a:t>
            </a:r>
            <a:r>
              <a:rPr sz="1800" spc="-19" dirty="0"/>
              <a:t>its </a:t>
            </a:r>
            <a:r>
              <a:rPr sz="1800" dirty="0"/>
              <a:t>associated</a:t>
            </a:r>
            <a:r>
              <a:rPr sz="1800" spc="-60" dirty="0"/>
              <a:t> </a:t>
            </a:r>
            <a:r>
              <a:rPr sz="1800" spc="-8" dirty="0"/>
              <a:t>fields</a:t>
            </a:r>
          </a:p>
          <a:p>
            <a:pPr marL="146209" marR="5239" indent="-137160">
              <a:lnSpc>
                <a:spcPct val="110000"/>
              </a:lnSpc>
              <a:spcBef>
                <a:spcPts val="675"/>
              </a:spcBef>
              <a:buClr>
                <a:srgbClr val="252525"/>
              </a:buClr>
              <a:buFont typeface="Garamond"/>
              <a:buChar char="◦"/>
              <a:tabLst>
                <a:tab pos="146209" algn="l"/>
              </a:tabLst>
            </a:pPr>
            <a:r>
              <a:rPr sz="1800" dirty="0"/>
              <a:t>At</a:t>
            </a:r>
            <a:r>
              <a:rPr sz="1800" spc="-34" dirty="0"/>
              <a:t> </a:t>
            </a:r>
            <a:r>
              <a:rPr sz="1800" dirty="0"/>
              <a:t>the</a:t>
            </a:r>
            <a:r>
              <a:rPr sz="1800" spc="-34" dirty="0"/>
              <a:t> </a:t>
            </a:r>
            <a:r>
              <a:rPr sz="1800" dirty="0"/>
              <a:t>end</a:t>
            </a:r>
            <a:r>
              <a:rPr sz="1800" spc="-30" dirty="0"/>
              <a:t> </a:t>
            </a:r>
            <a:r>
              <a:rPr sz="1800" dirty="0"/>
              <a:t>of</a:t>
            </a:r>
            <a:r>
              <a:rPr sz="1800" spc="-30" dirty="0"/>
              <a:t> </a:t>
            </a:r>
            <a:r>
              <a:rPr sz="1800" dirty="0"/>
              <a:t>this</a:t>
            </a:r>
            <a:r>
              <a:rPr sz="1800" spc="-30" dirty="0"/>
              <a:t> </a:t>
            </a:r>
            <a:r>
              <a:rPr sz="1800" dirty="0"/>
              <a:t>course</a:t>
            </a:r>
            <a:r>
              <a:rPr sz="1800" spc="-38" dirty="0"/>
              <a:t> </a:t>
            </a:r>
            <a:r>
              <a:rPr sz="1800" dirty="0"/>
              <a:t>your</a:t>
            </a:r>
            <a:r>
              <a:rPr sz="1800" spc="-30" dirty="0"/>
              <a:t> </a:t>
            </a:r>
            <a:r>
              <a:rPr sz="1800" dirty="0"/>
              <a:t>are</a:t>
            </a:r>
            <a:r>
              <a:rPr sz="1800" spc="-26" dirty="0"/>
              <a:t> </a:t>
            </a:r>
            <a:r>
              <a:rPr sz="1800" dirty="0"/>
              <a:t>expected</a:t>
            </a:r>
            <a:r>
              <a:rPr sz="1800" spc="-26" dirty="0"/>
              <a:t> </a:t>
            </a:r>
            <a:r>
              <a:rPr sz="1800" dirty="0"/>
              <a:t>to</a:t>
            </a:r>
            <a:r>
              <a:rPr sz="1800" spc="-34" dirty="0"/>
              <a:t> </a:t>
            </a:r>
            <a:r>
              <a:rPr sz="1800" dirty="0"/>
              <a:t>demonstrate</a:t>
            </a:r>
            <a:r>
              <a:rPr sz="1800" spc="-26" dirty="0"/>
              <a:t> </a:t>
            </a:r>
            <a:r>
              <a:rPr sz="1800" dirty="0"/>
              <a:t>knowledge</a:t>
            </a:r>
            <a:r>
              <a:rPr sz="1800" spc="-38" dirty="0"/>
              <a:t> </a:t>
            </a:r>
            <a:r>
              <a:rPr sz="1800" dirty="0"/>
              <a:t>of</a:t>
            </a:r>
            <a:r>
              <a:rPr sz="1800" spc="-30" dirty="0"/>
              <a:t> </a:t>
            </a:r>
            <a:r>
              <a:rPr sz="1800" dirty="0"/>
              <a:t>and</a:t>
            </a:r>
            <a:r>
              <a:rPr sz="1800" spc="-26" dirty="0"/>
              <a:t> </a:t>
            </a:r>
            <a:r>
              <a:rPr sz="1800" dirty="0"/>
              <a:t>engagement</a:t>
            </a:r>
            <a:r>
              <a:rPr sz="1800" spc="-4" dirty="0"/>
              <a:t> </a:t>
            </a:r>
            <a:r>
              <a:rPr sz="1800" spc="-19" dirty="0"/>
              <a:t>of </a:t>
            </a:r>
            <a:r>
              <a:rPr sz="1800" dirty="0"/>
              <a:t>Computing</a:t>
            </a:r>
            <a:r>
              <a:rPr sz="1800" spc="-38" dirty="0"/>
              <a:t> </a:t>
            </a:r>
            <a:r>
              <a:rPr sz="1800" dirty="0"/>
              <a:t>field</a:t>
            </a:r>
            <a:r>
              <a:rPr sz="1800" spc="-45" dirty="0"/>
              <a:t> </a:t>
            </a:r>
            <a:r>
              <a:rPr sz="1800" dirty="0"/>
              <a:t>(theories,</a:t>
            </a:r>
            <a:r>
              <a:rPr sz="1800" spc="-26" dirty="0"/>
              <a:t> </a:t>
            </a:r>
            <a:r>
              <a:rPr sz="1800" dirty="0"/>
              <a:t>research</a:t>
            </a:r>
            <a:r>
              <a:rPr sz="1800" spc="-30" dirty="0"/>
              <a:t> </a:t>
            </a:r>
            <a:r>
              <a:rPr sz="1800" spc="-8" dirty="0"/>
              <a:t>methodologies,</a:t>
            </a:r>
            <a:r>
              <a:rPr sz="1800" spc="-49" dirty="0"/>
              <a:t> </a:t>
            </a:r>
            <a:r>
              <a:rPr sz="1800" dirty="0"/>
              <a:t>methods</a:t>
            </a:r>
            <a:r>
              <a:rPr sz="1800" spc="-30" dirty="0"/>
              <a:t> </a:t>
            </a:r>
            <a:r>
              <a:rPr sz="1800" dirty="0"/>
              <a:t>and</a:t>
            </a:r>
            <a:r>
              <a:rPr sz="1800" spc="-38" dirty="0"/>
              <a:t> </a:t>
            </a:r>
            <a:r>
              <a:rPr sz="1800" spc="-8" dirty="0"/>
              <a:t>techniques)</a:t>
            </a:r>
          </a:p>
          <a:p>
            <a:pPr marL="146209" marR="168593" indent="-137160">
              <a:lnSpc>
                <a:spcPct val="110000"/>
              </a:lnSpc>
              <a:spcBef>
                <a:spcPts val="675"/>
              </a:spcBef>
              <a:buClr>
                <a:srgbClr val="252525"/>
              </a:buClr>
              <a:buFont typeface="Garamond"/>
              <a:buChar char="◦"/>
              <a:tabLst>
                <a:tab pos="146209" algn="l"/>
              </a:tabLst>
            </a:pPr>
            <a:r>
              <a:rPr sz="1800" dirty="0"/>
              <a:t>The</a:t>
            </a:r>
            <a:r>
              <a:rPr sz="1800" spc="-15" dirty="0"/>
              <a:t> </a:t>
            </a:r>
            <a:r>
              <a:rPr sz="1800" dirty="0"/>
              <a:t>intent</a:t>
            </a:r>
            <a:r>
              <a:rPr sz="1800" spc="-23" dirty="0"/>
              <a:t> </a:t>
            </a:r>
            <a:r>
              <a:rPr sz="1800" dirty="0"/>
              <a:t>is</a:t>
            </a:r>
            <a:r>
              <a:rPr sz="1800" spc="-23" dirty="0"/>
              <a:t> </a:t>
            </a:r>
            <a:r>
              <a:rPr sz="1800" dirty="0"/>
              <a:t>to</a:t>
            </a:r>
            <a:r>
              <a:rPr sz="1800" spc="-11" dirty="0"/>
              <a:t> </a:t>
            </a:r>
            <a:r>
              <a:rPr sz="1800" dirty="0"/>
              <a:t>ensure</a:t>
            </a:r>
            <a:r>
              <a:rPr sz="1800" spc="-19" dirty="0"/>
              <a:t> </a:t>
            </a:r>
            <a:r>
              <a:rPr sz="1800" dirty="0"/>
              <a:t>that</a:t>
            </a:r>
            <a:r>
              <a:rPr sz="1800" spc="-15" dirty="0"/>
              <a:t> </a:t>
            </a:r>
            <a:r>
              <a:rPr sz="1800" dirty="0"/>
              <a:t>you</a:t>
            </a:r>
            <a:r>
              <a:rPr sz="1800" spc="-11" dirty="0"/>
              <a:t> </a:t>
            </a:r>
            <a:r>
              <a:rPr sz="1800" dirty="0"/>
              <a:t>are</a:t>
            </a:r>
            <a:r>
              <a:rPr sz="1800" spc="-19" dirty="0"/>
              <a:t> </a:t>
            </a:r>
            <a:r>
              <a:rPr sz="1800" spc="-8" dirty="0"/>
              <a:t>well-</a:t>
            </a:r>
            <a:r>
              <a:rPr sz="1800" dirty="0"/>
              <a:t>rounded,</a:t>
            </a:r>
            <a:r>
              <a:rPr sz="1800" spc="-38" dirty="0"/>
              <a:t> </a:t>
            </a:r>
            <a:r>
              <a:rPr sz="1800" dirty="0"/>
              <a:t>by</a:t>
            </a:r>
            <a:r>
              <a:rPr sz="1800" spc="-23" dirty="0"/>
              <a:t> </a:t>
            </a:r>
            <a:r>
              <a:rPr sz="1800" dirty="0"/>
              <a:t>interacting</a:t>
            </a:r>
            <a:r>
              <a:rPr sz="1800" spc="-30" dirty="0"/>
              <a:t> </a:t>
            </a:r>
            <a:r>
              <a:rPr sz="1800" dirty="0"/>
              <a:t>effectively</a:t>
            </a:r>
            <a:r>
              <a:rPr sz="1800" spc="-26" dirty="0"/>
              <a:t> </a:t>
            </a:r>
            <a:r>
              <a:rPr sz="1800" dirty="0"/>
              <a:t>with</a:t>
            </a:r>
            <a:r>
              <a:rPr sz="1800" spc="-30" dirty="0"/>
              <a:t> </a:t>
            </a:r>
            <a:r>
              <a:rPr sz="1800" dirty="0"/>
              <a:t>the</a:t>
            </a:r>
            <a:r>
              <a:rPr sz="1800" spc="-19" dirty="0"/>
              <a:t> </a:t>
            </a:r>
            <a:r>
              <a:rPr sz="1800" spc="-8" dirty="0"/>
              <a:t>changing environment</a:t>
            </a:r>
          </a:p>
          <a:p>
            <a:pPr marL="146209" indent="-136684">
              <a:spcBef>
                <a:spcPts val="810"/>
              </a:spcBef>
              <a:buClr>
                <a:srgbClr val="252525"/>
              </a:buClr>
              <a:buFont typeface="Garamond"/>
              <a:buChar char="◦"/>
              <a:tabLst>
                <a:tab pos="146209" algn="l"/>
              </a:tabLst>
            </a:pPr>
            <a:r>
              <a:rPr sz="1800" dirty="0"/>
              <a:t>You</a:t>
            </a:r>
            <a:r>
              <a:rPr sz="1800" spc="-26" dirty="0"/>
              <a:t> </a:t>
            </a:r>
            <a:r>
              <a:rPr sz="1800" dirty="0"/>
              <a:t>will</a:t>
            </a:r>
            <a:r>
              <a:rPr sz="1800" spc="-41" dirty="0"/>
              <a:t> </a:t>
            </a:r>
            <a:r>
              <a:rPr sz="1800" dirty="0"/>
              <a:t>need</a:t>
            </a:r>
            <a:r>
              <a:rPr sz="1800" spc="-19" dirty="0"/>
              <a:t> </a:t>
            </a:r>
            <a:r>
              <a:rPr sz="1800" dirty="0"/>
              <a:t>to</a:t>
            </a:r>
            <a:r>
              <a:rPr sz="1800" spc="-23" dirty="0"/>
              <a:t> </a:t>
            </a:r>
            <a:r>
              <a:rPr sz="1800" dirty="0"/>
              <a:t>understand</a:t>
            </a:r>
            <a:r>
              <a:rPr sz="1800" spc="-30" dirty="0"/>
              <a:t> </a:t>
            </a:r>
            <a:r>
              <a:rPr sz="1800" dirty="0"/>
              <a:t>key</a:t>
            </a:r>
            <a:r>
              <a:rPr sz="1800" spc="-26" dirty="0"/>
              <a:t> </a:t>
            </a:r>
            <a:r>
              <a:rPr sz="1800" dirty="0"/>
              <a:t>items,</a:t>
            </a:r>
            <a:r>
              <a:rPr sz="1800" spc="-30" dirty="0"/>
              <a:t> </a:t>
            </a:r>
            <a:r>
              <a:rPr sz="1800" dirty="0"/>
              <a:t>concepts,</a:t>
            </a:r>
            <a:r>
              <a:rPr sz="1800" spc="-15" dirty="0"/>
              <a:t> </a:t>
            </a:r>
            <a:r>
              <a:rPr sz="1800" dirty="0"/>
              <a:t>facts,</a:t>
            </a:r>
            <a:r>
              <a:rPr sz="1800" spc="-11" dirty="0"/>
              <a:t> </a:t>
            </a:r>
            <a:r>
              <a:rPr sz="1800" spc="-8" dirty="0"/>
              <a:t>principles,</a:t>
            </a:r>
            <a:r>
              <a:rPr sz="1800" spc="-45" dirty="0"/>
              <a:t> </a:t>
            </a:r>
            <a:r>
              <a:rPr sz="1800" dirty="0"/>
              <a:t>rules</a:t>
            </a:r>
            <a:r>
              <a:rPr sz="1800" spc="-23" dirty="0"/>
              <a:t> </a:t>
            </a:r>
            <a:r>
              <a:rPr sz="1800" dirty="0"/>
              <a:t>and</a:t>
            </a:r>
            <a:r>
              <a:rPr sz="1800" spc="-23" dirty="0"/>
              <a:t> </a:t>
            </a:r>
            <a:r>
              <a:rPr sz="1800" spc="-8" dirty="0"/>
              <a:t>theories</a:t>
            </a:r>
          </a:p>
          <a:p>
            <a:pPr marL="146209" indent="-136684">
              <a:spcBef>
                <a:spcPts val="810"/>
              </a:spcBef>
              <a:buClr>
                <a:srgbClr val="252525"/>
              </a:buClr>
              <a:buFont typeface="Garamond"/>
              <a:buChar char="◦"/>
              <a:tabLst>
                <a:tab pos="146209" algn="l"/>
              </a:tabLst>
            </a:pPr>
            <a:r>
              <a:rPr lang="en-US" sz="1800" spc="-8" dirty="0"/>
              <a:t>A</a:t>
            </a:r>
            <a:r>
              <a:rPr sz="1800" spc="-8" dirty="0"/>
              <a:t>ssessments</a:t>
            </a:r>
            <a:r>
              <a:rPr sz="1800" spc="-11" dirty="0"/>
              <a:t> </a:t>
            </a:r>
            <a:r>
              <a:rPr sz="1800" dirty="0"/>
              <a:t>will</a:t>
            </a:r>
            <a:r>
              <a:rPr sz="1800" spc="-26" dirty="0"/>
              <a:t> </a:t>
            </a:r>
            <a:r>
              <a:rPr sz="1800" dirty="0"/>
              <a:t>be</a:t>
            </a:r>
            <a:r>
              <a:rPr sz="1800" spc="-19" dirty="0"/>
              <a:t> </a:t>
            </a:r>
            <a:r>
              <a:rPr sz="1800" dirty="0"/>
              <a:t>conducted</a:t>
            </a:r>
            <a:r>
              <a:rPr sz="1800" spc="-19" dirty="0"/>
              <a:t> </a:t>
            </a:r>
            <a:r>
              <a:rPr sz="1800" dirty="0"/>
              <a:t>in</a:t>
            </a:r>
            <a:r>
              <a:rPr sz="1800" spc="-30" dirty="0"/>
              <a:t> </a:t>
            </a:r>
            <a:r>
              <a:rPr sz="1800" dirty="0"/>
              <a:t>this</a:t>
            </a:r>
            <a:r>
              <a:rPr sz="1800" spc="-26" dirty="0"/>
              <a:t> </a:t>
            </a:r>
            <a:r>
              <a:rPr sz="1800" dirty="0"/>
              <a:t>course.</a:t>
            </a:r>
            <a:r>
              <a:rPr sz="1800" spc="-23" dirty="0"/>
              <a:t> </a:t>
            </a:r>
            <a:r>
              <a:rPr sz="1800" spc="-8" dirty="0"/>
              <a:t>Schedule</a:t>
            </a:r>
            <a:r>
              <a:rPr sz="1800" spc="-23" dirty="0"/>
              <a:t> </a:t>
            </a:r>
            <a:r>
              <a:rPr sz="1800" dirty="0"/>
              <a:t>will</a:t>
            </a:r>
            <a:r>
              <a:rPr sz="1800" spc="-26" dirty="0"/>
              <a:t> </a:t>
            </a:r>
            <a:r>
              <a:rPr sz="1800" dirty="0"/>
              <a:t>be</a:t>
            </a:r>
            <a:r>
              <a:rPr sz="1800" spc="-19" dirty="0"/>
              <a:t> </a:t>
            </a:r>
            <a:r>
              <a:rPr sz="1800" spc="-8" dirty="0"/>
              <a:t>provided</a:t>
            </a:r>
          </a:p>
          <a:p>
            <a:pPr marL="146209" indent="-136684">
              <a:spcBef>
                <a:spcPts val="810"/>
              </a:spcBef>
              <a:buClr>
                <a:srgbClr val="252525"/>
              </a:buClr>
              <a:buFont typeface="Garamond"/>
              <a:buChar char="◦"/>
              <a:tabLst>
                <a:tab pos="146209" algn="l"/>
              </a:tabLst>
            </a:pPr>
            <a:r>
              <a:rPr sz="1800" dirty="0"/>
              <a:t>No</a:t>
            </a:r>
            <a:r>
              <a:rPr sz="1800" spc="-34" dirty="0"/>
              <a:t> </a:t>
            </a:r>
            <a:r>
              <a:rPr sz="1800" dirty="0"/>
              <a:t>prescribed</a:t>
            </a:r>
            <a:r>
              <a:rPr sz="1800" spc="-38" dirty="0"/>
              <a:t> </a:t>
            </a:r>
            <a:r>
              <a:rPr sz="1800" spc="-15" dirty="0"/>
              <a:t>book</a:t>
            </a:r>
          </a:p>
          <a:p>
            <a:pPr marL="146209" indent="-136684">
              <a:spcBef>
                <a:spcPts val="814"/>
              </a:spcBef>
              <a:buClr>
                <a:srgbClr val="252525"/>
              </a:buClr>
              <a:buFont typeface="Garamond"/>
              <a:buChar char="◦"/>
              <a:tabLst>
                <a:tab pos="146209" algn="l"/>
              </a:tabLst>
            </a:pPr>
            <a:r>
              <a:rPr sz="1800" dirty="0"/>
              <a:t>List</a:t>
            </a:r>
            <a:r>
              <a:rPr sz="1800" spc="-49" dirty="0"/>
              <a:t> </a:t>
            </a:r>
            <a:r>
              <a:rPr sz="1800" dirty="0"/>
              <a:t>of</a:t>
            </a:r>
            <a:r>
              <a:rPr sz="1800" spc="-19" dirty="0"/>
              <a:t> </a:t>
            </a:r>
            <a:r>
              <a:rPr sz="1800" dirty="0"/>
              <a:t>recommended</a:t>
            </a:r>
            <a:r>
              <a:rPr sz="1800" spc="-26" dirty="0"/>
              <a:t> </a:t>
            </a:r>
            <a:r>
              <a:rPr sz="1800" dirty="0"/>
              <a:t>reading</a:t>
            </a:r>
            <a:r>
              <a:rPr sz="1800" spc="-41" dirty="0"/>
              <a:t> </a:t>
            </a:r>
            <a:r>
              <a:rPr sz="1800" dirty="0"/>
              <a:t>material</a:t>
            </a:r>
            <a:r>
              <a:rPr sz="1800" spc="-26" dirty="0"/>
              <a:t> </a:t>
            </a:r>
            <a:r>
              <a:rPr sz="1800" dirty="0"/>
              <a:t>will</a:t>
            </a:r>
            <a:r>
              <a:rPr sz="1800" spc="-49" dirty="0"/>
              <a:t> </a:t>
            </a:r>
            <a:r>
              <a:rPr sz="1800" dirty="0"/>
              <a:t>be</a:t>
            </a:r>
            <a:r>
              <a:rPr sz="1800" spc="-34" dirty="0"/>
              <a:t> </a:t>
            </a:r>
            <a:r>
              <a:rPr sz="1800" spc="-8" dirty="0"/>
              <a:t>provided</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D5315A-1094-C3C5-55A0-7DE88955A558}"/>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A4865835-97E9-54C4-BDBD-CFB734747FDA}"/>
              </a:ext>
            </a:extLst>
          </p:cNvPr>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dirty="0"/>
              <a:t>Course</a:t>
            </a:r>
            <a:r>
              <a:rPr spc="-71" dirty="0"/>
              <a:t> </a:t>
            </a:r>
            <a:r>
              <a:rPr lang="en-US" spc="-8" dirty="0"/>
              <a:t>Outline</a:t>
            </a:r>
            <a:endParaRPr spc="-8" dirty="0"/>
          </a:p>
        </p:txBody>
      </p:sp>
      <p:sp>
        <p:nvSpPr>
          <p:cNvPr id="5" name="Text Placeholder 4">
            <a:extLst>
              <a:ext uri="{FF2B5EF4-FFF2-40B4-BE49-F238E27FC236}">
                <a16:creationId xmlns:a16="http://schemas.microsoft.com/office/drawing/2014/main" id="{BD242A24-8DD5-F724-7127-3F3CF0A6D365}"/>
              </a:ext>
            </a:extLst>
          </p:cNvPr>
          <p:cNvSpPr>
            <a:spLocks noGrp="1"/>
          </p:cNvSpPr>
          <p:nvPr>
            <p:ph type="body" idx="1"/>
          </p:nvPr>
        </p:nvSpPr>
        <p:spPr/>
        <p:txBody>
          <a:bodyPr/>
          <a:lstStyle/>
          <a:p>
            <a:endParaRPr lang="en-ZA"/>
          </a:p>
        </p:txBody>
      </p:sp>
      <p:graphicFrame>
        <p:nvGraphicFramePr>
          <p:cNvPr id="7" name="Table 6">
            <a:extLst>
              <a:ext uri="{FF2B5EF4-FFF2-40B4-BE49-F238E27FC236}">
                <a16:creationId xmlns:a16="http://schemas.microsoft.com/office/drawing/2014/main" id="{13D008BC-FBB1-45DE-157F-E61633D3DBC7}"/>
              </a:ext>
            </a:extLst>
          </p:cNvPr>
          <p:cNvGraphicFramePr>
            <a:graphicFrameLocks noGrp="1"/>
          </p:cNvGraphicFramePr>
          <p:nvPr>
            <p:extLst>
              <p:ext uri="{D42A27DB-BD31-4B8C-83A1-F6EECF244321}">
                <p14:modId xmlns:p14="http://schemas.microsoft.com/office/powerpoint/2010/main" val="743872545"/>
              </p:ext>
            </p:extLst>
          </p:nvPr>
        </p:nvGraphicFramePr>
        <p:xfrm>
          <a:off x="914400" y="2037285"/>
          <a:ext cx="6096000" cy="37084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1614638965"/>
                    </a:ext>
                  </a:extLst>
                </a:gridCol>
              </a:tblGrid>
              <a:tr h="370840">
                <a:tc>
                  <a:txBody>
                    <a:bodyPr/>
                    <a:lstStyle/>
                    <a:p>
                      <a:r>
                        <a:rPr lang="en-ZA" sz="1800" b="1" dirty="0">
                          <a:solidFill>
                            <a:schemeClr val="lt1"/>
                          </a:solidFill>
                          <a:effectLst/>
                          <a:latin typeface="+mn-lt"/>
                          <a:ea typeface="+mn-ea"/>
                          <a:cs typeface="+mn-cs"/>
                        </a:rPr>
                        <a:t>The Computing Discipline</a:t>
                      </a:r>
                      <a:endParaRPr lang="en-ZA" dirty="0"/>
                    </a:p>
                  </a:txBody>
                  <a:tcPr/>
                </a:tc>
                <a:extLst>
                  <a:ext uri="{0D108BD9-81ED-4DB2-BD59-A6C34878D82A}">
                    <a16:rowId xmlns:a16="http://schemas.microsoft.com/office/drawing/2014/main" val="252438456"/>
                  </a:ext>
                </a:extLst>
              </a:tr>
              <a:tr h="370840">
                <a:tc>
                  <a:txBody>
                    <a:bodyPr/>
                    <a:lstStyle/>
                    <a:p>
                      <a:r>
                        <a:rPr lang="en-ZA" sz="1800" dirty="0">
                          <a:solidFill>
                            <a:schemeClr val="dk1"/>
                          </a:solidFill>
                          <a:effectLst/>
                          <a:latin typeface="+mn-lt"/>
                          <a:ea typeface="+mn-ea"/>
                          <a:cs typeface="+mn-cs"/>
                        </a:rPr>
                        <a:t>Cloud Computing.</a:t>
                      </a:r>
                      <a:endParaRPr lang="en-ZA" dirty="0"/>
                    </a:p>
                  </a:txBody>
                  <a:tcPr/>
                </a:tc>
                <a:extLst>
                  <a:ext uri="{0D108BD9-81ED-4DB2-BD59-A6C34878D82A}">
                    <a16:rowId xmlns:a16="http://schemas.microsoft.com/office/drawing/2014/main" val="2115240504"/>
                  </a:ext>
                </a:extLst>
              </a:tr>
              <a:tr h="370840">
                <a:tc>
                  <a:txBody>
                    <a:bodyPr/>
                    <a:lstStyle/>
                    <a:p>
                      <a:r>
                        <a:rPr lang="en-ZA" sz="1800" dirty="0">
                          <a:solidFill>
                            <a:schemeClr val="dk1"/>
                          </a:solidFill>
                          <a:effectLst/>
                          <a:latin typeface="+mn-lt"/>
                          <a:ea typeface="+mn-ea"/>
                          <a:cs typeface="+mn-cs"/>
                        </a:rPr>
                        <a:t>Intelligent agents.</a:t>
                      </a:r>
                      <a:endParaRPr lang="en-ZA" dirty="0"/>
                    </a:p>
                  </a:txBody>
                  <a:tcPr/>
                </a:tc>
                <a:extLst>
                  <a:ext uri="{0D108BD9-81ED-4DB2-BD59-A6C34878D82A}">
                    <a16:rowId xmlns:a16="http://schemas.microsoft.com/office/drawing/2014/main" val="319381677"/>
                  </a:ext>
                </a:extLst>
              </a:tr>
              <a:tr h="370840">
                <a:tc>
                  <a:txBody>
                    <a:bodyPr/>
                    <a:lstStyle/>
                    <a:p>
                      <a:r>
                        <a:rPr lang="en-ZA" sz="1800" dirty="0">
                          <a:solidFill>
                            <a:schemeClr val="dk1"/>
                          </a:solidFill>
                          <a:effectLst/>
                          <a:latin typeface="+mn-lt"/>
                          <a:ea typeface="+mn-ea"/>
                          <a:cs typeface="+mn-cs"/>
                        </a:rPr>
                        <a:t>Internet of Things and smart environments.</a:t>
                      </a:r>
                      <a:endParaRPr lang="en-ZA" dirty="0"/>
                    </a:p>
                  </a:txBody>
                  <a:tcPr/>
                </a:tc>
                <a:extLst>
                  <a:ext uri="{0D108BD9-81ED-4DB2-BD59-A6C34878D82A}">
                    <a16:rowId xmlns:a16="http://schemas.microsoft.com/office/drawing/2014/main" val="816054969"/>
                  </a:ext>
                </a:extLst>
              </a:tr>
              <a:tr h="370840">
                <a:tc>
                  <a:txBody>
                    <a:bodyPr/>
                    <a:lstStyle/>
                    <a:p>
                      <a:r>
                        <a:rPr lang="en-ZA" sz="1800" dirty="0">
                          <a:solidFill>
                            <a:schemeClr val="dk1"/>
                          </a:solidFill>
                          <a:effectLst/>
                          <a:latin typeface="+mn-lt"/>
                          <a:ea typeface="+mn-ea"/>
                          <a:cs typeface="+mn-cs"/>
                        </a:rPr>
                        <a:t>Data mining and Big data.</a:t>
                      </a:r>
                      <a:endParaRPr lang="en-ZA" dirty="0"/>
                    </a:p>
                  </a:txBody>
                  <a:tcPr/>
                </a:tc>
                <a:extLst>
                  <a:ext uri="{0D108BD9-81ED-4DB2-BD59-A6C34878D82A}">
                    <a16:rowId xmlns:a16="http://schemas.microsoft.com/office/drawing/2014/main" val="1625638842"/>
                  </a:ext>
                </a:extLst>
              </a:tr>
              <a:tr h="370840">
                <a:tc>
                  <a:txBody>
                    <a:bodyPr/>
                    <a:lstStyle/>
                    <a:p>
                      <a:r>
                        <a:rPr lang="en-ZA" sz="1800" dirty="0">
                          <a:solidFill>
                            <a:schemeClr val="dk1"/>
                          </a:solidFill>
                          <a:effectLst/>
                          <a:latin typeface="+mn-lt"/>
                          <a:ea typeface="+mn-ea"/>
                          <a:cs typeface="+mn-cs"/>
                        </a:rPr>
                        <a:t>Mobile Computing.</a:t>
                      </a:r>
                      <a:endParaRPr lang="en-ZA" dirty="0"/>
                    </a:p>
                  </a:txBody>
                  <a:tcPr/>
                </a:tc>
                <a:extLst>
                  <a:ext uri="{0D108BD9-81ED-4DB2-BD59-A6C34878D82A}">
                    <a16:rowId xmlns:a16="http://schemas.microsoft.com/office/drawing/2014/main" val="2643341948"/>
                  </a:ext>
                </a:extLst>
              </a:tr>
              <a:tr h="370840">
                <a:tc>
                  <a:txBody>
                    <a:bodyPr/>
                    <a:lstStyle/>
                    <a:p>
                      <a:r>
                        <a:rPr lang="en-ZA" sz="1800" dirty="0">
                          <a:solidFill>
                            <a:schemeClr val="dk1"/>
                          </a:solidFill>
                          <a:effectLst/>
                          <a:latin typeface="+mn-lt"/>
                          <a:ea typeface="+mn-ea"/>
                          <a:cs typeface="+mn-cs"/>
                        </a:rPr>
                        <a:t>Networks and Cybersecurity.</a:t>
                      </a:r>
                      <a:endParaRPr lang="en-ZA" dirty="0"/>
                    </a:p>
                  </a:txBody>
                  <a:tcPr/>
                </a:tc>
                <a:extLst>
                  <a:ext uri="{0D108BD9-81ED-4DB2-BD59-A6C34878D82A}">
                    <a16:rowId xmlns:a16="http://schemas.microsoft.com/office/drawing/2014/main" val="3022911858"/>
                  </a:ext>
                </a:extLst>
              </a:tr>
              <a:tr h="370840">
                <a:tc>
                  <a:txBody>
                    <a:bodyPr/>
                    <a:lstStyle/>
                    <a:p>
                      <a:r>
                        <a:rPr lang="en-ZA" sz="1800" dirty="0">
                          <a:solidFill>
                            <a:schemeClr val="dk1"/>
                          </a:solidFill>
                          <a:effectLst/>
                          <a:latin typeface="+mn-lt"/>
                          <a:ea typeface="+mn-ea"/>
                          <a:cs typeface="+mn-cs"/>
                        </a:rPr>
                        <a:t>Virtual and Augmented Reality.</a:t>
                      </a:r>
                      <a:endParaRPr lang="en-ZA" dirty="0"/>
                    </a:p>
                  </a:txBody>
                  <a:tcPr/>
                </a:tc>
                <a:extLst>
                  <a:ext uri="{0D108BD9-81ED-4DB2-BD59-A6C34878D82A}">
                    <a16:rowId xmlns:a16="http://schemas.microsoft.com/office/drawing/2014/main" val="2241336783"/>
                  </a:ext>
                </a:extLst>
              </a:tr>
              <a:tr h="370840">
                <a:tc>
                  <a:txBody>
                    <a:bodyPr/>
                    <a:lstStyle/>
                    <a:p>
                      <a:r>
                        <a:rPr lang="en-ZA" sz="1800" dirty="0">
                          <a:solidFill>
                            <a:schemeClr val="dk1"/>
                          </a:solidFill>
                          <a:effectLst/>
                          <a:latin typeface="+mn-lt"/>
                          <a:ea typeface="+mn-ea"/>
                          <a:cs typeface="+mn-cs"/>
                        </a:rPr>
                        <a:t>Machine learning</a:t>
                      </a:r>
                      <a:endParaRPr lang="en-ZA" dirty="0"/>
                    </a:p>
                  </a:txBody>
                  <a:tcPr/>
                </a:tc>
                <a:extLst>
                  <a:ext uri="{0D108BD9-81ED-4DB2-BD59-A6C34878D82A}">
                    <a16:rowId xmlns:a16="http://schemas.microsoft.com/office/drawing/2014/main" val="539295856"/>
                  </a:ext>
                </a:extLst>
              </a:tr>
              <a:tr h="370840">
                <a:tc>
                  <a:txBody>
                    <a:bodyPr/>
                    <a:lstStyle/>
                    <a:p>
                      <a:r>
                        <a:rPr lang="en-ZA" sz="1800" dirty="0">
                          <a:solidFill>
                            <a:schemeClr val="dk1"/>
                          </a:solidFill>
                          <a:effectLst/>
                          <a:latin typeface="+mn-lt"/>
                          <a:ea typeface="+mn-ea"/>
                          <a:cs typeface="+mn-cs"/>
                        </a:rPr>
                        <a:t>Social and professional issues in Computing</a:t>
                      </a:r>
                      <a:endParaRPr lang="en-ZA" dirty="0"/>
                    </a:p>
                  </a:txBody>
                  <a:tcPr/>
                </a:tc>
                <a:extLst>
                  <a:ext uri="{0D108BD9-81ED-4DB2-BD59-A6C34878D82A}">
                    <a16:rowId xmlns:a16="http://schemas.microsoft.com/office/drawing/2014/main" val="3668954085"/>
                  </a:ext>
                </a:extLst>
              </a:tr>
            </a:tbl>
          </a:graphicData>
        </a:graphic>
      </p:graphicFrame>
    </p:spTree>
    <p:extLst>
      <p:ext uri="{BB962C8B-B14F-4D97-AF65-F5344CB8AC3E}">
        <p14:creationId xmlns:p14="http://schemas.microsoft.com/office/powerpoint/2010/main" val="3375869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242C6F-9D08-7F7C-116D-1855E418278C}"/>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11204AD1-C385-139B-2857-BFB9ACD188B4}"/>
              </a:ext>
            </a:extLst>
          </p:cNvPr>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dirty="0"/>
              <a:t>Course</a:t>
            </a:r>
            <a:r>
              <a:rPr spc="-71" dirty="0"/>
              <a:t> </a:t>
            </a:r>
            <a:r>
              <a:rPr lang="en-US" spc="-8" dirty="0"/>
              <a:t>Outline</a:t>
            </a:r>
            <a:endParaRPr spc="-8" dirty="0"/>
          </a:p>
        </p:txBody>
      </p:sp>
      <p:sp>
        <p:nvSpPr>
          <p:cNvPr id="5" name="Text Placeholder 4">
            <a:extLst>
              <a:ext uri="{FF2B5EF4-FFF2-40B4-BE49-F238E27FC236}">
                <a16:creationId xmlns:a16="http://schemas.microsoft.com/office/drawing/2014/main" id="{9134F0B0-4565-12A2-F1D1-1DF89E416C17}"/>
              </a:ext>
            </a:extLst>
          </p:cNvPr>
          <p:cNvSpPr>
            <a:spLocks noGrp="1"/>
          </p:cNvSpPr>
          <p:nvPr>
            <p:ph type="body" idx="1"/>
          </p:nvPr>
        </p:nvSpPr>
        <p:spPr>
          <a:xfrm>
            <a:off x="685800" y="2133600"/>
            <a:ext cx="6553200" cy="2362200"/>
          </a:xfrm>
        </p:spPr>
        <p:txBody>
          <a:bodyPr/>
          <a:lstStyle/>
          <a:p>
            <a:endParaRPr lang="en-ZA" dirty="0"/>
          </a:p>
        </p:txBody>
      </p:sp>
      <p:graphicFrame>
        <p:nvGraphicFramePr>
          <p:cNvPr id="3" name="Table 2">
            <a:extLst>
              <a:ext uri="{FF2B5EF4-FFF2-40B4-BE49-F238E27FC236}">
                <a16:creationId xmlns:a16="http://schemas.microsoft.com/office/drawing/2014/main" id="{B4DF7801-AB05-F43F-2446-0C78368EC456}"/>
              </a:ext>
            </a:extLst>
          </p:cNvPr>
          <p:cNvGraphicFramePr>
            <a:graphicFrameLocks noGrp="1"/>
          </p:cNvGraphicFramePr>
          <p:nvPr>
            <p:extLst>
              <p:ext uri="{D42A27DB-BD31-4B8C-83A1-F6EECF244321}">
                <p14:modId xmlns:p14="http://schemas.microsoft.com/office/powerpoint/2010/main" val="3358998000"/>
              </p:ext>
            </p:extLst>
          </p:nvPr>
        </p:nvGraphicFramePr>
        <p:xfrm>
          <a:off x="685800" y="2133600"/>
          <a:ext cx="6553200" cy="2407920"/>
        </p:xfrm>
        <a:graphic>
          <a:graphicData uri="http://schemas.openxmlformats.org/drawingml/2006/table">
            <a:tbl>
              <a:tblPr firstRow="1" bandRow="1">
                <a:tableStyleId>{5C22544A-7EE6-4342-B048-85BDC9FD1C3A}</a:tableStyleId>
              </a:tblPr>
              <a:tblGrid>
                <a:gridCol w="2184400">
                  <a:extLst>
                    <a:ext uri="{9D8B030D-6E8A-4147-A177-3AD203B41FA5}">
                      <a16:colId xmlns:a16="http://schemas.microsoft.com/office/drawing/2014/main" val="3085490563"/>
                    </a:ext>
                  </a:extLst>
                </a:gridCol>
                <a:gridCol w="2184400">
                  <a:extLst>
                    <a:ext uri="{9D8B030D-6E8A-4147-A177-3AD203B41FA5}">
                      <a16:colId xmlns:a16="http://schemas.microsoft.com/office/drawing/2014/main" val="525794189"/>
                    </a:ext>
                  </a:extLst>
                </a:gridCol>
                <a:gridCol w="2184400">
                  <a:extLst>
                    <a:ext uri="{9D8B030D-6E8A-4147-A177-3AD203B41FA5}">
                      <a16:colId xmlns:a16="http://schemas.microsoft.com/office/drawing/2014/main" val="2356671766"/>
                    </a:ext>
                  </a:extLst>
                </a:gridCol>
              </a:tblGrid>
              <a:tr h="401320">
                <a:tc>
                  <a:txBody>
                    <a:bodyPr/>
                    <a:lstStyle/>
                    <a:p>
                      <a:r>
                        <a:rPr lang="en-US" dirty="0"/>
                        <a:t>Assessment</a:t>
                      </a:r>
                      <a:endParaRPr lang="en-ZA" dirty="0"/>
                    </a:p>
                  </a:txBody>
                  <a:tcPr/>
                </a:tc>
                <a:tc>
                  <a:txBody>
                    <a:bodyPr/>
                    <a:lstStyle/>
                    <a:p>
                      <a:r>
                        <a:rPr lang="en-US" dirty="0"/>
                        <a:t>Due Date</a:t>
                      </a:r>
                      <a:endParaRPr lang="en-ZA" dirty="0"/>
                    </a:p>
                  </a:txBody>
                  <a:tcPr/>
                </a:tc>
                <a:tc>
                  <a:txBody>
                    <a:bodyPr/>
                    <a:lstStyle/>
                    <a:p>
                      <a:r>
                        <a:rPr lang="en-US" dirty="0"/>
                        <a:t>Weight</a:t>
                      </a:r>
                      <a:endParaRPr lang="en-ZA" dirty="0"/>
                    </a:p>
                  </a:txBody>
                  <a:tcPr/>
                </a:tc>
                <a:extLst>
                  <a:ext uri="{0D108BD9-81ED-4DB2-BD59-A6C34878D82A}">
                    <a16:rowId xmlns:a16="http://schemas.microsoft.com/office/drawing/2014/main" val="956353916"/>
                  </a:ext>
                </a:extLst>
              </a:tr>
              <a:tr h="401320">
                <a:tc>
                  <a:txBody>
                    <a:bodyPr/>
                    <a:lstStyle/>
                    <a:p>
                      <a:r>
                        <a:rPr lang="en-US" dirty="0"/>
                        <a:t>Assignment</a:t>
                      </a:r>
                      <a:endParaRPr lang="en-ZA" dirty="0"/>
                    </a:p>
                  </a:txBody>
                  <a:tcPr/>
                </a:tc>
                <a:tc>
                  <a:txBody>
                    <a:bodyPr/>
                    <a:lstStyle/>
                    <a:p>
                      <a:r>
                        <a:rPr lang="en-US" dirty="0"/>
                        <a:t>28 Feb 2026</a:t>
                      </a:r>
                      <a:endParaRPr lang="en-ZA" dirty="0"/>
                    </a:p>
                  </a:txBody>
                  <a:tcPr/>
                </a:tc>
                <a:tc>
                  <a:txBody>
                    <a:bodyPr/>
                    <a:lstStyle/>
                    <a:p>
                      <a:r>
                        <a:rPr lang="en-US" dirty="0"/>
                        <a:t>5%</a:t>
                      </a:r>
                      <a:endParaRPr lang="en-ZA" dirty="0"/>
                    </a:p>
                  </a:txBody>
                  <a:tcPr/>
                </a:tc>
                <a:extLst>
                  <a:ext uri="{0D108BD9-81ED-4DB2-BD59-A6C34878D82A}">
                    <a16:rowId xmlns:a16="http://schemas.microsoft.com/office/drawing/2014/main" val="1171650343"/>
                  </a:ext>
                </a:extLst>
              </a:tr>
              <a:tr h="401320">
                <a:tc>
                  <a:txBody>
                    <a:bodyPr/>
                    <a:lstStyle/>
                    <a:p>
                      <a:r>
                        <a:rPr lang="en-US" dirty="0"/>
                        <a:t>Semester Test 1</a:t>
                      </a:r>
                      <a:endParaRPr lang="en-ZA" dirty="0"/>
                    </a:p>
                  </a:txBody>
                  <a:tcPr/>
                </a:tc>
                <a:tc>
                  <a:txBody>
                    <a:bodyPr/>
                    <a:lstStyle/>
                    <a:p>
                      <a:r>
                        <a:rPr lang="en-US" dirty="0"/>
                        <a:t>28 March 2026</a:t>
                      </a:r>
                      <a:endParaRPr lang="en-ZA" dirty="0"/>
                    </a:p>
                  </a:txBody>
                  <a:tcPr/>
                </a:tc>
                <a:tc>
                  <a:txBody>
                    <a:bodyPr/>
                    <a:lstStyle/>
                    <a:p>
                      <a:r>
                        <a:rPr lang="en-US" dirty="0"/>
                        <a:t>15%</a:t>
                      </a:r>
                      <a:endParaRPr lang="en-ZA" dirty="0"/>
                    </a:p>
                  </a:txBody>
                  <a:tcPr/>
                </a:tc>
                <a:extLst>
                  <a:ext uri="{0D108BD9-81ED-4DB2-BD59-A6C34878D82A}">
                    <a16:rowId xmlns:a16="http://schemas.microsoft.com/office/drawing/2014/main" val="2217830998"/>
                  </a:ext>
                </a:extLst>
              </a:tr>
              <a:tr h="401320">
                <a:tc>
                  <a:txBody>
                    <a:bodyPr/>
                    <a:lstStyle/>
                    <a:p>
                      <a:r>
                        <a:rPr lang="en-US" dirty="0"/>
                        <a:t>Project (Article)</a:t>
                      </a:r>
                      <a:endParaRPr lang="en-ZA" dirty="0"/>
                    </a:p>
                  </a:txBody>
                  <a:tcPr/>
                </a:tc>
                <a:tc>
                  <a:txBody>
                    <a:bodyPr/>
                    <a:lstStyle/>
                    <a:p>
                      <a:r>
                        <a:rPr lang="en-US" dirty="0"/>
                        <a:t>30 April 2026</a:t>
                      </a:r>
                      <a:endParaRPr lang="en-ZA" dirty="0"/>
                    </a:p>
                  </a:txBody>
                  <a:tcPr/>
                </a:tc>
                <a:tc>
                  <a:txBody>
                    <a:bodyPr/>
                    <a:lstStyle/>
                    <a:p>
                      <a:r>
                        <a:rPr lang="en-US" dirty="0"/>
                        <a:t>20%</a:t>
                      </a:r>
                      <a:endParaRPr lang="en-ZA" dirty="0"/>
                    </a:p>
                  </a:txBody>
                  <a:tcPr/>
                </a:tc>
                <a:extLst>
                  <a:ext uri="{0D108BD9-81ED-4DB2-BD59-A6C34878D82A}">
                    <a16:rowId xmlns:a16="http://schemas.microsoft.com/office/drawing/2014/main" val="2449582785"/>
                  </a:ext>
                </a:extLst>
              </a:tr>
              <a:tr h="401320">
                <a:tc>
                  <a:txBody>
                    <a:bodyPr/>
                    <a:lstStyle/>
                    <a:p>
                      <a:r>
                        <a:rPr lang="en-US" dirty="0"/>
                        <a:t>Semester Test 2</a:t>
                      </a:r>
                      <a:endParaRPr lang="en-ZA" dirty="0"/>
                    </a:p>
                  </a:txBody>
                  <a:tcPr/>
                </a:tc>
                <a:tc>
                  <a:txBody>
                    <a:bodyPr/>
                    <a:lstStyle/>
                    <a:p>
                      <a:r>
                        <a:rPr lang="en-US" dirty="0"/>
                        <a:t>09 May 2026</a:t>
                      </a:r>
                      <a:endParaRPr lang="en-ZA" dirty="0"/>
                    </a:p>
                  </a:txBody>
                  <a:tcPr/>
                </a:tc>
                <a:tc>
                  <a:txBody>
                    <a:bodyPr/>
                    <a:lstStyle/>
                    <a:p>
                      <a:r>
                        <a:rPr lang="en-US" dirty="0"/>
                        <a:t>25%</a:t>
                      </a:r>
                      <a:endParaRPr lang="en-ZA" dirty="0"/>
                    </a:p>
                  </a:txBody>
                  <a:tcPr/>
                </a:tc>
                <a:extLst>
                  <a:ext uri="{0D108BD9-81ED-4DB2-BD59-A6C34878D82A}">
                    <a16:rowId xmlns:a16="http://schemas.microsoft.com/office/drawing/2014/main" val="51762735"/>
                  </a:ext>
                </a:extLst>
              </a:tr>
              <a:tr h="401320">
                <a:tc>
                  <a:txBody>
                    <a:bodyPr/>
                    <a:lstStyle/>
                    <a:p>
                      <a:r>
                        <a:rPr lang="en-US" dirty="0"/>
                        <a:t>Test/Exam</a:t>
                      </a:r>
                      <a:endParaRPr lang="en-ZA" dirty="0"/>
                    </a:p>
                  </a:txBody>
                  <a:tcPr/>
                </a:tc>
                <a:tc>
                  <a:txBody>
                    <a:bodyPr/>
                    <a:lstStyle/>
                    <a:p>
                      <a:r>
                        <a:rPr lang="en-US" dirty="0"/>
                        <a:t>30 May 2026</a:t>
                      </a:r>
                      <a:endParaRPr lang="en-ZA" dirty="0"/>
                    </a:p>
                  </a:txBody>
                  <a:tcPr/>
                </a:tc>
                <a:tc>
                  <a:txBody>
                    <a:bodyPr/>
                    <a:lstStyle/>
                    <a:p>
                      <a:r>
                        <a:rPr lang="en-US" dirty="0"/>
                        <a:t>35%</a:t>
                      </a:r>
                      <a:endParaRPr lang="en-ZA" dirty="0"/>
                    </a:p>
                  </a:txBody>
                  <a:tcPr/>
                </a:tc>
                <a:extLst>
                  <a:ext uri="{0D108BD9-81ED-4DB2-BD59-A6C34878D82A}">
                    <a16:rowId xmlns:a16="http://schemas.microsoft.com/office/drawing/2014/main" val="3670798981"/>
                  </a:ext>
                </a:extLst>
              </a:tr>
            </a:tbl>
          </a:graphicData>
        </a:graphic>
      </p:graphicFrame>
    </p:spTree>
    <p:extLst>
      <p:ext uri="{BB962C8B-B14F-4D97-AF65-F5344CB8AC3E}">
        <p14:creationId xmlns:p14="http://schemas.microsoft.com/office/powerpoint/2010/main" val="263329418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dirty="0"/>
              <a:t>Approach</a:t>
            </a:r>
            <a:r>
              <a:rPr spc="-19" dirty="0"/>
              <a:t> </a:t>
            </a:r>
            <a:r>
              <a:rPr dirty="0"/>
              <a:t>to</a:t>
            </a:r>
            <a:r>
              <a:rPr spc="-38" dirty="0"/>
              <a:t> </a:t>
            </a:r>
            <a:r>
              <a:rPr dirty="0"/>
              <a:t>be</a:t>
            </a:r>
            <a:r>
              <a:rPr spc="-34" dirty="0"/>
              <a:t> </a:t>
            </a:r>
            <a:r>
              <a:rPr spc="-15" dirty="0"/>
              <a:t>used</a:t>
            </a:r>
          </a:p>
        </p:txBody>
      </p:sp>
      <p:grpSp>
        <p:nvGrpSpPr>
          <p:cNvPr id="3" name="object 3"/>
          <p:cNvGrpSpPr/>
          <p:nvPr/>
        </p:nvGrpSpPr>
        <p:grpSpPr>
          <a:xfrm>
            <a:off x="1045845" y="2628900"/>
            <a:ext cx="6248876" cy="2697480"/>
            <a:chOff x="1394460" y="2362200"/>
            <a:chExt cx="8331834" cy="3596640"/>
          </a:xfrm>
        </p:grpSpPr>
        <p:sp>
          <p:nvSpPr>
            <p:cNvPr id="4" name="object 4"/>
            <p:cNvSpPr/>
            <p:nvPr/>
          </p:nvSpPr>
          <p:spPr>
            <a:xfrm>
              <a:off x="1400556" y="2368295"/>
              <a:ext cx="8319770" cy="3584575"/>
            </a:xfrm>
            <a:custGeom>
              <a:avLst/>
              <a:gdLst/>
              <a:ahLst/>
              <a:cxnLst/>
              <a:rect l="l" t="t" r="r" b="b"/>
              <a:pathLst>
                <a:path w="8319770" h="3584575">
                  <a:moveTo>
                    <a:pt x="7722108" y="0"/>
                  </a:moveTo>
                  <a:lnTo>
                    <a:pt x="597407" y="0"/>
                  </a:lnTo>
                  <a:lnTo>
                    <a:pt x="548410" y="1980"/>
                  </a:lnTo>
                  <a:lnTo>
                    <a:pt x="500503" y="7818"/>
                  </a:lnTo>
                  <a:lnTo>
                    <a:pt x="453841" y="17361"/>
                  </a:lnTo>
                  <a:lnTo>
                    <a:pt x="408578" y="30455"/>
                  </a:lnTo>
                  <a:lnTo>
                    <a:pt x="364867" y="46946"/>
                  </a:lnTo>
                  <a:lnTo>
                    <a:pt x="322861" y="66680"/>
                  </a:lnTo>
                  <a:lnTo>
                    <a:pt x="282716" y="89503"/>
                  </a:lnTo>
                  <a:lnTo>
                    <a:pt x="244583" y="115263"/>
                  </a:lnTo>
                  <a:lnTo>
                    <a:pt x="208618" y="143804"/>
                  </a:lnTo>
                  <a:lnTo>
                    <a:pt x="174974" y="174974"/>
                  </a:lnTo>
                  <a:lnTo>
                    <a:pt x="143804" y="208618"/>
                  </a:lnTo>
                  <a:lnTo>
                    <a:pt x="115263" y="244583"/>
                  </a:lnTo>
                  <a:lnTo>
                    <a:pt x="89503" y="282716"/>
                  </a:lnTo>
                  <a:lnTo>
                    <a:pt x="66680" y="322861"/>
                  </a:lnTo>
                  <a:lnTo>
                    <a:pt x="46946" y="364867"/>
                  </a:lnTo>
                  <a:lnTo>
                    <a:pt x="30455" y="408578"/>
                  </a:lnTo>
                  <a:lnTo>
                    <a:pt x="17361" y="453841"/>
                  </a:lnTo>
                  <a:lnTo>
                    <a:pt x="7818" y="500503"/>
                  </a:lnTo>
                  <a:lnTo>
                    <a:pt x="1980" y="548410"/>
                  </a:lnTo>
                  <a:lnTo>
                    <a:pt x="0" y="597407"/>
                  </a:lnTo>
                  <a:lnTo>
                    <a:pt x="0" y="2987040"/>
                  </a:lnTo>
                  <a:lnTo>
                    <a:pt x="1980" y="3036035"/>
                  </a:lnTo>
                  <a:lnTo>
                    <a:pt x="7818" y="3083941"/>
                  </a:lnTo>
                  <a:lnTo>
                    <a:pt x="17361" y="3130602"/>
                  </a:lnTo>
                  <a:lnTo>
                    <a:pt x="30455" y="3175864"/>
                  </a:lnTo>
                  <a:lnTo>
                    <a:pt x="46946" y="3219575"/>
                  </a:lnTo>
                  <a:lnTo>
                    <a:pt x="66680" y="3261580"/>
                  </a:lnTo>
                  <a:lnTo>
                    <a:pt x="89503" y="3301726"/>
                  </a:lnTo>
                  <a:lnTo>
                    <a:pt x="115263" y="3339858"/>
                  </a:lnTo>
                  <a:lnTo>
                    <a:pt x="143804" y="3375824"/>
                  </a:lnTo>
                  <a:lnTo>
                    <a:pt x="174974" y="3409468"/>
                  </a:lnTo>
                  <a:lnTo>
                    <a:pt x="208618" y="3440639"/>
                  </a:lnTo>
                  <a:lnTo>
                    <a:pt x="244583" y="3469181"/>
                  </a:lnTo>
                  <a:lnTo>
                    <a:pt x="282716" y="3494941"/>
                  </a:lnTo>
                  <a:lnTo>
                    <a:pt x="322861" y="3517765"/>
                  </a:lnTo>
                  <a:lnTo>
                    <a:pt x="364867" y="3537499"/>
                  </a:lnTo>
                  <a:lnTo>
                    <a:pt x="408578" y="3553991"/>
                  </a:lnTo>
                  <a:lnTo>
                    <a:pt x="453841" y="3567085"/>
                  </a:lnTo>
                  <a:lnTo>
                    <a:pt x="500503" y="3576628"/>
                  </a:lnTo>
                  <a:lnTo>
                    <a:pt x="548410" y="3582467"/>
                  </a:lnTo>
                  <a:lnTo>
                    <a:pt x="597407" y="3584448"/>
                  </a:lnTo>
                  <a:lnTo>
                    <a:pt x="7722108" y="3584448"/>
                  </a:lnTo>
                  <a:lnTo>
                    <a:pt x="7771105" y="3582467"/>
                  </a:lnTo>
                  <a:lnTo>
                    <a:pt x="7819012" y="3576628"/>
                  </a:lnTo>
                  <a:lnTo>
                    <a:pt x="7865674" y="3567085"/>
                  </a:lnTo>
                  <a:lnTo>
                    <a:pt x="7910937" y="3553991"/>
                  </a:lnTo>
                  <a:lnTo>
                    <a:pt x="7954648" y="3537499"/>
                  </a:lnTo>
                  <a:lnTo>
                    <a:pt x="7996654" y="3517765"/>
                  </a:lnTo>
                  <a:lnTo>
                    <a:pt x="8036799" y="3494941"/>
                  </a:lnTo>
                  <a:lnTo>
                    <a:pt x="8074932" y="3469181"/>
                  </a:lnTo>
                  <a:lnTo>
                    <a:pt x="8110897" y="3440639"/>
                  </a:lnTo>
                  <a:lnTo>
                    <a:pt x="8144541" y="3409468"/>
                  </a:lnTo>
                  <a:lnTo>
                    <a:pt x="8175711" y="3375824"/>
                  </a:lnTo>
                  <a:lnTo>
                    <a:pt x="8204252" y="3339858"/>
                  </a:lnTo>
                  <a:lnTo>
                    <a:pt x="8230012" y="3301726"/>
                  </a:lnTo>
                  <a:lnTo>
                    <a:pt x="8252835" y="3261580"/>
                  </a:lnTo>
                  <a:lnTo>
                    <a:pt x="8272569" y="3219575"/>
                  </a:lnTo>
                  <a:lnTo>
                    <a:pt x="8289060" y="3175864"/>
                  </a:lnTo>
                  <a:lnTo>
                    <a:pt x="8302154" y="3130602"/>
                  </a:lnTo>
                  <a:lnTo>
                    <a:pt x="8311697" y="3083941"/>
                  </a:lnTo>
                  <a:lnTo>
                    <a:pt x="8317535" y="3036035"/>
                  </a:lnTo>
                  <a:lnTo>
                    <a:pt x="8319516" y="2987040"/>
                  </a:lnTo>
                  <a:lnTo>
                    <a:pt x="8319516" y="597407"/>
                  </a:lnTo>
                  <a:lnTo>
                    <a:pt x="8317535" y="548410"/>
                  </a:lnTo>
                  <a:lnTo>
                    <a:pt x="8311697" y="500503"/>
                  </a:lnTo>
                  <a:lnTo>
                    <a:pt x="8302154" y="453841"/>
                  </a:lnTo>
                  <a:lnTo>
                    <a:pt x="8289060" y="408578"/>
                  </a:lnTo>
                  <a:lnTo>
                    <a:pt x="8272569" y="364867"/>
                  </a:lnTo>
                  <a:lnTo>
                    <a:pt x="8252835" y="322861"/>
                  </a:lnTo>
                  <a:lnTo>
                    <a:pt x="8230012" y="282716"/>
                  </a:lnTo>
                  <a:lnTo>
                    <a:pt x="8204252" y="244583"/>
                  </a:lnTo>
                  <a:lnTo>
                    <a:pt x="8175711" y="208618"/>
                  </a:lnTo>
                  <a:lnTo>
                    <a:pt x="8144541" y="174974"/>
                  </a:lnTo>
                  <a:lnTo>
                    <a:pt x="8110897" y="143804"/>
                  </a:lnTo>
                  <a:lnTo>
                    <a:pt x="8074932" y="115263"/>
                  </a:lnTo>
                  <a:lnTo>
                    <a:pt x="8036799" y="89503"/>
                  </a:lnTo>
                  <a:lnTo>
                    <a:pt x="7996654" y="66680"/>
                  </a:lnTo>
                  <a:lnTo>
                    <a:pt x="7954648" y="46946"/>
                  </a:lnTo>
                  <a:lnTo>
                    <a:pt x="7910937" y="30455"/>
                  </a:lnTo>
                  <a:lnTo>
                    <a:pt x="7865674" y="17361"/>
                  </a:lnTo>
                  <a:lnTo>
                    <a:pt x="7819012" y="7818"/>
                  </a:lnTo>
                  <a:lnTo>
                    <a:pt x="7771105" y="1980"/>
                  </a:lnTo>
                  <a:lnTo>
                    <a:pt x="7722108" y="0"/>
                  </a:lnTo>
                  <a:close/>
                </a:path>
              </a:pathLst>
            </a:custGeom>
            <a:solidFill>
              <a:srgbClr val="56903E"/>
            </a:solidFill>
          </p:spPr>
          <p:txBody>
            <a:bodyPr wrap="square" lIns="0" tIns="0" rIns="0" bIns="0" rtlCol="0"/>
            <a:lstStyle/>
            <a:p>
              <a:endParaRPr/>
            </a:p>
          </p:txBody>
        </p:sp>
        <p:sp>
          <p:nvSpPr>
            <p:cNvPr id="5" name="object 5"/>
            <p:cNvSpPr/>
            <p:nvPr/>
          </p:nvSpPr>
          <p:spPr>
            <a:xfrm>
              <a:off x="1400556" y="2368295"/>
              <a:ext cx="8319770" cy="3584575"/>
            </a:xfrm>
            <a:custGeom>
              <a:avLst/>
              <a:gdLst/>
              <a:ahLst/>
              <a:cxnLst/>
              <a:rect l="l" t="t" r="r" b="b"/>
              <a:pathLst>
                <a:path w="8319770" h="3584575">
                  <a:moveTo>
                    <a:pt x="0" y="597407"/>
                  </a:moveTo>
                  <a:lnTo>
                    <a:pt x="1980" y="548410"/>
                  </a:lnTo>
                  <a:lnTo>
                    <a:pt x="7818" y="500503"/>
                  </a:lnTo>
                  <a:lnTo>
                    <a:pt x="17361" y="453841"/>
                  </a:lnTo>
                  <a:lnTo>
                    <a:pt x="30455" y="408578"/>
                  </a:lnTo>
                  <a:lnTo>
                    <a:pt x="46946" y="364867"/>
                  </a:lnTo>
                  <a:lnTo>
                    <a:pt x="66680" y="322861"/>
                  </a:lnTo>
                  <a:lnTo>
                    <a:pt x="89503" y="282716"/>
                  </a:lnTo>
                  <a:lnTo>
                    <a:pt x="115263" y="244583"/>
                  </a:lnTo>
                  <a:lnTo>
                    <a:pt x="143804" y="208618"/>
                  </a:lnTo>
                  <a:lnTo>
                    <a:pt x="174974" y="174974"/>
                  </a:lnTo>
                  <a:lnTo>
                    <a:pt x="208618" y="143804"/>
                  </a:lnTo>
                  <a:lnTo>
                    <a:pt x="244583" y="115263"/>
                  </a:lnTo>
                  <a:lnTo>
                    <a:pt x="282716" y="89503"/>
                  </a:lnTo>
                  <a:lnTo>
                    <a:pt x="322861" y="66680"/>
                  </a:lnTo>
                  <a:lnTo>
                    <a:pt x="364867" y="46946"/>
                  </a:lnTo>
                  <a:lnTo>
                    <a:pt x="408578" y="30455"/>
                  </a:lnTo>
                  <a:lnTo>
                    <a:pt x="453841" y="17361"/>
                  </a:lnTo>
                  <a:lnTo>
                    <a:pt x="500503" y="7818"/>
                  </a:lnTo>
                  <a:lnTo>
                    <a:pt x="548410" y="1980"/>
                  </a:lnTo>
                  <a:lnTo>
                    <a:pt x="597407" y="0"/>
                  </a:lnTo>
                  <a:lnTo>
                    <a:pt x="7722108" y="0"/>
                  </a:lnTo>
                  <a:lnTo>
                    <a:pt x="7771105" y="1980"/>
                  </a:lnTo>
                  <a:lnTo>
                    <a:pt x="7819012" y="7818"/>
                  </a:lnTo>
                  <a:lnTo>
                    <a:pt x="7865674" y="17361"/>
                  </a:lnTo>
                  <a:lnTo>
                    <a:pt x="7910937" y="30455"/>
                  </a:lnTo>
                  <a:lnTo>
                    <a:pt x="7954648" y="46946"/>
                  </a:lnTo>
                  <a:lnTo>
                    <a:pt x="7996654" y="66680"/>
                  </a:lnTo>
                  <a:lnTo>
                    <a:pt x="8036799" y="89503"/>
                  </a:lnTo>
                  <a:lnTo>
                    <a:pt x="8074932" y="115263"/>
                  </a:lnTo>
                  <a:lnTo>
                    <a:pt x="8110897" y="143804"/>
                  </a:lnTo>
                  <a:lnTo>
                    <a:pt x="8144541" y="174974"/>
                  </a:lnTo>
                  <a:lnTo>
                    <a:pt x="8175711" y="208618"/>
                  </a:lnTo>
                  <a:lnTo>
                    <a:pt x="8204252" y="244583"/>
                  </a:lnTo>
                  <a:lnTo>
                    <a:pt x="8230012" y="282716"/>
                  </a:lnTo>
                  <a:lnTo>
                    <a:pt x="8252835" y="322861"/>
                  </a:lnTo>
                  <a:lnTo>
                    <a:pt x="8272569" y="364867"/>
                  </a:lnTo>
                  <a:lnTo>
                    <a:pt x="8289060" y="408578"/>
                  </a:lnTo>
                  <a:lnTo>
                    <a:pt x="8302154" y="453841"/>
                  </a:lnTo>
                  <a:lnTo>
                    <a:pt x="8311697" y="500503"/>
                  </a:lnTo>
                  <a:lnTo>
                    <a:pt x="8317535" y="548410"/>
                  </a:lnTo>
                  <a:lnTo>
                    <a:pt x="8319516" y="597407"/>
                  </a:lnTo>
                  <a:lnTo>
                    <a:pt x="8319516" y="2987040"/>
                  </a:lnTo>
                  <a:lnTo>
                    <a:pt x="8317535" y="3036035"/>
                  </a:lnTo>
                  <a:lnTo>
                    <a:pt x="8311697" y="3083941"/>
                  </a:lnTo>
                  <a:lnTo>
                    <a:pt x="8302154" y="3130602"/>
                  </a:lnTo>
                  <a:lnTo>
                    <a:pt x="8289060" y="3175864"/>
                  </a:lnTo>
                  <a:lnTo>
                    <a:pt x="8272569" y="3219575"/>
                  </a:lnTo>
                  <a:lnTo>
                    <a:pt x="8252835" y="3261580"/>
                  </a:lnTo>
                  <a:lnTo>
                    <a:pt x="8230012" y="3301726"/>
                  </a:lnTo>
                  <a:lnTo>
                    <a:pt x="8204252" y="3339858"/>
                  </a:lnTo>
                  <a:lnTo>
                    <a:pt x="8175711" y="3375824"/>
                  </a:lnTo>
                  <a:lnTo>
                    <a:pt x="8144541" y="3409468"/>
                  </a:lnTo>
                  <a:lnTo>
                    <a:pt x="8110897" y="3440639"/>
                  </a:lnTo>
                  <a:lnTo>
                    <a:pt x="8074932" y="3469181"/>
                  </a:lnTo>
                  <a:lnTo>
                    <a:pt x="8036799" y="3494941"/>
                  </a:lnTo>
                  <a:lnTo>
                    <a:pt x="7996654" y="3517765"/>
                  </a:lnTo>
                  <a:lnTo>
                    <a:pt x="7954648" y="3537499"/>
                  </a:lnTo>
                  <a:lnTo>
                    <a:pt x="7910937" y="3553991"/>
                  </a:lnTo>
                  <a:lnTo>
                    <a:pt x="7865674" y="3567085"/>
                  </a:lnTo>
                  <a:lnTo>
                    <a:pt x="7819012" y="3576628"/>
                  </a:lnTo>
                  <a:lnTo>
                    <a:pt x="7771105" y="3582467"/>
                  </a:lnTo>
                  <a:lnTo>
                    <a:pt x="7722108" y="3584448"/>
                  </a:lnTo>
                  <a:lnTo>
                    <a:pt x="597407" y="3584448"/>
                  </a:lnTo>
                  <a:lnTo>
                    <a:pt x="548410" y="3582467"/>
                  </a:lnTo>
                  <a:lnTo>
                    <a:pt x="500503" y="3576628"/>
                  </a:lnTo>
                  <a:lnTo>
                    <a:pt x="453841" y="3567085"/>
                  </a:lnTo>
                  <a:lnTo>
                    <a:pt x="408578" y="3553991"/>
                  </a:lnTo>
                  <a:lnTo>
                    <a:pt x="364867" y="3537499"/>
                  </a:lnTo>
                  <a:lnTo>
                    <a:pt x="322861" y="3517765"/>
                  </a:lnTo>
                  <a:lnTo>
                    <a:pt x="282716" y="3494941"/>
                  </a:lnTo>
                  <a:lnTo>
                    <a:pt x="244583" y="3469181"/>
                  </a:lnTo>
                  <a:lnTo>
                    <a:pt x="208618" y="3440639"/>
                  </a:lnTo>
                  <a:lnTo>
                    <a:pt x="174974" y="3409468"/>
                  </a:lnTo>
                  <a:lnTo>
                    <a:pt x="143804" y="3375824"/>
                  </a:lnTo>
                  <a:lnTo>
                    <a:pt x="115263" y="3339858"/>
                  </a:lnTo>
                  <a:lnTo>
                    <a:pt x="89503" y="3301726"/>
                  </a:lnTo>
                  <a:lnTo>
                    <a:pt x="66680" y="3261580"/>
                  </a:lnTo>
                  <a:lnTo>
                    <a:pt x="46946" y="3219575"/>
                  </a:lnTo>
                  <a:lnTo>
                    <a:pt x="30455" y="3175864"/>
                  </a:lnTo>
                  <a:lnTo>
                    <a:pt x="17361" y="3130602"/>
                  </a:lnTo>
                  <a:lnTo>
                    <a:pt x="7818" y="3083941"/>
                  </a:lnTo>
                  <a:lnTo>
                    <a:pt x="1980" y="3036035"/>
                  </a:lnTo>
                  <a:lnTo>
                    <a:pt x="0" y="2987040"/>
                  </a:lnTo>
                  <a:lnTo>
                    <a:pt x="0" y="597407"/>
                  </a:lnTo>
                  <a:close/>
                </a:path>
              </a:pathLst>
            </a:custGeom>
            <a:ln w="12192">
              <a:solidFill>
                <a:srgbClr val="3D682C"/>
              </a:solidFill>
            </a:ln>
          </p:spPr>
          <p:txBody>
            <a:bodyPr wrap="square" lIns="0" tIns="0" rIns="0" bIns="0" rtlCol="0"/>
            <a:lstStyle/>
            <a:p>
              <a:endParaRPr/>
            </a:p>
          </p:txBody>
        </p:sp>
      </p:grpSp>
      <p:sp>
        <p:nvSpPr>
          <p:cNvPr id="6" name="object 6"/>
          <p:cNvSpPr txBox="1"/>
          <p:nvPr/>
        </p:nvSpPr>
        <p:spPr>
          <a:xfrm>
            <a:off x="1240251" y="3278410"/>
            <a:ext cx="5065871" cy="1394613"/>
          </a:xfrm>
          <a:prstGeom prst="rect">
            <a:avLst/>
          </a:prstGeom>
        </p:spPr>
        <p:txBody>
          <a:bodyPr vert="horz" wrap="square" lIns="0" tIns="9525" rIns="0" bIns="0" rtlCol="0">
            <a:spAutoFit/>
          </a:bodyPr>
          <a:lstStyle/>
          <a:p>
            <a:pPr marL="224314" indent="-214789">
              <a:spcBef>
                <a:spcPts val="75"/>
              </a:spcBef>
              <a:buFont typeface="Arial"/>
              <a:buChar char="•"/>
              <a:tabLst>
                <a:tab pos="224314" algn="l"/>
              </a:tabLst>
            </a:pPr>
            <a:r>
              <a:rPr spc="-8" dirty="0">
                <a:solidFill>
                  <a:srgbClr val="FFFFFF"/>
                </a:solidFill>
                <a:latin typeface="Century Gothic"/>
                <a:cs typeface="Century Gothic"/>
              </a:rPr>
              <a:t>Presentations</a:t>
            </a:r>
            <a:endParaRPr dirty="0">
              <a:latin typeface="Century Gothic"/>
              <a:cs typeface="Century Gothic"/>
            </a:endParaRPr>
          </a:p>
          <a:p>
            <a:pPr marL="224314" indent="-214789">
              <a:buFont typeface="Arial"/>
              <a:buChar char="•"/>
              <a:tabLst>
                <a:tab pos="224314" algn="l"/>
              </a:tabLst>
            </a:pPr>
            <a:r>
              <a:rPr spc="-8" dirty="0">
                <a:solidFill>
                  <a:srgbClr val="FFFFFF"/>
                </a:solidFill>
                <a:latin typeface="Century Gothic"/>
                <a:cs typeface="Century Gothic"/>
              </a:rPr>
              <a:t>Videos</a:t>
            </a:r>
            <a:endParaRPr dirty="0">
              <a:latin typeface="Century Gothic"/>
              <a:cs typeface="Century Gothic"/>
            </a:endParaRPr>
          </a:p>
          <a:p>
            <a:pPr marL="224314" indent="-214789">
              <a:buFont typeface="Arial"/>
              <a:buChar char="•"/>
              <a:tabLst>
                <a:tab pos="224314" algn="l"/>
              </a:tabLst>
            </a:pPr>
            <a:r>
              <a:rPr spc="-8" dirty="0">
                <a:solidFill>
                  <a:srgbClr val="FFFFFF"/>
                </a:solidFill>
                <a:latin typeface="Century Gothic"/>
                <a:cs typeface="Century Gothic"/>
              </a:rPr>
              <a:t>Virtual</a:t>
            </a:r>
            <a:endParaRPr dirty="0">
              <a:latin typeface="Century Gothic"/>
              <a:cs typeface="Century Gothic"/>
            </a:endParaRPr>
          </a:p>
          <a:p>
            <a:pPr marL="224314" indent="-214789">
              <a:buFont typeface="Arial"/>
              <a:buChar char="•"/>
              <a:tabLst>
                <a:tab pos="224314" algn="l"/>
              </a:tabLst>
            </a:pPr>
            <a:r>
              <a:rPr dirty="0">
                <a:solidFill>
                  <a:srgbClr val="FFFFFF"/>
                </a:solidFill>
                <a:latin typeface="Century Gothic"/>
                <a:cs typeface="Century Gothic"/>
              </a:rPr>
              <a:t>T</a:t>
            </a:r>
            <a:r>
              <a:rPr lang="en-US" dirty="0">
                <a:solidFill>
                  <a:srgbClr val="FFFFFF"/>
                </a:solidFill>
                <a:latin typeface="Century Gothic"/>
                <a:cs typeface="Century Gothic"/>
              </a:rPr>
              <a:t>ests, assignments, article writing</a:t>
            </a:r>
          </a:p>
          <a:p>
            <a:pPr marL="224314" indent="-214789">
              <a:buFont typeface="Arial"/>
              <a:buChar char="•"/>
              <a:tabLst>
                <a:tab pos="224314" algn="l"/>
              </a:tabLst>
            </a:pPr>
            <a:r>
              <a:rPr dirty="0">
                <a:solidFill>
                  <a:srgbClr val="FFFFFF"/>
                </a:solidFill>
                <a:latin typeface="Century Gothic"/>
                <a:cs typeface="Century Gothic"/>
              </a:rPr>
              <a:t>Verbal</a:t>
            </a:r>
            <a:r>
              <a:rPr spc="-23" dirty="0">
                <a:solidFill>
                  <a:srgbClr val="FFFFFF"/>
                </a:solidFill>
                <a:latin typeface="Century Gothic"/>
                <a:cs typeface="Century Gothic"/>
              </a:rPr>
              <a:t> </a:t>
            </a:r>
            <a:r>
              <a:rPr dirty="0">
                <a:solidFill>
                  <a:srgbClr val="FFFFFF"/>
                </a:solidFill>
                <a:latin typeface="Century Gothic"/>
                <a:cs typeface="Century Gothic"/>
              </a:rPr>
              <a:t>&amp;</a:t>
            </a:r>
            <a:r>
              <a:rPr spc="-34" dirty="0">
                <a:solidFill>
                  <a:srgbClr val="FFFFFF"/>
                </a:solidFill>
                <a:latin typeface="Century Gothic"/>
                <a:cs typeface="Century Gothic"/>
              </a:rPr>
              <a:t> </a:t>
            </a:r>
            <a:r>
              <a:rPr dirty="0">
                <a:solidFill>
                  <a:srgbClr val="FFFFFF"/>
                </a:solidFill>
                <a:latin typeface="Century Gothic"/>
                <a:cs typeface="Century Gothic"/>
              </a:rPr>
              <a:t>Written</a:t>
            </a:r>
            <a:r>
              <a:rPr spc="-11" dirty="0">
                <a:solidFill>
                  <a:srgbClr val="FFFFFF"/>
                </a:solidFill>
                <a:latin typeface="Century Gothic"/>
                <a:cs typeface="Century Gothic"/>
              </a:rPr>
              <a:t> </a:t>
            </a:r>
            <a:r>
              <a:rPr dirty="0">
                <a:solidFill>
                  <a:srgbClr val="FFFFFF"/>
                </a:solidFill>
                <a:latin typeface="Century Gothic"/>
                <a:cs typeface="Century Gothic"/>
              </a:rPr>
              <a:t>feedback</a:t>
            </a:r>
            <a:r>
              <a:rPr spc="-38" dirty="0">
                <a:solidFill>
                  <a:srgbClr val="FFFFFF"/>
                </a:solidFill>
                <a:latin typeface="Century Gothic"/>
                <a:cs typeface="Century Gothic"/>
              </a:rPr>
              <a:t> </a:t>
            </a:r>
            <a:r>
              <a:rPr dirty="0">
                <a:solidFill>
                  <a:srgbClr val="FFFFFF"/>
                </a:solidFill>
                <a:latin typeface="Century Gothic"/>
                <a:cs typeface="Century Gothic"/>
              </a:rPr>
              <a:t>to</a:t>
            </a:r>
            <a:r>
              <a:rPr spc="-26" dirty="0">
                <a:solidFill>
                  <a:srgbClr val="FFFFFF"/>
                </a:solidFill>
                <a:latin typeface="Century Gothic"/>
                <a:cs typeface="Century Gothic"/>
              </a:rPr>
              <a:t> </a:t>
            </a:r>
            <a:r>
              <a:rPr dirty="0">
                <a:solidFill>
                  <a:srgbClr val="FFFFFF"/>
                </a:solidFill>
                <a:latin typeface="Century Gothic"/>
                <a:cs typeface="Century Gothic"/>
              </a:rPr>
              <a:t>your</a:t>
            </a:r>
            <a:r>
              <a:rPr spc="-15" dirty="0">
                <a:solidFill>
                  <a:srgbClr val="FFFFFF"/>
                </a:solidFill>
                <a:latin typeface="Century Gothic"/>
                <a:cs typeface="Century Gothic"/>
              </a:rPr>
              <a:t> </a:t>
            </a:r>
            <a:r>
              <a:rPr spc="-8" dirty="0">
                <a:solidFill>
                  <a:srgbClr val="FFFFFF"/>
                </a:solidFill>
                <a:latin typeface="Century Gothic"/>
                <a:cs typeface="Century Gothic"/>
              </a:rPr>
              <a:t>activities</a:t>
            </a:r>
            <a:endParaRPr dirty="0">
              <a:latin typeface="Century Gothic"/>
              <a:cs typeface="Century Gothic"/>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25714-A3E6-E452-FE7B-471D34136D99}"/>
            </a:ext>
          </a:extLst>
        </p:cNvPr>
        <p:cNvGrpSpPr/>
        <p:nvPr/>
      </p:nvGrpSpPr>
      <p:grpSpPr>
        <a:xfrm>
          <a:off x="0" y="0"/>
          <a:ext cx="0" cy="0"/>
          <a:chOff x="0" y="0"/>
          <a:chExt cx="0" cy="0"/>
        </a:xfrm>
      </p:grpSpPr>
      <p:sp>
        <p:nvSpPr>
          <p:cNvPr id="17" name="object 17">
            <a:extLst>
              <a:ext uri="{FF2B5EF4-FFF2-40B4-BE49-F238E27FC236}">
                <a16:creationId xmlns:a16="http://schemas.microsoft.com/office/drawing/2014/main" id="{E395A61D-29E6-5D7C-5642-9AC1CDD113DB}"/>
              </a:ext>
            </a:extLst>
          </p:cNvPr>
          <p:cNvSpPr txBox="1"/>
          <p:nvPr/>
        </p:nvSpPr>
        <p:spPr>
          <a:xfrm>
            <a:off x="1025556" y="2967323"/>
            <a:ext cx="7585044" cy="624690"/>
          </a:xfrm>
          <a:prstGeom prst="rect">
            <a:avLst/>
          </a:prstGeom>
        </p:spPr>
        <p:txBody>
          <a:bodyPr vert="horz" wrap="square" lIns="0" tIns="9049" rIns="0" bIns="0" rtlCol="0">
            <a:spAutoFit/>
          </a:bodyPr>
          <a:lstStyle/>
          <a:p>
            <a:pPr marL="9525">
              <a:spcBef>
                <a:spcPts val="71"/>
              </a:spcBef>
            </a:pPr>
            <a:r>
              <a:rPr lang="en-US" sz="4000" b="1" dirty="0">
                <a:solidFill>
                  <a:schemeClr val="tx1"/>
                </a:solidFill>
                <a:latin typeface="Century Gothic"/>
                <a:cs typeface="Century Gothic"/>
              </a:rPr>
              <a:t>UNIT 1: COMPUTING DISCIPLINE</a:t>
            </a:r>
            <a:endParaRPr sz="4000" b="1" dirty="0">
              <a:solidFill>
                <a:schemeClr val="tx1"/>
              </a:solidFill>
              <a:latin typeface="Century Gothic"/>
              <a:cs typeface="Century Gothic"/>
            </a:endParaRPr>
          </a:p>
        </p:txBody>
      </p:sp>
    </p:spTree>
    <p:extLst>
      <p:ext uri="{BB962C8B-B14F-4D97-AF65-F5344CB8AC3E}">
        <p14:creationId xmlns:p14="http://schemas.microsoft.com/office/powerpoint/2010/main" val="37318476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954876" y="534043"/>
            <a:ext cx="6284124" cy="893764"/>
          </a:xfrm>
          <a:prstGeom prst="rect">
            <a:avLst/>
          </a:prstGeom>
        </p:spPr>
        <p:txBody>
          <a:bodyPr vert="horz" wrap="square" lIns="0" tIns="214560" rIns="0" bIns="0" rtlCol="0">
            <a:spAutoFit/>
          </a:bodyPr>
          <a:lstStyle/>
          <a:p>
            <a:pPr marL="9525">
              <a:spcBef>
                <a:spcPts val="71"/>
              </a:spcBef>
            </a:pPr>
            <a:r>
              <a:rPr dirty="0"/>
              <a:t>Computing</a:t>
            </a:r>
            <a:r>
              <a:rPr spc="-116" dirty="0"/>
              <a:t> </a:t>
            </a:r>
            <a:r>
              <a:rPr spc="-8" dirty="0"/>
              <a:t>Definition</a:t>
            </a:r>
          </a:p>
        </p:txBody>
      </p:sp>
      <p:sp>
        <p:nvSpPr>
          <p:cNvPr id="3" name="object 3"/>
          <p:cNvSpPr txBox="1"/>
          <p:nvPr/>
        </p:nvSpPr>
        <p:spPr>
          <a:xfrm>
            <a:off x="786742" y="1954896"/>
            <a:ext cx="7269480" cy="2040943"/>
          </a:xfrm>
          <a:prstGeom prst="rect">
            <a:avLst/>
          </a:prstGeom>
        </p:spPr>
        <p:txBody>
          <a:bodyPr vert="horz" wrap="square" lIns="0" tIns="9525" rIns="0" bIns="0" rtlCol="0">
            <a:spAutoFit/>
          </a:bodyPr>
          <a:lstStyle/>
          <a:p>
            <a:pPr marL="146209" indent="-136684">
              <a:spcBef>
                <a:spcPts val="75"/>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Computer</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machine</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that</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takes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data,</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formats,</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stores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3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process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it</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generates</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a:t>
            </a:r>
            <a:r>
              <a:rPr sz="1600" spc="-26"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output</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Super</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Computers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do</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same</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but</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faster</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with</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more</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data</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different</a:t>
            </a:r>
            <a:r>
              <a:rPr sz="1600" spc="-26" dirty="0">
                <a:latin typeface="Arial" panose="020B0604020202020204" pitchFamily="34" charset="0"/>
                <a:cs typeface="Arial" panose="020B0604020202020204" pitchFamily="34" charset="0"/>
              </a:rPr>
              <a:t> </a:t>
            </a:r>
            <a:r>
              <a:rPr sz="1600" spc="-15" dirty="0">
                <a:latin typeface="Arial" panose="020B0604020202020204" pitchFamily="34" charset="0"/>
                <a:cs typeface="Arial" panose="020B0604020202020204" pitchFamily="34" charset="0"/>
              </a:rPr>
              <a:t>ways</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In</a:t>
            </a:r>
            <a:r>
              <a:rPr sz="1600" spc="-4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80’s</a:t>
            </a:r>
            <a:r>
              <a:rPr sz="1600" spc="-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computers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were</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serial</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processors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i.e.</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they</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performed</a:t>
            </a:r>
            <a:r>
              <a:rPr sz="1600" spc="-1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one</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task</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at</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a:t>
            </a:r>
            <a:r>
              <a:rPr sz="1600" spc="-23" dirty="0">
                <a:latin typeface="Arial" panose="020B0604020202020204" pitchFamily="34" charset="0"/>
                <a:cs typeface="Arial" panose="020B0604020202020204" pitchFamily="34" charset="0"/>
              </a:rPr>
              <a:t> </a:t>
            </a:r>
            <a:r>
              <a:rPr sz="1600" spc="-15" dirty="0">
                <a:latin typeface="Arial" panose="020B0604020202020204" pitchFamily="34" charset="0"/>
                <a:cs typeface="Arial" panose="020B0604020202020204" pitchFamily="34" charset="0"/>
              </a:rPr>
              <a:t>time</a:t>
            </a:r>
            <a:endParaRPr sz="16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Now</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computers</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apply</a:t>
            </a:r>
            <a:r>
              <a:rPr sz="1600" spc="-3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concept</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1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parallel</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processing</a:t>
            </a:r>
            <a:r>
              <a:rPr sz="1600" spc="-1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ie</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they</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can</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perform</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multiple</a:t>
            </a:r>
            <a:r>
              <a:rPr sz="1600" spc="-4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tasks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at</a:t>
            </a:r>
            <a:r>
              <a:rPr sz="1600" spc="-19"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a:t>
            </a:r>
            <a:r>
              <a:rPr sz="1600" spc="-30" dirty="0">
                <a:latin typeface="Arial" panose="020B0604020202020204" pitchFamily="34" charset="0"/>
                <a:cs typeface="Arial" panose="020B0604020202020204" pitchFamily="34" charset="0"/>
              </a:rPr>
              <a:t> </a:t>
            </a:r>
            <a:r>
              <a:rPr sz="1600" spc="-15" dirty="0">
                <a:latin typeface="Arial" panose="020B0604020202020204" pitchFamily="34" charset="0"/>
                <a:cs typeface="Arial" panose="020B0604020202020204" pitchFamily="34" charset="0"/>
              </a:rPr>
              <a:t>time</a:t>
            </a:r>
            <a:endParaRPr sz="16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1600200" y="4419600"/>
            <a:ext cx="4672584" cy="209854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2"/>
            <a:ext cx="7747658" cy="893764"/>
          </a:xfrm>
          <a:prstGeom prst="rect">
            <a:avLst/>
          </a:prstGeom>
        </p:spPr>
        <p:txBody>
          <a:bodyPr vert="horz" wrap="square" lIns="0" tIns="214560" rIns="0" bIns="0" rtlCol="0">
            <a:spAutoFit/>
          </a:bodyPr>
          <a:lstStyle/>
          <a:p>
            <a:pPr marL="9525">
              <a:spcBef>
                <a:spcPts val="71"/>
              </a:spcBef>
            </a:pPr>
            <a:r>
              <a:rPr dirty="0"/>
              <a:t>Evolution</a:t>
            </a:r>
            <a:r>
              <a:rPr spc="-68" dirty="0"/>
              <a:t> </a:t>
            </a:r>
            <a:r>
              <a:rPr dirty="0"/>
              <a:t>of</a:t>
            </a:r>
            <a:r>
              <a:rPr spc="-79" dirty="0"/>
              <a:t> </a:t>
            </a:r>
            <a:r>
              <a:rPr spc="-8" dirty="0"/>
              <a:t>Computing</a:t>
            </a:r>
          </a:p>
        </p:txBody>
      </p:sp>
      <p:pic>
        <p:nvPicPr>
          <p:cNvPr id="3" name="object 3"/>
          <p:cNvPicPr/>
          <p:nvPr/>
        </p:nvPicPr>
        <p:blipFill>
          <a:blip r:embed="rId2" cstate="print"/>
          <a:stretch>
            <a:fillRect/>
          </a:stretch>
        </p:blipFill>
        <p:spPr>
          <a:xfrm>
            <a:off x="1219200" y="2514600"/>
            <a:ext cx="6315075" cy="3931921"/>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3"/>
            <a:ext cx="5284517" cy="928652"/>
          </a:xfrm>
          <a:prstGeom prst="rect">
            <a:avLst/>
          </a:prstGeom>
        </p:spPr>
        <p:txBody>
          <a:bodyPr vert="horz" wrap="square" lIns="0" tIns="60960" rIns="0" bIns="0" rtlCol="0">
            <a:spAutoFit/>
          </a:bodyPr>
          <a:lstStyle/>
          <a:p>
            <a:pPr marL="9525" marR="3810">
              <a:lnSpc>
                <a:spcPts val="3240"/>
              </a:lnSpc>
              <a:spcBef>
                <a:spcPts val="480"/>
              </a:spcBef>
            </a:pPr>
            <a:r>
              <a:rPr dirty="0"/>
              <a:t>Classical</a:t>
            </a:r>
            <a:r>
              <a:rPr spc="-94" dirty="0"/>
              <a:t> </a:t>
            </a:r>
            <a:r>
              <a:rPr dirty="0"/>
              <a:t>Computers</a:t>
            </a:r>
            <a:r>
              <a:rPr spc="-90" dirty="0"/>
              <a:t> </a:t>
            </a:r>
            <a:r>
              <a:rPr dirty="0"/>
              <a:t>vs</a:t>
            </a:r>
            <a:r>
              <a:rPr spc="-109" dirty="0"/>
              <a:t> </a:t>
            </a:r>
            <a:r>
              <a:rPr spc="-8" dirty="0"/>
              <a:t>Quantum Computers</a:t>
            </a:r>
          </a:p>
        </p:txBody>
      </p:sp>
      <p:sp>
        <p:nvSpPr>
          <p:cNvPr id="3" name="object 3"/>
          <p:cNvSpPr txBox="1"/>
          <p:nvPr/>
        </p:nvSpPr>
        <p:spPr>
          <a:xfrm>
            <a:off x="859383" y="2441543"/>
            <a:ext cx="7358063" cy="1432572"/>
          </a:xfrm>
          <a:prstGeom prst="rect">
            <a:avLst/>
          </a:prstGeom>
        </p:spPr>
        <p:txBody>
          <a:bodyPr vert="horz" wrap="square" lIns="0" tIns="9525" rIns="0" bIns="0" rtlCol="0">
            <a:spAutoFit/>
          </a:bodyPr>
          <a:lstStyle/>
          <a:p>
            <a:pPr marL="146209" marR="62389" indent="-137160">
              <a:lnSpc>
                <a:spcPct val="110000"/>
              </a:lnSpc>
              <a:spcBef>
                <a:spcPts val="75"/>
              </a:spcBef>
              <a:buClr>
                <a:srgbClr val="252525"/>
              </a:buClr>
              <a:buFont typeface="Garamond"/>
              <a:buChar char="◦"/>
              <a:tabLst>
                <a:tab pos="146209" algn="l"/>
              </a:tabLst>
            </a:pPr>
            <a:r>
              <a:rPr lang="en-US" sz="1600" dirty="0"/>
              <a:t>Quantum computers use quantum mechanics to solve </a:t>
            </a:r>
            <a:r>
              <a:rPr lang="en-US" sz="1600" i="1" dirty="0"/>
              <a:t>some specialized problems</a:t>
            </a:r>
            <a:r>
              <a:rPr lang="en-US" sz="1600" dirty="0"/>
              <a:t> much faster than classical computers. </a:t>
            </a:r>
            <a:r>
              <a:rPr sz="1600" dirty="0">
                <a:latin typeface="Arial" panose="020B0604020202020204" pitchFamily="34" charset="0"/>
                <a:cs typeface="Arial" panose="020B0604020202020204" pitchFamily="34" charset="0"/>
              </a:rPr>
              <a:t>Quantum</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computer</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viewed</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the</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next</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generation</a:t>
            </a:r>
            <a:r>
              <a:rPr sz="1600" spc="-3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of</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classical</a:t>
            </a:r>
            <a:r>
              <a:rPr sz="1600" spc="-38"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computers.</a:t>
            </a:r>
            <a:endParaRPr sz="1600" dirty="0">
              <a:latin typeface="Arial" panose="020B0604020202020204" pitchFamily="34" charset="0"/>
              <a:cs typeface="Arial" panose="020B0604020202020204" pitchFamily="34" charset="0"/>
            </a:endParaRPr>
          </a:p>
          <a:p>
            <a:pPr marL="146209" marR="3810" indent="-137160">
              <a:lnSpc>
                <a:spcPct val="110000"/>
              </a:lnSpc>
              <a:spcBef>
                <a:spcPts val="675"/>
              </a:spcBef>
              <a:buClr>
                <a:srgbClr val="252525"/>
              </a:buClr>
              <a:buFont typeface="Garamond"/>
              <a:buChar char="◦"/>
              <a:tabLst>
                <a:tab pos="146209" algn="l"/>
              </a:tabLst>
            </a:pPr>
            <a:r>
              <a:rPr sz="1600" dirty="0">
                <a:latin typeface="Arial" panose="020B0604020202020204" pitchFamily="34" charset="0"/>
                <a:cs typeface="Arial" panose="020B0604020202020204" pitchFamily="34" charset="0"/>
              </a:rPr>
              <a:t>Computers</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designed</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on</a:t>
            </a:r>
            <a:r>
              <a:rPr sz="1600" spc="-26"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today's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chip</a:t>
            </a:r>
            <a:r>
              <a:rPr sz="1600" spc="-38"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technology</a:t>
            </a:r>
            <a:r>
              <a:rPr sz="1600" spc="-34"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will</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not</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continue</a:t>
            </a:r>
            <a:r>
              <a:rPr sz="1600" spc="-38"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to</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get</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cheaper</a:t>
            </a:r>
            <a:r>
              <a:rPr sz="1600" spc="-1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and</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better.</a:t>
            </a:r>
            <a:r>
              <a:rPr sz="1600" spc="4"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Quantum </a:t>
            </a:r>
            <a:r>
              <a:rPr sz="1600" dirty="0">
                <a:latin typeface="Arial" panose="020B0604020202020204" pitchFamily="34" charset="0"/>
                <a:cs typeface="Arial" panose="020B0604020202020204" pitchFamily="34" charset="0"/>
              </a:rPr>
              <a:t>computer</a:t>
            </a:r>
            <a:r>
              <a:rPr sz="1600" spc="-1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is</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an</a:t>
            </a:r>
            <a:r>
              <a:rPr sz="1600" spc="-23"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attractive</a:t>
            </a:r>
            <a:r>
              <a:rPr sz="1600" spc="-4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next</a:t>
            </a:r>
            <a:r>
              <a:rPr sz="1600" spc="-15"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step</a:t>
            </a:r>
            <a:r>
              <a:rPr sz="1600" spc="-30"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in</a:t>
            </a:r>
            <a:r>
              <a:rPr sz="1600" spc="-11" dirty="0">
                <a:latin typeface="Arial" panose="020B0604020202020204" pitchFamily="34" charset="0"/>
                <a:cs typeface="Arial" panose="020B0604020202020204" pitchFamily="34" charset="0"/>
              </a:rPr>
              <a:t> </a:t>
            </a:r>
            <a:r>
              <a:rPr sz="1600" dirty="0">
                <a:latin typeface="Arial" panose="020B0604020202020204" pitchFamily="34" charset="0"/>
                <a:cs typeface="Arial" panose="020B0604020202020204" pitchFamily="34" charset="0"/>
              </a:rPr>
              <a:t>computer</a:t>
            </a:r>
            <a:r>
              <a:rPr sz="1600" spc="-15" dirty="0">
                <a:latin typeface="Arial" panose="020B0604020202020204" pitchFamily="34" charset="0"/>
                <a:cs typeface="Arial" panose="020B0604020202020204" pitchFamily="34" charset="0"/>
              </a:rPr>
              <a:t> </a:t>
            </a:r>
            <a:r>
              <a:rPr sz="1600" spc="-8" dirty="0">
                <a:latin typeface="Arial" panose="020B0604020202020204" pitchFamily="34" charset="0"/>
                <a:cs typeface="Arial" panose="020B0604020202020204" pitchFamily="34" charset="0"/>
              </a:rPr>
              <a:t>technology</a:t>
            </a:r>
            <a:endParaRPr sz="16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3200400" y="4267200"/>
            <a:ext cx="1964816" cy="13075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2">
            <a:extLst>
              <a:ext uri="{FF2B5EF4-FFF2-40B4-BE49-F238E27FC236}">
                <a16:creationId xmlns:a16="http://schemas.microsoft.com/office/drawing/2014/main" id="{9CFA57C2-8629-05F8-D3A5-1B4718CD2510}"/>
              </a:ext>
            </a:extLst>
          </p:cNvPr>
          <p:cNvSpPr>
            <a:spLocks noGrp="1"/>
          </p:cNvSpPr>
          <p:nvPr>
            <p:ph type="sldNum" sz="quarter" idx="10"/>
          </p:nvPr>
        </p:nvSpPr>
        <p:spPr bwMode="auto">
          <a:xfrm>
            <a:off x="533400" y="6324600"/>
            <a:ext cx="457200" cy="381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defPPr>
              <a:defRPr lang="en-US"/>
            </a:defPPr>
            <a:lvl1pPr algn="r" rtl="0" fontAlgn="base">
              <a:spcBef>
                <a:spcPct val="0"/>
              </a:spcBef>
              <a:spcAft>
                <a:spcPct val="0"/>
              </a:spcAft>
              <a:defRPr sz="1400" b="1" kern="1200">
                <a:solidFill>
                  <a:schemeClr val="tx1"/>
                </a:solidFill>
                <a:latin typeface="Arial" panose="020B0604020202020204" pitchFamily="34" charset="0"/>
                <a:ea typeface="+mn-ea"/>
                <a:cs typeface="+mn-cs"/>
              </a:defRPr>
            </a:lvl1pPr>
            <a:lvl2pPr marL="457200" algn="l" rtl="0" fontAlgn="base">
              <a:spcBef>
                <a:spcPct val="0"/>
              </a:spcBef>
              <a:spcAft>
                <a:spcPct val="0"/>
              </a:spcAft>
              <a:defRPr sz="2400" b="1" kern="1200">
                <a:solidFill>
                  <a:schemeClr val="tx1"/>
                </a:solidFill>
                <a:latin typeface="Arial" panose="020B0604020202020204" pitchFamily="34" charset="0"/>
                <a:ea typeface="+mn-ea"/>
                <a:cs typeface="+mn-cs"/>
              </a:defRPr>
            </a:lvl2pPr>
            <a:lvl3pPr marL="914400" algn="l" rtl="0" fontAlgn="base">
              <a:spcBef>
                <a:spcPct val="0"/>
              </a:spcBef>
              <a:spcAft>
                <a:spcPct val="0"/>
              </a:spcAft>
              <a:defRPr sz="2400" b="1" kern="1200">
                <a:solidFill>
                  <a:schemeClr val="tx1"/>
                </a:solidFill>
                <a:latin typeface="Arial" panose="020B0604020202020204" pitchFamily="34" charset="0"/>
                <a:ea typeface="+mn-ea"/>
                <a:cs typeface="+mn-cs"/>
              </a:defRPr>
            </a:lvl3pPr>
            <a:lvl4pPr marL="1371600" algn="l" rtl="0" fontAlgn="base">
              <a:spcBef>
                <a:spcPct val="0"/>
              </a:spcBef>
              <a:spcAft>
                <a:spcPct val="0"/>
              </a:spcAft>
              <a:defRPr sz="2400" b="1" kern="1200">
                <a:solidFill>
                  <a:schemeClr val="tx1"/>
                </a:solidFill>
                <a:latin typeface="Arial" panose="020B0604020202020204" pitchFamily="34" charset="0"/>
                <a:ea typeface="+mn-ea"/>
                <a:cs typeface="+mn-cs"/>
              </a:defRPr>
            </a:lvl4pPr>
            <a:lvl5pPr marL="1828800" algn="l" rtl="0" fontAlgn="base">
              <a:spcBef>
                <a:spcPct val="0"/>
              </a:spcBef>
              <a:spcAft>
                <a:spcPct val="0"/>
              </a:spcAft>
              <a:defRPr sz="2400" b="1" kern="1200">
                <a:solidFill>
                  <a:schemeClr val="tx1"/>
                </a:solidFill>
                <a:latin typeface="Arial" panose="020B0604020202020204" pitchFamily="34" charset="0"/>
                <a:ea typeface="+mn-ea"/>
                <a:cs typeface="+mn-cs"/>
              </a:defRPr>
            </a:lvl5pPr>
            <a:lvl6pPr marL="2286000" algn="l" defTabSz="914400" rtl="0" eaLnBrk="1" latinLnBrk="0" hangingPunct="1">
              <a:defRPr sz="2400" b="1" kern="1200">
                <a:solidFill>
                  <a:schemeClr val="tx1"/>
                </a:solidFill>
                <a:latin typeface="Arial" panose="020B0604020202020204" pitchFamily="34" charset="0"/>
                <a:ea typeface="+mn-ea"/>
                <a:cs typeface="+mn-cs"/>
              </a:defRPr>
            </a:lvl6pPr>
            <a:lvl7pPr marL="2743200" algn="l" defTabSz="914400" rtl="0" eaLnBrk="1" latinLnBrk="0" hangingPunct="1">
              <a:defRPr sz="2400" b="1" kern="1200">
                <a:solidFill>
                  <a:schemeClr val="tx1"/>
                </a:solidFill>
                <a:latin typeface="Arial" panose="020B0604020202020204" pitchFamily="34" charset="0"/>
                <a:ea typeface="+mn-ea"/>
                <a:cs typeface="+mn-cs"/>
              </a:defRPr>
            </a:lvl7pPr>
            <a:lvl8pPr marL="3200400" algn="l" defTabSz="914400" rtl="0" eaLnBrk="1" latinLnBrk="0" hangingPunct="1">
              <a:defRPr sz="2400" b="1" kern="1200">
                <a:solidFill>
                  <a:schemeClr val="tx1"/>
                </a:solidFill>
                <a:latin typeface="Arial" panose="020B0604020202020204" pitchFamily="34" charset="0"/>
                <a:ea typeface="+mn-ea"/>
                <a:cs typeface="+mn-cs"/>
              </a:defRPr>
            </a:lvl8pPr>
            <a:lvl9pPr marL="3657600" algn="l" defTabSz="914400" rtl="0" eaLnBrk="1" latinLnBrk="0" hangingPunct="1">
              <a:defRPr sz="2400" b="1" kern="1200">
                <a:solidFill>
                  <a:schemeClr val="tx1"/>
                </a:solidFill>
                <a:latin typeface="Arial" panose="020B0604020202020204" pitchFamily="34" charset="0"/>
                <a:ea typeface="+mn-ea"/>
                <a:cs typeface="+mn-cs"/>
              </a:defRPr>
            </a:lvl9pPr>
          </a:lstStyle>
          <a:p>
            <a:fld id="{3E387399-7D17-42F0-83E4-CDBE23BDD729}" type="slidenum">
              <a:rPr lang="en-US" altLang="en-US" smtClean="0"/>
              <a:pPr/>
              <a:t>13</a:t>
            </a:fld>
            <a:endParaRPr lang="en-US" altLang="en-US"/>
          </a:p>
        </p:txBody>
      </p:sp>
      <p:sp>
        <p:nvSpPr>
          <p:cNvPr id="6152" name="Text Box 8">
            <a:extLst>
              <a:ext uri="{FF2B5EF4-FFF2-40B4-BE49-F238E27FC236}">
                <a16:creationId xmlns:a16="http://schemas.microsoft.com/office/drawing/2014/main" id="{1CC7EB4B-1C82-13A4-F8D5-4E66E3DBF566}"/>
              </a:ext>
            </a:extLst>
          </p:cNvPr>
          <p:cNvSpPr txBox="1">
            <a:spLocks noChangeArrowheads="1"/>
          </p:cNvSpPr>
          <p:nvPr/>
        </p:nvSpPr>
        <p:spPr bwMode="auto">
          <a:xfrm>
            <a:off x="8763000" y="6400800"/>
            <a:ext cx="381000" cy="457200"/>
          </a:xfrm>
          <a:prstGeom prst="rect">
            <a:avLst/>
          </a:prstGeom>
          <a:noFill/>
          <a:ln>
            <a:noFill/>
          </a:ln>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en-US" altLang="en-US" b="0">
                <a:solidFill>
                  <a:schemeClr val="bg1"/>
                </a:solidFill>
              </a:rPr>
              <a:t>4</a:t>
            </a:r>
          </a:p>
        </p:txBody>
      </p:sp>
      <p:sp>
        <p:nvSpPr>
          <p:cNvPr id="6170" name="Rectangle 26">
            <a:extLst>
              <a:ext uri="{FF2B5EF4-FFF2-40B4-BE49-F238E27FC236}">
                <a16:creationId xmlns:a16="http://schemas.microsoft.com/office/drawing/2014/main" id="{AD336638-3EC5-769D-DC0D-B756C4A0632C}"/>
              </a:ext>
            </a:extLst>
          </p:cNvPr>
          <p:cNvSpPr>
            <a:spLocks noGrp="1" noChangeArrowheads="1"/>
          </p:cNvSpPr>
          <p:nvPr>
            <p:ph type="title"/>
          </p:nvPr>
        </p:nvSpPr>
        <p:spPr>
          <a:xfrm>
            <a:off x="838200" y="533400"/>
            <a:ext cx="7046023" cy="695960"/>
          </a:xfrm>
        </p:spPr>
        <p:txBody>
          <a:bodyPr/>
          <a:lstStyle/>
          <a:p>
            <a:r>
              <a:rPr lang="en-US" altLang="en-US" dirty="0">
                <a:solidFill>
                  <a:schemeClr val="tx1"/>
                </a:solidFill>
              </a:rPr>
              <a:t>Layers of a Computing System</a:t>
            </a:r>
          </a:p>
        </p:txBody>
      </p:sp>
      <p:pic>
        <p:nvPicPr>
          <p:cNvPr id="6171" name="Picture 27">
            <a:extLst>
              <a:ext uri="{FF2B5EF4-FFF2-40B4-BE49-F238E27FC236}">
                <a16:creationId xmlns:a16="http://schemas.microsoft.com/office/drawing/2014/main" id="{F8C3CD16-4B01-AE61-9968-F90578F342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76400" y="1671638"/>
            <a:ext cx="6096000" cy="4119562"/>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a:extLst>
              <a:ext uri="{FF2B5EF4-FFF2-40B4-BE49-F238E27FC236}">
                <a16:creationId xmlns:a16="http://schemas.microsoft.com/office/drawing/2014/main" id="{EA6E5CAE-9AF6-8375-64FB-017355BBBAB8}"/>
              </a:ext>
            </a:extLst>
          </p:cNvPr>
          <p:cNvSpPr>
            <a:spLocks noGrp="1" noChangeArrowheads="1"/>
          </p:cNvSpPr>
          <p:nvPr>
            <p:ph type="title"/>
          </p:nvPr>
        </p:nvSpPr>
        <p:spPr>
          <a:xfrm>
            <a:off x="896588" y="675640"/>
            <a:ext cx="7046023" cy="695960"/>
          </a:xfrm>
        </p:spPr>
        <p:txBody>
          <a:bodyPr/>
          <a:lstStyle/>
          <a:p>
            <a:pPr eaLnBrk="1" hangingPunct="1"/>
            <a:r>
              <a:rPr lang="en-US" altLang="en-US" dirty="0"/>
              <a:t>Computer Science Themes</a:t>
            </a:r>
          </a:p>
        </p:txBody>
      </p:sp>
      <p:sp>
        <p:nvSpPr>
          <p:cNvPr id="18436" name="Rectangle 3">
            <a:extLst>
              <a:ext uri="{FF2B5EF4-FFF2-40B4-BE49-F238E27FC236}">
                <a16:creationId xmlns:a16="http://schemas.microsoft.com/office/drawing/2014/main" id="{5EF11C68-03D5-D0EF-75FE-3F6D1DEBD05F}"/>
              </a:ext>
            </a:extLst>
          </p:cNvPr>
          <p:cNvSpPr>
            <a:spLocks noGrp="1" noChangeArrowheads="1"/>
          </p:cNvSpPr>
          <p:nvPr>
            <p:ph type="body" idx="1"/>
          </p:nvPr>
        </p:nvSpPr>
        <p:spPr>
          <a:xfrm>
            <a:off x="457200" y="1611868"/>
            <a:ext cx="8229600" cy="738664"/>
          </a:xfrm>
        </p:spPr>
        <p:txBody>
          <a:bodyPr/>
          <a:lstStyle/>
          <a:p>
            <a:pPr eaLnBrk="1" hangingPunct="1"/>
            <a:r>
              <a:rPr lang="en-US" altLang="en-US" sz="1600" dirty="0"/>
              <a:t>Since computation encompasses many different types of activities, computer science research is often difficult to classify.</a:t>
            </a:r>
          </a:p>
          <a:p>
            <a:pPr marL="0" lvl="1"/>
            <a:r>
              <a:rPr lang="en-US" altLang="en-US" sz="1600" dirty="0">
                <a:solidFill>
                  <a:schemeClr val="tx1"/>
                </a:solidFill>
                <a:latin typeface="Arial"/>
                <a:cs typeface="Arial"/>
              </a:rPr>
              <a:t>Three recurring themes define the discipline.</a:t>
            </a:r>
          </a:p>
        </p:txBody>
      </p:sp>
      <p:sp>
        <p:nvSpPr>
          <p:cNvPr id="76804" name="Rectangle 4">
            <a:extLst>
              <a:ext uri="{FF2B5EF4-FFF2-40B4-BE49-F238E27FC236}">
                <a16:creationId xmlns:a16="http://schemas.microsoft.com/office/drawing/2014/main" id="{C330B7A6-D5DE-C39C-4B5B-6CBE40343585}"/>
              </a:ext>
            </a:extLst>
          </p:cNvPr>
          <p:cNvSpPr>
            <a:spLocks noChangeArrowheads="1"/>
          </p:cNvSpPr>
          <p:nvPr/>
        </p:nvSpPr>
        <p:spPr bwMode="auto">
          <a:xfrm>
            <a:off x="457200" y="3276600"/>
            <a:ext cx="8229600" cy="304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a:spcBef>
                <a:spcPct val="20000"/>
              </a:spcBef>
              <a:buClr>
                <a:schemeClr val="bg2"/>
              </a:buClr>
              <a:buSzPct val="75000"/>
              <a:buFont typeface="Wingdings" panose="05000000000000000000" pitchFamily="2" charset="2"/>
              <a:defRPr>
                <a:solidFill>
                  <a:schemeClr val="tx1"/>
                </a:solidFill>
                <a:latin typeface="Verdana" panose="020B0604030504040204" pitchFamily="34" charset="0"/>
              </a:defRPr>
            </a:lvl1pPr>
            <a:lvl2pPr marL="742950" indent="-285750">
              <a:spcBef>
                <a:spcPct val="20000"/>
              </a:spcBef>
              <a:buClr>
                <a:schemeClr val="bg2"/>
              </a:buClr>
              <a:buSzPct val="75000"/>
              <a:buFont typeface="Wingdings" panose="05000000000000000000" pitchFamily="2" charset="2"/>
              <a:buChar char="n"/>
              <a:defRPr sz="1600">
                <a:solidFill>
                  <a:schemeClr val="tx1"/>
                </a:solidFill>
                <a:latin typeface="Verdana" panose="020B0604030504040204" pitchFamily="34" charset="0"/>
              </a:defRPr>
            </a:lvl2pPr>
            <a:lvl3pPr marL="1143000" indent="-228600">
              <a:spcBef>
                <a:spcPct val="20000"/>
              </a:spcBef>
              <a:buClr>
                <a:schemeClr val="accent2"/>
              </a:buClr>
              <a:buSzPct val="65000"/>
              <a:buFont typeface="Wingdings" panose="05000000000000000000" pitchFamily="2" charset="2"/>
              <a:buChar char="p"/>
              <a:defRPr sz="1600">
                <a:solidFill>
                  <a:schemeClr val="tx1"/>
                </a:solidFill>
                <a:latin typeface="Verdana" panose="020B0604030504040204" pitchFamily="34" charset="0"/>
              </a:defRPr>
            </a:lvl3pPr>
            <a:lvl4pPr marL="1600200" indent="-228600">
              <a:spcBef>
                <a:spcPct val="20000"/>
              </a:spcBef>
              <a:buClr>
                <a:schemeClr val="tx1"/>
              </a:buClr>
              <a:buFont typeface="Wingdings" panose="05000000000000000000" pitchFamily="2" charset="2"/>
              <a:buChar char="§"/>
              <a:defRPr sz="1400">
                <a:solidFill>
                  <a:schemeClr val="tx1"/>
                </a:solidFill>
                <a:latin typeface="Verdana" panose="020B0604030504040204" pitchFamily="34" charset="0"/>
              </a:defRPr>
            </a:lvl4pPr>
            <a:lvl5pPr marL="2057400" indent="-228600">
              <a:spcBef>
                <a:spcPct val="20000"/>
              </a:spcBef>
              <a:buClr>
                <a:schemeClr val="accent2"/>
              </a:buClr>
              <a:buSzPct val="80000"/>
              <a:buFont typeface="Wingdings" panose="05000000000000000000" pitchFamily="2" charset="2"/>
              <a:defRPr sz="1400">
                <a:solidFill>
                  <a:schemeClr val="tx1"/>
                </a:solidFill>
                <a:latin typeface="Verdana" panose="020B0604030504040204" pitchFamily="34" charset="0"/>
              </a:defRPr>
            </a:lvl5pPr>
            <a:lvl6pPr marL="2514600" indent="-228600" eaLnBrk="0" fontAlgn="base" hangingPunct="0">
              <a:spcBef>
                <a:spcPct val="20000"/>
              </a:spcBef>
              <a:spcAft>
                <a:spcPct val="0"/>
              </a:spcAft>
              <a:buClr>
                <a:schemeClr val="accent2"/>
              </a:buClr>
              <a:buSzPct val="80000"/>
              <a:buFont typeface="Wingdings" panose="05000000000000000000" pitchFamily="2" charset="2"/>
              <a:defRPr sz="1400">
                <a:solidFill>
                  <a:schemeClr val="tx1"/>
                </a:solidFill>
                <a:latin typeface="Verdana" panose="020B0604030504040204" pitchFamily="34" charset="0"/>
              </a:defRPr>
            </a:lvl6pPr>
            <a:lvl7pPr marL="2971800" indent="-228600" eaLnBrk="0" fontAlgn="base" hangingPunct="0">
              <a:spcBef>
                <a:spcPct val="20000"/>
              </a:spcBef>
              <a:spcAft>
                <a:spcPct val="0"/>
              </a:spcAft>
              <a:buClr>
                <a:schemeClr val="accent2"/>
              </a:buClr>
              <a:buSzPct val="80000"/>
              <a:buFont typeface="Wingdings" panose="05000000000000000000" pitchFamily="2" charset="2"/>
              <a:defRPr sz="1400">
                <a:solidFill>
                  <a:schemeClr val="tx1"/>
                </a:solidFill>
                <a:latin typeface="Verdana" panose="020B0604030504040204" pitchFamily="34" charset="0"/>
              </a:defRPr>
            </a:lvl7pPr>
            <a:lvl8pPr marL="3429000" indent="-228600" eaLnBrk="0" fontAlgn="base" hangingPunct="0">
              <a:spcBef>
                <a:spcPct val="20000"/>
              </a:spcBef>
              <a:spcAft>
                <a:spcPct val="0"/>
              </a:spcAft>
              <a:buClr>
                <a:schemeClr val="accent2"/>
              </a:buClr>
              <a:buSzPct val="80000"/>
              <a:buFont typeface="Wingdings" panose="05000000000000000000" pitchFamily="2" charset="2"/>
              <a:defRPr sz="1400">
                <a:solidFill>
                  <a:schemeClr val="tx1"/>
                </a:solidFill>
                <a:latin typeface="Verdana" panose="020B0604030504040204" pitchFamily="34" charset="0"/>
              </a:defRPr>
            </a:lvl8pPr>
            <a:lvl9pPr marL="3886200" indent="-228600" eaLnBrk="0" fontAlgn="base" hangingPunct="0">
              <a:spcBef>
                <a:spcPct val="20000"/>
              </a:spcBef>
              <a:spcAft>
                <a:spcPct val="0"/>
              </a:spcAft>
              <a:buClr>
                <a:schemeClr val="accent2"/>
              </a:buClr>
              <a:buSzPct val="80000"/>
              <a:buFont typeface="Wingdings" panose="05000000000000000000" pitchFamily="2" charset="2"/>
              <a:defRPr sz="1400">
                <a:solidFill>
                  <a:schemeClr val="tx1"/>
                </a:solidFill>
                <a:latin typeface="Verdana" panose="020B0604030504040204" pitchFamily="34" charset="0"/>
              </a:defRPr>
            </a:lvl9pPr>
          </a:lstStyle>
          <a:p>
            <a:pPr eaLnBrk="1" hangingPunct="1"/>
            <a:endParaRPr lang="en-US" altLang="en-US" sz="2000">
              <a:solidFill>
                <a:srgbClr val="0099FF"/>
              </a:solidFill>
              <a:latin typeface="Courier New" panose="02070309020205020404" pitchFamily="49" charset="0"/>
            </a:endParaRPr>
          </a:p>
        </p:txBody>
      </p:sp>
      <p:pic>
        <p:nvPicPr>
          <p:cNvPr id="18438" name="Picture 5">
            <a:extLst>
              <a:ext uri="{FF2B5EF4-FFF2-40B4-BE49-F238E27FC236}">
                <a16:creationId xmlns:a16="http://schemas.microsoft.com/office/drawing/2014/main" id="{CE510146-16B4-7331-A371-E1AD40E577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12685"/>
          <a:stretch>
            <a:fillRect/>
          </a:stretch>
        </p:blipFill>
        <p:spPr bwMode="auto">
          <a:xfrm>
            <a:off x="533400" y="2590800"/>
            <a:ext cx="7772400" cy="3886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680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680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3"/>
            <a:ext cx="7595258" cy="893764"/>
          </a:xfrm>
          <a:prstGeom prst="rect">
            <a:avLst/>
          </a:prstGeom>
        </p:spPr>
        <p:txBody>
          <a:bodyPr vert="horz" wrap="square" lIns="0" tIns="214560" rIns="0" bIns="0" rtlCol="0">
            <a:spAutoFit/>
          </a:bodyPr>
          <a:lstStyle/>
          <a:p>
            <a:pPr marL="9525">
              <a:spcBef>
                <a:spcPts val="71"/>
              </a:spcBef>
            </a:pPr>
            <a:r>
              <a:rPr dirty="0"/>
              <a:t>Learning</a:t>
            </a:r>
            <a:r>
              <a:rPr spc="-45" dirty="0"/>
              <a:t> </a:t>
            </a:r>
            <a:r>
              <a:rPr dirty="0"/>
              <a:t>Aspects</a:t>
            </a:r>
            <a:r>
              <a:rPr spc="-53" dirty="0"/>
              <a:t> </a:t>
            </a:r>
            <a:r>
              <a:rPr dirty="0"/>
              <a:t>of</a:t>
            </a:r>
            <a:r>
              <a:rPr spc="-56" dirty="0"/>
              <a:t> </a:t>
            </a:r>
            <a:r>
              <a:rPr spc="-8" dirty="0"/>
              <a:t>Computers</a:t>
            </a:r>
          </a:p>
        </p:txBody>
      </p:sp>
      <p:sp>
        <p:nvSpPr>
          <p:cNvPr id="3" name="object 3"/>
          <p:cNvSpPr txBox="1"/>
          <p:nvPr/>
        </p:nvSpPr>
        <p:spPr>
          <a:xfrm>
            <a:off x="859383" y="2458688"/>
            <a:ext cx="6206013" cy="1620315"/>
          </a:xfrm>
          <a:prstGeom prst="rect">
            <a:avLst/>
          </a:prstGeom>
        </p:spPr>
        <p:txBody>
          <a:bodyPr vert="horz" wrap="square" lIns="0" tIns="9525" rIns="0" bIns="0" rtlCol="0">
            <a:spAutoFit/>
          </a:bodyPr>
          <a:lstStyle/>
          <a:p>
            <a:pPr marL="146209" indent="-136684">
              <a:spcBef>
                <a:spcPts val="75"/>
              </a:spcBef>
              <a:buClr>
                <a:srgbClr val="252525"/>
              </a:buClr>
              <a:buFont typeface="Garamond"/>
              <a:buChar char="◦"/>
              <a:tabLst>
                <a:tab pos="146209" algn="l"/>
              </a:tabLst>
            </a:pPr>
            <a:r>
              <a:rPr sz="1300" dirty="0">
                <a:latin typeface="Arial" panose="020B0604020202020204" pitchFamily="34" charset="0"/>
                <a:cs typeface="Arial" panose="020B0604020202020204" pitchFamily="34" charset="0"/>
              </a:rPr>
              <a:t>Google</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uses</a:t>
            </a:r>
            <a:r>
              <a:rPr sz="1300" spc="-23"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learning</a:t>
            </a:r>
            <a:r>
              <a:rPr sz="1300" spc="-45"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capabilities</a:t>
            </a:r>
            <a:r>
              <a:rPr sz="1300" spc="-4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using</a:t>
            </a:r>
            <a:r>
              <a:rPr sz="1300" spc="-38"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large</a:t>
            </a:r>
            <a:r>
              <a:rPr sz="1300" spc="-41"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amounts</a:t>
            </a:r>
            <a:r>
              <a:rPr sz="1300" spc="-11"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of</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data</a:t>
            </a:r>
            <a:r>
              <a:rPr sz="1300" spc="-4"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a:t>
            </a:r>
            <a:r>
              <a:rPr sz="1300" spc="-38" dirty="0">
                <a:latin typeface="Arial" panose="020B0604020202020204" pitchFamily="34" charset="0"/>
                <a:cs typeface="Arial" panose="020B0604020202020204" pitchFamily="34" charset="0"/>
              </a:rPr>
              <a:t> </a:t>
            </a:r>
            <a:r>
              <a:rPr lang="en-ZA" sz="1300" dirty="0">
                <a:latin typeface="Arial" panose="020B0604020202020204" pitchFamily="34" charset="0"/>
                <a:cs typeface="Arial" panose="020B0604020202020204" pitchFamily="34" charset="0"/>
              </a:rPr>
              <a:t>everyday</a:t>
            </a:r>
            <a:r>
              <a:rPr sz="1300" spc="-34" dirty="0">
                <a:latin typeface="Arial" panose="020B0604020202020204" pitchFamily="34" charset="0"/>
                <a:cs typeface="Arial" panose="020B0604020202020204" pitchFamily="34" charset="0"/>
              </a:rPr>
              <a:t> </a:t>
            </a:r>
            <a:r>
              <a:rPr sz="1300" spc="-8" dirty="0">
                <a:latin typeface="Arial" panose="020B0604020202020204" pitchFamily="34" charset="0"/>
                <a:cs typeface="Arial" panose="020B0604020202020204" pitchFamily="34" charset="0"/>
              </a:rPr>
              <a:t>occurrences</a:t>
            </a:r>
            <a:endParaRPr sz="13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300" dirty="0">
                <a:latin typeface="Arial" panose="020B0604020202020204" pitchFamily="34" charset="0"/>
                <a:cs typeface="Arial" panose="020B0604020202020204" pitchFamily="34" charset="0"/>
              </a:rPr>
              <a:t>New</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computers</a:t>
            </a:r>
            <a:r>
              <a:rPr sz="1300" spc="-1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seek</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to</a:t>
            </a:r>
            <a:r>
              <a:rPr sz="1300" spc="-26"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imitate</a:t>
            </a:r>
            <a:r>
              <a:rPr sz="1300" spc="-4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the</a:t>
            </a:r>
            <a:r>
              <a:rPr sz="1300" spc="-38"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human</a:t>
            </a:r>
            <a:r>
              <a:rPr sz="1300" spc="-23" dirty="0">
                <a:latin typeface="Arial" panose="020B0604020202020204" pitchFamily="34" charset="0"/>
                <a:cs typeface="Arial" panose="020B0604020202020204" pitchFamily="34" charset="0"/>
              </a:rPr>
              <a:t> </a:t>
            </a:r>
            <a:r>
              <a:rPr sz="1300" spc="-8" dirty="0">
                <a:latin typeface="Arial" panose="020B0604020202020204" pitchFamily="34" charset="0"/>
                <a:cs typeface="Arial" panose="020B0604020202020204" pitchFamily="34" charset="0"/>
              </a:rPr>
              <a:t>brain</a:t>
            </a:r>
            <a:endParaRPr sz="13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300" dirty="0">
                <a:latin typeface="Arial" panose="020B0604020202020204" pitchFamily="34" charset="0"/>
                <a:cs typeface="Arial" panose="020B0604020202020204" pitchFamily="34" charset="0"/>
              </a:rPr>
              <a:t>The</a:t>
            </a:r>
            <a:r>
              <a:rPr sz="1300" spc="-23"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more</a:t>
            </a:r>
            <a:r>
              <a:rPr sz="1300" spc="-1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processing</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power</a:t>
            </a:r>
            <a:r>
              <a:rPr sz="1300" spc="-15"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is</a:t>
            </a:r>
            <a:r>
              <a:rPr sz="1300" spc="-23"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needed,</a:t>
            </a:r>
            <a:r>
              <a:rPr sz="1300" spc="-34"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the</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more</a:t>
            </a:r>
            <a:r>
              <a:rPr sz="1300" spc="-11"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power</a:t>
            </a:r>
            <a:r>
              <a:rPr sz="1300" spc="-15"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is</a:t>
            </a:r>
            <a:r>
              <a:rPr sz="1300" spc="-34" dirty="0">
                <a:latin typeface="Arial" panose="020B0604020202020204" pitchFamily="34" charset="0"/>
                <a:cs typeface="Arial" panose="020B0604020202020204" pitchFamily="34" charset="0"/>
              </a:rPr>
              <a:t> </a:t>
            </a:r>
            <a:r>
              <a:rPr sz="1300" spc="-8" dirty="0">
                <a:latin typeface="Arial" panose="020B0604020202020204" pitchFamily="34" charset="0"/>
                <a:cs typeface="Arial" panose="020B0604020202020204" pitchFamily="34" charset="0"/>
              </a:rPr>
              <a:t>required</a:t>
            </a:r>
            <a:endParaRPr sz="13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300" dirty="0">
                <a:latin typeface="Arial" panose="020B0604020202020204" pitchFamily="34" charset="0"/>
                <a:cs typeface="Arial" panose="020B0604020202020204" pitchFamily="34" charset="0"/>
              </a:rPr>
              <a:t>Integrating</a:t>
            </a:r>
            <a:r>
              <a:rPr sz="1300" spc="-4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traditional</a:t>
            </a:r>
            <a:r>
              <a:rPr sz="1300" spc="-49"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hardware</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with</a:t>
            </a:r>
            <a:r>
              <a:rPr sz="1300" spc="-38"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energy</a:t>
            </a:r>
            <a:r>
              <a:rPr sz="1300" spc="-23"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efficient</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system</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(Green </a:t>
            </a:r>
            <a:r>
              <a:rPr sz="1300" spc="-15" dirty="0">
                <a:latin typeface="Arial" panose="020B0604020202020204" pitchFamily="34" charset="0"/>
                <a:cs typeface="Arial" panose="020B0604020202020204" pitchFamily="34" charset="0"/>
              </a:rPr>
              <a:t>ICT)</a:t>
            </a:r>
            <a:endParaRPr sz="1300" dirty="0">
              <a:latin typeface="Arial" panose="020B0604020202020204" pitchFamily="34" charset="0"/>
              <a:cs typeface="Arial" panose="020B0604020202020204" pitchFamily="34" charset="0"/>
            </a:endParaRPr>
          </a:p>
          <a:p>
            <a:pPr marL="146209" indent="-136684">
              <a:spcBef>
                <a:spcPts val="810"/>
              </a:spcBef>
              <a:buClr>
                <a:srgbClr val="252525"/>
              </a:buClr>
              <a:buFont typeface="Garamond"/>
              <a:buChar char="◦"/>
              <a:tabLst>
                <a:tab pos="146209" algn="l"/>
              </a:tabLst>
            </a:pPr>
            <a:r>
              <a:rPr sz="1300" dirty="0">
                <a:latin typeface="Arial" panose="020B0604020202020204" pitchFamily="34" charset="0"/>
                <a:cs typeface="Arial" panose="020B0604020202020204" pitchFamily="34" charset="0"/>
              </a:rPr>
              <a:t>Smartphones</a:t>
            </a:r>
            <a:r>
              <a:rPr sz="1300" spc="-15"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are</a:t>
            </a:r>
            <a:r>
              <a:rPr sz="1300" spc="-26"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computers</a:t>
            </a:r>
            <a:r>
              <a:rPr sz="1300" spc="-8"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they</a:t>
            </a:r>
            <a:r>
              <a:rPr sz="1300" spc="-30"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continue</a:t>
            </a:r>
            <a:r>
              <a:rPr sz="1300" spc="-34"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to</a:t>
            </a:r>
            <a:r>
              <a:rPr sz="1300" spc="-23"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learn,</a:t>
            </a:r>
            <a:r>
              <a:rPr sz="1300" spc="-38"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not</a:t>
            </a:r>
            <a:r>
              <a:rPr sz="1300" spc="-26" dirty="0">
                <a:latin typeface="Arial" panose="020B0604020202020204" pitchFamily="34" charset="0"/>
                <a:cs typeface="Arial" panose="020B0604020202020204" pitchFamily="34" charset="0"/>
              </a:rPr>
              <a:t> </a:t>
            </a:r>
            <a:r>
              <a:rPr sz="1300" dirty="0">
                <a:latin typeface="Arial" panose="020B0604020202020204" pitchFamily="34" charset="0"/>
                <a:cs typeface="Arial" panose="020B0604020202020204" pitchFamily="34" charset="0"/>
              </a:rPr>
              <a:t>getting</a:t>
            </a:r>
            <a:r>
              <a:rPr sz="1300" spc="-34" dirty="0">
                <a:latin typeface="Arial" panose="020B0604020202020204" pitchFamily="34" charset="0"/>
                <a:cs typeface="Arial" panose="020B0604020202020204" pitchFamily="34" charset="0"/>
              </a:rPr>
              <a:t> </a:t>
            </a:r>
            <a:r>
              <a:rPr sz="1300" spc="-8" dirty="0">
                <a:latin typeface="Arial" panose="020B0604020202020204" pitchFamily="34" charset="0"/>
                <a:cs typeface="Arial" panose="020B0604020202020204" pitchFamily="34" charset="0"/>
              </a:rPr>
              <a:t>smarter</a:t>
            </a:r>
            <a:endParaRPr sz="1300" dirty="0">
              <a:latin typeface="Arial" panose="020B0604020202020204" pitchFamily="34" charset="0"/>
              <a:cs typeface="Arial" panose="020B0604020202020204" pitchFamily="34" charset="0"/>
            </a:endParaRPr>
          </a:p>
        </p:txBody>
      </p:sp>
      <p:pic>
        <p:nvPicPr>
          <p:cNvPr id="4" name="object 4"/>
          <p:cNvPicPr/>
          <p:nvPr/>
        </p:nvPicPr>
        <p:blipFill>
          <a:blip r:embed="rId2" cstate="print"/>
          <a:stretch>
            <a:fillRect/>
          </a:stretch>
        </p:blipFill>
        <p:spPr>
          <a:xfrm>
            <a:off x="939545" y="4114800"/>
            <a:ext cx="3314700" cy="1586484"/>
          </a:xfrm>
          <a:prstGeom prst="rect">
            <a:avLst/>
          </a:prstGeom>
        </p:spPr>
      </p:pic>
      <p:pic>
        <p:nvPicPr>
          <p:cNvPr id="5" name="object 5"/>
          <p:cNvPicPr/>
          <p:nvPr/>
        </p:nvPicPr>
        <p:blipFill>
          <a:blip r:embed="rId3" cstate="print"/>
          <a:stretch>
            <a:fillRect/>
          </a:stretch>
        </p:blipFill>
        <p:spPr>
          <a:xfrm>
            <a:off x="5029200" y="4307029"/>
            <a:ext cx="2905506" cy="1192149"/>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F87143-0A09-1C03-FFA0-7643868C2F9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07E8DA3-60FC-19D0-1738-F2507A944A44}"/>
              </a:ext>
            </a:extLst>
          </p:cNvPr>
          <p:cNvSpPr txBox="1">
            <a:spLocks noGrp="1"/>
          </p:cNvSpPr>
          <p:nvPr>
            <p:ph type="title"/>
          </p:nvPr>
        </p:nvSpPr>
        <p:spPr>
          <a:xfrm>
            <a:off x="914400" y="533400"/>
            <a:ext cx="5284517" cy="893764"/>
          </a:xfrm>
          <a:prstGeom prst="rect">
            <a:avLst/>
          </a:prstGeom>
        </p:spPr>
        <p:txBody>
          <a:bodyPr vert="horz" wrap="square" lIns="0" tIns="214560" rIns="0" bIns="0" rtlCol="0">
            <a:spAutoFit/>
          </a:bodyPr>
          <a:lstStyle/>
          <a:p>
            <a:pPr marL="9525">
              <a:spcBef>
                <a:spcPts val="71"/>
              </a:spcBef>
            </a:pPr>
            <a:r>
              <a:rPr lang="en-US" dirty="0"/>
              <a:t>Information Systems</a:t>
            </a:r>
            <a:endParaRPr spc="-8" dirty="0"/>
          </a:p>
        </p:txBody>
      </p:sp>
      <p:sp>
        <p:nvSpPr>
          <p:cNvPr id="3" name="object 3">
            <a:extLst>
              <a:ext uri="{FF2B5EF4-FFF2-40B4-BE49-F238E27FC236}">
                <a16:creationId xmlns:a16="http://schemas.microsoft.com/office/drawing/2014/main" id="{D9C2F85E-D354-BF09-3843-2674E6EF51B5}"/>
              </a:ext>
            </a:extLst>
          </p:cNvPr>
          <p:cNvSpPr txBox="1">
            <a:spLocks noGrp="1"/>
          </p:cNvSpPr>
          <p:nvPr>
            <p:ph type="body" idx="1"/>
          </p:nvPr>
        </p:nvSpPr>
        <p:spPr>
          <a:xfrm>
            <a:off x="685800" y="1828800"/>
            <a:ext cx="8153400" cy="3464795"/>
          </a:xfrm>
          <a:prstGeom prst="rect">
            <a:avLst/>
          </a:prstGeom>
        </p:spPr>
        <p:txBody>
          <a:bodyPr vert="horz" wrap="square" lIns="0" tIns="9525" rIns="0" bIns="0" rtlCol="0">
            <a:spAutoFit/>
          </a:bodyPr>
          <a:lstStyle/>
          <a:p>
            <a:pPr algn="just">
              <a:lnSpc>
                <a:spcPct val="107000"/>
              </a:lnSpc>
              <a:spcAft>
                <a:spcPts val="800"/>
              </a:spcAft>
            </a:pPr>
            <a:r>
              <a:rPr lang="en-ZA" sz="2400" dirty="0">
                <a:latin typeface="Arial" panose="020B0604020202020204" pitchFamily="34" charset="0"/>
                <a:cs typeface="Arial" panose="020B0604020202020204" pitchFamily="34" charset="0"/>
              </a:rPr>
              <a:t>Information Systems focus in applying computers to business problems.</a:t>
            </a:r>
          </a:p>
          <a:p>
            <a:pPr algn="just">
              <a:lnSpc>
                <a:spcPct val="107000"/>
              </a:lnSpc>
              <a:spcAft>
                <a:spcPts val="800"/>
              </a:spcAft>
            </a:pPr>
            <a:endParaRPr lang="en-ZA" sz="1800" dirty="0">
              <a:latin typeface="Arial" panose="020B0604020202020204" pitchFamily="34" charset="0"/>
              <a:ea typeface="Times New Roman" panose="02020603050405020304" pitchFamily="18" charset="0"/>
              <a:cs typeface="Arial" panose="020B0604020202020204" pitchFamily="34" charset="0"/>
            </a:endParaRPr>
          </a:p>
          <a:p>
            <a:pPr algn="just">
              <a:lnSpc>
                <a:spcPct val="107000"/>
              </a:lnSpc>
              <a:spcAft>
                <a:spcPts val="800"/>
              </a:spcAft>
            </a:pPr>
            <a:r>
              <a:rPr lang="en-US" sz="2400" b="0" i="0" dirty="0">
                <a:effectLst/>
                <a:latin typeface="Arial" panose="020B0604020202020204" pitchFamily="34" charset="0"/>
                <a:cs typeface="Arial" panose="020B0604020202020204" pitchFamily="34" charset="0"/>
              </a:rPr>
              <a:t>Information systems are interrelated components working together to collect, process, store, and disseminate information to support decision making, coordination, control, analysis, and visualization in an organization</a:t>
            </a:r>
            <a:r>
              <a:rPr lang="en-ZA" sz="1800" kern="0" dirty="0">
                <a:solidFill>
                  <a:srgbClr val="000000"/>
                </a:solidFill>
                <a:effectLst/>
                <a:latin typeface="Times New Roman" panose="02020603050405020304" pitchFamily="18" charset="0"/>
                <a:ea typeface="Times New Roman" panose="02020603050405020304" pitchFamily="18" charset="0"/>
              </a:rPr>
              <a:t>.</a:t>
            </a: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484746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034238-F811-4E5C-64DC-BDA60ECD09CB}"/>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430BECD4-EC1D-9D21-BEFE-EF4B44FFDAE3}"/>
              </a:ext>
            </a:extLst>
          </p:cNvPr>
          <p:cNvSpPr txBox="1">
            <a:spLocks noGrp="1"/>
          </p:cNvSpPr>
          <p:nvPr>
            <p:ph type="title"/>
          </p:nvPr>
        </p:nvSpPr>
        <p:spPr>
          <a:xfrm>
            <a:off x="914400" y="533400"/>
            <a:ext cx="5284517" cy="893764"/>
          </a:xfrm>
          <a:prstGeom prst="rect">
            <a:avLst/>
          </a:prstGeom>
        </p:spPr>
        <p:txBody>
          <a:bodyPr vert="horz" wrap="square" lIns="0" tIns="214560" rIns="0" bIns="0" rtlCol="0">
            <a:spAutoFit/>
          </a:bodyPr>
          <a:lstStyle/>
          <a:p>
            <a:pPr marL="9525">
              <a:spcBef>
                <a:spcPts val="71"/>
              </a:spcBef>
            </a:pPr>
            <a:r>
              <a:rPr dirty="0"/>
              <a:t>Co</a:t>
            </a:r>
            <a:r>
              <a:rPr lang="en-US" dirty="0"/>
              <a:t>mputer Engineering</a:t>
            </a:r>
            <a:endParaRPr spc="-8" dirty="0"/>
          </a:p>
        </p:txBody>
      </p:sp>
      <p:sp>
        <p:nvSpPr>
          <p:cNvPr id="3" name="object 3">
            <a:extLst>
              <a:ext uri="{FF2B5EF4-FFF2-40B4-BE49-F238E27FC236}">
                <a16:creationId xmlns:a16="http://schemas.microsoft.com/office/drawing/2014/main" id="{CEC83EB2-9907-D366-EB8F-D8344BB082AD}"/>
              </a:ext>
            </a:extLst>
          </p:cNvPr>
          <p:cNvSpPr txBox="1">
            <a:spLocks noGrp="1"/>
          </p:cNvSpPr>
          <p:nvPr>
            <p:ph type="body" idx="1"/>
          </p:nvPr>
        </p:nvSpPr>
        <p:spPr>
          <a:xfrm>
            <a:off x="685800" y="1828800"/>
            <a:ext cx="8153400" cy="4251357"/>
          </a:xfrm>
          <a:prstGeom prst="rect">
            <a:avLst/>
          </a:prstGeom>
        </p:spPr>
        <p:txBody>
          <a:bodyPr vert="horz" wrap="square" lIns="0" tIns="9525" rIns="0" bIns="0" rtlCol="0">
            <a:spAutoFit/>
          </a:bodyPr>
          <a:lstStyle/>
          <a:p>
            <a:pPr algn="just">
              <a:lnSpc>
                <a:spcPct val="107000"/>
              </a:lnSpc>
              <a:spcAft>
                <a:spcPts val="800"/>
              </a:spcAft>
            </a:pPr>
            <a:r>
              <a:rPr lang="en-ZA" sz="2400" dirty="0">
                <a:latin typeface="Arial" panose="020B0604020202020204" pitchFamily="34" charset="0"/>
                <a:cs typeface="Arial" panose="020B0604020202020204" pitchFamily="34" charset="0"/>
              </a:rPr>
              <a:t>Computer Engineering focuses on the design of the computer hardware and peripheral devices, often at the chip level.</a:t>
            </a:r>
          </a:p>
          <a:p>
            <a:pPr algn="just">
              <a:lnSpc>
                <a:spcPct val="107000"/>
              </a:lnSpc>
              <a:spcAft>
                <a:spcPts val="800"/>
              </a:spcAft>
            </a:pPr>
            <a:br>
              <a:rPr lang="en-ZA" sz="2400" dirty="0">
                <a:latin typeface="Arial" panose="020B0604020202020204" pitchFamily="34" charset="0"/>
                <a:cs typeface="Arial" panose="020B0604020202020204" pitchFamily="34" charset="0"/>
              </a:rPr>
            </a:br>
            <a:r>
              <a:rPr lang="en-ZA" sz="2400" dirty="0">
                <a:latin typeface="Arial" panose="020B0604020202020204" pitchFamily="34" charset="0"/>
                <a:cs typeface="Arial" panose="020B0604020202020204" pitchFamily="34" charset="0"/>
              </a:rPr>
              <a:t>Students learn how to design new computer circuits, microchips, and other electronic components. In addition, they learn how to design a new computer instructions and combine electronic or optical components to provide powerful, cost-effective computing</a:t>
            </a:r>
            <a:r>
              <a:rPr lang="en-ZA" sz="2400" dirty="0">
                <a:solidFill>
                  <a:srgbClr val="373D3F"/>
                </a:solidFill>
                <a:latin typeface="Arial" panose="020B0604020202020204" pitchFamily="34" charset="0"/>
                <a:cs typeface="Arial" panose="020B0604020202020204" pitchFamily="34" charset="0"/>
              </a:rPr>
              <a:t>.</a:t>
            </a: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8683969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146ED4-64BD-C21A-4F5E-09AEFAB15340}"/>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BC79253A-6D82-3950-BD9C-3220ADF962B9}"/>
              </a:ext>
            </a:extLst>
          </p:cNvPr>
          <p:cNvSpPr txBox="1">
            <a:spLocks noGrp="1"/>
          </p:cNvSpPr>
          <p:nvPr>
            <p:ph type="title"/>
          </p:nvPr>
        </p:nvSpPr>
        <p:spPr>
          <a:xfrm>
            <a:off x="914400" y="533400"/>
            <a:ext cx="5284517" cy="893764"/>
          </a:xfrm>
          <a:prstGeom prst="rect">
            <a:avLst/>
          </a:prstGeom>
        </p:spPr>
        <p:txBody>
          <a:bodyPr vert="horz" wrap="square" lIns="0" tIns="214560" rIns="0" bIns="0" rtlCol="0">
            <a:spAutoFit/>
          </a:bodyPr>
          <a:lstStyle/>
          <a:p>
            <a:pPr marL="9525">
              <a:spcBef>
                <a:spcPts val="71"/>
              </a:spcBef>
            </a:pPr>
            <a:r>
              <a:rPr dirty="0"/>
              <a:t>Co</a:t>
            </a:r>
            <a:r>
              <a:rPr lang="en-US" dirty="0"/>
              <a:t>mputer Science</a:t>
            </a:r>
            <a:endParaRPr spc="-8" dirty="0"/>
          </a:p>
        </p:txBody>
      </p:sp>
      <p:sp>
        <p:nvSpPr>
          <p:cNvPr id="3" name="object 3">
            <a:extLst>
              <a:ext uri="{FF2B5EF4-FFF2-40B4-BE49-F238E27FC236}">
                <a16:creationId xmlns:a16="http://schemas.microsoft.com/office/drawing/2014/main" id="{0CD06F22-AA03-E115-3D73-A043FF00D858}"/>
              </a:ext>
            </a:extLst>
          </p:cNvPr>
          <p:cNvSpPr txBox="1">
            <a:spLocks noGrp="1"/>
          </p:cNvSpPr>
          <p:nvPr>
            <p:ph type="body" idx="1"/>
          </p:nvPr>
        </p:nvSpPr>
        <p:spPr>
          <a:xfrm>
            <a:off x="685800" y="1828800"/>
            <a:ext cx="8153400" cy="3856184"/>
          </a:xfrm>
          <a:prstGeom prst="rect">
            <a:avLst/>
          </a:prstGeom>
        </p:spPr>
        <p:txBody>
          <a:bodyPr vert="horz" wrap="square" lIns="0" tIns="9525" rIns="0" bIns="0" rtlCol="0">
            <a:spAutoFit/>
          </a:bodyPr>
          <a:lstStyle/>
          <a:p>
            <a:pPr algn="just">
              <a:lnSpc>
                <a:spcPct val="107000"/>
              </a:lnSpc>
              <a:spcAft>
                <a:spcPts val="800"/>
              </a:spcAft>
            </a:pPr>
            <a:r>
              <a:rPr lang="en-ZA" sz="2400" dirty="0">
                <a:latin typeface="Arial" panose="020B0604020202020204" pitchFamily="34" charset="0"/>
                <a:cs typeface="Arial" panose="020B0604020202020204" pitchFamily="34" charset="0"/>
              </a:rPr>
              <a:t>Computer Science focuses on computer architecture and how to program computers to make them work effectively and efficiently.</a:t>
            </a:r>
          </a:p>
          <a:p>
            <a:pPr algn="just">
              <a:lnSpc>
                <a:spcPct val="107000"/>
              </a:lnSpc>
              <a:spcAft>
                <a:spcPts val="800"/>
              </a:spcAft>
            </a:pPr>
            <a:br>
              <a:rPr lang="en-ZA" sz="2400" dirty="0">
                <a:latin typeface="Arial" panose="020B0604020202020204" pitchFamily="34" charset="0"/>
                <a:cs typeface="Arial" panose="020B0604020202020204" pitchFamily="34" charset="0"/>
              </a:rPr>
            </a:br>
            <a:r>
              <a:rPr lang="en-ZA" sz="2400" dirty="0">
                <a:latin typeface="Arial" panose="020B0604020202020204" pitchFamily="34" charset="0"/>
                <a:cs typeface="Arial" panose="020B0604020202020204" pitchFamily="34" charset="0"/>
              </a:rPr>
              <a:t>Computer Scientists investigate the fundamentals theories of how computers solve problems, and they learn how to write application programs, system software, computer languages, and device drivers</a:t>
            </a:r>
            <a:r>
              <a:rPr lang="en-ZA" sz="1800" kern="0" dirty="0">
                <a:solidFill>
                  <a:srgbClr val="000000"/>
                </a:solidFill>
                <a:effectLst/>
                <a:latin typeface="Times New Roman" panose="02020603050405020304" pitchFamily="18" charset="0"/>
                <a:ea typeface="Times New Roman" panose="02020603050405020304" pitchFamily="18" charset="0"/>
              </a:rPr>
              <a:t>.</a:t>
            </a: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254232151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EBE623-B76B-DA74-2AC5-E77530B79C1E}"/>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09B77532-74E3-5863-AF9F-32481B363483}"/>
              </a:ext>
            </a:extLst>
          </p:cNvPr>
          <p:cNvSpPr txBox="1">
            <a:spLocks noGrp="1"/>
          </p:cNvSpPr>
          <p:nvPr>
            <p:ph type="title"/>
          </p:nvPr>
        </p:nvSpPr>
        <p:spPr>
          <a:xfrm>
            <a:off x="914400" y="533400"/>
            <a:ext cx="6400800" cy="893764"/>
          </a:xfrm>
          <a:prstGeom prst="rect">
            <a:avLst/>
          </a:prstGeom>
        </p:spPr>
        <p:txBody>
          <a:bodyPr vert="horz" wrap="square" lIns="0" tIns="214560" rIns="0" bIns="0" rtlCol="0">
            <a:spAutoFit/>
          </a:bodyPr>
          <a:lstStyle/>
          <a:p>
            <a:pPr marL="9525">
              <a:spcBef>
                <a:spcPts val="71"/>
              </a:spcBef>
            </a:pPr>
            <a:r>
              <a:rPr lang="en-US" dirty="0"/>
              <a:t>Information Technology</a:t>
            </a:r>
            <a:endParaRPr spc="-8" dirty="0"/>
          </a:p>
        </p:txBody>
      </p:sp>
      <p:sp>
        <p:nvSpPr>
          <p:cNvPr id="3" name="object 3">
            <a:extLst>
              <a:ext uri="{FF2B5EF4-FFF2-40B4-BE49-F238E27FC236}">
                <a16:creationId xmlns:a16="http://schemas.microsoft.com/office/drawing/2014/main" id="{F3AB644F-EDDB-A7D6-C554-2C3E1B8023CE}"/>
              </a:ext>
            </a:extLst>
          </p:cNvPr>
          <p:cNvSpPr txBox="1">
            <a:spLocks noGrp="1"/>
          </p:cNvSpPr>
          <p:nvPr>
            <p:ph type="body" idx="1"/>
          </p:nvPr>
        </p:nvSpPr>
        <p:spPr>
          <a:xfrm>
            <a:off x="685800" y="1828800"/>
            <a:ext cx="8153400" cy="3859967"/>
          </a:xfrm>
          <a:prstGeom prst="rect">
            <a:avLst/>
          </a:prstGeom>
        </p:spPr>
        <p:txBody>
          <a:bodyPr vert="horz" wrap="square" lIns="0" tIns="9525" rIns="0" bIns="0" rtlCol="0">
            <a:spAutoFit/>
          </a:bodyPr>
          <a:lstStyle/>
          <a:p>
            <a:pPr algn="just">
              <a:lnSpc>
                <a:spcPct val="107000"/>
              </a:lnSpc>
              <a:spcAft>
                <a:spcPts val="800"/>
              </a:spcAft>
            </a:pPr>
            <a:r>
              <a:rPr lang="en-ZA" sz="2400" dirty="0">
                <a:latin typeface="Arial" panose="020B0604020202020204" pitchFamily="34" charset="0"/>
                <a:cs typeface="Arial" panose="020B0604020202020204" pitchFamily="34" charset="0"/>
              </a:rPr>
              <a:t>Information Technology degree programs focus on the computer equipment and software used by businesses and organizations-how they work, how they are secured, upgraded, maintained, and replaced.</a:t>
            </a:r>
          </a:p>
          <a:p>
            <a:pPr algn="just">
              <a:lnSpc>
                <a:spcPct val="107000"/>
              </a:lnSpc>
              <a:spcAft>
                <a:spcPts val="800"/>
              </a:spcAft>
            </a:pPr>
            <a:endParaRPr lang="en-ZA" sz="1800" dirty="0">
              <a:latin typeface="Arial" panose="020B0604020202020204" pitchFamily="34" charset="0"/>
              <a:ea typeface="Times New Roman" panose="02020603050405020304" pitchFamily="18" charset="0"/>
              <a:cs typeface="Arial" panose="020B0604020202020204" pitchFamily="34" charset="0"/>
            </a:endParaRPr>
          </a:p>
          <a:p>
            <a:pPr algn="just">
              <a:lnSpc>
                <a:spcPct val="107000"/>
              </a:lnSpc>
              <a:spcAft>
                <a:spcPts val="800"/>
              </a:spcAft>
            </a:pPr>
            <a:r>
              <a:rPr lang="en-ZA" sz="2400" dirty="0">
                <a:latin typeface="Arial" panose="020B0604020202020204" pitchFamily="34" charset="0"/>
                <a:cs typeface="Arial" panose="020B0604020202020204" pitchFamily="34" charset="0"/>
              </a:rPr>
              <a:t>Professionals in an IT typically work hands-on with hardware, networks, Web pages, multimedia, e-mail systems, and security.</a:t>
            </a: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00771890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1EF895-8A54-EC2C-6EE2-3E3F2151642A}"/>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2A4187F9-89CB-4875-5DC7-4E39ACB812E8}"/>
              </a:ext>
            </a:extLst>
          </p:cNvPr>
          <p:cNvSpPr txBox="1">
            <a:spLocks noGrp="1"/>
          </p:cNvSpPr>
          <p:nvPr>
            <p:ph type="title"/>
          </p:nvPr>
        </p:nvSpPr>
        <p:spPr>
          <a:xfrm>
            <a:off x="914400" y="533400"/>
            <a:ext cx="6400800" cy="893764"/>
          </a:xfrm>
          <a:prstGeom prst="rect">
            <a:avLst/>
          </a:prstGeom>
        </p:spPr>
        <p:txBody>
          <a:bodyPr vert="horz" wrap="square" lIns="0" tIns="214560" rIns="0" bIns="0" rtlCol="0">
            <a:spAutoFit/>
          </a:bodyPr>
          <a:lstStyle/>
          <a:p>
            <a:pPr marL="9525">
              <a:spcBef>
                <a:spcPts val="71"/>
              </a:spcBef>
            </a:pPr>
            <a:r>
              <a:rPr lang="en-US" dirty="0"/>
              <a:t>Software Engineering</a:t>
            </a:r>
            <a:endParaRPr spc="-8" dirty="0"/>
          </a:p>
        </p:txBody>
      </p:sp>
      <p:sp>
        <p:nvSpPr>
          <p:cNvPr id="3" name="object 3">
            <a:extLst>
              <a:ext uri="{FF2B5EF4-FFF2-40B4-BE49-F238E27FC236}">
                <a16:creationId xmlns:a16="http://schemas.microsoft.com/office/drawing/2014/main" id="{5B06D4C2-7F0E-A3A5-FD76-D8B43CD5C4BB}"/>
              </a:ext>
            </a:extLst>
          </p:cNvPr>
          <p:cNvSpPr txBox="1">
            <a:spLocks noGrp="1"/>
          </p:cNvSpPr>
          <p:nvPr>
            <p:ph type="body" idx="1"/>
          </p:nvPr>
        </p:nvSpPr>
        <p:spPr>
          <a:xfrm>
            <a:off x="685800" y="1828800"/>
            <a:ext cx="8153400" cy="2176686"/>
          </a:xfrm>
          <a:prstGeom prst="rect">
            <a:avLst/>
          </a:prstGeom>
        </p:spPr>
        <p:txBody>
          <a:bodyPr vert="horz" wrap="square" lIns="0" tIns="9525" rIns="0" bIns="0" rtlCol="0">
            <a:spAutoFit/>
          </a:bodyPr>
          <a:lstStyle/>
          <a:p>
            <a:pPr algn="just">
              <a:lnSpc>
                <a:spcPct val="107000"/>
              </a:lnSpc>
              <a:spcAft>
                <a:spcPts val="800"/>
              </a:spcAft>
            </a:pPr>
            <a:r>
              <a:rPr lang="en-ZA" sz="2400" dirty="0">
                <a:latin typeface="Arial" panose="020B0604020202020204" pitchFamily="34" charset="0"/>
                <a:cs typeface="Arial" panose="020B0604020202020204" pitchFamily="34" charset="0"/>
              </a:rPr>
              <a:t>Software Engineering takes a discipline approach to developing software that is reliable, efficient, affordable, user-friendly, and scalable.</a:t>
            </a:r>
          </a:p>
          <a:p>
            <a:pPr algn="just">
              <a:lnSpc>
                <a:spcPct val="107000"/>
              </a:lnSpc>
              <a:spcAft>
                <a:spcPts val="800"/>
              </a:spcAft>
            </a:pP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br>
              <a:rPr lang="en-ZA" sz="1800" kern="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br>
            <a:endParaRPr lang="en-ZA" sz="1800" kern="100" dirty="0">
              <a:effectLst/>
              <a:latin typeface="Aptos" panose="020B0004020202020204" pitchFamily="34" charset="0"/>
              <a:ea typeface="Aptos" panose="020B0004020202020204" pitchFamily="34" charset="0"/>
              <a:cs typeface="Times New Roman" panose="02020603050405020304" pitchFamily="18" charset="0"/>
            </a:endParaRPr>
          </a:p>
        </p:txBody>
      </p:sp>
    </p:spTree>
    <p:extLst>
      <p:ext uri="{BB962C8B-B14F-4D97-AF65-F5344CB8AC3E}">
        <p14:creationId xmlns:p14="http://schemas.microsoft.com/office/powerpoint/2010/main" val="18900791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a:extLst>
              <a:ext uri="{FF2B5EF4-FFF2-40B4-BE49-F238E27FC236}">
                <a16:creationId xmlns:a16="http://schemas.microsoft.com/office/drawing/2014/main" id="{41850C82-C098-55C8-8505-287BA3AC0293}"/>
              </a:ext>
            </a:extLst>
          </p:cNvPr>
          <p:cNvSpPr>
            <a:spLocks noGrp="1" noChangeArrowheads="1"/>
          </p:cNvSpPr>
          <p:nvPr>
            <p:ph type="title"/>
          </p:nvPr>
        </p:nvSpPr>
        <p:spPr>
          <a:xfrm>
            <a:off x="0" y="438150"/>
            <a:ext cx="6273800" cy="476250"/>
          </a:xfrm>
          <a:noFill/>
        </p:spPr>
        <p:txBody>
          <a:bodyPr/>
          <a:lstStyle/>
          <a:p>
            <a:r>
              <a:rPr lang="en-US" altLang="en-US" dirty="0"/>
              <a:t>Systems Engineering</a:t>
            </a:r>
          </a:p>
        </p:txBody>
      </p:sp>
      <p:sp>
        <p:nvSpPr>
          <p:cNvPr id="16387" name="Rectangle 3">
            <a:extLst>
              <a:ext uri="{FF2B5EF4-FFF2-40B4-BE49-F238E27FC236}">
                <a16:creationId xmlns:a16="http://schemas.microsoft.com/office/drawing/2014/main" id="{17024248-E4C2-6806-2D69-2DEB8257DD4F}"/>
              </a:ext>
            </a:extLst>
          </p:cNvPr>
          <p:cNvSpPr>
            <a:spLocks noChangeArrowheads="1"/>
          </p:cNvSpPr>
          <p:nvPr/>
        </p:nvSpPr>
        <p:spPr bwMode="auto">
          <a:xfrm>
            <a:off x="765175" y="2416175"/>
            <a:ext cx="14668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User Need</a:t>
            </a:r>
          </a:p>
        </p:txBody>
      </p:sp>
      <p:sp>
        <p:nvSpPr>
          <p:cNvPr id="16388" name="Line 4">
            <a:extLst>
              <a:ext uri="{FF2B5EF4-FFF2-40B4-BE49-F238E27FC236}">
                <a16:creationId xmlns:a16="http://schemas.microsoft.com/office/drawing/2014/main" id="{8F7C8CFA-DAA9-4969-562F-4A51C9A8C76D}"/>
              </a:ext>
            </a:extLst>
          </p:cNvPr>
          <p:cNvSpPr>
            <a:spLocks noChangeShapeType="1"/>
          </p:cNvSpPr>
          <p:nvPr/>
        </p:nvSpPr>
        <p:spPr bwMode="auto">
          <a:xfrm>
            <a:off x="787400" y="2686050"/>
            <a:ext cx="1282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89" name="Line 5">
            <a:extLst>
              <a:ext uri="{FF2B5EF4-FFF2-40B4-BE49-F238E27FC236}">
                <a16:creationId xmlns:a16="http://schemas.microsoft.com/office/drawing/2014/main" id="{CAD05ED6-A27B-75D1-26EE-0D72E9F3EBF8}"/>
              </a:ext>
            </a:extLst>
          </p:cNvPr>
          <p:cNvSpPr>
            <a:spLocks noChangeShapeType="1"/>
          </p:cNvSpPr>
          <p:nvPr/>
        </p:nvSpPr>
        <p:spPr bwMode="auto">
          <a:xfrm>
            <a:off x="825500" y="2400300"/>
            <a:ext cx="1282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0" name="Rectangle 6">
            <a:extLst>
              <a:ext uri="{FF2B5EF4-FFF2-40B4-BE49-F238E27FC236}">
                <a16:creationId xmlns:a16="http://schemas.microsoft.com/office/drawing/2014/main" id="{4E803C11-01DD-225C-B0B9-2D92D6C30E32}"/>
              </a:ext>
            </a:extLst>
          </p:cNvPr>
          <p:cNvSpPr>
            <a:spLocks noChangeArrowheads="1"/>
          </p:cNvSpPr>
          <p:nvPr/>
        </p:nvSpPr>
        <p:spPr bwMode="auto">
          <a:xfrm>
            <a:off x="1336675" y="4721225"/>
            <a:ext cx="14668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Concept</a:t>
            </a:r>
          </a:p>
        </p:txBody>
      </p:sp>
      <p:sp>
        <p:nvSpPr>
          <p:cNvPr id="16391" name="Line 7">
            <a:extLst>
              <a:ext uri="{FF2B5EF4-FFF2-40B4-BE49-F238E27FC236}">
                <a16:creationId xmlns:a16="http://schemas.microsoft.com/office/drawing/2014/main" id="{1E27BC6F-A7F8-29F5-725F-4BA5CDC92419}"/>
              </a:ext>
            </a:extLst>
          </p:cNvPr>
          <p:cNvSpPr>
            <a:spLocks noChangeShapeType="1"/>
          </p:cNvSpPr>
          <p:nvPr/>
        </p:nvSpPr>
        <p:spPr bwMode="auto">
          <a:xfrm>
            <a:off x="1206500" y="5010150"/>
            <a:ext cx="1282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2" name="Line 8">
            <a:extLst>
              <a:ext uri="{FF2B5EF4-FFF2-40B4-BE49-F238E27FC236}">
                <a16:creationId xmlns:a16="http://schemas.microsoft.com/office/drawing/2014/main" id="{259573DD-6080-762B-BE6C-D61D0F05EC42}"/>
              </a:ext>
            </a:extLst>
          </p:cNvPr>
          <p:cNvSpPr>
            <a:spLocks noChangeShapeType="1"/>
          </p:cNvSpPr>
          <p:nvPr/>
        </p:nvSpPr>
        <p:spPr bwMode="auto">
          <a:xfrm>
            <a:off x="1244600" y="4724400"/>
            <a:ext cx="1282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3" name="Rectangle 9">
            <a:extLst>
              <a:ext uri="{FF2B5EF4-FFF2-40B4-BE49-F238E27FC236}">
                <a16:creationId xmlns:a16="http://schemas.microsoft.com/office/drawing/2014/main" id="{A838FD34-5D5B-8C0E-A0D3-F5AB200D2C4E}"/>
              </a:ext>
            </a:extLst>
          </p:cNvPr>
          <p:cNvSpPr>
            <a:spLocks noChangeArrowheads="1"/>
          </p:cNvSpPr>
          <p:nvPr/>
        </p:nvSpPr>
        <p:spPr bwMode="auto">
          <a:xfrm>
            <a:off x="3770313" y="4302125"/>
            <a:ext cx="2357437"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System Requirements</a:t>
            </a:r>
          </a:p>
        </p:txBody>
      </p:sp>
      <p:sp>
        <p:nvSpPr>
          <p:cNvPr id="16394" name="Line 10">
            <a:extLst>
              <a:ext uri="{FF2B5EF4-FFF2-40B4-BE49-F238E27FC236}">
                <a16:creationId xmlns:a16="http://schemas.microsoft.com/office/drawing/2014/main" id="{566E0737-75B2-1221-7D1E-5E6551607470}"/>
              </a:ext>
            </a:extLst>
          </p:cNvPr>
          <p:cNvSpPr>
            <a:spLocks noChangeShapeType="1"/>
          </p:cNvSpPr>
          <p:nvPr/>
        </p:nvSpPr>
        <p:spPr bwMode="auto">
          <a:xfrm>
            <a:off x="3911600" y="4572000"/>
            <a:ext cx="18732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5" name="Rectangle 11">
            <a:extLst>
              <a:ext uri="{FF2B5EF4-FFF2-40B4-BE49-F238E27FC236}">
                <a16:creationId xmlns:a16="http://schemas.microsoft.com/office/drawing/2014/main" id="{3EC4F14F-0FE2-35CB-AEB7-ADDCCC0BD639}"/>
              </a:ext>
            </a:extLst>
          </p:cNvPr>
          <p:cNvSpPr>
            <a:spLocks noChangeArrowheads="1"/>
          </p:cNvSpPr>
          <p:nvPr/>
        </p:nvSpPr>
        <p:spPr bwMode="auto">
          <a:xfrm>
            <a:off x="3146425" y="5083175"/>
            <a:ext cx="28384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Allocated Hardware Reqs</a:t>
            </a:r>
          </a:p>
        </p:txBody>
      </p:sp>
      <p:sp>
        <p:nvSpPr>
          <p:cNvPr id="16396" name="Line 12">
            <a:extLst>
              <a:ext uri="{FF2B5EF4-FFF2-40B4-BE49-F238E27FC236}">
                <a16:creationId xmlns:a16="http://schemas.microsoft.com/office/drawing/2014/main" id="{BACB5B09-338D-FB8F-756A-0BA885876768}"/>
              </a:ext>
            </a:extLst>
          </p:cNvPr>
          <p:cNvSpPr>
            <a:spLocks noChangeShapeType="1"/>
          </p:cNvSpPr>
          <p:nvPr/>
        </p:nvSpPr>
        <p:spPr bwMode="auto">
          <a:xfrm>
            <a:off x="3263900" y="5372100"/>
            <a:ext cx="23685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7" name="Line 13">
            <a:extLst>
              <a:ext uri="{FF2B5EF4-FFF2-40B4-BE49-F238E27FC236}">
                <a16:creationId xmlns:a16="http://schemas.microsoft.com/office/drawing/2014/main" id="{D7B95AEB-382D-B334-C196-09746038969F}"/>
              </a:ext>
            </a:extLst>
          </p:cNvPr>
          <p:cNvSpPr>
            <a:spLocks noChangeShapeType="1"/>
          </p:cNvSpPr>
          <p:nvPr/>
        </p:nvSpPr>
        <p:spPr bwMode="auto">
          <a:xfrm>
            <a:off x="3263900" y="5086350"/>
            <a:ext cx="23495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398" name="Rectangle 14">
            <a:extLst>
              <a:ext uri="{FF2B5EF4-FFF2-40B4-BE49-F238E27FC236}">
                <a16:creationId xmlns:a16="http://schemas.microsoft.com/office/drawing/2014/main" id="{9ECB1E6F-9956-2B35-A891-1BA1F36EBDA6}"/>
              </a:ext>
            </a:extLst>
          </p:cNvPr>
          <p:cNvSpPr>
            <a:spLocks noChangeArrowheads="1"/>
          </p:cNvSpPr>
          <p:nvPr/>
        </p:nvSpPr>
        <p:spPr bwMode="auto">
          <a:xfrm>
            <a:off x="5292725" y="2187575"/>
            <a:ext cx="2635250"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System Design Document</a:t>
            </a:r>
          </a:p>
        </p:txBody>
      </p:sp>
      <p:sp>
        <p:nvSpPr>
          <p:cNvPr id="16399" name="Line 15">
            <a:extLst>
              <a:ext uri="{FF2B5EF4-FFF2-40B4-BE49-F238E27FC236}">
                <a16:creationId xmlns:a16="http://schemas.microsoft.com/office/drawing/2014/main" id="{2B94AC32-C450-243B-9799-2A88C64C0BE7}"/>
              </a:ext>
            </a:extLst>
          </p:cNvPr>
          <p:cNvSpPr>
            <a:spLocks noChangeShapeType="1"/>
          </p:cNvSpPr>
          <p:nvPr/>
        </p:nvSpPr>
        <p:spPr bwMode="auto">
          <a:xfrm>
            <a:off x="5356225" y="2451100"/>
            <a:ext cx="2486025" cy="635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0" name="Line 16">
            <a:extLst>
              <a:ext uri="{FF2B5EF4-FFF2-40B4-BE49-F238E27FC236}">
                <a16:creationId xmlns:a16="http://schemas.microsoft.com/office/drawing/2014/main" id="{566EF45B-DD5F-9EA7-4B59-709624D19BE7}"/>
              </a:ext>
            </a:extLst>
          </p:cNvPr>
          <p:cNvSpPr>
            <a:spLocks noChangeShapeType="1"/>
          </p:cNvSpPr>
          <p:nvPr/>
        </p:nvSpPr>
        <p:spPr bwMode="auto">
          <a:xfrm>
            <a:off x="5378450" y="2190750"/>
            <a:ext cx="24257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1" name="Oval 17">
            <a:extLst>
              <a:ext uri="{FF2B5EF4-FFF2-40B4-BE49-F238E27FC236}">
                <a16:creationId xmlns:a16="http://schemas.microsoft.com/office/drawing/2014/main" id="{52C36C4A-BC73-B424-3A10-09B5DF6F9A22}"/>
              </a:ext>
            </a:extLst>
          </p:cNvPr>
          <p:cNvSpPr>
            <a:spLocks noChangeArrowheads="1"/>
          </p:cNvSpPr>
          <p:nvPr/>
        </p:nvSpPr>
        <p:spPr bwMode="auto">
          <a:xfrm>
            <a:off x="1320800" y="3111500"/>
            <a:ext cx="1263650" cy="8445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400">
                <a:latin typeface="Bookman Old Style" panose="02050604050505020204" pitchFamily="18" charset="0"/>
              </a:rPr>
              <a:t>Concept</a:t>
            </a:r>
          </a:p>
          <a:p>
            <a:pPr algn="ctr"/>
            <a:r>
              <a:rPr lang="en-US" altLang="en-US" sz="1400">
                <a:latin typeface="Bookman Old Style" panose="02050604050505020204" pitchFamily="18" charset="0"/>
              </a:rPr>
              <a:t>Definition</a:t>
            </a:r>
          </a:p>
        </p:txBody>
      </p:sp>
      <p:sp>
        <p:nvSpPr>
          <p:cNvPr id="16402" name="Oval 18">
            <a:extLst>
              <a:ext uri="{FF2B5EF4-FFF2-40B4-BE49-F238E27FC236}">
                <a16:creationId xmlns:a16="http://schemas.microsoft.com/office/drawing/2014/main" id="{4C6B9B70-4A6E-C6A9-8C73-C1B70AB3AFC7}"/>
              </a:ext>
            </a:extLst>
          </p:cNvPr>
          <p:cNvSpPr>
            <a:spLocks noChangeArrowheads="1"/>
          </p:cNvSpPr>
          <p:nvPr/>
        </p:nvSpPr>
        <p:spPr bwMode="auto">
          <a:xfrm>
            <a:off x="5808663" y="3084513"/>
            <a:ext cx="1263650" cy="8445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400">
                <a:latin typeface="Bookman Old Style" panose="02050604050505020204" pitchFamily="18" charset="0"/>
              </a:rPr>
              <a:t>System </a:t>
            </a:r>
          </a:p>
          <a:p>
            <a:pPr algn="ctr"/>
            <a:r>
              <a:rPr lang="en-US" altLang="en-US" sz="1400">
                <a:latin typeface="Bookman Old Style" panose="02050604050505020204" pitchFamily="18" charset="0"/>
              </a:rPr>
              <a:t>Design</a:t>
            </a:r>
          </a:p>
        </p:txBody>
      </p:sp>
      <p:sp>
        <p:nvSpPr>
          <p:cNvPr id="16403" name="Oval 19">
            <a:extLst>
              <a:ext uri="{FF2B5EF4-FFF2-40B4-BE49-F238E27FC236}">
                <a16:creationId xmlns:a16="http://schemas.microsoft.com/office/drawing/2014/main" id="{C242960B-410B-6622-7A32-55244A694004}"/>
              </a:ext>
            </a:extLst>
          </p:cNvPr>
          <p:cNvSpPr>
            <a:spLocks noChangeArrowheads="1"/>
          </p:cNvSpPr>
          <p:nvPr/>
        </p:nvSpPr>
        <p:spPr bwMode="auto">
          <a:xfrm>
            <a:off x="3111500" y="3035300"/>
            <a:ext cx="1416050" cy="86360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400">
                <a:latin typeface="Bookman Old Style" panose="02050604050505020204" pitchFamily="18" charset="0"/>
              </a:rPr>
              <a:t>Requirements</a:t>
            </a:r>
          </a:p>
          <a:p>
            <a:pPr algn="ctr"/>
            <a:r>
              <a:rPr lang="en-US" altLang="en-US" sz="1400">
                <a:latin typeface="Bookman Old Style" panose="02050604050505020204" pitchFamily="18" charset="0"/>
              </a:rPr>
              <a:t>Definition</a:t>
            </a:r>
          </a:p>
        </p:txBody>
      </p:sp>
      <p:sp>
        <p:nvSpPr>
          <p:cNvPr id="16404" name="Arc 20">
            <a:extLst>
              <a:ext uri="{FF2B5EF4-FFF2-40B4-BE49-F238E27FC236}">
                <a16:creationId xmlns:a16="http://schemas.microsoft.com/office/drawing/2014/main" id="{AA302CB5-D5A7-19D3-EFD5-5328175FE545}"/>
              </a:ext>
            </a:extLst>
          </p:cNvPr>
          <p:cNvSpPr>
            <a:spLocks/>
          </p:cNvSpPr>
          <p:nvPr/>
        </p:nvSpPr>
        <p:spPr bwMode="auto">
          <a:xfrm>
            <a:off x="1543050" y="2693988"/>
            <a:ext cx="698500" cy="488950"/>
          </a:xfrm>
          <a:custGeom>
            <a:avLst/>
            <a:gdLst>
              <a:gd name="T0" fmla="*/ 0 w 21600"/>
              <a:gd name="T1" fmla="*/ 0 h 21600"/>
              <a:gd name="T2" fmla="*/ 698500 w 21600"/>
              <a:gd name="T3" fmla="*/ 488950 h 21600"/>
              <a:gd name="T4" fmla="*/ 0 w 21600"/>
              <a:gd name="T5" fmla="*/ 4889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5" name="Arc 21">
            <a:extLst>
              <a:ext uri="{FF2B5EF4-FFF2-40B4-BE49-F238E27FC236}">
                <a16:creationId xmlns:a16="http://schemas.microsoft.com/office/drawing/2014/main" id="{3538FE4F-557C-5EBD-B631-7E88545DBE48}"/>
              </a:ext>
            </a:extLst>
          </p:cNvPr>
          <p:cNvSpPr>
            <a:spLocks/>
          </p:cNvSpPr>
          <p:nvPr/>
        </p:nvSpPr>
        <p:spPr bwMode="auto">
          <a:xfrm>
            <a:off x="2495550" y="3852863"/>
            <a:ext cx="989013" cy="1017587"/>
          </a:xfrm>
          <a:custGeom>
            <a:avLst/>
            <a:gdLst>
              <a:gd name="T0" fmla="*/ 989013 w 21600"/>
              <a:gd name="T1" fmla="*/ 0 h 21600"/>
              <a:gd name="T2" fmla="*/ 0 w 21600"/>
              <a:gd name="T3" fmla="*/ 1017587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6" name="Arc 22">
            <a:extLst>
              <a:ext uri="{FF2B5EF4-FFF2-40B4-BE49-F238E27FC236}">
                <a16:creationId xmlns:a16="http://schemas.microsoft.com/office/drawing/2014/main" id="{10CA4829-4961-87E5-6A55-87D85BCF61BE}"/>
              </a:ext>
            </a:extLst>
          </p:cNvPr>
          <p:cNvSpPr>
            <a:spLocks/>
          </p:cNvSpPr>
          <p:nvPr/>
        </p:nvSpPr>
        <p:spPr bwMode="auto">
          <a:xfrm>
            <a:off x="4552950" y="3494088"/>
            <a:ext cx="469900" cy="812800"/>
          </a:xfrm>
          <a:custGeom>
            <a:avLst/>
            <a:gdLst>
              <a:gd name="T0" fmla="*/ 0 w 21600"/>
              <a:gd name="T1" fmla="*/ 0 h 21600"/>
              <a:gd name="T2" fmla="*/ 469900 w 21600"/>
              <a:gd name="T3" fmla="*/ 812800 h 21600"/>
              <a:gd name="T4" fmla="*/ 0 w 21600"/>
              <a:gd name="T5" fmla="*/ 8128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7" name="Arc 23">
            <a:extLst>
              <a:ext uri="{FF2B5EF4-FFF2-40B4-BE49-F238E27FC236}">
                <a16:creationId xmlns:a16="http://schemas.microsoft.com/office/drawing/2014/main" id="{64D71F0D-06DC-D687-F1C9-E9BEE6376CC3}"/>
              </a:ext>
            </a:extLst>
          </p:cNvPr>
          <p:cNvSpPr>
            <a:spLocks/>
          </p:cNvSpPr>
          <p:nvPr/>
        </p:nvSpPr>
        <p:spPr bwMode="auto">
          <a:xfrm>
            <a:off x="5883275" y="3836988"/>
            <a:ext cx="207963" cy="527050"/>
          </a:xfrm>
          <a:custGeom>
            <a:avLst/>
            <a:gdLst>
              <a:gd name="T0" fmla="*/ 207963 w 21600"/>
              <a:gd name="T1" fmla="*/ 0 h 21600"/>
              <a:gd name="T2" fmla="*/ 0 w 21600"/>
              <a:gd name="T3" fmla="*/ 52705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8" name="Arc 24">
            <a:extLst>
              <a:ext uri="{FF2B5EF4-FFF2-40B4-BE49-F238E27FC236}">
                <a16:creationId xmlns:a16="http://schemas.microsoft.com/office/drawing/2014/main" id="{1E5A238C-A8CE-C9DC-DB0E-B3ABF77DD9B8}"/>
              </a:ext>
            </a:extLst>
          </p:cNvPr>
          <p:cNvSpPr>
            <a:spLocks/>
          </p:cNvSpPr>
          <p:nvPr/>
        </p:nvSpPr>
        <p:spPr bwMode="auto">
          <a:xfrm>
            <a:off x="1189038" y="3551238"/>
            <a:ext cx="127000" cy="1174750"/>
          </a:xfrm>
          <a:custGeom>
            <a:avLst/>
            <a:gdLst>
              <a:gd name="T0" fmla="*/ 0 w 21600"/>
              <a:gd name="T1" fmla="*/ 1174750 h 21598"/>
              <a:gd name="T2" fmla="*/ 125413 w 21600"/>
              <a:gd name="T3" fmla="*/ 0 h 21598"/>
              <a:gd name="T4" fmla="*/ 127000 w 21600"/>
              <a:gd name="T5" fmla="*/ 1174750 h 21598"/>
              <a:gd name="T6" fmla="*/ 0 60000 65536"/>
              <a:gd name="T7" fmla="*/ 0 60000 65536"/>
              <a:gd name="T8" fmla="*/ 0 60000 65536"/>
            </a:gdLst>
            <a:ahLst/>
            <a:cxnLst>
              <a:cxn ang="T6">
                <a:pos x="T0" y="T1"/>
              </a:cxn>
              <a:cxn ang="T7">
                <a:pos x="T2" y="T3"/>
              </a:cxn>
              <a:cxn ang="T8">
                <a:pos x="T4" y="T5"/>
              </a:cxn>
            </a:cxnLst>
            <a:rect l="0" t="0" r="r" b="b"/>
            <a:pathLst>
              <a:path w="21600" h="21598" fill="none" extrusionOk="0">
                <a:moveTo>
                  <a:pt x="0" y="21598"/>
                </a:moveTo>
                <a:cubicBezTo>
                  <a:pt x="0" y="9773"/>
                  <a:pt x="9506" y="147"/>
                  <a:pt x="21329" y="-1"/>
                </a:cubicBezTo>
              </a:path>
              <a:path w="21600" h="21598" stroke="0" extrusionOk="0">
                <a:moveTo>
                  <a:pt x="0" y="21598"/>
                </a:moveTo>
                <a:cubicBezTo>
                  <a:pt x="0" y="9773"/>
                  <a:pt x="9506" y="147"/>
                  <a:pt x="21329" y="-1"/>
                </a:cubicBezTo>
                <a:lnTo>
                  <a:pt x="21600" y="21598"/>
                </a:lnTo>
                <a:lnTo>
                  <a:pt x="0" y="21598"/>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09" name="Rectangle 25">
            <a:extLst>
              <a:ext uri="{FF2B5EF4-FFF2-40B4-BE49-F238E27FC236}">
                <a16:creationId xmlns:a16="http://schemas.microsoft.com/office/drawing/2014/main" id="{E20F7CAD-29EE-9495-1C81-1C27BE6D7625}"/>
              </a:ext>
            </a:extLst>
          </p:cNvPr>
          <p:cNvSpPr>
            <a:spLocks noChangeArrowheads="1"/>
          </p:cNvSpPr>
          <p:nvPr/>
        </p:nvSpPr>
        <p:spPr bwMode="auto">
          <a:xfrm>
            <a:off x="6194425" y="5083175"/>
            <a:ext cx="2632075" cy="3016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488" tIns="44450" rIns="90488" bIns="44450">
            <a:spAutoFit/>
          </a:bodyP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r>
              <a:rPr lang="en-US" altLang="en-US" sz="1400">
                <a:latin typeface="Bookman Old Style" panose="02050604050505020204" pitchFamily="18" charset="0"/>
              </a:rPr>
              <a:t>Allocated Software Reqs</a:t>
            </a:r>
          </a:p>
        </p:txBody>
      </p:sp>
      <p:sp>
        <p:nvSpPr>
          <p:cNvPr id="16410" name="Line 26">
            <a:extLst>
              <a:ext uri="{FF2B5EF4-FFF2-40B4-BE49-F238E27FC236}">
                <a16:creationId xmlns:a16="http://schemas.microsoft.com/office/drawing/2014/main" id="{EDD79713-715F-A758-34F7-FA83BC9B0FDE}"/>
              </a:ext>
            </a:extLst>
          </p:cNvPr>
          <p:cNvSpPr>
            <a:spLocks noChangeShapeType="1"/>
          </p:cNvSpPr>
          <p:nvPr/>
        </p:nvSpPr>
        <p:spPr bwMode="auto">
          <a:xfrm>
            <a:off x="6273800" y="5391150"/>
            <a:ext cx="215900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1" name="Line 27">
            <a:extLst>
              <a:ext uri="{FF2B5EF4-FFF2-40B4-BE49-F238E27FC236}">
                <a16:creationId xmlns:a16="http://schemas.microsoft.com/office/drawing/2014/main" id="{D67B4247-CA4D-23DC-FB16-483FB94B06EA}"/>
              </a:ext>
            </a:extLst>
          </p:cNvPr>
          <p:cNvSpPr>
            <a:spLocks noChangeShapeType="1"/>
          </p:cNvSpPr>
          <p:nvPr/>
        </p:nvSpPr>
        <p:spPr bwMode="auto">
          <a:xfrm>
            <a:off x="6292850" y="5105400"/>
            <a:ext cx="21780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2" name="Arc 28">
            <a:extLst>
              <a:ext uri="{FF2B5EF4-FFF2-40B4-BE49-F238E27FC236}">
                <a16:creationId xmlns:a16="http://schemas.microsoft.com/office/drawing/2014/main" id="{5EFC616D-123C-CA09-BC85-AEA6239462F9}"/>
              </a:ext>
            </a:extLst>
          </p:cNvPr>
          <p:cNvSpPr>
            <a:spLocks/>
          </p:cNvSpPr>
          <p:nvPr/>
        </p:nvSpPr>
        <p:spPr bwMode="auto">
          <a:xfrm>
            <a:off x="6781800" y="2457450"/>
            <a:ext cx="584200" cy="698500"/>
          </a:xfrm>
          <a:custGeom>
            <a:avLst/>
            <a:gdLst>
              <a:gd name="T0" fmla="*/ 584200 w 21600"/>
              <a:gd name="T1" fmla="*/ 0 h 21600"/>
              <a:gd name="T2" fmla="*/ 0 w 21600"/>
              <a:gd name="T3" fmla="*/ 69850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3" name="Arc 29">
            <a:extLst>
              <a:ext uri="{FF2B5EF4-FFF2-40B4-BE49-F238E27FC236}">
                <a16:creationId xmlns:a16="http://schemas.microsoft.com/office/drawing/2014/main" id="{EB34DAE9-9C77-163D-9916-B95C8FFF5E3B}"/>
              </a:ext>
            </a:extLst>
          </p:cNvPr>
          <p:cNvSpPr>
            <a:spLocks/>
          </p:cNvSpPr>
          <p:nvPr/>
        </p:nvSpPr>
        <p:spPr bwMode="auto">
          <a:xfrm>
            <a:off x="6991350" y="3722688"/>
            <a:ext cx="755650" cy="1365250"/>
          </a:xfrm>
          <a:custGeom>
            <a:avLst/>
            <a:gdLst>
              <a:gd name="T0" fmla="*/ 0 w 21600"/>
              <a:gd name="T1" fmla="*/ 0 h 21600"/>
              <a:gd name="T2" fmla="*/ 755650 w 21600"/>
              <a:gd name="T3" fmla="*/ 1365250 h 21600"/>
              <a:gd name="T4" fmla="*/ 0 w 21600"/>
              <a:gd name="T5" fmla="*/ 136525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4" name="Arc 30">
            <a:extLst>
              <a:ext uri="{FF2B5EF4-FFF2-40B4-BE49-F238E27FC236}">
                <a16:creationId xmlns:a16="http://schemas.microsoft.com/office/drawing/2014/main" id="{983A3B79-1C34-620C-85CD-E75A1B6B79DF}"/>
              </a:ext>
            </a:extLst>
          </p:cNvPr>
          <p:cNvSpPr>
            <a:spLocks/>
          </p:cNvSpPr>
          <p:nvPr/>
        </p:nvSpPr>
        <p:spPr bwMode="auto">
          <a:xfrm>
            <a:off x="5524500" y="3924300"/>
            <a:ext cx="1079500" cy="1136650"/>
          </a:xfrm>
          <a:custGeom>
            <a:avLst/>
            <a:gdLst>
              <a:gd name="T0" fmla="*/ 1079500 w 21600"/>
              <a:gd name="T1" fmla="*/ 0 h 21600"/>
              <a:gd name="T2" fmla="*/ 0 w 21600"/>
              <a:gd name="T3" fmla="*/ 113665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6" name="Arc 42">
            <a:extLst>
              <a:ext uri="{FF2B5EF4-FFF2-40B4-BE49-F238E27FC236}">
                <a16:creationId xmlns:a16="http://schemas.microsoft.com/office/drawing/2014/main" id="{C31CAD68-B4C7-290A-19C4-F5F9E606C5AF}"/>
              </a:ext>
            </a:extLst>
          </p:cNvPr>
          <p:cNvSpPr>
            <a:spLocks/>
          </p:cNvSpPr>
          <p:nvPr/>
        </p:nvSpPr>
        <p:spPr bwMode="auto">
          <a:xfrm>
            <a:off x="2209800" y="2522538"/>
            <a:ext cx="1308100" cy="546100"/>
          </a:xfrm>
          <a:custGeom>
            <a:avLst/>
            <a:gdLst>
              <a:gd name="T0" fmla="*/ 0 w 21600"/>
              <a:gd name="T1" fmla="*/ 0 h 21600"/>
              <a:gd name="T2" fmla="*/ 1308100 w 21600"/>
              <a:gd name="T3" fmla="*/ 546100 h 21600"/>
              <a:gd name="T4" fmla="*/ 0 w 21600"/>
              <a:gd name="T5" fmla="*/ 5461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16417" name="Line 43">
            <a:extLst>
              <a:ext uri="{FF2B5EF4-FFF2-40B4-BE49-F238E27FC236}">
                <a16:creationId xmlns:a16="http://schemas.microsoft.com/office/drawing/2014/main" id="{2295EF89-7B6F-EE2E-DACF-5E0255E91B2E}"/>
              </a:ext>
            </a:extLst>
          </p:cNvPr>
          <p:cNvSpPr>
            <a:spLocks noChangeShapeType="1"/>
          </p:cNvSpPr>
          <p:nvPr/>
        </p:nvSpPr>
        <p:spPr bwMode="auto">
          <a:xfrm>
            <a:off x="3911600" y="4267200"/>
            <a:ext cx="1873250" cy="0"/>
          </a:xfrm>
          <a:prstGeom prst="line">
            <a:avLst/>
          </a:prstGeom>
          <a:noFill/>
          <a:ln w="12700">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0F070191-C5C6-376E-9960-778E28F694D5}"/>
              </a:ext>
            </a:extLst>
          </p:cNvPr>
          <p:cNvSpPr>
            <a:spLocks noGrp="1" noChangeArrowheads="1"/>
          </p:cNvSpPr>
          <p:nvPr>
            <p:ph type="title"/>
          </p:nvPr>
        </p:nvSpPr>
        <p:spPr>
          <a:xfrm>
            <a:off x="1524000" y="247650"/>
            <a:ext cx="5454650" cy="1123950"/>
          </a:xfrm>
          <a:noFill/>
        </p:spPr>
        <p:txBody>
          <a:bodyPr/>
          <a:lstStyle/>
          <a:p>
            <a:r>
              <a:rPr lang="en-US" altLang="en-US" dirty="0"/>
              <a:t>Verification&amp; Validation</a:t>
            </a:r>
          </a:p>
        </p:txBody>
      </p:sp>
      <p:sp>
        <p:nvSpPr>
          <p:cNvPr id="29699" name="Oval 3">
            <a:extLst>
              <a:ext uri="{FF2B5EF4-FFF2-40B4-BE49-F238E27FC236}">
                <a16:creationId xmlns:a16="http://schemas.microsoft.com/office/drawing/2014/main" id="{9A66F3DB-4D05-AEBC-15B0-CF069E3377FE}"/>
              </a:ext>
            </a:extLst>
          </p:cNvPr>
          <p:cNvSpPr>
            <a:spLocks noChangeArrowheads="1"/>
          </p:cNvSpPr>
          <p:nvPr/>
        </p:nvSpPr>
        <p:spPr bwMode="auto">
          <a:xfrm>
            <a:off x="1339850" y="3956050"/>
            <a:ext cx="1263650" cy="9207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a:latin typeface="Bookman Old Style" panose="02050604050505020204" pitchFamily="18" charset="0"/>
              </a:rPr>
              <a:t>Requirements</a:t>
            </a:r>
          </a:p>
          <a:p>
            <a:pPr algn="ctr"/>
            <a:r>
              <a:rPr lang="en-US" altLang="en-US">
                <a:latin typeface="Bookman Old Style" panose="02050604050505020204" pitchFamily="18" charset="0"/>
              </a:rPr>
              <a:t>Analysis</a:t>
            </a:r>
          </a:p>
        </p:txBody>
      </p:sp>
      <p:sp>
        <p:nvSpPr>
          <p:cNvPr id="29700" name="Oval 4">
            <a:extLst>
              <a:ext uri="{FF2B5EF4-FFF2-40B4-BE49-F238E27FC236}">
                <a16:creationId xmlns:a16="http://schemas.microsoft.com/office/drawing/2014/main" id="{C8BE4291-E963-50E6-00D7-399CBBC63B18}"/>
              </a:ext>
            </a:extLst>
          </p:cNvPr>
          <p:cNvSpPr>
            <a:spLocks noChangeArrowheads="1"/>
          </p:cNvSpPr>
          <p:nvPr/>
        </p:nvSpPr>
        <p:spPr bwMode="auto">
          <a:xfrm>
            <a:off x="3187700" y="3956050"/>
            <a:ext cx="1263650" cy="9207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a:latin typeface="Bookman Old Style" panose="02050604050505020204" pitchFamily="18" charset="0"/>
              </a:rPr>
              <a:t>Design</a:t>
            </a:r>
          </a:p>
        </p:txBody>
      </p:sp>
      <p:sp>
        <p:nvSpPr>
          <p:cNvPr id="29701" name="Oval 5">
            <a:extLst>
              <a:ext uri="{FF2B5EF4-FFF2-40B4-BE49-F238E27FC236}">
                <a16:creationId xmlns:a16="http://schemas.microsoft.com/office/drawing/2014/main" id="{BC0A03FF-B3B1-AB10-FAB9-ED9AA91E7A5C}"/>
              </a:ext>
            </a:extLst>
          </p:cNvPr>
          <p:cNvSpPr>
            <a:spLocks noChangeArrowheads="1"/>
          </p:cNvSpPr>
          <p:nvPr/>
        </p:nvSpPr>
        <p:spPr bwMode="auto">
          <a:xfrm>
            <a:off x="7035800" y="3956050"/>
            <a:ext cx="1263650" cy="9207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a:latin typeface="Bookman Old Style" panose="02050604050505020204" pitchFamily="18" charset="0"/>
              </a:rPr>
              <a:t>Testing</a:t>
            </a:r>
          </a:p>
        </p:txBody>
      </p:sp>
      <p:sp>
        <p:nvSpPr>
          <p:cNvPr id="29702" name="Oval 6">
            <a:extLst>
              <a:ext uri="{FF2B5EF4-FFF2-40B4-BE49-F238E27FC236}">
                <a16:creationId xmlns:a16="http://schemas.microsoft.com/office/drawing/2014/main" id="{F29B9281-3A3B-2F9E-91E4-0708180F1D70}"/>
              </a:ext>
            </a:extLst>
          </p:cNvPr>
          <p:cNvSpPr>
            <a:spLocks noChangeArrowheads="1"/>
          </p:cNvSpPr>
          <p:nvPr/>
        </p:nvSpPr>
        <p:spPr bwMode="auto">
          <a:xfrm>
            <a:off x="5016500" y="3956050"/>
            <a:ext cx="1263650" cy="9207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a:latin typeface="Bookman Old Style" panose="02050604050505020204" pitchFamily="18" charset="0"/>
              </a:rPr>
              <a:t>Code</a:t>
            </a:r>
          </a:p>
        </p:txBody>
      </p:sp>
      <p:sp>
        <p:nvSpPr>
          <p:cNvPr id="29703" name="Oval 7">
            <a:extLst>
              <a:ext uri="{FF2B5EF4-FFF2-40B4-BE49-F238E27FC236}">
                <a16:creationId xmlns:a16="http://schemas.microsoft.com/office/drawing/2014/main" id="{1F224291-580B-FD2B-AC51-083DD2E1721F}"/>
              </a:ext>
            </a:extLst>
          </p:cNvPr>
          <p:cNvSpPr>
            <a:spLocks noChangeArrowheads="1"/>
          </p:cNvSpPr>
          <p:nvPr/>
        </p:nvSpPr>
        <p:spPr bwMode="auto">
          <a:xfrm>
            <a:off x="3511550" y="305435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Validate</a:t>
            </a:r>
          </a:p>
        </p:txBody>
      </p:sp>
      <p:sp>
        <p:nvSpPr>
          <p:cNvPr id="29704" name="Oval 8">
            <a:extLst>
              <a:ext uri="{FF2B5EF4-FFF2-40B4-BE49-F238E27FC236}">
                <a16:creationId xmlns:a16="http://schemas.microsoft.com/office/drawing/2014/main" id="{4BA82856-1751-D354-26F8-5E9021491480}"/>
              </a:ext>
            </a:extLst>
          </p:cNvPr>
          <p:cNvSpPr>
            <a:spLocks noChangeArrowheads="1"/>
          </p:cNvSpPr>
          <p:nvPr/>
        </p:nvSpPr>
        <p:spPr bwMode="auto">
          <a:xfrm>
            <a:off x="1739900" y="543560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Verify</a:t>
            </a:r>
          </a:p>
        </p:txBody>
      </p:sp>
      <p:sp>
        <p:nvSpPr>
          <p:cNvPr id="29705" name="Oval 9">
            <a:extLst>
              <a:ext uri="{FF2B5EF4-FFF2-40B4-BE49-F238E27FC236}">
                <a16:creationId xmlns:a16="http://schemas.microsoft.com/office/drawing/2014/main" id="{B024D93F-BAB0-94C7-2DC8-53D744ABDCCE}"/>
              </a:ext>
            </a:extLst>
          </p:cNvPr>
          <p:cNvSpPr>
            <a:spLocks noChangeArrowheads="1"/>
          </p:cNvSpPr>
          <p:nvPr/>
        </p:nvSpPr>
        <p:spPr bwMode="auto">
          <a:xfrm>
            <a:off x="4330700" y="271145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Validate</a:t>
            </a:r>
          </a:p>
        </p:txBody>
      </p:sp>
      <p:sp>
        <p:nvSpPr>
          <p:cNvPr id="29706" name="Oval 10">
            <a:extLst>
              <a:ext uri="{FF2B5EF4-FFF2-40B4-BE49-F238E27FC236}">
                <a16:creationId xmlns:a16="http://schemas.microsoft.com/office/drawing/2014/main" id="{F95A01E3-BBD1-98CB-C859-46515234A37A}"/>
              </a:ext>
            </a:extLst>
          </p:cNvPr>
          <p:cNvSpPr>
            <a:spLocks noChangeArrowheads="1"/>
          </p:cNvSpPr>
          <p:nvPr/>
        </p:nvSpPr>
        <p:spPr bwMode="auto">
          <a:xfrm>
            <a:off x="5111750" y="240665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Validate</a:t>
            </a:r>
          </a:p>
        </p:txBody>
      </p:sp>
      <p:sp>
        <p:nvSpPr>
          <p:cNvPr id="29707" name="Oval 11">
            <a:extLst>
              <a:ext uri="{FF2B5EF4-FFF2-40B4-BE49-F238E27FC236}">
                <a16:creationId xmlns:a16="http://schemas.microsoft.com/office/drawing/2014/main" id="{3F3797A5-29C6-CB9B-E6C4-2925D0D84D46}"/>
              </a:ext>
            </a:extLst>
          </p:cNvPr>
          <p:cNvSpPr>
            <a:spLocks noChangeArrowheads="1"/>
          </p:cNvSpPr>
          <p:nvPr/>
        </p:nvSpPr>
        <p:spPr bwMode="auto">
          <a:xfrm>
            <a:off x="7340600" y="543560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Verify</a:t>
            </a:r>
          </a:p>
        </p:txBody>
      </p:sp>
      <p:sp>
        <p:nvSpPr>
          <p:cNvPr id="29708" name="Oval 12">
            <a:extLst>
              <a:ext uri="{FF2B5EF4-FFF2-40B4-BE49-F238E27FC236}">
                <a16:creationId xmlns:a16="http://schemas.microsoft.com/office/drawing/2014/main" id="{4AFBD0C2-4268-7C2A-C3CC-CFAF8DFB47E7}"/>
              </a:ext>
            </a:extLst>
          </p:cNvPr>
          <p:cNvSpPr>
            <a:spLocks noChangeArrowheads="1"/>
          </p:cNvSpPr>
          <p:nvPr/>
        </p:nvSpPr>
        <p:spPr bwMode="auto">
          <a:xfrm>
            <a:off x="5321300" y="543560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Verify</a:t>
            </a:r>
          </a:p>
        </p:txBody>
      </p:sp>
      <p:sp>
        <p:nvSpPr>
          <p:cNvPr id="29709" name="Oval 13">
            <a:extLst>
              <a:ext uri="{FF2B5EF4-FFF2-40B4-BE49-F238E27FC236}">
                <a16:creationId xmlns:a16="http://schemas.microsoft.com/office/drawing/2014/main" id="{58971829-C048-2D4D-5DC2-6176354A2026}"/>
              </a:ext>
            </a:extLst>
          </p:cNvPr>
          <p:cNvSpPr>
            <a:spLocks noChangeArrowheads="1"/>
          </p:cNvSpPr>
          <p:nvPr/>
        </p:nvSpPr>
        <p:spPr bwMode="auto">
          <a:xfrm>
            <a:off x="3492500" y="5435600"/>
            <a:ext cx="654050" cy="654050"/>
          </a:xfrm>
          <a:prstGeom prst="ellipse">
            <a:avLst/>
          </a:prstGeom>
          <a:solidFill>
            <a:schemeClr val="bg1"/>
          </a:solidFill>
          <a:ln w="12700">
            <a:solidFill>
              <a:schemeClr val="tx1"/>
            </a:solidFill>
            <a:round/>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488" tIns="44450" rIns="90488" bIns="44450" anchor="ctr"/>
          <a:lstStyle>
            <a:lvl1pPr>
              <a:defRPr sz="1200" b="1">
                <a:solidFill>
                  <a:schemeClr val="tx1"/>
                </a:solidFill>
                <a:latin typeface="Times New Roman" panose="02020603050405020304" pitchFamily="18" charset="0"/>
              </a:defRPr>
            </a:lvl1pPr>
            <a:lvl2pPr marL="742950" indent="-285750">
              <a:defRPr sz="1200" b="1">
                <a:solidFill>
                  <a:schemeClr val="tx1"/>
                </a:solidFill>
                <a:latin typeface="Times New Roman" panose="02020603050405020304" pitchFamily="18" charset="0"/>
              </a:defRPr>
            </a:lvl2pPr>
            <a:lvl3pPr marL="1143000" indent="-228600">
              <a:defRPr sz="1200" b="1">
                <a:solidFill>
                  <a:schemeClr val="tx1"/>
                </a:solidFill>
                <a:latin typeface="Times New Roman" panose="02020603050405020304" pitchFamily="18" charset="0"/>
              </a:defRPr>
            </a:lvl3pPr>
            <a:lvl4pPr marL="1600200" indent="-228600">
              <a:defRPr sz="1200" b="1">
                <a:solidFill>
                  <a:schemeClr val="tx1"/>
                </a:solidFill>
                <a:latin typeface="Times New Roman" panose="02020603050405020304" pitchFamily="18" charset="0"/>
              </a:defRPr>
            </a:lvl4pPr>
            <a:lvl5pPr marL="2057400" indent="-228600">
              <a:defRPr sz="1200" b="1">
                <a:solidFill>
                  <a:schemeClr val="tx1"/>
                </a:solidFill>
                <a:latin typeface="Times New Roman" panose="02020603050405020304" pitchFamily="18" charset="0"/>
              </a:defRPr>
            </a:lvl5pPr>
            <a:lvl6pPr marL="2514600" indent="-228600" eaLnBrk="0" fontAlgn="base" hangingPunct="0">
              <a:spcBef>
                <a:spcPct val="0"/>
              </a:spcBef>
              <a:spcAft>
                <a:spcPct val="0"/>
              </a:spcAft>
              <a:defRPr sz="1200" b="1">
                <a:solidFill>
                  <a:schemeClr val="tx1"/>
                </a:solidFill>
                <a:latin typeface="Times New Roman" panose="02020603050405020304" pitchFamily="18" charset="0"/>
              </a:defRPr>
            </a:lvl6pPr>
            <a:lvl7pPr marL="2971800" indent="-228600" eaLnBrk="0" fontAlgn="base" hangingPunct="0">
              <a:spcBef>
                <a:spcPct val="0"/>
              </a:spcBef>
              <a:spcAft>
                <a:spcPct val="0"/>
              </a:spcAft>
              <a:defRPr sz="1200" b="1">
                <a:solidFill>
                  <a:schemeClr val="tx1"/>
                </a:solidFill>
                <a:latin typeface="Times New Roman" panose="02020603050405020304" pitchFamily="18" charset="0"/>
              </a:defRPr>
            </a:lvl7pPr>
            <a:lvl8pPr marL="3429000" indent="-228600" eaLnBrk="0" fontAlgn="base" hangingPunct="0">
              <a:spcBef>
                <a:spcPct val="0"/>
              </a:spcBef>
              <a:spcAft>
                <a:spcPct val="0"/>
              </a:spcAft>
              <a:defRPr sz="1200" b="1">
                <a:solidFill>
                  <a:schemeClr val="tx1"/>
                </a:solidFill>
                <a:latin typeface="Times New Roman" panose="02020603050405020304" pitchFamily="18" charset="0"/>
              </a:defRPr>
            </a:lvl8pPr>
            <a:lvl9pPr marL="3886200" indent="-228600" eaLnBrk="0" fontAlgn="base" hangingPunct="0">
              <a:spcBef>
                <a:spcPct val="0"/>
              </a:spcBef>
              <a:spcAft>
                <a:spcPct val="0"/>
              </a:spcAft>
              <a:defRPr sz="1200" b="1">
                <a:solidFill>
                  <a:schemeClr val="tx1"/>
                </a:solidFill>
                <a:latin typeface="Times New Roman" panose="02020603050405020304" pitchFamily="18" charset="0"/>
              </a:defRPr>
            </a:lvl9pPr>
          </a:lstStyle>
          <a:p>
            <a:pPr algn="ctr"/>
            <a:r>
              <a:rPr lang="en-US" altLang="en-US" sz="1000">
                <a:latin typeface="Bookman Old Style" panose="02050604050505020204" pitchFamily="18" charset="0"/>
              </a:rPr>
              <a:t>Verify</a:t>
            </a:r>
          </a:p>
        </p:txBody>
      </p:sp>
      <p:sp>
        <p:nvSpPr>
          <p:cNvPr id="29710" name="Line 14">
            <a:extLst>
              <a:ext uri="{FF2B5EF4-FFF2-40B4-BE49-F238E27FC236}">
                <a16:creationId xmlns:a16="http://schemas.microsoft.com/office/drawing/2014/main" id="{337C6D3B-6153-02A5-E2E3-6F35D10367C5}"/>
              </a:ext>
            </a:extLst>
          </p:cNvPr>
          <p:cNvSpPr>
            <a:spLocks noChangeShapeType="1"/>
          </p:cNvSpPr>
          <p:nvPr/>
        </p:nvSpPr>
        <p:spPr bwMode="auto">
          <a:xfrm>
            <a:off x="2679700" y="4476750"/>
            <a:ext cx="450850" cy="0"/>
          </a:xfrm>
          <a:prstGeom prst="line">
            <a:avLst/>
          </a:prstGeom>
          <a:noFill/>
          <a:ln w="1016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1" name="Line 15">
            <a:extLst>
              <a:ext uri="{FF2B5EF4-FFF2-40B4-BE49-F238E27FC236}">
                <a16:creationId xmlns:a16="http://schemas.microsoft.com/office/drawing/2014/main" id="{0646D66B-1623-5D3B-D66F-DF152CEF9543}"/>
              </a:ext>
            </a:extLst>
          </p:cNvPr>
          <p:cNvSpPr>
            <a:spLocks noChangeShapeType="1"/>
          </p:cNvSpPr>
          <p:nvPr/>
        </p:nvSpPr>
        <p:spPr bwMode="auto">
          <a:xfrm>
            <a:off x="4527550" y="4419600"/>
            <a:ext cx="431800" cy="0"/>
          </a:xfrm>
          <a:prstGeom prst="line">
            <a:avLst/>
          </a:prstGeom>
          <a:noFill/>
          <a:ln w="1016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2" name="Line 16">
            <a:extLst>
              <a:ext uri="{FF2B5EF4-FFF2-40B4-BE49-F238E27FC236}">
                <a16:creationId xmlns:a16="http://schemas.microsoft.com/office/drawing/2014/main" id="{BC4EC86C-CCE6-42AE-A259-D94CF2FC7A09}"/>
              </a:ext>
            </a:extLst>
          </p:cNvPr>
          <p:cNvSpPr>
            <a:spLocks noChangeShapeType="1"/>
          </p:cNvSpPr>
          <p:nvPr/>
        </p:nvSpPr>
        <p:spPr bwMode="auto">
          <a:xfrm>
            <a:off x="6337300" y="4419600"/>
            <a:ext cx="641350" cy="0"/>
          </a:xfrm>
          <a:prstGeom prst="line">
            <a:avLst/>
          </a:prstGeom>
          <a:noFill/>
          <a:ln w="101600">
            <a:solidFill>
              <a:schemeClr val="tx1"/>
            </a:solidFill>
            <a:round/>
            <a:headE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3" name="Arc 17">
            <a:extLst>
              <a:ext uri="{FF2B5EF4-FFF2-40B4-BE49-F238E27FC236}">
                <a16:creationId xmlns:a16="http://schemas.microsoft.com/office/drawing/2014/main" id="{55CE3288-48C0-C055-3D86-01C43EE80BEE}"/>
              </a:ext>
            </a:extLst>
          </p:cNvPr>
          <p:cNvSpPr>
            <a:spLocks/>
          </p:cNvSpPr>
          <p:nvPr/>
        </p:nvSpPr>
        <p:spPr bwMode="auto">
          <a:xfrm>
            <a:off x="1536700" y="4792663"/>
            <a:ext cx="184150" cy="927100"/>
          </a:xfrm>
          <a:custGeom>
            <a:avLst/>
            <a:gdLst>
              <a:gd name="T0" fmla="*/ 184150 w 21600"/>
              <a:gd name="T1" fmla="*/ 927100 h 21600"/>
              <a:gd name="T2" fmla="*/ 0 w 21600"/>
              <a:gd name="T3" fmla="*/ 0 h 21600"/>
              <a:gd name="T4" fmla="*/ 18415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4" name="Arc 18">
            <a:extLst>
              <a:ext uri="{FF2B5EF4-FFF2-40B4-BE49-F238E27FC236}">
                <a16:creationId xmlns:a16="http://schemas.microsoft.com/office/drawing/2014/main" id="{89810919-9447-5C42-EB66-408BB439A97F}"/>
              </a:ext>
            </a:extLst>
          </p:cNvPr>
          <p:cNvSpPr>
            <a:spLocks/>
          </p:cNvSpPr>
          <p:nvPr/>
        </p:nvSpPr>
        <p:spPr bwMode="auto">
          <a:xfrm>
            <a:off x="2381250" y="4686300"/>
            <a:ext cx="127000" cy="927100"/>
          </a:xfrm>
          <a:custGeom>
            <a:avLst/>
            <a:gdLst>
              <a:gd name="T0" fmla="*/ 127000 w 21600"/>
              <a:gd name="T1" fmla="*/ 0 h 21600"/>
              <a:gd name="T2" fmla="*/ 0 w 21600"/>
              <a:gd name="T3" fmla="*/ 92710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5" name="Arc 19">
            <a:extLst>
              <a:ext uri="{FF2B5EF4-FFF2-40B4-BE49-F238E27FC236}">
                <a16:creationId xmlns:a16="http://schemas.microsoft.com/office/drawing/2014/main" id="{ECB10838-6FB3-91AE-CC25-DFAD604CFA21}"/>
              </a:ext>
            </a:extLst>
          </p:cNvPr>
          <p:cNvSpPr>
            <a:spLocks/>
          </p:cNvSpPr>
          <p:nvPr/>
        </p:nvSpPr>
        <p:spPr bwMode="auto">
          <a:xfrm>
            <a:off x="3303588" y="4672013"/>
            <a:ext cx="203200" cy="1003300"/>
          </a:xfrm>
          <a:custGeom>
            <a:avLst/>
            <a:gdLst>
              <a:gd name="T0" fmla="*/ 203200 w 21600"/>
              <a:gd name="T1" fmla="*/ 1003300 h 21600"/>
              <a:gd name="T2" fmla="*/ 0 w 21600"/>
              <a:gd name="T3" fmla="*/ 0 h 21600"/>
              <a:gd name="T4" fmla="*/ 20320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6" name="Arc 20">
            <a:extLst>
              <a:ext uri="{FF2B5EF4-FFF2-40B4-BE49-F238E27FC236}">
                <a16:creationId xmlns:a16="http://schemas.microsoft.com/office/drawing/2014/main" id="{AA59202A-D25B-CB3B-0852-E41D0863B561}"/>
              </a:ext>
            </a:extLst>
          </p:cNvPr>
          <p:cNvSpPr>
            <a:spLocks/>
          </p:cNvSpPr>
          <p:nvPr/>
        </p:nvSpPr>
        <p:spPr bwMode="auto">
          <a:xfrm>
            <a:off x="4076700" y="4667250"/>
            <a:ext cx="293688" cy="881063"/>
          </a:xfrm>
          <a:custGeom>
            <a:avLst/>
            <a:gdLst>
              <a:gd name="T0" fmla="*/ 293688 w 21600"/>
              <a:gd name="T1" fmla="*/ 0 h 21600"/>
              <a:gd name="T2" fmla="*/ 0 w 21600"/>
              <a:gd name="T3" fmla="*/ 881063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7" name="Arc 21">
            <a:extLst>
              <a:ext uri="{FF2B5EF4-FFF2-40B4-BE49-F238E27FC236}">
                <a16:creationId xmlns:a16="http://schemas.microsoft.com/office/drawing/2014/main" id="{4428D576-B62C-563F-9E69-63A937D0D491}"/>
              </a:ext>
            </a:extLst>
          </p:cNvPr>
          <p:cNvSpPr>
            <a:spLocks/>
          </p:cNvSpPr>
          <p:nvPr/>
        </p:nvSpPr>
        <p:spPr bwMode="auto">
          <a:xfrm>
            <a:off x="5132388" y="4648200"/>
            <a:ext cx="203200" cy="965200"/>
          </a:xfrm>
          <a:custGeom>
            <a:avLst/>
            <a:gdLst>
              <a:gd name="T0" fmla="*/ 203200 w 21600"/>
              <a:gd name="T1" fmla="*/ 965200 h 21600"/>
              <a:gd name="T2" fmla="*/ 0 w 21600"/>
              <a:gd name="T3" fmla="*/ 0 h 21600"/>
              <a:gd name="T4" fmla="*/ 20320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8" name="Arc 22">
            <a:extLst>
              <a:ext uri="{FF2B5EF4-FFF2-40B4-BE49-F238E27FC236}">
                <a16:creationId xmlns:a16="http://schemas.microsoft.com/office/drawing/2014/main" id="{8EF66FC2-1317-E16E-8F8F-5C35C2C9F455}"/>
              </a:ext>
            </a:extLst>
          </p:cNvPr>
          <p:cNvSpPr>
            <a:spLocks/>
          </p:cNvSpPr>
          <p:nvPr/>
        </p:nvSpPr>
        <p:spPr bwMode="auto">
          <a:xfrm>
            <a:off x="5962650" y="4686300"/>
            <a:ext cx="222250" cy="869950"/>
          </a:xfrm>
          <a:custGeom>
            <a:avLst/>
            <a:gdLst>
              <a:gd name="T0" fmla="*/ 222250 w 21600"/>
              <a:gd name="T1" fmla="*/ 0 h 21600"/>
              <a:gd name="T2" fmla="*/ 0 w 21600"/>
              <a:gd name="T3" fmla="*/ 86995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19" name="Arc 23">
            <a:extLst>
              <a:ext uri="{FF2B5EF4-FFF2-40B4-BE49-F238E27FC236}">
                <a16:creationId xmlns:a16="http://schemas.microsoft.com/office/drawing/2014/main" id="{E1F0B0DC-12C5-E0EB-DFB0-372F4BD6DBAE}"/>
              </a:ext>
            </a:extLst>
          </p:cNvPr>
          <p:cNvSpPr>
            <a:spLocks/>
          </p:cNvSpPr>
          <p:nvPr/>
        </p:nvSpPr>
        <p:spPr bwMode="auto">
          <a:xfrm>
            <a:off x="7113588" y="4667250"/>
            <a:ext cx="279400" cy="850900"/>
          </a:xfrm>
          <a:custGeom>
            <a:avLst/>
            <a:gdLst>
              <a:gd name="T0" fmla="*/ 279400 w 21600"/>
              <a:gd name="T1" fmla="*/ 850900 h 21600"/>
              <a:gd name="T2" fmla="*/ 0 w 21600"/>
              <a:gd name="T3" fmla="*/ 0 h 21600"/>
              <a:gd name="T4" fmla="*/ 27940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21600"/>
                </a:moveTo>
                <a:cubicBezTo>
                  <a:pt x="9670" y="21600"/>
                  <a:pt x="0" y="11929"/>
                  <a:pt x="0" y="0"/>
                </a:cubicBezTo>
              </a:path>
              <a:path w="21600" h="21600" stroke="0" extrusionOk="0">
                <a:moveTo>
                  <a:pt x="21600" y="21600"/>
                </a:moveTo>
                <a:cubicBezTo>
                  <a:pt x="9670" y="21600"/>
                  <a:pt x="0" y="11929"/>
                  <a:pt x="0" y="0"/>
                </a:cubicBezTo>
                <a:lnTo>
                  <a:pt x="21600" y="0"/>
                </a:lnTo>
                <a:lnTo>
                  <a:pt x="21600" y="2160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0" name="Arc 24">
            <a:extLst>
              <a:ext uri="{FF2B5EF4-FFF2-40B4-BE49-F238E27FC236}">
                <a16:creationId xmlns:a16="http://schemas.microsoft.com/office/drawing/2014/main" id="{0BE1329F-1869-33A9-EA0D-F8EBB03A29AD}"/>
              </a:ext>
            </a:extLst>
          </p:cNvPr>
          <p:cNvSpPr>
            <a:spLocks/>
          </p:cNvSpPr>
          <p:nvPr/>
        </p:nvSpPr>
        <p:spPr bwMode="auto">
          <a:xfrm>
            <a:off x="7962900" y="4724400"/>
            <a:ext cx="203200" cy="850900"/>
          </a:xfrm>
          <a:custGeom>
            <a:avLst/>
            <a:gdLst>
              <a:gd name="T0" fmla="*/ 203200 w 21600"/>
              <a:gd name="T1" fmla="*/ 0 h 21600"/>
              <a:gd name="T2" fmla="*/ 0 w 21600"/>
              <a:gd name="T3" fmla="*/ 850900 h 21600"/>
              <a:gd name="T4" fmla="*/ 0 w 21600"/>
              <a:gd name="T5" fmla="*/ 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21600" y="0"/>
                </a:moveTo>
                <a:cubicBezTo>
                  <a:pt x="21600" y="11929"/>
                  <a:pt x="11929" y="21599"/>
                  <a:pt x="0" y="21600"/>
                </a:cubicBezTo>
              </a:path>
              <a:path w="21600" h="21600" stroke="0" extrusionOk="0">
                <a:moveTo>
                  <a:pt x="21600" y="0"/>
                </a:moveTo>
                <a:cubicBezTo>
                  <a:pt x="21600" y="11929"/>
                  <a:pt x="11929" y="21599"/>
                  <a:pt x="0" y="21600"/>
                </a:cubicBezTo>
                <a:lnTo>
                  <a:pt x="0" y="0"/>
                </a:lnTo>
                <a:lnTo>
                  <a:pt x="21600"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1" name="Arc 25">
            <a:extLst>
              <a:ext uri="{FF2B5EF4-FFF2-40B4-BE49-F238E27FC236}">
                <a16:creationId xmlns:a16="http://schemas.microsoft.com/office/drawing/2014/main" id="{904B063C-2C24-5A2F-B36D-79A6916A5BD8}"/>
              </a:ext>
            </a:extLst>
          </p:cNvPr>
          <p:cNvSpPr>
            <a:spLocks/>
          </p:cNvSpPr>
          <p:nvPr/>
        </p:nvSpPr>
        <p:spPr bwMode="auto">
          <a:xfrm>
            <a:off x="2179638" y="3227388"/>
            <a:ext cx="1289050" cy="774700"/>
          </a:xfrm>
          <a:custGeom>
            <a:avLst/>
            <a:gdLst>
              <a:gd name="T0" fmla="*/ 0 w 21600"/>
              <a:gd name="T1" fmla="*/ 774700 h 21600"/>
              <a:gd name="T2" fmla="*/ 1287439 w 21600"/>
              <a:gd name="T3" fmla="*/ 0 h 21600"/>
              <a:gd name="T4" fmla="*/ 1289050 w 21600"/>
              <a:gd name="T5" fmla="*/ 7747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81"/>
                  <a:pt x="9654" y="14"/>
                  <a:pt x="21573" y="0"/>
                </a:cubicBezTo>
              </a:path>
              <a:path w="21600" h="21600" stroke="0" extrusionOk="0">
                <a:moveTo>
                  <a:pt x="0" y="21600"/>
                </a:moveTo>
                <a:cubicBezTo>
                  <a:pt x="0" y="9681"/>
                  <a:pt x="9654" y="14"/>
                  <a:pt x="21573" y="0"/>
                </a:cubicBezTo>
                <a:lnTo>
                  <a:pt x="21600" y="21600"/>
                </a:ln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2" name="Arc 26">
            <a:extLst>
              <a:ext uri="{FF2B5EF4-FFF2-40B4-BE49-F238E27FC236}">
                <a16:creationId xmlns:a16="http://schemas.microsoft.com/office/drawing/2014/main" id="{DBA95AE1-FA78-3239-751A-DD21B68E635B}"/>
              </a:ext>
            </a:extLst>
          </p:cNvPr>
          <p:cNvSpPr>
            <a:spLocks/>
          </p:cNvSpPr>
          <p:nvPr/>
        </p:nvSpPr>
        <p:spPr bwMode="auto">
          <a:xfrm>
            <a:off x="1931988" y="2884488"/>
            <a:ext cx="2413000" cy="1041400"/>
          </a:xfrm>
          <a:custGeom>
            <a:avLst/>
            <a:gdLst>
              <a:gd name="T0" fmla="*/ 0 w 21600"/>
              <a:gd name="T1" fmla="*/ 1041400 h 21600"/>
              <a:gd name="T2" fmla="*/ 2411436 w 21600"/>
              <a:gd name="T3" fmla="*/ 0 h 21600"/>
              <a:gd name="T4" fmla="*/ 2413000 w 21600"/>
              <a:gd name="T5" fmla="*/ 10414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76"/>
                  <a:pt x="9662" y="7"/>
                  <a:pt x="21586" y="0"/>
                </a:cubicBezTo>
              </a:path>
              <a:path w="21600" h="21600" stroke="0" extrusionOk="0">
                <a:moveTo>
                  <a:pt x="0" y="21600"/>
                </a:moveTo>
                <a:cubicBezTo>
                  <a:pt x="0" y="9676"/>
                  <a:pt x="9662" y="7"/>
                  <a:pt x="21586" y="0"/>
                </a:cubicBezTo>
                <a:lnTo>
                  <a:pt x="21600" y="21600"/>
                </a:ln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3" name="Arc 27">
            <a:extLst>
              <a:ext uri="{FF2B5EF4-FFF2-40B4-BE49-F238E27FC236}">
                <a16:creationId xmlns:a16="http://schemas.microsoft.com/office/drawing/2014/main" id="{7DD4202D-1FF3-6C3D-2463-8B71DF66E90B}"/>
              </a:ext>
            </a:extLst>
          </p:cNvPr>
          <p:cNvSpPr>
            <a:spLocks/>
          </p:cNvSpPr>
          <p:nvPr/>
        </p:nvSpPr>
        <p:spPr bwMode="auto">
          <a:xfrm>
            <a:off x="1550988" y="2598738"/>
            <a:ext cx="3575050" cy="1460500"/>
          </a:xfrm>
          <a:custGeom>
            <a:avLst/>
            <a:gdLst>
              <a:gd name="T0" fmla="*/ 0 w 21600"/>
              <a:gd name="T1" fmla="*/ 1460500 h 21600"/>
              <a:gd name="T2" fmla="*/ 3573395 w 21600"/>
              <a:gd name="T3" fmla="*/ 0 h 21600"/>
              <a:gd name="T4" fmla="*/ 3575050 w 21600"/>
              <a:gd name="T5" fmla="*/ 14605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0" y="21600"/>
                </a:moveTo>
                <a:cubicBezTo>
                  <a:pt x="0" y="9674"/>
                  <a:pt x="9664" y="5"/>
                  <a:pt x="21590" y="0"/>
                </a:cubicBezTo>
              </a:path>
              <a:path w="21600" h="21600" stroke="0" extrusionOk="0">
                <a:moveTo>
                  <a:pt x="0" y="21600"/>
                </a:moveTo>
                <a:cubicBezTo>
                  <a:pt x="0" y="9674"/>
                  <a:pt x="9664" y="5"/>
                  <a:pt x="21590" y="0"/>
                </a:cubicBezTo>
                <a:lnTo>
                  <a:pt x="21600" y="21600"/>
                </a:lnTo>
                <a:lnTo>
                  <a:pt x="0" y="21600"/>
                </a:lnTo>
                <a:close/>
              </a:path>
            </a:pathLst>
          </a:custGeom>
          <a:noFill/>
          <a:ln w="12700" cap="rnd">
            <a:solidFill>
              <a:schemeClr val="tx1"/>
            </a:solidFill>
            <a:round/>
            <a:headEnd/>
            <a:tailEnd type="triangle" w="med" len="me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4" name="Arc 28">
            <a:extLst>
              <a:ext uri="{FF2B5EF4-FFF2-40B4-BE49-F238E27FC236}">
                <a16:creationId xmlns:a16="http://schemas.microsoft.com/office/drawing/2014/main" id="{4FA8C560-53A9-423B-13EF-B7D88AAC9BD3}"/>
              </a:ext>
            </a:extLst>
          </p:cNvPr>
          <p:cNvSpPr>
            <a:spLocks/>
          </p:cNvSpPr>
          <p:nvPr/>
        </p:nvSpPr>
        <p:spPr bwMode="auto">
          <a:xfrm>
            <a:off x="4171950" y="3551238"/>
            <a:ext cx="69850" cy="469900"/>
          </a:xfrm>
          <a:custGeom>
            <a:avLst/>
            <a:gdLst>
              <a:gd name="T0" fmla="*/ 0 w 21600"/>
              <a:gd name="T1" fmla="*/ 0 h 21600"/>
              <a:gd name="T2" fmla="*/ 69850 w 21600"/>
              <a:gd name="T3" fmla="*/ 469900 h 21600"/>
              <a:gd name="T4" fmla="*/ 0 w 21600"/>
              <a:gd name="T5" fmla="*/ 4699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5" name="Arc 29">
            <a:extLst>
              <a:ext uri="{FF2B5EF4-FFF2-40B4-BE49-F238E27FC236}">
                <a16:creationId xmlns:a16="http://schemas.microsoft.com/office/drawing/2014/main" id="{6F714DD9-1584-4213-87CE-5C97E9B59B35}"/>
              </a:ext>
            </a:extLst>
          </p:cNvPr>
          <p:cNvSpPr>
            <a:spLocks/>
          </p:cNvSpPr>
          <p:nvPr/>
        </p:nvSpPr>
        <p:spPr bwMode="auto">
          <a:xfrm>
            <a:off x="5010150" y="3151188"/>
            <a:ext cx="508000" cy="812800"/>
          </a:xfrm>
          <a:custGeom>
            <a:avLst/>
            <a:gdLst>
              <a:gd name="T0" fmla="*/ 0 w 21600"/>
              <a:gd name="T1" fmla="*/ 0 h 21600"/>
              <a:gd name="T2" fmla="*/ 508000 w 21600"/>
              <a:gd name="T3" fmla="*/ 812800 h 21600"/>
              <a:gd name="T4" fmla="*/ 0 w 21600"/>
              <a:gd name="T5" fmla="*/ 8128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
        <p:nvSpPr>
          <p:cNvPr id="29726" name="Arc 30">
            <a:extLst>
              <a:ext uri="{FF2B5EF4-FFF2-40B4-BE49-F238E27FC236}">
                <a16:creationId xmlns:a16="http://schemas.microsoft.com/office/drawing/2014/main" id="{1D987EC3-5B84-A851-18F9-93C4A8C939E6}"/>
              </a:ext>
            </a:extLst>
          </p:cNvPr>
          <p:cNvSpPr>
            <a:spLocks/>
          </p:cNvSpPr>
          <p:nvPr/>
        </p:nvSpPr>
        <p:spPr bwMode="auto">
          <a:xfrm>
            <a:off x="5791200" y="2732088"/>
            <a:ext cx="1860550" cy="1231900"/>
          </a:xfrm>
          <a:custGeom>
            <a:avLst/>
            <a:gdLst>
              <a:gd name="T0" fmla="*/ 0 w 21600"/>
              <a:gd name="T1" fmla="*/ 0 h 21600"/>
              <a:gd name="T2" fmla="*/ 1860550 w 21600"/>
              <a:gd name="T3" fmla="*/ 1231900 h 21600"/>
              <a:gd name="T4" fmla="*/ 0 w 21600"/>
              <a:gd name="T5" fmla="*/ 1231900 h 21600"/>
              <a:gd name="T6" fmla="*/ 0 60000 65536"/>
              <a:gd name="T7" fmla="*/ 0 60000 65536"/>
              <a:gd name="T8" fmla="*/ 0 60000 65536"/>
            </a:gdLst>
            <a:ahLst/>
            <a:cxnLst>
              <a:cxn ang="T6">
                <a:pos x="T0" y="T1"/>
              </a:cxn>
              <a:cxn ang="T7">
                <a:pos x="T2" y="T3"/>
              </a:cxn>
              <a:cxn ang="T8">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12700" cap="rnd">
            <a:solidFill>
              <a:schemeClr val="tx1"/>
            </a:solidFill>
            <a:round/>
            <a:headEnd type="triangle" w="med" len="me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en-ZA"/>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996B0A01-4D90-C6FA-9971-AF7FE60DD8BA}"/>
              </a:ext>
            </a:extLst>
          </p:cNvPr>
          <p:cNvSpPr>
            <a:spLocks noGrp="1" noChangeArrowheads="1"/>
          </p:cNvSpPr>
          <p:nvPr>
            <p:ph type="title"/>
          </p:nvPr>
        </p:nvSpPr>
        <p:spPr>
          <a:xfrm>
            <a:off x="666750" y="609600"/>
            <a:ext cx="7810500" cy="677108"/>
          </a:xfrm>
          <a:noFill/>
        </p:spPr>
        <p:txBody>
          <a:bodyPr/>
          <a:lstStyle/>
          <a:p>
            <a:r>
              <a:rPr lang="en-US" altLang="en-US" dirty="0"/>
              <a:t>System Requirements Checklist</a:t>
            </a:r>
          </a:p>
        </p:txBody>
      </p:sp>
      <p:sp>
        <p:nvSpPr>
          <p:cNvPr id="18435" name="Rectangle 3">
            <a:extLst>
              <a:ext uri="{FF2B5EF4-FFF2-40B4-BE49-F238E27FC236}">
                <a16:creationId xmlns:a16="http://schemas.microsoft.com/office/drawing/2014/main" id="{23E3D5F5-CCD9-F209-206C-E40954D31800}"/>
              </a:ext>
            </a:extLst>
          </p:cNvPr>
          <p:cNvSpPr>
            <a:spLocks noGrp="1" noChangeArrowheads="1"/>
          </p:cNvSpPr>
          <p:nvPr>
            <p:ph type="body" idx="1"/>
          </p:nvPr>
        </p:nvSpPr>
        <p:spPr>
          <a:xfrm>
            <a:off x="815975" y="1992313"/>
            <a:ext cx="7158038" cy="3939540"/>
          </a:xfrm>
          <a:noFill/>
        </p:spPr>
        <p:txBody>
          <a:bodyPr/>
          <a:lstStyle/>
          <a:p>
            <a:r>
              <a:rPr lang="en-US" altLang="en-US" sz="2000" dirty="0"/>
              <a:t>Clarity</a:t>
            </a:r>
          </a:p>
          <a:p>
            <a:pPr lvl="1"/>
            <a:r>
              <a:rPr lang="en-US" altLang="en-US" sz="1600" dirty="0">
                <a:solidFill>
                  <a:schemeClr val="tx1"/>
                </a:solidFill>
              </a:rPr>
              <a:t>Is the terminology consistent with the user’s?</a:t>
            </a:r>
          </a:p>
          <a:p>
            <a:pPr lvl="1"/>
            <a:r>
              <a:rPr lang="en-US" altLang="en-US" sz="1600" dirty="0">
                <a:solidFill>
                  <a:schemeClr val="tx1"/>
                </a:solidFill>
              </a:rPr>
              <a:t>Are the requirements clear and unambiguous?</a:t>
            </a:r>
          </a:p>
          <a:p>
            <a:pPr lvl="1"/>
            <a:r>
              <a:rPr lang="en-US" altLang="en-US" sz="1600" dirty="0">
                <a:solidFill>
                  <a:schemeClr val="tx1"/>
                </a:solidFill>
              </a:rPr>
              <a:t>If assumptions that affect implementation have been made, are they stated?</a:t>
            </a:r>
          </a:p>
          <a:p>
            <a:r>
              <a:rPr lang="en-US" altLang="en-US" sz="2000" dirty="0"/>
              <a:t>Completeness</a:t>
            </a:r>
          </a:p>
          <a:p>
            <a:pPr lvl="1"/>
            <a:r>
              <a:rPr lang="en-US" altLang="en-US" sz="1600" dirty="0">
                <a:solidFill>
                  <a:schemeClr val="tx1"/>
                </a:solidFill>
              </a:rPr>
              <a:t>Have all requirements been assigned a priority?</a:t>
            </a:r>
          </a:p>
          <a:p>
            <a:pPr lvl="1"/>
            <a:r>
              <a:rPr lang="en-US" altLang="en-US" sz="1600" dirty="0">
                <a:solidFill>
                  <a:schemeClr val="tx1"/>
                </a:solidFill>
              </a:rPr>
              <a:t>Have the criteria for assigning priority levels been defined?</a:t>
            </a:r>
          </a:p>
          <a:p>
            <a:pPr lvl="1"/>
            <a:r>
              <a:rPr lang="en-US" altLang="en-US" sz="1600" dirty="0">
                <a:solidFill>
                  <a:schemeClr val="tx1"/>
                </a:solidFill>
              </a:rPr>
              <a:t>Have the requirements been stated for each staged implementation?</a:t>
            </a:r>
          </a:p>
          <a:p>
            <a:r>
              <a:rPr lang="en-US" altLang="en-US" sz="2000" dirty="0"/>
              <a:t>Consistency</a:t>
            </a:r>
          </a:p>
          <a:p>
            <a:pPr lvl="1"/>
            <a:r>
              <a:rPr lang="en-US" altLang="en-US" sz="1600" dirty="0">
                <a:solidFill>
                  <a:schemeClr val="tx1"/>
                </a:solidFill>
              </a:rPr>
              <a:t>Are the requirements consistent with each other?</a:t>
            </a:r>
          </a:p>
          <a:p>
            <a:pPr lvl="1"/>
            <a:r>
              <a:rPr lang="en-US" altLang="en-US" sz="1600" dirty="0">
                <a:solidFill>
                  <a:schemeClr val="tx1"/>
                </a:solidFill>
              </a:rPr>
              <a:t>Are the requirements here consistent with the requirements in related documents?</a:t>
            </a:r>
          </a:p>
          <a:p>
            <a:r>
              <a:rPr lang="en-US" altLang="en-US" sz="2000" dirty="0"/>
              <a:t>Testability</a:t>
            </a:r>
          </a:p>
          <a:p>
            <a:pPr lvl="1"/>
            <a:r>
              <a:rPr lang="en-US" altLang="en-US" sz="1600" dirty="0">
                <a:solidFill>
                  <a:schemeClr val="tx1"/>
                </a:solidFill>
              </a:rPr>
              <a:t>Have the test methods (test, demonstration, analysis or inspection) been stated for each requirement?</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1294" y="963706"/>
            <a:ext cx="7365626" cy="549088"/>
            <a:chOff x="914400" y="1092200"/>
            <a:chExt cx="8347709" cy="622300"/>
          </a:xfrm>
        </p:grpSpPr>
        <p:pic>
          <p:nvPicPr>
            <p:cNvPr id="3" name="object 3"/>
            <p:cNvPicPr/>
            <p:nvPr/>
          </p:nvPicPr>
          <p:blipFill>
            <a:blip r:embed="rId2" cstate="print"/>
            <a:stretch>
              <a:fillRect/>
            </a:stretch>
          </p:blipFill>
          <p:spPr>
            <a:xfrm>
              <a:off x="914400" y="1092200"/>
              <a:ext cx="8347082" cy="622300"/>
            </a:xfrm>
            <a:prstGeom prst="rect">
              <a:avLst/>
            </a:prstGeom>
          </p:spPr>
        </p:pic>
        <p:pic>
          <p:nvPicPr>
            <p:cNvPr id="4" name="object 4"/>
            <p:cNvPicPr/>
            <p:nvPr/>
          </p:nvPicPr>
          <p:blipFill>
            <a:blip r:embed="rId3" cstate="print"/>
            <a:stretch>
              <a:fillRect/>
            </a:stretch>
          </p:blipFill>
          <p:spPr>
            <a:xfrm>
              <a:off x="981075" y="1101089"/>
              <a:ext cx="8229600" cy="228599"/>
            </a:xfrm>
            <a:prstGeom prst="rect">
              <a:avLst/>
            </a:prstGeom>
          </p:spPr>
        </p:pic>
      </p:grpSp>
      <p:pic>
        <p:nvPicPr>
          <p:cNvPr id="6" name="object 6"/>
          <p:cNvPicPr/>
          <p:nvPr/>
        </p:nvPicPr>
        <p:blipFill>
          <a:blip r:embed="rId4" cstate="print"/>
          <a:stretch>
            <a:fillRect/>
          </a:stretch>
        </p:blipFill>
        <p:spPr>
          <a:xfrm>
            <a:off x="8308713" y="5875243"/>
            <a:ext cx="20058" cy="22412"/>
          </a:xfrm>
          <a:prstGeom prst="rect">
            <a:avLst/>
          </a:prstGeom>
        </p:spPr>
      </p:pic>
      <p:pic>
        <p:nvPicPr>
          <p:cNvPr id="7" name="object 7"/>
          <p:cNvPicPr/>
          <p:nvPr/>
        </p:nvPicPr>
        <p:blipFill>
          <a:blip r:embed="rId5" cstate="print"/>
          <a:stretch>
            <a:fillRect/>
          </a:stretch>
        </p:blipFill>
        <p:spPr>
          <a:xfrm>
            <a:off x="944096" y="1162049"/>
            <a:ext cx="7317441" cy="201706"/>
          </a:xfrm>
          <a:prstGeom prst="rect">
            <a:avLst/>
          </a:prstGeom>
        </p:spPr>
      </p:pic>
      <p:graphicFrame>
        <p:nvGraphicFramePr>
          <p:cNvPr id="8" name="object 8"/>
          <p:cNvGraphicFramePr>
            <a:graphicFrameLocks noGrp="1"/>
          </p:cNvGraphicFramePr>
          <p:nvPr>
            <p:extLst>
              <p:ext uri="{D42A27DB-BD31-4B8C-83A1-F6EECF244321}">
                <p14:modId xmlns:p14="http://schemas.microsoft.com/office/powerpoint/2010/main" val="2403019148"/>
              </p:ext>
            </p:extLst>
          </p:nvPr>
        </p:nvGraphicFramePr>
        <p:xfrm>
          <a:off x="933225" y="960343"/>
          <a:ext cx="7375712" cy="4919942"/>
        </p:xfrm>
        <a:graphic>
          <a:graphicData uri="http://schemas.openxmlformats.org/drawingml/2006/table">
            <a:tbl>
              <a:tblPr firstRow="1" bandRow="1">
                <a:tableStyleId>{2D5ABB26-0587-4C30-8999-92F81FD0307C}</a:tableStyleId>
              </a:tblPr>
              <a:tblGrid>
                <a:gridCol w="7375712">
                  <a:extLst>
                    <a:ext uri="{9D8B030D-6E8A-4147-A177-3AD203B41FA5}">
                      <a16:colId xmlns:a16="http://schemas.microsoft.com/office/drawing/2014/main" val="20000"/>
                    </a:ext>
                  </a:extLst>
                </a:gridCol>
              </a:tblGrid>
              <a:tr h="388284">
                <a:tc>
                  <a:txBody>
                    <a:bodyPr/>
                    <a:lstStyle/>
                    <a:p>
                      <a:pPr marL="544195">
                        <a:lnSpc>
                          <a:spcPct val="100000"/>
                        </a:lnSpc>
                        <a:spcBef>
                          <a:spcPts val="75"/>
                        </a:spcBef>
                      </a:pPr>
                      <a:r>
                        <a:rPr sz="1200" b="1" spc="-120" dirty="0">
                          <a:latin typeface="Arial"/>
                          <a:cs typeface="Arial"/>
                        </a:rPr>
                        <a:t>Main</a:t>
                      </a:r>
                      <a:r>
                        <a:rPr sz="1200" b="1" spc="-35" dirty="0">
                          <a:latin typeface="Arial"/>
                          <a:cs typeface="Arial"/>
                        </a:rPr>
                        <a:t> </a:t>
                      </a:r>
                      <a:r>
                        <a:rPr sz="1200" b="1" spc="-130" dirty="0">
                          <a:latin typeface="Arial"/>
                          <a:cs typeface="Arial"/>
                        </a:rPr>
                        <a:t>Computing</a:t>
                      </a:r>
                      <a:r>
                        <a:rPr sz="1200" b="1" spc="55" dirty="0">
                          <a:latin typeface="Arial"/>
                          <a:cs typeface="Arial"/>
                        </a:rPr>
                        <a:t> </a:t>
                      </a:r>
                      <a:r>
                        <a:rPr sz="1200" b="1" spc="-130" dirty="0">
                          <a:latin typeface="Arial"/>
                          <a:cs typeface="Arial"/>
                        </a:rPr>
                        <a:t>Disciplines:</a:t>
                      </a:r>
                      <a:r>
                        <a:rPr sz="1200" b="1" spc="120" dirty="0">
                          <a:latin typeface="Arial"/>
                          <a:cs typeface="Arial"/>
                        </a:rPr>
                        <a:t> </a:t>
                      </a:r>
                      <a:r>
                        <a:rPr sz="1200" b="1" spc="-125" dirty="0">
                          <a:latin typeface="Arial"/>
                          <a:cs typeface="Arial"/>
                        </a:rPr>
                        <a:t>Characteristics,</a:t>
                      </a:r>
                      <a:r>
                        <a:rPr sz="1200" b="1" spc="250" dirty="0">
                          <a:latin typeface="Arial"/>
                          <a:cs typeface="Arial"/>
                        </a:rPr>
                        <a:t> </a:t>
                      </a:r>
                      <a:r>
                        <a:rPr sz="1200" b="1" spc="-100" dirty="0">
                          <a:latin typeface="Arial"/>
                          <a:cs typeface="Arial"/>
                        </a:rPr>
                        <a:t>Similarities,</a:t>
                      </a:r>
                      <a:r>
                        <a:rPr sz="1200" b="1" spc="105" dirty="0">
                          <a:latin typeface="Arial"/>
                          <a:cs typeface="Arial"/>
                        </a:rPr>
                        <a:t> </a:t>
                      </a:r>
                      <a:r>
                        <a:rPr sz="1200" b="1" spc="-120" dirty="0">
                          <a:latin typeface="Arial"/>
                          <a:cs typeface="Arial"/>
                        </a:rPr>
                        <a:t>and</a:t>
                      </a:r>
                      <a:r>
                        <a:rPr sz="1200" b="1" spc="15" dirty="0">
                          <a:latin typeface="Arial"/>
                          <a:cs typeface="Arial"/>
                        </a:rPr>
                        <a:t> </a:t>
                      </a:r>
                      <a:r>
                        <a:rPr sz="1200" b="1" spc="-35" dirty="0">
                          <a:latin typeface="Arial"/>
                          <a:cs typeface="Arial"/>
                        </a:rPr>
                        <a:t>Differences</a:t>
                      </a:r>
                      <a:endParaRPr sz="12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0"/>
                  </a:ext>
                </a:extLst>
              </a:tr>
              <a:tr h="155762">
                <a:tc>
                  <a:txBody>
                    <a:bodyPr/>
                    <a:lstStyle/>
                    <a:p>
                      <a:pPr marL="83820">
                        <a:lnSpc>
                          <a:spcPts val="1215"/>
                        </a:lnSpc>
                        <a:spcBef>
                          <a:spcPts val="75"/>
                        </a:spcBef>
                      </a:pPr>
                      <a:endParaRPr sz="1000" dirty="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4370854">
                <a:tc>
                  <a:txBody>
                    <a:bodyPr/>
                    <a:lstStyle/>
                    <a:p>
                      <a:pPr marL="351155" indent="-214629" algn="just">
                        <a:lnSpc>
                          <a:spcPct val="100000"/>
                        </a:lnSpc>
                        <a:spcBef>
                          <a:spcPts val="409"/>
                        </a:spcBef>
                        <a:buAutoNum type="arabicPeriod"/>
                        <a:tabLst>
                          <a:tab pos="351155" algn="l"/>
                          <a:tab pos="354965" algn="l"/>
                        </a:tabLst>
                      </a:pPr>
                      <a:r>
                        <a:rPr sz="1400" spc="-80" dirty="0">
                          <a:latin typeface="Arial"/>
                          <a:cs typeface="Arial"/>
                        </a:rPr>
                        <a:t>Computing</a:t>
                      </a:r>
                      <a:r>
                        <a:rPr sz="1400" spc="65" dirty="0">
                          <a:latin typeface="Arial"/>
                          <a:cs typeface="Arial"/>
                        </a:rPr>
                        <a:t> </a:t>
                      </a:r>
                      <a:r>
                        <a:rPr sz="1400" spc="-105" dirty="0">
                          <a:latin typeface="Arial"/>
                          <a:cs typeface="Arial"/>
                        </a:rPr>
                        <a:t>has</a:t>
                      </a:r>
                      <a:r>
                        <a:rPr sz="1400" spc="-20" dirty="0">
                          <a:latin typeface="Arial"/>
                          <a:cs typeface="Arial"/>
                        </a:rPr>
                        <a:t> </a:t>
                      </a:r>
                      <a:r>
                        <a:rPr sz="1400" spc="-80" dirty="0">
                          <a:latin typeface="Arial"/>
                          <a:cs typeface="Arial"/>
                        </a:rPr>
                        <a:t>been</a:t>
                      </a:r>
                      <a:r>
                        <a:rPr sz="1400" spc="-20" dirty="0">
                          <a:latin typeface="Arial"/>
                          <a:cs typeface="Arial"/>
                        </a:rPr>
                        <a:t> </a:t>
                      </a:r>
                      <a:r>
                        <a:rPr sz="1400" spc="-40" dirty="0">
                          <a:latin typeface="Arial"/>
                          <a:cs typeface="Arial"/>
                        </a:rPr>
                        <a:t>defined</a:t>
                      </a:r>
                      <a:r>
                        <a:rPr sz="1400" spc="55" dirty="0">
                          <a:latin typeface="Arial"/>
                          <a:cs typeface="Arial"/>
                        </a:rPr>
                        <a:t> </a:t>
                      </a:r>
                      <a:r>
                        <a:rPr sz="1400" spc="-50" dirty="0">
                          <a:latin typeface="Arial"/>
                          <a:cs typeface="Arial"/>
                        </a:rPr>
                        <a:t>by</a:t>
                      </a:r>
                      <a:r>
                        <a:rPr sz="1400" spc="-150" dirty="0">
                          <a:latin typeface="Arial"/>
                          <a:cs typeface="Arial"/>
                        </a:rPr>
                        <a:t> </a:t>
                      </a:r>
                      <a:r>
                        <a:rPr sz="1400" spc="-75" dirty="0">
                          <a:latin typeface="Arial"/>
                          <a:cs typeface="Arial"/>
                        </a:rPr>
                        <a:t>The</a:t>
                      </a:r>
                      <a:r>
                        <a:rPr sz="1400" spc="-95" dirty="0">
                          <a:latin typeface="Arial"/>
                          <a:cs typeface="Arial"/>
                        </a:rPr>
                        <a:t> </a:t>
                      </a:r>
                      <a:r>
                        <a:rPr sz="1400" spc="-45" dirty="0">
                          <a:latin typeface="Arial"/>
                          <a:cs typeface="Arial"/>
                        </a:rPr>
                        <a:t>Joint</a:t>
                      </a:r>
                      <a:r>
                        <a:rPr sz="1400" spc="-55" dirty="0">
                          <a:latin typeface="Arial"/>
                          <a:cs typeface="Arial"/>
                        </a:rPr>
                        <a:t> </a:t>
                      </a:r>
                      <a:r>
                        <a:rPr sz="1400" spc="-100" dirty="0">
                          <a:latin typeface="Arial"/>
                          <a:cs typeface="Arial"/>
                        </a:rPr>
                        <a:t>Task</a:t>
                      </a:r>
                      <a:r>
                        <a:rPr sz="1400" spc="25" dirty="0">
                          <a:latin typeface="Arial"/>
                          <a:cs typeface="Arial"/>
                        </a:rPr>
                        <a:t> </a:t>
                      </a:r>
                      <a:r>
                        <a:rPr sz="1400" spc="-95" dirty="0">
                          <a:latin typeface="Arial"/>
                          <a:cs typeface="Arial"/>
                        </a:rPr>
                        <a:t>Force</a:t>
                      </a:r>
                      <a:r>
                        <a:rPr sz="1400" spc="-35" dirty="0">
                          <a:latin typeface="Arial"/>
                          <a:cs typeface="Arial"/>
                        </a:rPr>
                        <a:t> </a:t>
                      </a:r>
                      <a:r>
                        <a:rPr sz="1400" dirty="0">
                          <a:latin typeface="Arial"/>
                          <a:cs typeface="Arial"/>
                        </a:rPr>
                        <a:t>for</a:t>
                      </a:r>
                      <a:r>
                        <a:rPr sz="1400" spc="-5" dirty="0">
                          <a:latin typeface="Arial"/>
                          <a:cs typeface="Arial"/>
                        </a:rPr>
                        <a:t> </a:t>
                      </a:r>
                      <a:r>
                        <a:rPr sz="1400" spc="-65" dirty="0">
                          <a:latin typeface="Arial"/>
                          <a:cs typeface="Arial"/>
                        </a:rPr>
                        <a:t>Computing</a:t>
                      </a:r>
                      <a:r>
                        <a:rPr sz="1400" spc="105" dirty="0">
                          <a:latin typeface="Arial"/>
                          <a:cs typeface="Arial"/>
                        </a:rPr>
                        <a:t> </a:t>
                      </a:r>
                      <a:r>
                        <a:rPr sz="1400" spc="-55" dirty="0">
                          <a:latin typeface="Arial"/>
                          <a:cs typeface="Arial"/>
                        </a:rPr>
                        <a:t>Curricula</a:t>
                      </a:r>
                      <a:r>
                        <a:rPr sz="1400" spc="95" dirty="0">
                          <a:latin typeface="Arial"/>
                          <a:cs typeface="Arial"/>
                        </a:rPr>
                        <a:t> </a:t>
                      </a:r>
                      <a:r>
                        <a:rPr sz="1400" spc="-80" dirty="0">
                          <a:latin typeface="Arial"/>
                          <a:cs typeface="Arial"/>
                        </a:rPr>
                        <a:t>2005</a:t>
                      </a:r>
                      <a:r>
                        <a:rPr sz="1400" spc="10" dirty="0">
                          <a:latin typeface="Arial"/>
                          <a:cs typeface="Arial"/>
                        </a:rPr>
                        <a:t> </a:t>
                      </a:r>
                      <a:r>
                        <a:rPr sz="1400" spc="-95" dirty="0">
                          <a:latin typeface="Arial"/>
                          <a:cs typeface="Arial"/>
                        </a:rPr>
                        <a:t>as</a:t>
                      </a:r>
                      <a:r>
                        <a:rPr sz="1400" spc="-35" dirty="0">
                          <a:latin typeface="Arial"/>
                          <a:cs typeface="Arial"/>
                        </a:rPr>
                        <a:t> </a:t>
                      </a:r>
                      <a:r>
                        <a:rPr sz="1400" spc="-45" dirty="0">
                          <a:latin typeface="Arial"/>
                          <a:cs typeface="Arial"/>
                        </a:rPr>
                        <a:t>“</a:t>
                      </a:r>
                      <a:r>
                        <a:rPr sz="1400" i="1" spc="-45" dirty="0">
                          <a:latin typeface="Arial"/>
                          <a:cs typeface="Arial"/>
                        </a:rPr>
                        <a:t>any</a:t>
                      </a:r>
                      <a:r>
                        <a:rPr sz="1400" i="1" spc="-65" dirty="0">
                          <a:latin typeface="Arial"/>
                          <a:cs typeface="Arial"/>
                        </a:rPr>
                        <a:t> goal-</a:t>
                      </a:r>
                      <a:r>
                        <a:rPr sz="1400" i="1" spc="-40" dirty="0">
                          <a:latin typeface="Arial"/>
                          <a:cs typeface="Arial"/>
                        </a:rPr>
                        <a:t>oriented</a:t>
                      </a:r>
                      <a:r>
                        <a:rPr sz="1400" i="1" spc="170" dirty="0">
                          <a:latin typeface="Arial"/>
                          <a:cs typeface="Arial"/>
                        </a:rPr>
                        <a:t> </a:t>
                      </a:r>
                      <a:r>
                        <a:rPr sz="1400" i="1" spc="-20" dirty="0">
                          <a:latin typeface="Arial"/>
                          <a:cs typeface="Arial"/>
                        </a:rPr>
                        <a:t>activity</a:t>
                      </a:r>
                      <a:r>
                        <a:rPr sz="1400" i="1" spc="-65" dirty="0">
                          <a:latin typeface="Arial"/>
                          <a:cs typeface="Arial"/>
                        </a:rPr>
                        <a:t> </a:t>
                      </a:r>
                      <a:r>
                        <a:rPr sz="1400" i="1" spc="-40" dirty="0">
                          <a:latin typeface="Arial"/>
                          <a:cs typeface="Arial"/>
                        </a:rPr>
                        <a:t>requiring,</a:t>
                      </a:r>
                      <a:r>
                        <a:rPr sz="1400" i="1" spc="60" dirty="0">
                          <a:latin typeface="Arial"/>
                          <a:cs typeface="Arial"/>
                        </a:rPr>
                        <a:t> </a:t>
                      </a:r>
                      <a:r>
                        <a:rPr sz="1400" i="1" spc="-55" dirty="0">
                          <a:latin typeface="Arial"/>
                          <a:cs typeface="Arial"/>
                        </a:rPr>
                        <a:t>benefiting</a:t>
                      </a:r>
                      <a:r>
                        <a:rPr sz="1400" i="1" spc="-65" dirty="0">
                          <a:latin typeface="Arial"/>
                          <a:cs typeface="Arial"/>
                        </a:rPr>
                        <a:t> </a:t>
                      </a:r>
                      <a:r>
                        <a:rPr sz="1400" i="1" spc="-10" dirty="0">
                          <a:latin typeface="Arial"/>
                          <a:cs typeface="Arial"/>
                        </a:rPr>
                        <a:t>from,</a:t>
                      </a:r>
                      <a:endParaRPr sz="1400" dirty="0">
                        <a:latin typeface="Arial"/>
                        <a:cs typeface="Arial"/>
                      </a:endParaRPr>
                    </a:p>
                    <a:p>
                      <a:pPr marL="354965" marR="135255" algn="just">
                        <a:lnSpc>
                          <a:spcPct val="102699"/>
                        </a:lnSpc>
                        <a:spcBef>
                          <a:spcPts val="335"/>
                        </a:spcBef>
                      </a:pPr>
                      <a:r>
                        <a:rPr sz="1400" i="1" spc="-45" dirty="0">
                          <a:latin typeface="Arial"/>
                          <a:cs typeface="Arial"/>
                        </a:rPr>
                        <a:t>orcreating</a:t>
                      </a:r>
                      <a:r>
                        <a:rPr sz="1400" i="1" spc="-30" dirty="0">
                          <a:latin typeface="Arial"/>
                          <a:cs typeface="Arial"/>
                        </a:rPr>
                        <a:t> </a:t>
                      </a:r>
                      <a:r>
                        <a:rPr sz="1400" i="1" spc="-55" dirty="0">
                          <a:latin typeface="Arial"/>
                          <a:cs typeface="Arial"/>
                        </a:rPr>
                        <a:t>computers.</a:t>
                      </a:r>
                      <a:r>
                        <a:rPr sz="1400" i="1" spc="-20" dirty="0">
                          <a:latin typeface="Arial"/>
                          <a:cs typeface="Arial"/>
                        </a:rPr>
                        <a:t> </a:t>
                      </a:r>
                      <a:r>
                        <a:rPr sz="1400" spc="-135" dirty="0">
                          <a:latin typeface="Arial"/>
                          <a:cs typeface="Arial"/>
                        </a:rPr>
                        <a:t>[</a:t>
                      </a:r>
                      <a:endParaRPr lang="en-US" sz="1400" spc="-135" dirty="0">
                        <a:latin typeface="Arial"/>
                        <a:cs typeface="Arial"/>
                      </a:endParaRPr>
                    </a:p>
                    <a:p>
                      <a:pPr marL="354965" marR="135255" algn="just">
                        <a:lnSpc>
                          <a:spcPct val="102699"/>
                        </a:lnSpc>
                        <a:spcBef>
                          <a:spcPts val="335"/>
                        </a:spcBef>
                      </a:pPr>
                      <a:r>
                        <a:rPr lang="en-US" sz="1400" spc="-50" dirty="0">
                          <a:latin typeface="Arial"/>
                          <a:cs typeface="Arial"/>
                        </a:rPr>
                        <a:t>It </a:t>
                      </a:r>
                      <a:r>
                        <a:rPr lang="en-US" sz="1400" spc="-105" dirty="0">
                          <a:latin typeface="Arial"/>
                          <a:cs typeface="Arial"/>
                        </a:rPr>
                        <a:t>uses</a:t>
                      </a:r>
                      <a:r>
                        <a:rPr lang="en-US" sz="1400" spc="-45" dirty="0">
                          <a:latin typeface="Arial"/>
                          <a:cs typeface="Arial"/>
                        </a:rPr>
                        <a:t> </a:t>
                      </a:r>
                      <a:r>
                        <a:rPr lang="en-US" sz="1400" spc="-80" dirty="0">
                          <a:latin typeface="Arial"/>
                          <a:cs typeface="Arial"/>
                        </a:rPr>
                        <a:t>knowledge</a:t>
                      </a:r>
                      <a:r>
                        <a:rPr lang="en-US" sz="1400" spc="80" dirty="0">
                          <a:latin typeface="Arial"/>
                          <a:cs typeface="Arial"/>
                        </a:rPr>
                        <a:t> </a:t>
                      </a:r>
                      <a:r>
                        <a:rPr lang="en-US" sz="1400" spc="-65" dirty="0">
                          <a:latin typeface="Arial"/>
                          <a:cs typeface="Arial"/>
                        </a:rPr>
                        <a:t>and</a:t>
                      </a:r>
                      <a:r>
                        <a:rPr lang="en-US" sz="1400" spc="-114" dirty="0">
                          <a:latin typeface="Arial"/>
                          <a:cs typeface="Arial"/>
                        </a:rPr>
                        <a:t> </a:t>
                      </a:r>
                      <a:r>
                        <a:rPr lang="en-US" sz="1400" spc="-55" dirty="0">
                          <a:latin typeface="Arial"/>
                          <a:cs typeface="Arial"/>
                        </a:rPr>
                        <a:t>skills</a:t>
                      </a:r>
                      <a:r>
                        <a:rPr lang="en-US" sz="1400" spc="-130" dirty="0">
                          <a:latin typeface="Arial"/>
                          <a:cs typeface="Arial"/>
                        </a:rPr>
                        <a:t> </a:t>
                      </a:r>
                      <a:r>
                        <a:rPr lang="en-US" sz="1400" spc="-5" dirty="0">
                          <a:latin typeface="Arial"/>
                          <a:cs typeface="Arial"/>
                        </a:rPr>
                        <a:t>from</a:t>
                      </a:r>
                      <a:r>
                        <a:rPr lang="en-US" sz="1400" spc="-95" dirty="0">
                          <a:latin typeface="Arial"/>
                          <a:cs typeface="Arial"/>
                        </a:rPr>
                        <a:t> </a:t>
                      </a:r>
                      <a:r>
                        <a:rPr lang="en-US" sz="1400" spc="-10" dirty="0">
                          <a:latin typeface="Arial"/>
                          <a:cs typeface="Arial"/>
                        </a:rPr>
                        <a:t>other</a:t>
                      </a:r>
                      <a:r>
                        <a:rPr lang="en-US" sz="1400" spc="-185" dirty="0">
                          <a:latin typeface="Arial"/>
                          <a:cs typeface="Arial"/>
                        </a:rPr>
                        <a:t> </a:t>
                      </a:r>
                      <a:r>
                        <a:rPr lang="en-US" sz="1400" spc="-65" dirty="0">
                          <a:latin typeface="Arial"/>
                          <a:cs typeface="Arial"/>
                        </a:rPr>
                        <a:t>disciplines,</a:t>
                      </a:r>
                      <a:r>
                        <a:rPr lang="en-US" sz="1400" spc="70" dirty="0">
                          <a:latin typeface="Arial"/>
                          <a:cs typeface="Arial"/>
                        </a:rPr>
                        <a:t> </a:t>
                      </a:r>
                      <a:r>
                        <a:rPr lang="en-US" sz="1400" spc="-35" dirty="0">
                          <a:latin typeface="Arial"/>
                          <a:cs typeface="Arial"/>
                        </a:rPr>
                        <a:t>like</a:t>
                      </a:r>
                      <a:r>
                        <a:rPr lang="en-US" sz="1400" spc="-95" dirty="0">
                          <a:latin typeface="Arial"/>
                          <a:cs typeface="Arial"/>
                        </a:rPr>
                        <a:t> </a:t>
                      </a:r>
                      <a:r>
                        <a:rPr lang="en-US" sz="1400" spc="-65" dirty="0">
                          <a:latin typeface="Arial"/>
                          <a:cs typeface="Arial"/>
                        </a:rPr>
                        <a:t>mathematics,</a:t>
                      </a:r>
                      <a:r>
                        <a:rPr lang="en-US" sz="1400" spc="114" dirty="0">
                          <a:latin typeface="Arial"/>
                          <a:cs typeface="Arial"/>
                        </a:rPr>
                        <a:t> </a:t>
                      </a:r>
                      <a:r>
                        <a:rPr lang="en-US" sz="1400" spc="-85" dirty="0">
                          <a:latin typeface="Arial"/>
                          <a:cs typeface="Arial"/>
                        </a:rPr>
                        <a:t>science,</a:t>
                      </a:r>
                      <a:r>
                        <a:rPr lang="en-US" sz="1400" spc="5" dirty="0">
                          <a:latin typeface="Arial"/>
                          <a:cs typeface="Arial"/>
                        </a:rPr>
                        <a:t> </a:t>
                      </a:r>
                      <a:r>
                        <a:rPr lang="en-US" sz="1400" spc="-65" dirty="0">
                          <a:latin typeface="Arial"/>
                          <a:cs typeface="Arial"/>
                        </a:rPr>
                        <a:t>engineering,</a:t>
                      </a:r>
                      <a:r>
                        <a:rPr lang="en-US" sz="1400" spc="-40" dirty="0">
                          <a:latin typeface="Arial"/>
                          <a:cs typeface="Arial"/>
                        </a:rPr>
                        <a:t> </a:t>
                      </a:r>
                      <a:r>
                        <a:rPr lang="en-US" sz="1400" spc="-105" dirty="0">
                          <a:latin typeface="Arial"/>
                          <a:cs typeface="Arial"/>
                        </a:rPr>
                        <a:t>and</a:t>
                      </a:r>
                      <a:r>
                        <a:rPr lang="en-US" sz="1400" spc="-60" dirty="0">
                          <a:latin typeface="Arial"/>
                          <a:cs typeface="Arial"/>
                        </a:rPr>
                        <a:t> </a:t>
                      </a:r>
                      <a:r>
                        <a:rPr lang="en-US" sz="1400" spc="-90" dirty="0">
                          <a:latin typeface="Arial"/>
                          <a:cs typeface="Arial"/>
                        </a:rPr>
                        <a:t>business.</a:t>
                      </a:r>
                      <a:r>
                        <a:rPr lang="en-US" sz="1400" spc="290" dirty="0">
                          <a:latin typeface="Arial"/>
                          <a:cs typeface="Arial"/>
                        </a:rPr>
                        <a:t> </a:t>
                      </a:r>
                    </a:p>
                    <a:p>
                      <a:pPr marL="354965" marR="135255" algn="just">
                        <a:lnSpc>
                          <a:spcPct val="102699"/>
                        </a:lnSpc>
                        <a:spcBef>
                          <a:spcPts val="335"/>
                        </a:spcBef>
                      </a:pPr>
                      <a:endParaRPr sz="1400" dirty="0">
                        <a:latin typeface="Times New Roman"/>
                        <a:cs typeface="Times New Roman"/>
                      </a:endParaRPr>
                    </a:p>
                    <a:p>
                      <a:pPr marL="351790" marR="64769" indent="-219710" algn="just">
                        <a:lnSpc>
                          <a:spcPct val="98600"/>
                        </a:lnSpc>
                        <a:buAutoNum type="arabicPeriod" startAt="2"/>
                        <a:tabLst>
                          <a:tab pos="351790" algn="l"/>
                        </a:tabLst>
                      </a:pPr>
                      <a:r>
                        <a:rPr lang="en-US" sz="1400" spc="-45" dirty="0">
                          <a:latin typeface="Arial"/>
                          <a:cs typeface="Arial"/>
                        </a:rPr>
                        <a:t>C</a:t>
                      </a:r>
                      <a:r>
                        <a:rPr sz="1400" spc="-45" dirty="0">
                          <a:latin typeface="Arial"/>
                          <a:cs typeface="Arial"/>
                        </a:rPr>
                        <a:t>omputing</a:t>
                      </a:r>
                      <a:r>
                        <a:rPr sz="1400" dirty="0">
                          <a:latin typeface="Arial"/>
                          <a:cs typeface="Arial"/>
                        </a:rPr>
                        <a:t> </a:t>
                      </a:r>
                      <a:r>
                        <a:rPr sz="1400" spc="-50" dirty="0">
                          <a:latin typeface="Arial"/>
                          <a:cs typeface="Arial"/>
                        </a:rPr>
                        <a:t>is</a:t>
                      </a:r>
                      <a:r>
                        <a:rPr sz="1400" spc="-40" dirty="0">
                          <a:latin typeface="Arial"/>
                          <a:cs typeface="Arial"/>
                        </a:rPr>
                        <a:t> </a:t>
                      </a:r>
                      <a:r>
                        <a:rPr sz="1400" spc="-45" dirty="0">
                          <a:latin typeface="Arial"/>
                          <a:cs typeface="Arial"/>
                        </a:rPr>
                        <a:t>really</a:t>
                      </a:r>
                      <a:r>
                        <a:rPr sz="1400" spc="-30" dirty="0">
                          <a:latin typeface="Arial"/>
                          <a:cs typeface="Arial"/>
                        </a:rPr>
                        <a:t> </a:t>
                      </a:r>
                      <a:r>
                        <a:rPr sz="1400" spc="-40" dirty="0">
                          <a:latin typeface="Arial"/>
                          <a:cs typeface="Arial"/>
                        </a:rPr>
                        <a:t>a</a:t>
                      </a:r>
                      <a:r>
                        <a:rPr sz="1400" spc="-100" dirty="0">
                          <a:latin typeface="Arial"/>
                          <a:cs typeface="Arial"/>
                        </a:rPr>
                        <a:t> </a:t>
                      </a:r>
                      <a:r>
                        <a:rPr sz="1400" spc="-20" dirty="0">
                          <a:latin typeface="Arial"/>
                          <a:cs typeface="Arial"/>
                        </a:rPr>
                        <a:t>family</a:t>
                      </a:r>
                      <a:r>
                        <a:rPr sz="1400" spc="-40" dirty="0">
                          <a:latin typeface="Arial"/>
                          <a:cs typeface="Arial"/>
                        </a:rPr>
                        <a:t> </a:t>
                      </a:r>
                      <a:r>
                        <a:rPr sz="1400" dirty="0">
                          <a:latin typeface="Arial"/>
                          <a:cs typeface="Arial"/>
                        </a:rPr>
                        <a:t>of</a:t>
                      </a:r>
                      <a:r>
                        <a:rPr sz="1400" spc="-75" dirty="0">
                          <a:latin typeface="Arial"/>
                          <a:cs typeface="Arial"/>
                        </a:rPr>
                        <a:t> </a:t>
                      </a:r>
                      <a:r>
                        <a:rPr sz="1400" spc="-55" dirty="0">
                          <a:latin typeface="Arial"/>
                          <a:cs typeface="Arial"/>
                        </a:rPr>
                        <a:t>disciplines</a:t>
                      </a:r>
                      <a:r>
                        <a:rPr sz="1400" spc="80" dirty="0">
                          <a:latin typeface="Arial"/>
                          <a:cs typeface="Arial"/>
                        </a:rPr>
                        <a:t> </a:t>
                      </a:r>
                      <a:r>
                        <a:rPr sz="1400" spc="-65" dirty="0">
                          <a:latin typeface="Arial"/>
                          <a:cs typeface="Arial"/>
                        </a:rPr>
                        <a:t>consisting</a:t>
                      </a:r>
                      <a:r>
                        <a:rPr sz="1400" spc="100" dirty="0">
                          <a:latin typeface="Arial"/>
                          <a:cs typeface="Arial"/>
                        </a:rPr>
                        <a:t> </a:t>
                      </a:r>
                      <a:r>
                        <a:rPr sz="1400" dirty="0">
                          <a:latin typeface="Arial"/>
                          <a:cs typeface="Arial"/>
                        </a:rPr>
                        <a:t>of</a:t>
                      </a:r>
                      <a:r>
                        <a:rPr sz="1400" spc="-80" dirty="0">
                          <a:latin typeface="Arial"/>
                          <a:cs typeface="Arial"/>
                        </a:rPr>
                        <a:t> </a:t>
                      </a:r>
                      <a:r>
                        <a:rPr sz="1400" spc="-55" dirty="0">
                          <a:latin typeface="Arial"/>
                          <a:cs typeface="Arial"/>
                        </a:rPr>
                        <a:t>several</a:t>
                      </a:r>
                      <a:r>
                        <a:rPr sz="1400" spc="30" dirty="0">
                          <a:latin typeface="Arial"/>
                          <a:cs typeface="Arial"/>
                        </a:rPr>
                        <a:t> </a:t>
                      </a:r>
                      <a:r>
                        <a:rPr sz="1400" spc="-45" dirty="0">
                          <a:latin typeface="Arial"/>
                          <a:cs typeface="Arial"/>
                        </a:rPr>
                        <a:t>more</a:t>
                      </a:r>
                      <a:r>
                        <a:rPr sz="1400" spc="-30" dirty="0">
                          <a:latin typeface="Arial"/>
                          <a:cs typeface="Arial"/>
                        </a:rPr>
                        <a:t> </a:t>
                      </a:r>
                      <a:r>
                        <a:rPr sz="1400" spc="-45" dirty="0">
                          <a:latin typeface="Arial"/>
                          <a:cs typeface="Arial"/>
                        </a:rPr>
                        <a:t>specific</a:t>
                      </a:r>
                      <a:r>
                        <a:rPr sz="1400" spc="10" dirty="0">
                          <a:latin typeface="Arial"/>
                          <a:cs typeface="Arial"/>
                        </a:rPr>
                        <a:t> </a:t>
                      </a:r>
                      <a:r>
                        <a:rPr sz="1400" spc="-50" dirty="0">
                          <a:latin typeface="Arial"/>
                          <a:cs typeface="Arial"/>
                        </a:rPr>
                        <a:t>computing</a:t>
                      </a:r>
                      <a:r>
                        <a:rPr sz="1400" spc="95" dirty="0">
                          <a:latin typeface="Arial"/>
                          <a:cs typeface="Arial"/>
                        </a:rPr>
                        <a:t> </a:t>
                      </a:r>
                      <a:r>
                        <a:rPr sz="1400" spc="-55" dirty="0">
                          <a:latin typeface="Arial"/>
                          <a:cs typeface="Arial"/>
                        </a:rPr>
                        <a:t>disciplines,</a:t>
                      </a:r>
                      <a:r>
                        <a:rPr sz="1400" spc="105" dirty="0">
                          <a:latin typeface="Arial"/>
                          <a:cs typeface="Arial"/>
                        </a:rPr>
                        <a:t> </a:t>
                      </a:r>
                      <a:r>
                        <a:rPr sz="1400" spc="-35" dirty="0">
                          <a:latin typeface="Arial"/>
                          <a:cs typeface="Arial"/>
                        </a:rPr>
                        <a:t>like</a:t>
                      </a:r>
                      <a:r>
                        <a:rPr sz="1400" spc="-40" dirty="0">
                          <a:latin typeface="Arial"/>
                          <a:cs typeface="Arial"/>
                        </a:rPr>
                        <a:t> </a:t>
                      </a:r>
                      <a:r>
                        <a:rPr sz="1400" b="1" spc="-55" dirty="0">
                          <a:latin typeface="Arial"/>
                          <a:cs typeface="Arial"/>
                        </a:rPr>
                        <a:t>Computer</a:t>
                      </a:r>
                      <a:r>
                        <a:rPr sz="1400" b="1" spc="105" dirty="0">
                          <a:latin typeface="Arial"/>
                          <a:cs typeface="Arial"/>
                        </a:rPr>
                        <a:t> </a:t>
                      </a:r>
                      <a:r>
                        <a:rPr sz="1400" b="1" spc="-75" dirty="0">
                          <a:latin typeface="Arial"/>
                          <a:cs typeface="Arial"/>
                        </a:rPr>
                        <a:t>Engineering</a:t>
                      </a:r>
                      <a:r>
                        <a:rPr sz="1400" b="1" spc="200" dirty="0">
                          <a:latin typeface="Arial"/>
                          <a:cs typeface="Arial"/>
                        </a:rPr>
                        <a:t> </a:t>
                      </a:r>
                      <a:r>
                        <a:rPr sz="1400" b="1" spc="-10" dirty="0">
                          <a:latin typeface="Arial"/>
                          <a:cs typeface="Arial"/>
                        </a:rPr>
                        <a:t>(CE), </a:t>
                      </a:r>
                      <a:r>
                        <a:rPr sz="1400" b="1" spc="-90" dirty="0">
                          <a:latin typeface="Arial"/>
                          <a:cs typeface="Arial"/>
                        </a:rPr>
                        <a:t>Computer</a:t>
                      </a:r>
                      <a:r>
                        <a:rPr sz="1400" b="1" spc="15" dirty="0">
                          <a:latin typeface="Arial"/>
                          <a:cs typeface="Arial"/>
                        </a:rPr>
                        <a:t> </a:t>
                      </a:r>
                      <a:r>
                        <a:rPr sz="1400" b="1" spc="-105" dirty="0">
                          <a:latin typeface="Arial"/>
                          <a:cs typeface="Arial"/>
                        </a:rPr>
                        <a:t>Science</a:t>
                      </a:r>
                      <a:r>
                        <a:rPr sz="1400" b="1" spc="30" dirty="0">
                          <a:latin typeface="Arial"/>
                          <a:cs typeface="Arial"/>
                        </a:rPr>
                        <a:t> </a:t>
                      </a:r>
                      <a:r>
                        <a:rPr sz="1400" b="1" spc="-130" dirty="0">
                          <a:latin typeface="Arial"/>
                          <a:cs typeface="Arial"/>
                        </a:rPr>
                        <a:t>(CS)</a:t>
                      </a:r>
                      <a:r>
                        <a:rPr sz="1400" spc="-130" dirty="0">
                          <a:latin typeface="Arial"/>
                          <a:cs typeface="Arial"/>
                        </a:rPr>
                        <a:t>,</a:t>
                      </a:r>
                      <a:r>
                        <a:rPr sz="1400" spc="-85" dirty="0">
                          <a:latin typeface="Arial"/>
                          <a:cs typeface="Arial"/>
                        </a:rPr>
                        <a:t> </a:t>
                      </a:r>
                      <a:r>
                        <a:rPr sz="1400" b="1" spc="-50" dirty="0">
                          <a:latin typeface="Arial"/>
                          <a:cs typeface="Arial"/>
                        </a:rPr>
                        <a:t>Software</a:t>
                      </a:r>
                      <a:r>
                        <a:rPr sz="1400" b="1" spc="45" dirty="0">
                          <a:latin typeface="Arial"/>
                          <a:cs typeface="Arial"/>
                        </a:rPr>
                        <a:t> </a:t>
                      </a:r>
                      <a:r>
                        <a:rPr sz="1400" b="1" spc="-80" dirty="0">
                          <a:latin typeface="Arial"/>
                          <a:cs typeface="Arial"/>
                        </a:rPr>
                        <a:t>Engineering</a:t>
                      </a:r>
                      <a:r>
                        <a:rPr sz="1400" b="1" spc="150" dirty="0">
                          <a:latin typeface="Arial"/>
                          <a:cs typeface="Arial"/>
                        </a:rPr>
                        <a:t> </a:t>
                      </a:r>
                      <a:r>
                        <a:rPr sz="1400" b="1" spc="-130" dirty="0">
                          <a:latin typeface="Arial"/>
                          <a:cs typeface="Arial"/>
                        </a:rPr>
                        <a:t>(SE),</a:t>
                      </a:r>
                      <a:r>
                        <a:rPr sz="1400" b="1" spc="-25" dirty="0">
                          <a:latin typeface="Arial"/>
                          <a:cs typeface="Arial"/>
                        </a:rPr>
                        <a:t> </a:t>
                      </a:r>
                      <a:r>
                        <a:rPr sz="1400" b="1" spc="-40" dirty="0">
                          <a:latin typeface="Arial"/>
                          <a:cs typeface="Arial"/>
                        </a:rPr>
                        <a:t>Information</a:t>
                      </a:r>
                      <a:r>
                        <a:rPr sz="1400" b="1" spc="5" dirty="0">
                          <a:latin typeface="Arial"/>
                          <a:cs typeface="Arial"/>
                        </a:rPr>
                        <a:t> </a:t>
                      </a:r>
                      <a:r>
                        <a:rPr sz="1400" b="1" spc="-75" dirty="0">
                          <a:latin typeface="Arial"/>
                          <a:cs typeface="Arial"/>
                        </a:rPr>
                        <a:t>Technology</a:t>
                      </a:r>
                      <a:r>
                        <a:rPr sz="1400" b="1" spc="140" dirty="0">
                          <a:latin typeface="Arial"/>
                          <a:cs typeface="Arial"/>
                        </a:rPr>
                        <a:t> </a:t>
                      </a:r>
                      <a:r>
                        <a:rPr sz="1400" b="1" spc="-65" dirty="0">
                          <a:latin typeface="Arial"/>
                          <a:cs typeface="Arial"/>
                        </a:rPr>
                        <a:t>(IT)</a:t>
                      </a:r>
                      <a:r>
                        <a:rPr sz="1400" b="1" spc="-105" dirty="0">
                          <a:latin typeface="Arial"/>
                          <a:cs typeface="Arial"/>
                        </a:rPr>
                        <a:t> </a:t>
                      </a:r>
                      <a:r>
                        <a:rPr sz="1400" spc="-80" dirty="0">
                          <a:latin typeface="Arial"/>
                          <a:cs typeface="Arial"/>
                        </a:rPr>
                        <a:t>and</a:t>
                      </a:r>
                      <a:r>
                        <a:rPr sz="1400" spc="-45" dirty="0">
                          <a:latin typeface="Arial"/>
                          <a:cs typeface="Arial"/>
                        </a:rPr>
                        <a:t> </a:t>
                      </a:r>
                      <a:r>
                        <a:rPr sz="1400" b="1" spc="-40" dirty="0">
                          <a:latin typeface="Arial"/>
                          <a:cs typeface="Arial"/>
                        </a:rPr>
                        <a:t>Information</a:t>
                      </a:r>
                      <a:r>
                        <a:rPr sz="1400" b="1" spc="105" dirty="0">
                          <a:latin typeface="Arial"/>
                          <a:cs typeface="Arial"/>
                        </a:rPr>
                        <a:t> </a:t>
                      </a:r>
                      <a:r>
                        <a:rPr sz="1400" b="1" spc="-105" dirty="0">
                          <a:latin typeface="Arial"/>
                          <a:cs typeface="Arial"/>
                        </a:rPr>
                        <a:t>Systems</a:t>
                      </a:r>
                      <a:r>
                        <a:rPr sz="1400" b="1" spc="35" dirty="0">
                          <a:latin typeface="Arial"/>
                          <a:cs typeface="Arial"/>
                        </a:rPr>
                        <a:t> </a:t>
                      </a:r>
                      <a:r>
                        <a:rPr sz="1400" b="1" spc="-60" dirty="0">
                          <a:latin typeface="Arial"/>
                          <a:cs typeface="Arial"/>
                        </a:rPr>
                        <a:t>(IS).</a:t>
                      </a:r>
                      <a:r>
                        <a:rPr sz="1400" b="1" spc="110" dirty="0">
                          <a:latin typeface="Arial"/>
                          <a:cs typeface="Arial"/>
                        </a:rPr>
                        <a:t> </a:t>
                      </a:r>
                      <a:r>
                        <a:rPr sz="1400" spc="-55" dirty="0">
                          <a:latin typeface="Arial"/>
                          <a:cs typeface="Arial"/>
                        </a:rPr>
                        <a:t>Originally</a:t>
                      </a:r>
                      <a:r>
                        <a:rPr sz="1400" spc="-20" dirty="0">
                          <a:latin typeface="Arial"/>
                          <a:cs typeface="Arial"/>
                        </a:rPr>
                        <a:t> </a:t>
                      </a:r>
                      <a:r>
                        <a:rPr sz="1400" spc="-10" dirty="0">
                          <a:latin typeface="Arial"/>
                          <a:cs typeface="Arial"/>
                        </a:rPr>
                        <a:t>there</a:t>
                      </a:r>
                      <a:r>
                        <a:rPr sz="1400" spc="-200" dirty="0">
                          <a:latin typeface="Arial"/>
                          <a:cs typeface="Arial"/>
                        </a:rPr>
                        <a:t> </a:t>
                      </a:r>
                      <a:r>
                        <a:rPr sz="1400" spc="-50" dirty="0">
                          <a:latin typeface="Arial"/>
                          <a:cs typeface="Arial"/>
                        </a:rPr>
                        <a:t>were</a:t>
                      </a:r>
                      <a:r>
                        <a:rPr sz="1400" spc="-80" dirty="0">
                          <a:latin typeface="Arial"/>
                          <a:cs typeface="Arial"/>
                        </a:rPr>
                        <a:t> </a:t>
                      </a:r>
                      <a:r>
                        <a:rPr sz="1400" spc="-45" dirty="0">
                          <a:latin typeface="Arial"/>
                          <a:cs typeface="Arial"/>
                        </a:rPr>
                        <a:t>only</a:t>
                      </a:r>
                      <a:r>
                        <a:rPr sz="1400" spc="-135" dirty="0">
                          <a:latin typeface="Arial"/>
                          <a:cs typeface="Arial"/>
                        </a:rPr>
                        <a:t> </a:t>
                      </a:r>
                      <a:r>
                        <a:rPr sz="1400" spc="-10" dirty="0">
                          <a:latin typeface="Arial"/>
                          <a:cs typeface="Arial"/>
                        </a:rPr>
                        <a:t>three </a:t>
                      </a:r>
                      <a:r>
                        <a:rPr sz="1400" spc="-100" dirty="0">
                          <a:latin typeface="Arial"/>
                          <a:cs typeface="Arial"/>
                        </a:rPr>
                        <a:t>kinds</a:t>
                      </a:r>
                      <a:r>
                        <a:rPr sz="1400" spc="-45" dirty="0">
                          <a:latin typeface="Arial"/>
                          <a:cs typeface="Arial"/>
                        </a:rPr>
                        <a:t> </a:t>
                      </a:r>
                      <a:r>
                        <a:rPr sz="1400" dirty="0">
                          <a:latin typeface="Arial"/>
                          <a:cs typeface="Arial"/>
                        </a:rPr>
                        <a:t>of</a:t>
                      </a:r>
                      <a:r>
                        <a:rPr sz="1400" spc="-140" dirty="0">
                          <a:latin typeface="Arial"/>
                          <a:cs typeface="Arial"/>
                        </a:rPr>
                        <a:t> </a:t>
                      </a:r>
                      <a:r>
                        <a:rPr sz="1400" spc="-60" dirty="0">
                          <a:latin typeface="Arial"/>
                          <a:cs typeface="Arial"/>
                        </a:rPr>
                        <a:t>computer-</a:t>
                      </a:r>
                      <a:r>
                        <a:rPr sz="1400" spc="-30" dirty="0">
                          <a:latin typeface="Arial"/>
                          <a:cs typeface="Arial"/>
                        </a:rPr>
                        <a:t>related</a:t>
                      </a:r>
                      <a:r>
                        <a:rPr sz="1400" spc="150" dirty="0">
                          <a:latin typeface="Arial"/>
                          <a:cs typeface="Arial"/>
                        </a:rPr>
                        <a:t> </a:t>
                      </a:r>
                      <a:r>
                        <a:rPr sz="1400" spc="-55" dirty="0">
                          <a:latin typeface="Arial"/>
                          <a:cs typeface="Arial"/>
                        </a:rPr>
                        <a:t>disciplines:</a:t>
                      </a:r>
                      <a:r>
                        <a:rPr sz="1400" spc="114" dirty="0">
                          <a:latin typeface="Arial"/>
                          <a:cs typeface="Arial"/>
                        </a:rPr>
                        <a:t> </a:t>
                      </a:r>
                      <a:r>
                        <a:rPr sz="1400" spc="-60" dirty="0">
                          <a:latin typeface="Arial"/>
                          <a:cs typeface="Arial"/>
                        </a:rPr>
                        <a:t>Electrical</a:t>
                      </a:r>
                      <a:r>
                        <a:rPr sz="1400" spc="75" dirty="0">
                          <a:latin typeface="Arial"/>
                          <a:cs typeface="Arial"/>
                        </a:rPr>
                        <a:t> </a:t>
                      </a:r>
                      <a:r>
                        <a:rPr sz="1400" spc="-80" dirty="0">
                          <a:latin typeface="Arial"/>
                          <a:cs typeface="Arial"/>
                        </a:rPr>
                        <a:t>Engineering</a:t>
                      </a:r>
                      <a:r>
                        <a:rPr sz="1400" spc="40" dirty="0">
                          <a:latin typeface="Arial"/>
                          <a:cs typeface="Arial"/>
                        </a:rPr>
                        <a:t> </a:t>
                      </a:r>
                      <a:r>
                        <a:rPr sz="1400" dirty="0">
                          <a:latin typeface="Arial"/>
                          <a:cs typeface="Arial"/>
                        </a:rPr>
                        <a:t>for</a:t>
                      </a:r>
                      <a:r>
                        <a:rPr sz="1400" spc="-45" dirty="0">
                          <a:latin typeface="Arial"/>
                          <a:cs typeface="Arial"/>
                        </a:rPr>
                        <a:t> </a:t>
                      </a:r>
                      <a:r>
                        <a:rPr sz="1400" spc="-50" dirty="0">
                          <a:latin typeface="Arial"/>
                          <a:cs typeface="Arial"/>
                        </a:rPr>
                        <a:t>students</a:t>
                      </a:r>
                      <a:r>
                        <a:rPr sz="1400" spc="60" dirty="0">
                          <a:latin typeface="Arial"/>
                          <a:cs typeface="Arial"/>
                        </a:rPr>
                        <a:t> </a:t>
                      </a:r>
                      <a:r>
                        <a:rPr sz="1400" spc="-40" dirty="0">
                          <a:latin typeface="Arial"/>
                          <a:cs typeface="Arial"/>
                        </a:rPr>
                        <a:t>interested</a:t>
                      </a:r>
                      <a:r>
                        <a:rPr sz="1400" spc="95" dirty="0">
                          <a:latin typeface="Arial"/>
                          <a:cs typeface="Arial"/>
                        </a:rPr>
                        <a:t> </a:t>
                      </a:r>
                      <a:r>
                        <a:rPr sz="1400" spc="-10" dirty="0">
                          <a:latin typeface="Arial"/>
                          <a:cs typeface="Arial"/>
                        </a:rPr>
                        <a:t>in</a:t>
                      </a:r>
                      <a:r>
                        <a:rPr sz="1400" spc="-95" dirty="0">
                          <a:latin typeface="Arial"/>
                          <a:cs typeface="Arial"/>
                        </a:rPr>
                        <a:t> </a:t>
                      </a:r>
                      <a:r>
                        <a:rPr sz="1400" spc="-55" dirty="0">
                          <a:latin typeface="Arial"/>
                          <a:cs typeface="Arial"/>
                        </a:rPr>
                        <a:t>hardware,</a:t>
                      </a:r>
                      <a:r>
                        <a:rPr sz="1400" spc="50" dirty="0">
                          <a:latin typeface="Arial"/>
                          <a:cs typeface="Arial"/>
                        </a:rPr>
                        <a:t> </a:t>
                      </a:r>
                      <a:r>
                        <a:rPr sz="1400" spc="-65" dirty="0">
                          <a:latin typeface="Arial"/>
                          <a:cs typeface="Arial"/>
                        </a:rPr>
                        <a:t>Computer</a:t>
                      </a:r>
                      <a:r>
                        <a:rPr sz="1400" spc="25" dirty="0">
                          <a:latin typeface="Arial"/>
                          <a:cs typeface="Arial"/>
                        </a:rPr>
                        <a:t> </a:t>
                      </a:r>
                      <a:r>
                        <a:rPr sz="1400" spc="-105" dirty="0">
                          <a:latin typeface="Arial"/>
                          <a:cs typeface="Arial"/>
                        </a:rPr>
                        <a:t>Science</a:t>
                      </a:r>
                      <a:r>
                        <a:rPr sz="1400" spc="-30" dirty="0">
                          <a:latin typeface="Arial"/>
                          <a:cs typeface="Arial"/>
                        </a:rPr>
                        <a:t> </a:t>
                      </a:r>
                      <a:r>
                        <a:rPr sz="1400" dirty="0">
                          <a:latin typeface="Arial"/>
                          <a:cs typeface="Arial"/>
                        </a:rPr>
                        <a:t>for</a:t>
                      </a:r>
                      <a:r>
                        <a:rPr sz="1400" spc="-50" dirty="0">
                          <a:latin typeface="Arial"/>
                          <a:cs typeface="Arial"/>
                        </a:rPr>
                        <a:t> </a:t>
                      </a:r>
                      <a:r>
                        <a:rPr sz="1400" spc="-35" dirty="0">
                          <a:latin typeface="Arial"/>
                          <a:cs typeface="Arial"/>
                        </a:rPr>
                        <a:t>student</a:t>
                      </a:r>
                      <a:r>
                        <a:rPr sz="1400" spc="5" dirty="0">
                          <a:latin typeface="Arial"/>
                          <a:cs typeface="Arial"/>
                        </a:rPr>
                        <a:t> </a:t>
                      </a:r>
                      <a:r>
                        <a:rPr sz="1400" spc="-40" dirty="0">
                          <a:latin typeface="Arial"/>
                          <a:cs typeface="Arial"/>
                        </a:rPr>
                        <a:t>interested</a:t>
                      </a:r>
                      <a:r>
                        <a:rPr sz="1400" spc="85" dirty="0">
                          <a:latin typeface="Arial"/>
                          <a:cs typeface="Arial"/>
                        </a:rPr>
                        <a:t> </a:t>
                      </a:r>
                      <a:r>
                        <a:rPr sz="1400" spc="-25" dirty="0">
                          <a:latin typeface="Arial"/>
                          <a:cs typeface="Arial"/>
                        </a:rPr>
                        <a:t>in </a:t>
                      </a:r>
                      <a:r>
                        <a:rPr sz="1400" spc="-75" dirty="0">
                          <a:latin typeface="Arial"/>
                          <a:cs typeface="Arial"/>
                        </a:rPr>
                        <a:t>programming,</a:t>
                      </a:r>
                      <a:r>
                        <a:rPr sz="1400" spc="90" dirty="0">
                          <a:latin typeface="Arial"/>
                          <a:cs typeface="Arial"/>
                        </a:rPr>
                        <a:t> </a:t>
                      </a:r>
                      <a:r>
                        <a:rPr sz="1400" spc="-65" dirty="0">
                          <a:latin typeface="Arial"/>
                          <a:cs typeface="Arial"/>
                        </a:rPr>
                        <a:t>and</a:t>
                      </a:r>
                      <a:r>
                        <a:rPr sz="1400" spc="-80" dirty="0">
                          <a:latin typeface="Arial"/>
                          <a:cs typeface="Arial"/>
                        </a:rPr>
                        <a:t> </a:t>
                      </a:r>
                      <a:r>
                        <a:rPr sz="1400" spc="-35" dirty="0">
                          <a:latin typeface="Arial"/>
                          <a:cs typeface="Arial"/>
                        </a:rPr>
                        <a:t>Information</a:t>
                      </a:r>
                      <a:r>
                        <a:rPr sz="1400" spc="45" dirty="0">
                          <a:latin typeface="Arial"/>
                          <a:cs typeface="Arial"/>
                        </a:rPr>
                        <a:t> </a:t>
                      </a:r>
                      <a:r>
                        <a:rPr sz="1400" spc="-105" dirty="0">
                          <a:latin typeface="Arial"/>
                          <a:cs typeface="Arial"/>
                        </a:rPr>
                        <a:t>Systems</a:t>
                      </a:r>
                      <a:r>
                        <a:rPr sz="1400" spc="-15" dirty="0">
                          <a:latin typeface="Arial"/>
                          <a:cs typeface="Arial"/>
                        </a:rPr>
                        <a:t> </a:t>
                      </a:r>
                      <a:r>
                        <a:rPr sz="1400" dirty="0">
                          <a:latin typeface="Arial"/>
                          <a:cs typeface="Arial"/>
                        </a:rPr>
                        <a:t>for</a:t>
                      </a:r>
                      <a:r>
                        <a:rPr sz="1400" spc="-70" dirty="0">
                          <a:latin typeface="Arial"/>
                          <a:cs typeface="Arial"/>
                        </a:rPr>
                        <a:t> </a:t>
                      </a:r>
                      <a:r>
                        <a:rPr sz="1400" spc="-55" dirty="0">
                          <a:latin typeface="Arial"/>
                          <a:cs typeface="Arial"/>
                        </a:rPr>
                        <a:t>students</a:t>
                      </a:r>
                      <a:r>
                        <a:rPr sz="1400" spc="15" dirty="0">
                          <a:latin typeface="Arial"/>
                          <a:cs typeface="Arial"/>
                        </a:rPr>
                        <a:t> </a:t>
                      </a:r>
                      <a:r>
                        <a:rPr sz="1400" spc="-40" dirty="0">
                          <a:latin typeface="Arial"/>
                          <a:cs typeface="Arial"/>
                        </a:rPr>
                        <a:t>interested</a:t>
                      </a:r>
                      <a:r>
                        <a:rPr sz="1400" spc="65" dirty="0">
                          <a:latin typeface="Arial"/>
                          <a:cs typeface="Arial"/>
                        </a:rPr>
                        <a:t> </a:t>
                      </a:r>
                      <a:r>
                        <a:rPr sz="1400" spc="-10" dirty="0">
                          <a:latin typeface="Arial"/>
                          <a:cs typeface="Arial"/>
                        </a:rPr>
                        <a:t>in</a:t>
                      </a:r>
                      <a:r>
                        <a:rPr sz="1400" spc="-155" dirty="0">
                          <a:latin typeface="Arial"/>
                          <a:cs typeface="Arial"/>
                        </a:rPr>
                        <a:t> </a:t>
                      </a:r>
                      <a:r>
                        <a:rPr sz="1400" spc="-80" dirty="0">
                          <a:latin typeface="Arial"/>
                          <a:cs typeface="Arial"/>
                        </a:rPr>
                        <a:t>using</a:t>
                      </a:r>
                      <a:r>
                        <a:rPr sz="1400" spc="-45" dirty="0">
                          <a:latin typeface="Arial"/>
                          <a:cs typeface="Arial"/>
                        </a:rPr>
                        <a:t> </a:t>
                      </a:r>
                      <a:r>
                        <a:rPr sz="1400" spc="-65" dirty="0">
                          <a:latin typeface="Arial"/>
                          <a:cs typeface="Arial"/>
                        </a:rPr>
                        <a:t>hardware</a:t>
                      </a:r>
                      <a:r>
                        <a:rPr sz="1400" spc="25" dirty="0">
                          <a:latin typeface="Arial"/>
                          <a:cs typeface="Arial"/>
                        </a:rPr>
                        <a:t> </a:t>
                      </a:r>
                      <a:r>
                        <a:rPr sz="1400" spc="-65" dirty="0">
                          <a:latin typeface="Arial"/>
                          <a:cs typeface="Arial"/>
                        </a:rPr>
                        <a:t>and</a:t>
                      </a:r>
                      <a:r>
                        <a:rPr sz="1400" spc="-105" dirty="0">
                          <a:latin typeface="Arial"/>
                          <a:cs typeface="Arial"/>
                        </a:rPr>
                        <a:t> </a:t>
                      </a:r>
                      <a:r>
                        <a:rPr sz="1400" spc="-50" dirty="0">
                          <a:latin typeface="Arial"/>
                          <a:cs typeface="Arial"/>
                        </a:rPr>
                        <a:t>software</a:t>
                      </a:r>
                      <a:r>
                        <a:rPr sz="1400" spc="-10" dirty="0">
                          <a:latin typeface="Arial"/>
                          <a:cs typeface="Arial"/>
                        </a:rPr>
                        <a:t> </a:t>
                      </a:r>
                      <a:r>
                        <a:rPr sz="1400" dirty="0">
                          <a:latin typeface="Arial"/>
                          <a:cs typeface="Arial"/>
                        </a:rPr>
                        <a:t>to</a:t>
                      </a:r>
                      <a:r>
                        <a:rPr sz="1400" spc="-75" dirty="0">
                          <a:latin typeface="Arial"/>
                          <a:cs typeface="Arial"/>
                        </a:rPr>
                        <a:t> </a:t>
                      </a:r>
                      <a:r>
                        <a:rPr sz="1400" spc="-70" dirty="0">
                          <a:latin typeface="Arial"/>
                          <a:cs typeface="Arial"/>
                        </a:rPr>
                        <a:t>solve</a:t>
                      </a:r>
                      <a:r>
                        <a:rPr sz="1400" spc="-55" dirty="0">
                          <a:latin typeface="Arial"/>
                          <a:cs typeface="Arial"/>
                        </a:rPr>
                        <a:t> </a:t>
                      </a:r>
                      <a:r>
                        <a:rPr sz="1400" spc="-95" dirty="0">
                          <a:latin typeface="Arial"/>
                          <a:cs typeface="Arial"/>
                        </a:rPr>
                        <a:t>business</a:t>
                      </a:r>
                      <a:r>
                        <a:rPr sz="1400" spc="45" dirty="0">
                          <a:latin typeface="Arial"/>
                          <a:cs typeface="Arial"/>
                        </a:rPr>
                        <a:t> </a:t>
                      </a:r>
                      <a:r>
                        <a:rPr sz="1400" spc="-50" dirty="0">
                          <a:latin typeface="Arial"/>
                          <a:cs typeface="Arial"/>
                        </a:rPr>
                        <a:t>problems.</a:t>
                      </a:r>
                      <a:r>
                        <a:rPr sz="1400" spc="280" dirty="0">
                          <a:latin typeface="Arial"/>
                          <a:cs typeface="Arial"/>
                        </a:rPr>
                        <a:t> </a:t>
                      </a:r>
                      <a:r>
                        <a:rPr sz="1400" dirty="0">
                          <a:latin typeface="Arial"/>
                          <a:cs typeface="Arial"/>
                        </a:rPr>
                        <a:t>Inthe</a:t>
                      </a:r>
                      <a:r>
                        <a:rPr sz="1400" spc="-95" dirty="0">
                          <a:latin typeface="Arial"/>
                          <a:cs typeface="Arial"/>
                        </a:rPr>
                        <a:t> </a:t>
                      </a:r>
                      <a:r>
                        <a:rPr sz="1400" spc="-45" dirty="0">
                          <a:latin typeface="Arial"/>
                          <a:cs typeface="Arial"/>
                        </a:rPr>
                        <a:t>late</a:t>
                      </a:r>
                      <a:r>
                        <a:rPr sz="1400" spc="-75" dirty="0">
                          <a:latin typeface="Arial"/>
                          <a:cs typeface="Arial"/>
                        </a:rPr>
                        <a:t> </a:t>
                      </a:r>
                      <a:r>
                        <a:rPr sz="1400" spc="-10" dirty="0">
                          <a:latin typeface="Arial"/>
                          <a:cs typeface="Arial"/>
                        </a:rPr>
                        <a:t>1970s, </a:t>
                      </a:r>
                      <a:r>
                        <a:rPr sz="1400" spc="-65" dirty="0">
                          <a:latin typeface="Arial"/>
                          <a:cs typeface="Arial"/>
                        </a:rPr>
                        <a:t>Computer</a:t>
                      </a:r>
                      <a:r>
                        <a:rPr sz="1400" spc="114" dirty="0">
                          <a:latin typeface="Arial"/>
                          <a:cs typeface="Arial"/>
                        </a:rPr>
                        <a:t> </a:t>
                      </a:r>
                      <a:r>
                        <a:rPr sz="1400" spc="-75" dirty="0">
                          <a:latin typeface="Arial"/>
                          <a:cs typeface="Arial"/>
                        </a:rPr>
                        <a:t>Engineering</a:t>
                      </a:r>
                      <a:r>
                        <a:rPr sz="1400" spc="220" dirty="0">
                          <a:latin typeface="Arial"/>
                          <a:cs typeface="Arial"/>
                        </a:rPr>
                        <a:t> </a:t>
                      </a:r>
                      <a:r>
                        <a:rPr sz="1400" spc="-130" dirty="0">
                          <a:latin typeface="Arial"/>
                          <a:cs typeface="Arial"/>
                        </a:rPr>
                        <a:t>(CE)</a:t>
                      </a:r>
                      <a:r>
                        <a:rPr sz="1400" spc="55" dirty="0">
                          <a:latin typeface="Arial"/>
                          <a:cs typeface="Arial"/>
                        </a:rPr>
                        <a:t> </a:t>
                      </a:r>
                      <a:r>
                        <a:rPr sz="1400" spc="-60" dirty="0">
                          <a:latin typeface="Arial"/>
                          <a:cs typeface="Arial"/>
                        </a:rPr>
                        <a:t>emerged</a:t>
                      </a:r>
                      <a:r>
                        <a:rPr sz="1400" spc="85" dirty="0">
                          <a:latin typeface="Arial"/>
                          <a:cs typeface="Arial"/>
                        </a:rPr>
                        <a:t> </a:t>
                      </a:r>
                      <a:r>
                        <a:rPr sz="1400" dirty="0">
                          <a:latin typeface="Arial"/>
                          <a:cs typeface="Arial"/>
                        </a:rPr>
                        <a:t>from</a:t>
                      </a:r>
                      <a:r>
                        <a:rPr sz="1400" spc="70" dirty="0">
                          <a:latin typeface="Arial"/>
                          <a:cs typeface="Arial"/>
                        </a:rPr>
                        <a:t> </a:t>
                      </a:r>
                      <a:r>
                        <a:rPr sz="1400" spc="-55" dirty="0">
                          <a:latin typeface="Arial"/>
                          <a:cs typeface="Arial"/>
                        </a:rPr>
                        <a:t>Electrical</a:t>
                      </a:r>
                      <a:r>
                        <a:rPr sz="1400" spc="155" dirty="0">
                          <a:latin typeface="Arial"/>
                          <a:cs typeface="Arial"/>
                        </a:rPr>
                        <a:t> </a:t>
                      </a:r>
                      <a:r>
                        <a:rPr sz="1400" spc="-75" dirty="0">
                          <a:latin typeface="Arial"/>
                          <a:cs typeface="Arial"/>
                        </a:rPr>
                        <a:t>Engineering</a:t>
                      </a:r>
                      <a:r>
                        <a:rPr sz="1400" spc="180" dirty="0">
                          <a:latin typeface="Arial"/>
                          <a:cs typeface="Arial"/>
                        </a:rPr>
                        <a:t> </a:t>
                      </a:r>
                      <a:r>
                        <a:rPr sz="1400" dirty="0">
                          <a:latin typeface="Arial"/>
                          <a:cs typeface="Arial"/>
                        </a:rPr>
                        <a:t>to</a:t>
                      </a:r>
                      <a:r>
                        <a:rPr sz="1400" spc="20" dirty="0">
                          <a:latin typeface="Arial"/>
                          <a:cs typeface="Arial"/>
                        </a:rPr>
                        <a:t> </a:t>
                      </a:r>
                      <a:r>
                        <a:rPr sz="1400" spc="-35" dirty="0">
                          <a:latin typeface="Arial"/>
                          <a:cs typeface="Arial"/>
                        </a:rPr>
                        <a:t>focus</a:t>
                      </a:r>
                      <a:r>
                        <a:rPr sz="1400" spc="55" dirty="0">
                          <a:latin typeface="Arial"/>
                          <a:cs typeface="Arial"/>
                        </a:rPr>
                        <a:t> </a:t>
                      </a:r>
                      <a:r>
                        <a:rPr sz="1400" dirty="0">
                          <a:latin typeface="Arial"/>
                          <a:cs typeface="Arial"/>
                        </a:rPr>
                        <a:t>on</a:t>
                      </a:r>
                      <a:r>
                        <a:rPr sz="1400" spc="-40" dirty="0">
                          <a:latin typeface="Arial"/>
                          <a:cs typeface="Arial"/>
                        </a:rPr>
                        <a:t> </a:t>
                      </a:r>
                      <a:r>
                        <a:rPr sz="1400" dirty="0">
                          <a:latin typeface="Arial"/>
                          <a:cs typeface="Arial"/>
                        </a:rPr>
                        <a:t>the</a:t>
                      </a:r>
                      <a:r>
                        <a:rPr sz="1400" spc="-5" dirty="0">
                          <a:latin typeface="Arial"/>
                          <a:cs typeface="Arial"/>
                        </a:rPr>
                        <a:t> </a:t>
                      </a:r>
                      <a:r>
                        <a:rPr sz="1400" spc="-60" dirty="0">
                          <a:latin typeface="Arial"/>
                          <a:cs typeface="Arial"/>
                        </a:rPr>
                        <a:t>design</a:t>
                      </a:r>
                      <a:r>
                        <a:rPr sz="1400" spc="75" dirty="0">
                          <a:latin typeface="Arial"/>
                          <a:cs typeface="Arial"/>
                        </a:rPr>
                        <a:t> </a:t>
                      </a:r>
                      <a:r>
                        <a:rPr sz="1400" spc="-30" dirty="0">
                          <a:latin typeface="Arial"/>
                          <a:cs typeface="Arial"/>
                        </a:rPr>
                        <a:t>and</a:t>
                      </a:r>
                      <a:r>
                        <a:rPr sz="1400" spc="35" dirty="0">
                          <a:latin typeface="Arial"/>
                          <a:cs typeface="Arial"/>
                        </a:rPr>
                        <a:t> </a:t>
                      </a:r>
                      <a:r>
                        <a:rPr sz="1400" spc="-50" dirty="0">
                          <a:latin typeface="Arial"/>
                          <a:cs typeface="Arial"/>
                        </a:rPr>
                        <a:t>programming</a:t>
                      </a:r>
                      <a:r>
                        <a:rPr sz="1400" spc="190" dirty="0">
                          <a:latin typeface="Arial"/>
                          <a:cs typeface="Arial"/>
                        </a:rPr>
                        <a:t> </a:t>
                      </a:r>
                      <a:r>
                        <a:rPr sz="1400" dirty="0">
                          <a:latin typeface="Arial"/>
                          <a:cs typeface="Arial"/>
                        </a:rPr>
                        <a:t>of</a:t>
                      </a:r>
                      <a:r>
                        <a:rPr sz="1400" spc="-55" dirty="0">
                          <a:latin typeface="Arial"/>
                          <a:cs typeface="Arial"/>
                        </a:rPr>
                        <a:t> </a:t>
                      </a:r>
                      <a:r>
                        <a:rPr sz="1400" spc="-45" dirty="0">
                          <a:latin typeface="Arial"/>
                          <a:cs typeface="Arial"/>
                        </a:rPr>
                        <a:t>chips</a:t>
                      </a:r>
                      <a:r>
                        <a:rPr sz="1400" spc="15" dirty="0">
                          <a:latin typeface="Arial"/>
                          <a:cs typeface="Arial"/>
                        </a:rPr>
                        <a:t> </a:t>
                      </a:r>
                      <a:r>
                        <a:rPr sz="1400" dirty="0">
                          <a:latin typeface="Arial"/>
                          <a:cs typeface="Arial"/>
                        </a:rPr>
                        <a:t>that</a:t>
                      </a:r>
                      <a:r>
                        <a:rPr sz="1400" spc="15" dirty="0">
                          <a:latin typeface="Arial"/>
                          <a:cs typeface="Arial"/>
                        </a:rPr>
                        <a:t> </a:t>
                      </a:r>
                      <a:r>
                        <a:rPr sz="1400" dirty="0">
                          <a:latin typeface="Arial"/>
                          <a:cs typeface="Arial"/>
                        </a:rPr>
                        <a:t>control</a:t>
                      </a:r>
                      <a:r>
                        <a:rPr sz="1400" spc="-75" dirty="0">
                          <a:latin typeface="Arial"/>
                          <a:cs typeface="Arial"/>
                        </a:rPr>
                        <a:t> </a:t>
                      </a:r>
                      <a:r>
                        <a:rPr sz="1400" spc="-10" dirty="0">
                          <a:latin typeface="Arial"/>
                          <a:cs typeface="Arial"/>
                        </a:rPr>
                        <a:t>devices. </a:t>
                      </a:r>
                      <a:r>
                        <a:rPr sz="1400" spc="-65" dirty="0">
                          <a:latin typeface="Arial"/>
                          <a:cs typeface="Arial"/>
                        </a:rPr>
                        <a:t>Software</a:t>
                      </a:r>
                      <a:r>
                        <a:rPr sz="1400" spc="65" dirty="0">
                          <a:latin typeface="Arial"/>
                          <a:cs typeface="Arial"/>
                        </a:rPr>
                        <a:t> </a:t>
                      </a:r>
                      <a:r>
                        <a:rPr sz="1400" spc="-80" dirty="0">
                          <a:latin typeface="Arial"/>
                          <a:cs typeface="Arial"/>
                        </a:rPr>
                        <a:t>Engineering</a:t>
                      </a:r>
                      <a:r>
                        <a:rPr sz="1400" spc="135" dirty="0">
                          <a:latin typeface="Arial"/>
                          <a:cs typeface="Arial"/>
                        </a:rPr>
                        <a:t> </a:t>
                      </a:r>
                      <a:r>
                        <a:rPr sz="1400" spc="-60" dirty="0">
                          <a:latin typeface="Arial"/>
                          <a:cs typeface="Arial"/>
                        </a:rPr>
                        <a:t>emerged</a:t>
                      </a:r>
                      <a:r>
                        <a:rPr sz="1400" spc="25" dirty="0">
                          <a:latin typeface="Arial"/>
                          <a:cs typeface="Arial"/>
                        </a:rPr>
                        <a:t> </a:t>
                      </a:r>
                      <a:r>
                        <a:rPr sz="1400" dirty="0">
                          <a:latin typeface="Arial"/>
                          <a:cs typeface="Arial"/>
                        </a:rPr>
                        <a:t>from</a:t>
                      </a:r>
                      <a:r>
                        <a:rPr sz="1400" spc="10" dirty="0">
                          <a:latin typeface="Arial"/>
                          <a:cs typeface="Arial"/>
                        </a:rPr>
                        <a:t> </a:t>
                      </a:r>
                      <a:r>
                        <a:rPr sz="1400" spc="-55" dirty="0">
                          <a:latin typeface="Arial"/>
                          <a:cs typeface="Arial"/>
                        </a:rPr>
                        <a:t>Computer</a:t>
                      </a:r>
                      <a:r>
                        <a:rPr sz="1400" spc="60" dirty="0">
                          <a:latin typeface="Arial"/>
                          <a:cs typeface="Arial"/>
                        </a:rPr>
                        <a:t> </a:t>
                      </a:r>
                      <a:r>
                        <a:rPr sz="1400" spc="-85" dirty="0">
                          <a:latin typeface="Arial"/>
                          <a:cs typeface="Arial"/>
                        </a:rPr>
                        <a:t>Science</a:t>
                      </a:r>
                      <a:r>
                        <a:rPr sz="1400" spc="55" dirty="0">
                          <a:latin typeface="Arial"/>
                          <a:cs typeface="Arial"/>
                        </a:rPr>
                        <a:t> </a:t>
                      </a:r>
                      <a:r>
                        <a:rPr sz="1400" dirty="0">
                          <a:latin typeface="Arial"/>
                          <a:cs typeface="Arial"/>
                        </a:rPr>
                        <a:t>in</a:t>
                      </a:r>
                      <a:r>
                        <a:rPr sz="1400" spc="-40" dirty="0">
                          <a:latin typeface="Arial"/>
                          <a:cs typeface="Arial"/>
                        </a:rPr>
                        <a:t> </a:t>
                      </a:r>
                      <a:r>
                        <a:rPr sz="1400" dirty="0">
                          <a:latin typeface="Arial"/>
                          <a:cs typeface="Arial"/>
                        </a:rPr>
                        <a:t>the </a:t>
                      </a:r>
                      <a:r>
                        <a:rPr sz="1400" spc="-80" dirty="0">
                          <a:latin typeface="Arial"/>
                          <a:cs typeface="Arial"/>
                        </a:rPr>
                        <a:t>1980s</a:t>
                      </a:r>
                      <a:r>
                        <a:rPr sz="1400" spc="30" dirty="0">
                          <a:latin typeface="Arial"/>
                          <a:cs typeface="Arial"/>
                        </a:rPr>
                        <a:t> </a:t>
                      </a:r>
                      <a:r>
                        <a:rPr sz="1400" spc="-35" dirty="0">
                          <a:latin typeface="Arial"/>
                          <a:cs typeface="Arial"/>
                        </a:rPr>
                        <a:t>and</a:t>
                      </a:r>
                      <a:r>
                        <a:rPr sz="1400" spc="30" dirty="0">
                          <a:latin typeface="Arial"/>
                          <a:cs typeface="Arial"/>
                        </a:rPr>
                        <a:t> </a:t>
                      </a:r>
                      <a:r>
                        <a:rPr sz="1400" spc="-85" dirty="0">
                          <a:latin typeface="Arial"/>
                          <a:cs typeface="Arial"/>
                        </a:rPr>
                        <a:t>1990s</a:t>
                      </a:r>
                      <a:r>
                        <a:rPr sz="1400" spc="10" dirty="0">
                          <a:latin typeface="Arial"/>
                          <a:cs typeface="Arial"/>
                        </a:rPr>
                        <a:t> </a:t>
                      </a:r>
                      <a:r>
                        <a:rPr sz="1400" dirty="0">
                          <a:latin typeface="Arial"/>
                          <a:cs typeface="Arial"/>
                        </a:rPr>
                        <a:t>to</a:t>
                      </a:r>
                      <a:r>
                        <a:rPr sz="1400" spc="10" dirty="0">
                          <a:latin typeface="Arial"/>
                          <a:cs typeface="Arial"/>
                        </a:rPr>
                        <a:t> </a:t>
                      </a:r>
                      <a:r>
                        <a:rPr sz="1400" spc="-65" dirty="0">
                          <a:latin typeface="Arial"/>
                          <a:cs typeface="Arial"/>
                        </a:rPr>
                        <a:t>design</a:t>
                      </a:r>
                      <a:r>
                        <a:rPr sz="1400" spc="40" dirty="0">
                          <a:latin typeface="Arial"/>
                          <a:cs typeface="Arial"/>
                        </a:rPr>
                        <a:t> </a:t>
                      </a:r>
                      <a:r>
                        <a:rPr sz="1400" spc="-25" dirty="0">
                          <a:latin typeface="Arial"/>
                          <a:cs typeface="Arial"/>
                        </a:rPr>
                        <a:t>and</a:t>
                      </a:r>
                      <a:r>
                        <a:rPr sz="1400" spc="-10" dirty="0">
                          <a:latin typeface="Arial"/>
                          <a:cs typeface="Arial"/>
                        </a:rPr>
                        <a:t> </a:t>
                      </a:r>
                      <a:r>
                        <a:rPr sz="1400" spc="-35" dirty="0">
                          <a:latin typeface="Arial"/>
                          <a:cs typeface="Arial"/>
                        </a:rPr>
                        <a:t>create</a:t>
                      </a:r>
                      <a:r>
                        <a:rPr sz="1400" spc="25" dirty="0">
                          <a:latin typeface="Arial"/>
                          <a:cs typeface="Arial"/>
                        </a:rPr>
                        <a:t> </a:t>
                      </a:r>
                      <a:r>
                        <a:rPr sz="1400" spc="-65" dirty="0">
                          <a:latin typeface="Arial"/>
                          <a:cs typeface="Arial"/>
                        </a:rPr>
                        <a:t>comprehensive</a:t>
                      </a:r>
                      <a:r>
                        <a:rPr sz="1400" spc="160" dirty="0">
                          <a:latin typeface="Arial"/>
                          <a:cs typeface="Arial"/>
                        </a:rPr>
                        <a:t> </a:t>
                      </a:r>
                      <a:r>
                        <a:rPr sz="1400" spc="-55" dirty="0">
                          <a:latin typeface="Arial"/>
                          <a:cs typeface="Arial"/>
                        </a:rPr>
                        <a:t>applications</a:t>
                      </a:r>
                      <a:r>
                        <a:rPr sz="1400" spc="70" dirty="0">
                          <a:latin typeface="Arial"/>
                          <a:cs typeface="Arial"/>
                        </a:rPr>
                        <a:t> </a:t>
                      </a:r>
                      <a:r>
                        <a:rPr sz="1400" spc="-10" dirty="0">
                          <a:latin typeface="Arial"/>
                          <a:cs typeface="Arial"/>
                        </a:rPr>
                        <a:t>software, </a:t>
                      </a:r>
                      <a:r>
                        <a:rPr sz="1400" spc="-70" dirty="0">
                          <a:latin typeface="Arial"/>
                          <a:cs typeface="Arial"/>
                        </a:rPr>
                        <a:t>combining</a:t>
                      </a:r>
                      <a:r>
                        <a:rPr sz="1400" dirty="0">
                          <a:latin typeface="Arial"/>
                          <a:cs typeface="Arial"/>
                        </a:rPr>
                        <a:t> </a:t>
                      </a:r>
                      <a:r>
                        <a:rPr sz="1400" spc="-55" dirty="0">
                          <a:latin typeface="Arial"/>
                          <a:cs typeface="Arial"/>
                        </a:rPr>
                        <a:t>Computer</a:t>
                      </a:r>
                      <a:r>
                        <a:rPr sz="1400" spc="10" dirty="0">
                          <a:latin typeface="Arial"/>
                          <a:cs typeface="Arial"/>
                        </a:rPr>
                        <a:t> </a:t>
                      </a:r>
                      <a:r>
                        <a:rPr sz="1400" spc="-85" dirty="0">
                          <a:latin typeface="Arial"/>
                          <a:cs typeface="Arial"/>
                        </a:rPr>
                        <a:t>Science</a:t>
                      </a:r>
                      <a:r>
                        <a:rPr sz="1400" spc="55" dirty="0">
                          <a:latin typeface="Arial"/>
                          <a:cs typeface="Arial"/>
                        </a:rPr>
                        <a:t> </a:t>
                      </a:r>
                      <a:r>
                        <a:rPr sz="1400" spc="-55" dirty="0">
                          <a:latin typeface="Arial"/>
                          <a:cs typeface="Arial"/>
                        </a:rPr>
                        <a:t>principles</a:t>
                      </a:r>
                      <a:r>
                        <a:rPr sz="1400" spc="65" dirty="0">
                          <a:latin typeface="Arial"/>
                          <a:cs typeface="Arial"/>
                        </a:rPr>
                        <a:t> </a:t>
                      </a:r>
                      <a:r>
                        <a:rPr sz="1400" spc="-65" dirty="0">
                          <a:latin typeface="Arial"/>
                          <a:cs typeface="Arial"/>
                        </a:rPr>
                        <a:t>and</a:t>
                      </a:r>
                      <a:r>
                        <a:rPr sz="1400" spc="-35" dirty="0">
                          <a:latin typeface="Arial"/>
                          <a:cs typeface="Arial"/>
                        </a:rPr>
                        <a:t> </a:t>
                      </a:r>
                      <a:r>
                        <a:rPr sz="1400" spc="-55" dirty="0">
                          <a:latin typeface="Arial"/>
                          <a:cs typeface="Arial"/>
                        </a:rPr>
                        <a:t>techniques</a:t>
                      </a:r>
                      <a:r>
                        <a:rPr sz="1400" spc="75" dirty="0">
                          <a:latin typeface="Arial"/>
                          <a:cs typeface="Arial"/>
                        </a:rPr>
                        <a:t> </a:t>
                      </a:r>
                      <a:r>
                        <a:rPr sz="1400" dirty="0">
                          <a:latin typeface="Arial"/>
                          <a:cs typeface="Arial"/>
                        </a:rPr>
                        <a:t>with</a:t>
                      </a:r>
                      <a:r>
                        <a:rPr sz="1400" spc="-15" dirty="0">
                          <a:latin typeface="Arial"/>
                          <a:cs typeface="Arial"/>
                        </a:rPr>
                        <a:t> </a:t>
                      </a:r>
                      <a:r>
                        <a:rPr sz="1400" spc="-60" dirty="0">
                          <a:latin typeface="Arial"/>
                          <a:cs typeface="Arial"/>
                        </a:rPr>
                        <a:t>engineering</a:t>
                      </a:r>
                      <a:r>
                        <a:rPr sz="1400" spc="120" dirty="0">
                          <a:latin typeface="Arial"/>
                          <a:cs typeface="Arial"/>
                        </a:rPr>
                        <a:t> </a:t>
                      </a:r>
                      <a:r>
                        <a:rPr sz="1400" spc="-45" dirty="0">
                          <a:latin typeface="Arial"/>
                          <a:cs typeface="Arial"/>
                        </a:rPr>
                        <a:t>practices.</a:t>
                      </a:r>
                      <a:r>
                        <a:rPr sz="1400" spc="370" dirty="0">
                          <a:latin typeface="Arial"/>
                          <a:cs typeface="Arial"/>
                        </a:rPr>
                        <a:t> </a:t>
                      </a:r>
                      <a:r>
                        <a:rPr sz="1400" spc="-35" dirty="0">
                          <a:latin typeface="Arial"/>
                          <a:cs typeface="Arial"/>
                        </a:rPr>
                        <a:t>Information</a:t>
                      </a:r>
                      <a:r>
                        <a:rPr sz="1400" spc="50" dirty="0">
                          <a:latin typeface="Arial"/>
                          <a:cs typeface="Arial"/>
                        </a:rPr>
                        <a:t> </a:t>
                      </a:r>
                      <a:r>
                        <a:rPr sz="1400" spc="-75" dirty="0">
                          <a:latin typeface="Arial"/>
                          <a:cs typeface="Arial"/>
                        </a:rPr>
                        <a:t>Technology</a:t>
                      </a:r>
                      <a:r>
                        <a:rPr sz="1400" spc="110" dirty="0">
                          <a:latin typeface="Arial"/>
                          <a:cs typeface="Arial"/>
                        </a:rPr>
                        <a:t> </a:t>
                      </a:r>
                      <a:r>
                        <a:rPr sz="1400" spc="-60" dirty="0">
                          <a:latin typeface="Arial"/>
                          <a:cs typeface="Arial"/>
                        </a:rPr>
                        <a:t>emerged</a:t>
                      </a:r>
                      <a:r>
                        <a:rPr sz="1400" spc="70" dirty="0">
                          <a:latin typeface="Arial"/>
                          <a:cs typeface="Arial"/>
                        </a:rPr>
                        <a:t> </a:t>
                      </a:r>
                      <a:r>
                        <a:rPr sz="1400" spc="-10" dirty="0">
                          <a:latin typeface="Arial"/>
                          <a:cs typeface="Arial"/>
                        </a:rPr>
                        <a:t>in</a:t>
                      </a:r>
                      <a:r>
                        <a:rPr sz="1400" spc="-90" dirty="0">
                          <a:latin typeface="Arial"/>
                          <a:cs typeface="Arial"/>
                        </a:rPr>
                        <a:t> </a:t>
                      </a:r>
                      <a:r>
                        <a:rPr sz="1400" dirty="0">
                          <a:latin typeface="Arial"/>
                          <a:cs typeface="Arial"/>
                        </a:rPr>
                        <a:t>the</a:t>
                      </a:r>
                      <a:r>
                        <a:rPr sz="1400" spc="-50" dirty="0">
                          <a:latin typeface="Arial"/>
                          <a:cs typeface="Arial"/>
                        </a:rPr>
                        <a:t> </a:t>
                      </a:r>
                      <a:r>
                        <a:rPr sz="1400" spc="-20" dirty="0">
                          <a:latin typeface="Arial"/>
                          <a:cs typeface="Arial"/>
                        </a:rPr>
                        <a:t>late </a:t>
                      </a:r>
                      <a:r>
                        <a:rPr sz="1400" spc="-95" dirty="0">
                          <a:latin typeface="Arial"/>
                          <a:cs typeface="Arial"/>
                        </a:rPr>
                        <a:t>1990s,</a:t>
                      </a:r>
                      <a:r>
                        <a:rPr sz="1400" spc="20" dirty="0">
                          <a:latin typeface="Arial"/>
                          <a:cs typeface="Arial"/>
                        </a:rPr>
                        <a:t> </a:t>
                      </a:r>
                      <a:r>
                        <a:rPr sz="1400" spc="-25" dirty="0">
                          <a:latin typeface="Arial"/>
                          <a:cs typeface="Arial"/>
                        </a:rPr>
                        <a:t>to </a:t>
                      </a:r>
                      <a:r>
                        <a:rPr sz="1400" spc="-80" dirty="0">
                          <a:latin typeface="Arial"/>
                          <a:cs typeface="Arial"/>
                        </a:rPr>
                        <a:t>take</a:t>
                      </a:r>
                      <a:r>
                        <a:rPr sz="1400" spc="-60" dirty="0">
                          <a:latin typeface="Arial"/>
                          <a:cs typeface="Arial"/>
                        </a:rPr>
                        <a:t> </a:t>
                      </a:r>
                      <a:r>
                        <a:rPr sz="1400" spc="-65" dirty="0">
                          <a:latin typeface="Arial"/>
                          <a:cs typeface="Arial"/>
                        </a:rPr>
                        <a:t>care </a:t>
                      </a:r>
                      <a:r>
                        <a:rPr sz="1400" dirty="0">
                          <a:latin typeface="Arial"/>
                          <a:cs typeface="Arial"/>
                        </a:rPr>
                        <a:t>of</a:t>
                      </a:r>
                      <a:r>
                        <a:rPr sz="1400" spc="-160" dirty="0">
                          <a:latin typeface="Arial"/>
                          <a:cs typeface="Arial"/>
                        </a:rPr>
                        <a:t> </a:t>
                      </a:r>
                      <a:r>
                        <a:rPr sz="1400" dirty="0">
                          <a:latin typeface="Arial"/>
                          <a:cs typeface="Arial"/>
                        </a:rPr>
                        <a:t>the</a:t>
                      </a:r>
                      <a:r>
                        <a:rPr sz="1400" spc="-85" dirty="0">
                          <a:latin typeface="Arial"/>
                          <a:cs typeface="Arial"/>
                        </a:rPr>
                        <a:t> </a:t>
                      </a:r>
                      <a:r>
                        <a:rPr sz="1400" spc="-50" dirty="0">
                          <a:latin typeface="Arial"/>
                          <a:cs typeface="Arial"/>
                        </a:rPr>
                        <a:t>computing</a:t>
                      </a:r>
                      <a:r>
                        <a:rPr sz="1400" spc="110" dirty="0">
                          <a:latin typeface="Arial"/>
                          <a:cs typeface="Arial"/>
                        </a:rPr>
                        <a:t> </a:t>
                      </a:r>
                      <a:r>
                        <a:rPr sz="1400" spc="-35" dirty="0">
                          <a:latin typeface="Arial"/>
                          <a:cs typeface="Arial"/>
                        </a:rPr>
                        <a:t>infrastructure</a:t>
                      </a:r>
                      <a:r>
                        <a:rPr sz="1400" spc="220" dirty="0">
                          <a:latin typeface="Arial"/>
                          <a:cs typeface="Arial"/>
                        </a:rPr>
                        <a:t> </a:t>
                      </a:r>
                      <a:r>
                        <a:rPr sz="1400" spc="-10" dirty="0">
                          <a:latin typeface="Arial"/>
                          <a:cs typeface="Arial"/>
                        </a:rPr>
                        <a:t>in</a:t>
                      </a:r>
                      <a:r>
                        <a:rPr sz="1400" spc="-120" dirty="0">
                          <a:latin typeface="Arial"/>
                          <a:cs typeface="Arial"/>
                        </a:rPr>
                        <a:t> </a:t>
                      </a:r>
                      <a:r>
                        <a:rPr sz="1400" spc="-60" dirty="0">
                          <a:latin typeface="Arial"/>
                          <a:cs typeface="Arial"/>
                        </a:rPr>
                        <a:t>organizations,</a:t>
                      </a:r>
                      <a:r>
                        <a:rPr sz="1400" spc="150" dirty="0">
                          <a:latin typeface="Arial"/>
                          <a:cs typeface="Arial"/>
                        </a:rPr>
                        <a:t> </a:t>
                      </a:r>
                      <a:r>
                        <a:rPr sz="1400" spc="-40" dirty="0">
                          <a:latin typeface="Arial"/>
                          <a:cs typeface="Arial"/>
                        </a:rPr>
                        <a:t>a</a:t>
                      </a:r>
                      <a:r>
                        <a:rPr sz="1400" spc="-150" dirty="0">
                          <a:latin typeface="Arial"/>
                          <a:cs typeface="Arial"/>
                        </a:rPr>
                        <a:t> </a:t>
                      </a:r>
                      <a:r>
                        <a:rPr sz="1400" spc="-80" dirty="0">
                          <a:latin typeface="Arial"/>
                          <a:cs typeface="Arial"/>
                        </a:rPr>
                        <a:t>gap</a:t>
                      </a:r>
                      <a:r>
                        <a:rPr sz="1400" spc="-25" dirty="0">
                          <a:latin typeface="Arial"/>
                          <a:cs typeface="Arial"/>
                        </a:rPr>
                        <a:t> </a:t>
                      </a:r>
                      <a:r>
                        <a:rPr sz="1400" spc="-10" dirty="0">
                          <a:latin typeface="Arial"/>
                          <a:cs typeface="Arial"/>
                        </a:rPr>
                        <a:t>not</a:t>
                      </a:r>
                      <a:r>
                        <a:rPr sz="1400" spc="-55" dirty="0">
                          <a:latin typeface="Arial"/>
                          <a:cs typeface="Arial"/>
                        </a:rPr>
                        <a:t> </a:t>
                      </a:r>
                      <a:r>
                        <a:rPr sz="1400" spc="-70" dirty="0">
                          <a:latin typeface="Arial"/>
                          <a:cs typeface="Arial"/>
                        </a:rPr>
                        <a:t>being</a:t>
                      </a:r>
                      <a:r>
                        <a:rPr sz="1400" spc="-40" dirty="0">
                          <a:latin typeface="Arial"/>
                          <a:cs typeface="Arial"/>
                        </a:rPr>
                        <a:t> </a:t>
                      </a:r>
                      <a:r>
                        <a:rPr sz="1400" spc="-75" dirty="0">
                          <a:latin typeface="Arial"/>
                          <a:cs typeface="Arial"/>
                        </a:rPr>
                        <a:t>addressed</a:t>
                      </a:r>
                      <a:r>
                        <a:rPr sz="1400" spc="120" dirty="0">
                          <a:latin typeface="Arial"/>
                          <a:cs typeface="Arial"/>
                        </a:rPr>
                        <a:t> </a:t>
                      </a:r>
                      <a:r>
                        <a:rPr sz="1400" spc="-50" dirty="0">
                          <a:latin typeface="Arial"/>
                          <a:cs typeface="Arial"/>
                        </a:rPr>
                        <a:t>by</a:t>
                      </a:r>
                      <a:r>
                        <a:rPr sz="1400" spc="-100" dirty="0">
                          <a:latin typeface="Arial"/>
                          <a:cs typeface="Arial"/>
                        </a:rPr>
                        <a:t> </a:t>
                      </a:r>
                      <a:r>
                        <a:rPr sz="1400" spc="-155" dirty="0">
                          <a:latin typeface="Arial"/>
                          <a:cs typeface="Arial"/>
                        </a:rPr>
                        <a:t>CE,</a:t>
                      </a:r>
                      <a:r>
                        <a:rPr sz="1400" spc="-80" dirty="0">
                          <a:latin typeface="Arial"/>
                          <a:cs typeface="Arial"/>
                        </a:rPr>
                        <a:t> </a:t>
                      </a:r>
                      <a:r>
                        <a:rPr sz="1400" spc="-175" dirty="0">
                          <a:latin typeface="Arial"/>
                          <a:cs typeface="Arial"/>
                        </a:rPr>
                        <a:t>CS,</a:t>
                      </a:r>
                      <a:r>
                        <a:rPr sz="1400" spc="-85" dirty="0">
                          <a:latin typeface="Arial"/>
                          <a:cs typeface="Arial"/>
                        </a:rPr>
                        <a:t> </a:t>
                      </a:r>
                      <a:r>
                        <a:rPr sz="1400" spc="-165" dirty="0">
                          <a:latin typeface="Arial"/>
                          <a:cs typeface="Arial"/>
                        </a:rPr>
                        <a:t>SE,</a:t>
                      </a:r>
                      <a:r>
                        <a:rPr sz="1400" spc="-75" dirty="0">
                          <a:latin typeface="Arial"/>
                          <a:cs typeface="Arial"/>
                        </a:rPr>
                        <a:t> </a:t>
                      </a:r>
                      <a:r>
                        <a:rPr sz="1400" spc="-60" dirty="0">
                          <a:latin typeface="Arial"/>
                          <a:cs typeface="Arial"/>
                        </a:rPr>
                        <a:t>and</a:t>
                      </a:r>
                      <a:r>
                        <a:rPr sz="1400" spc="-20" dirty="0">
                          <a:latin typeface="Arial"/>
                          <a:cs typeface="Arial"/>
                        </a:rPr>
                        <a:t> </a:t>
                      </a:r>
                      <a:r>
                        <a:rPr sz="1400" spc="-110" dirty="0">
                          <a:latin typeface="Arial"/>
                          <a:cs typeface="Arial"/>
                        </a:rPr>
                        <a:t>IS.</a:t>
                      </a:r>
                      <a:endParaRPr sz="1400" dirty="0">
                        <a:latin typeface="Arial"/>
                        <a:cs typeface="Arial"/>
                      </a:endParaRPr>
                    </a:p>
                  </a:txBody>
                  <a:tcPr marL="0" marR="0" marT="4594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pic>
        <p:nvPicPr>
          <p:cNvPr id="9" name="object 9"/>
          <p:cNvPicPr/>
          <p:nvPr/>
        </p:nvPicPr>
        <p:blipFill>
          <a:blip r:embed="rId6" cstate="print"/>
          <a:stretch>
            <a:fillRect/>
          </a:stretch>
        </p:blipFill>
        <p:spPr>
          <a:xfrm>
            <a:off x="944096" y="1506070"/>
            <a:ext cx="11206" cy="22412"/>
          </a:xfrm>
          <a:prstGeom prst="rect">
            <a:avLst/>
          </a:prstGeom>
        </p:spPr>
      </p:pic>
      <p:pic>
        <p:nvPicPr>
          <p:cNvPr id="10" name="object 10"/>
          <p:cNvPicPr/>
          <p:nvPr/>
        </p:nvPicPr>
        <p:blipFill>
          <a:blip r:embed="rId7" cstate="print"/>
          <a:stretch>
            <a:fillRect/>
          </a:stretch>
        </p:blipFill>
        <p:spPr>
          <a:xfrm>
            <a:off x="8317567" y="1517276"/>
            <a:ext cx="11205" cy="11206"/>
          </a:xfrm>
          <a:prstGeom prst="rect">
            <a:avLst/>
          </a:prstGeom>
        </p:spPr>
      </p:pic>
      <p:pic>
        <p:nvPicPr>
          <p:cNvPr id="11" name="object 11"/>
          <p:cNvPicPr/>
          <p:nvPr/>
        </p:nvPicPr>
        <p:blipFill>
          <a:blip r:embed="rId6" cstate="print"/>
          <a:stretch>
            <a:fillRect/>
          </a:stretch>
        </p:blipFill>
        <p:spPr>
          <a:xfrm>
            <a:off x="944096" y="5875243"/>
            <a:ext cx="11206" cy="22412"/>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941294" y="851647"/>
            <a:ext cx="7365072" cy="549088"/>
          </a:xfrm>
          <a:prstGeom prst="rect">
            <a:avLst/>
          </a:prstGeom>
        </p:spPr>
      </p:pic>
      <p:pic>
        <p:nvPicPr>
          <p:cNvPr id="4" name="object 4"/>
          <p:cNvPicPr/>
          <p:nvPr/>
        </p:nvPicPr>
        <p:blipFill>
          <a:blip r:embed="rId3" cstate="print"/>
          <a:stretch>
            <a:fillRect/>
          </a:stretch>
        </p:blipFill>
        <p:spPr>
          <a:xfrm>
            <a:off x="1000125" y="869016"/>
            <a:ext cx="7261412" cy="201706"/>
          </a:xfrm>
          <a:prstGeom prst="rect">
            <a:avLst/>
          </a:prstGeom>
        </p:spPr>
      </p:pic>
      <p:pic>
        <p:nvPicPr>
          <p:cNvPr id="5" name="object 5"/>
          <p:cNvPicPr/>
          <p:nvPr/>
        </p:nvPicPr>
        <p:blipFill>
          <a:blip r:embed="rId4" cstate="print"/>
          <a:stretch>
            <a:fillRect/>
          </a:stretch>
        </p:blipFill>
        <p:spPr>
          <a:xfrm>
            <a:off x="1161490" y="4902574"/>
            <a:ext cx="1154206" cy="156882"/>
          </a:xfrm>
          <a:prstGeom prst="rect">
            <a:avLst/>
          </a:prstGeom>
        </p:spPr>
      </p:pic>
      <p:pic>
        <p:nvPicPr>
          <p:cNvPr id="6" name="object 6"/>
          <p:cNvPicPr/>
          <p:nvPr/>
        </p:nvPicPr>
        <p:blipFill>
          <a:blip r:embed="rId5" cstate="print"/>
          <a:stretch>
            <a:fillRect/>
          </a:stretch>
        </p:blipFill>
        <p:spPr>
          <a:xfrm>
            <a:off x="2422711" y="4902574"/>
            <a:ext cx="1602441" cy="156882"/>
          </a:xfrm>
          <a:prstGeom prst="rect">
            <a:avLst/>
          </a:prstGeom>
        </p:spPr>
      </p:pic>
      <p:pic>
        <p:nvPicPr>
          <p:cNvPr id="7" name="object 7"/>
          <p:cNvPicPr/>
          <p:nvPr/>
        </p:nvPicPr>
        <p:blipFill>
          <a:blip r:embed="rId6" cstate="print"/>
          <a:stretch>
            <a:fillRect/>
          </a:stretch>
        </p:blipFill>
        <p:spPr>
          <a:xfrm>
            <a:off x="4137772" y="4902573"/>
            <a:ext cx="1299882" cy="302559"/>
          </a:xfrm>
          <a:prstGeom prst="rect">
            <a:avLst/>
          </a:prstGeom>
        </p:spPr>
      </p:pic>
      <p:pic>
        <p:nvPicPr>
          <p:cNvPr id="8" name="object 8"/>
          <p:cNvPicPr/>
          <p:nvPr/>
        </p:nvPicPr>
        <p:blipFill>
          <a:blip r:embed="rId7" cstate="print"/>
          <a:stretch>
            <a:fillRect/>
          </a:stretch>
        </p:blipFill>
        <p:spPr>
          <a:xfrm>
            <a:off x="5549713" y="4902574"/>
            <a:ext cx="997324" cy="156882"/>
          </a:xfrm>
          <a:prstGeom prst="rect">
            <a:avLst/>
          </a:prstGeom>
        </p:spPr>
      </p:pic>
      <p:pic>
        <p:nvPicPr>
          <p:cNvPr id="9" name="object 9"/>
          <p:cNvPicPr/>
          <p:nvPr/>
        </p:nvPicPr>
        <p:blipFill>
          <a:blip r:embed="rId8" cstate="print"/>
          <a:stretch>
            <a:fillRect/>
          </a:stretch>
        </p:blipFill>
        <p:spPr>
          <a:xfrm>
            <a:off x="6659096" y="4902573"/>
            <a:ext cx="1602441" cy="302559"/>
          </a:xfrm>
          <a:prstGeom prst="rect">
            <a:avLst/>
          </a:prstGeom>
        </p:spPr>
      </p:pic>
      <p:sp>
        <p:nvSpPr>
          <p:cNvPr id="10" name="object 10"/>
          <p:cNvSpPr txBox="1"/>
          <p:nvPr/>
        </p:nvSpPr>
        <p:spPr>
          <a:xfrm>
            <a:off x="8089077" y="393550"/>
            <a:ext cx="72838" cy="160715"/>
          </a:xfrm>
          <a:prstGeom prst="rect">
            <a:avLst/>
          </a:prstGeom>
        </p:spPr>
        <p:txBody>
          <a:bodyPr vert="horz" wrap="square" lIns="0" tIns="11206" rIns="0" bIns="0" rtlCol="0">
            <a:spAutoFit/>
          </a:bodyPr>
          <a:lstStyle/>
          <a:p>
            <a:pPr marL="11206" defTabSz="806867">
              <a:spcBef>
                <a:spcPts val="88"/>
              </a:spcBef>
            </a:pPr>
            <a:r>
              <a:rPr sz="971" spc="-106" dirty="0">
                <a:latin typeface="Arial"/>
                <a:cs typeface="Arial"/>
              </a:rPr>
              <a:t>2</a:t>
            </a:r>
            <a:endParaRPr sz="971">
              <a:latin typeface="Arial"/>
              <a:cs typeface="Arial"/>
            </a:endParaRPr>
          </a:p>
        </p:txBody>
      </p:sp>
      <p:pic>
        <p:nvPicPr>
          <p:cNvPr id="11" name="object 11"/>
          <p:cNvPicPr/>
          <p:nvPr/>
        </p:nvPicPr>
        <p:blipFill>
          <a:blip r:embed="rId9" cstate="print"/>
          <a:stretch>
            <a:fillRect/>
          </a:stretch>
        </p:blipFill>
        <p:spPr>
          <a:xfrm>
            <a:off x="944096" y="1059516"/>
            <a:ext cx="7317441" cy="201706"/>
          </a:xfrm>
          <a:prstGeom prst="rect">
            <a:avLst/>
          </a:prstGeom>
        </p:spPr>
      </p:pic>
      <p:pic>
        <p:nvPicPr>
          <p:cNvPr id="13" name="object 13"/>
          <p:cNvPicPr/>
          <p:nvPr/>
        </p:nvPicPr>
        <p:blipFill>
          <a:blip r:embed="rId10" cstate="print"/>
          <a:stretch>
            <a:fillRect/>
          </a:stretch>
        </p:blipFill>
        <p:spPr>
          <a:xfrm>
            <a:off x="5493684" y="4892489"/>
            <a:ext cx="22412" cy="11205"/>
          </a:xfrm>
          <a:prstGeom prst="rect">
            <a:avLst/>
          </a:prstGeom>
        </p:spPr>
      </p:pic>
      <p:grpSp>
        <p:nvGrpSpPr>
          <p:cNvPr id="14" name="object 14"/>
          <p:cNvGrpSpPr/>
          <p:nvPr/>
        </p:nvGrpSpPr>
        <p:grpSpPr>
          <a:xfrm>
            <a:off x="6603066" y="4892488"/>
            <a:ext cx="22412" cy="323850"/>
            <a:chOff x="7331075" y="5544820"/>
            <a:chExt cx="25400" cy="367030"/>
          </a:xfrm>
        </p:grpSpPr>
        <p:pic>
          <p:nvPicPr>
            <p:cNvPr id="15" name="object 15"/>
            <p:cNvPicPr/>
            <p:nvPr/>
          </p:nvPicPr>
          <p:blipFill>
            <a:blip r:embed="rId10" cstate="print"/>
            <a:stretch>
              <a:fillRect/>
            </a:stretch>
          </p:blipFill>
          <p:spPr>
            <a:xfrm>
              <a:off x="7331075" y="5544820"/>
              <a:ext cx="25400" cy="12699"/>
            </a:xfrm>
            <a:prstGeom prst="rect">
              <a:avLst/>
            </a:prstGeom>
          </p:spPr>
        </p:pic>
        <p:pic>
          <p:nvPicPr>
            <p:cNvPr id="16" name="object 16"/>
            <p:cNvPicPr/>
            <p:nvPr/>
          </p:nvPicPr>
          <p:blipFill>
            <a:blip r:embed="rId11" cstate="print"/>
            <a:stretch>
              <a:fillRect/>
            </a:stretch>
          </p:blipFill>
          <p:spPr>
            <a:xfrm>
              <a:off x="7331075" y="5886450"/>
              <a:ext cx="12699" cy="25400"/>
            </a:xfrm>
            <a:prstGeom prst="rect">
              <a:avLst/>
            </a:prstGeom>
          </p:spPr>
        </p:pic>
      </p:grpSp>
      <p:graphicFrame>
        <p:nvGraphicFramePr>
          <p:cNvPr id="17" name="object 17"/>
          <p:cNvGraphicFramePr>
            <a:graphicFrameLocks noGrp="1"/>
          </p:cNvGraphicFramePr>
          <p:nvPr>
            <p:extLst>
              <p:ext uri="{D42A27DB-BD31-4B8C-83A1-F6EECF244321}">
                <p14:modId xmlns:p14="http://schemas.microsoft.com/office/powerpoint/2010/main" val="2439005286"/>
              </p:ext>
            </p:extLst>
          </p:nvPr>
        </p:nvGraphicFramePr>
        <p:xfrm>
          <a:off x="837634" y="1400734"/>
          <a:ext cx="7620565" cy="4542866"/>
        </p:xfrm>
        <a:graphic>
          <a:graphicData uri="http://schemas.openxmlformats.org/drawingml/2006/table">
            <a:tbl>
              <a:tblPr firstRow="1" bandRow="1">
                <a:tableStyleId>{2D5ABB26-0587-4C30-8999-92F81FD0307C}</a:tableStyleId>
              </a:tblPr>
              <a:tblGrid>
                <a:gridCol w="166747">
                  <a:extLst>
                    <a:ext uri="{9D8B030D-6E8A-4147-A177-3AD203B41FA5}">
                      <a16:colId xmlns:a16="http://schemas.microsoft.com/office/drawing/2014/main" val="20000"/>
                    </a:ext>
                  </a:extLst>
                </a:gridCol>
                <a:gridCol w="1303289">
                  <a:extLst>
                    <a:ext uri="{9D8B030D-6E8A-4147-A177-3AD203B41FA5}">
                      <a16:colId xmlns:a16="http://schemas.microsoft.com/office/drawing/2014/main" val="20001"/>
                    </a:ext>
                  </a:extLst>
                </a:gridCol>
                <a:gridCol w="1771686">
                  <a:extLst>
                    <a:ext uri="{9D8B030D-6E8A-4147-A177-3AD203B41FA5}">
                      <a16:colId xmlns:a16="http://schemas.microsoft.com/office/drawing/2014/main" val="20002"/>
                    </a:ext>
                  </a:extLst>
                </a:gridCol>
                <a:gridCol w="1459035">
                  <a:extLst>
                    <a:ext uri="{9D8B030D-6E8A-4147-A177-3AD203B41FA5}">
                      <a16:colId xmlns:a16="http://schemas.microsoft.com/office/drawing/2014/main" val="20003"/>
                    </a:ext>
                  </a:extLst>
                </a:gridCol>
                <a:gridCol w="1146385">
                  <a:extLst>
                    <a:ext uri="{9D8B030D-6E8A-4147-A177-3AD203B41FA5}">
                      <a16:colId xmlns:a16="http://schemas.microsoft.com/office/drawing/2014/main" val="20004"/>
                    </a:ext>
                  </a:extLst>
                </a:gridCol>
                <a:gridCol w="1773423">
                  <a:extLst>
                    <a:ext uri="{9D8B030D-6E8A-4147-A177-3AD203B41FA5}">
                      <a16:colId xmlns:a16="http://schemas.microsoft.com/office/drawing/2014/main" val="20005"/>
                    </a:ext>
                  </a:extLst>
                </a:gridCol>
              </a:tblGrid>
              <a:tr h="426367">
                <a:tc gridSpan="6">
                  <a:txBody>
                    <a:bodyPr/>
                    <a:lstStyle/>
                    <a:p>
                      <a:pPr marL="80645">
                        <a:lnSpc>
                          <a:spcPts val="1215"/>
                        </a:lnSpc>
                        <a:spcBef>
                          <a:spcPts val="75"/>
                        </a:spcBef>
                      </a:pPr>
                      <a:r>
                        <a:rPr sz="1000" b="1" spc="-125" dirty="0">
                          <a:latin typeface="Arial"/>
                          <a:cs typeface="Arial"/>
                        </a:rPr>
                        <a:t>Comparison</a:t>
                      </a:r>
                      <a:r>
                        <a:rPr sz="1000" b="1" spc="80" dirty="0">
                          <a:latin typeface="Arial"/>
                          <a:cs typeface="Arial"/>
                        </a:rPr>
                        <a:t> </a:t>
                      </a:r>
                      <a:r>
                        <a:rPr sz="1000" b="1" spc="-85" dirty="0">
                          <a:latin typeface="Arial"/>
                          <a:cs typeface="Arial"/>
                        </a:rPr>
                        <a:t>between</a:t>
                      </a:r>
                      <a:r>
                        <a:rPr sz="1000" b="1" spc="20" dirty="0">
                          <a:latin typeface="Arial"/>
                          <a:cs typeface="Arial"/>
                        </a:rPr>
                        <a:t> </a:t>
                      </a:r>
                      <a:r>
                        <a:rPr sz="1000" b="1" spc="-40" dirty="0">
                          <a:latin typeface="Arial"/>
                          <a:cs typeface="Arial"/>
                        </a:rPr>
                        <a:t>the</a:t>
                      </a:r>
                      <a:r>
                        <a:rPr sz="1000" b="1" spc="-50" dirty="0">
                          <a:latin typeface="Arial"/>
                          <a:cs typeface="Arial"/>
                        </a:rPr>
                        <a:t> </a:t>
                      </a:r>
                      <a:r>
                        <a:rPr sz="1000" b="1" spc="-85" dirty="0">
                          <a:latin typeface="Arial"/>
                          <a:cs typeface="Arial"/>
                        </a:rPr>
                        <a:t>main</a:t>
                      </a:r>
                      <a:r>
                        <a:rPr sz="1000" b="1" spc="-40" dirty="0">
                          <a:latin typeface="Arial"/>
                          <a:cs typeface="Arial"/>
                        </a:rPr>
                        <a:t> </a:t>
                      </a:r>
                      <a:r>
                        <a:rPr sz="1000" b="1" spc="-100" dirty="0">
                          <a:latin typeface="Arial"/>
                          <a:cs typeface="Arial"/>
                        </a:rPr>
                        <a:t>computing</a:t>
                      </a:r>
                      <a:r>
                        <a:rPr sz="1000" b="1" spc="80" dirty="0">
                          <a:latin typeface="Arial"/>
                          <a:cs typeface="Arial"/>
                        </a:rPr>
                        <a:t> </a:t>
                      </a:r>
                      <a:r>
                        <a:rPr sz="1000" b="1" spc="-20" dirty="0">
                          <a:latin typeface="Arial"/>
                          <a:cs typeface="Arial"/>
                        </a:rPr>
                        <a:t>disciplines:</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276131">
                <a:tc>
                  <a:txBody>
                    <a:bodyPr/>
                    <a:lstStyle/>
                    <a:p>
                      <a:pPr marL="31115" algn="ctr">
                        <a:lnSpc>
                          <a:spcPts val="1315"/>
                        </a:lnSpc>
                      </a:pPr>
                      <a:r>
                        <a:rPr sz="1000" b="1" strike="sngStrike" spc="-50" dirty="0">
                          <a:latin typeface="Arial"/>
                          <a:cs typeface="Arial"/>
                        </a:rPr>
                        <a:t>#</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30" dirty="0">
                          <a:latin typeface="Arial"/>
                          <a:cs typeface="Arial"/>
                        </a:rPr>
                        <a:t>Discipline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114" dirty="0">
                          <a:latin typeface="Arial"/>
                          <a:cs typeface="Arial"/>
                        </a:rPr>
                        <a:t>Brief</a:t>
                      </a:r>
                      <a:r>
                        <a:rPr sz="1000" b="1" spc="-30" dirty="0">
                          <a:latin typeface="Arial"/>
                          <a:cs typeface="Arial"/>
                        </a:rPr>
                        <a:t> </a:t>
                      </a:r>
                      <a:r>
                        <a:rPr sz="1000" b="1" spc="-10" dirty="0">
                          <a:latin typeface="Arial"/>
                          <a:cs typeface="Arial"/>
                        </a:rPr>
                        <a:t>description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468630">
                        <a:lnSpc>
                          <a:spcPts val="1210"/>
                        </a:lnSpc>
                        <a:spcBef>
                          <a:spcPts val="215"/>
                        </a:spcBef>
                      </a:pPr>
                      <a:r>
                        <a:rPr sz="1000" b="1" spc="-160" dirty="0">
                          <a:latin typeface="Arial"/>
                          <a:cs typeface="Arial"/>
                        </a:rPr>
                        <a:t>Examples</a:t>
                      </a:r>
                      <a:r>
                        <a:rPr sz="1000" b="1" spc="145" dirty="0">
                          <a:latin typeface="Arial"/>
                          <a:cs typeface="Arial"/>
                        </a:rPr>
                        <a:t> </a:t>
                      </a:r>
                      <a:r>
                        <a:rPr sz="1000" b="1" spc="-20" dirty="0">
                          <a:latin typeface="Arial"/>
                          <a:cs typeface="Arial"/>
                        </a:rPr>
                        <a:t>of</a:t>
                      </a:r>
                      <a:r>
                        <a:rPr sz="1000" b="1" spc="-140" dirty="0">
                          <a:latin typeface="Arial"/>
                          <a:cs typeface="Arial"/>
                        </a:rPr>
                        <a:t> </a:t>
                      </a:r>
                      <a:r>
                        <a:rPr sz="1000" b="1" spc="-95" dirty="0">
                          <a:latin typeface="Arial"/>
                          <a:cs typeface="Arial"/>
                        </a:rPr>
                        <a:t>topics </a:t>
                      </a:r>
                      <a:r>
                        <a:rPr sz="1000" b="1" spc="-35" dirty="0">
                          <a:latin typeface="Arial"/>
                          <a:cs typeface="Arial"/>
                        </a:rPr>
                        <a:t>emphasized</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20" dirty="0">
                          <a:latin typeface="Arial"/>
                          <a:cs typeface="Arial"/>
                        </a:rPr>
                        <a:t>Location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581660" indent="-1905">
                        <a:lnSpc>
                          <a:spcPts val="1210"/>
                        </a:lnSpc>
                        <a:spcBef>
                          <a:spcPts val="215"/>
                        </a:spcBef>
                      </a:pPr>
                      <a:r>
                        <a:rPr sz="1000" b="1" spc="-130" dirty="0">
                          <a:latin typeface="Arial"/>
                          <a:cs typeface="Arial"/>
                        </a:rPr>
                        <a:t>Who</a:t>
                      </a:r>
                      <a:r>
                        <a:rPr sz="1000" b="1" spc="-10" dirty="0">
                          <a:latin typeface="Arial"/>
                          <a:cs typeface="Arial"/>
                        </a:rPr>
                        <a:t> </a:t>
                      </a:r>
                      <a:r>
                        <a:rPr sz="1000" b="1" spc="-114" dirty="0">
                          <a:latin typeface="Arial"/>
                          <a:cs typeface="Arial"/>
                        </a:rPr>
                        <a:t>should</a:t>
                      </a:r>
                      <a:r>
                        <a:rPr sz="1000" b="1" spc="65" dirty="0">
                          <a:latin typeface="Arial"/>
                          <a:cs typeface="Arial"/>
                        </a:rPr>
                        <a:t> </a:t>
                      </a:r>
                      <a:r>
                        <a:rPr sz="1000" b="1" spc="-110" dirty="0">
                          <a:latin typeface="Arial"/>
                          <a:cs typeface="Arial"/>
                        </a:rPr>
                        <a:t>study</a:t>
                      </a:r>
                      <a:r>
                        <a:rPr sz="1000" b="1" spc="10" dirty="0">
                          <a:latin typeface="Arial"/>
                          <a:cs typeface="Arial"/>
                        </a:rPr>
                        <a:t> </a:t>
                      </a:r>
                      <a:r>
                        <a:rPr sz="1000" b="1" spc="-55" dirty="0">
                          <a:latin typeface="Arial"/>
                          <a:cs typeface="Arial"/>
                        </a:rPr>
                        <a:t>this </a:t>
                      </a:r>
                      <a:r>
                        <a:rPr sz="1000" b="1" spc="-25" dirty="0">
                          <a:latin typeface="Arial"/>
                          <a:cs typeface="Arial"/>
                        </a:rPr>
                        <a:t>discipline</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840368">
                <a:tc>
                  <a:txBody>
                    <a:bodyPr/>
                    <a:lstStyle/>
                    <a:p>
                      <a:pPr marL="43180" algn="ctr">
                        <a:lnSpc>
                          <a:spcPct val="100000"/>
                        </a:lnSpc>
                        <a:spcBef>
                          <a:spcPts val="85"/>
                        </a:spcBef>
                      </a:pPr>
                      <a:r>
                        <a:rPr sz="1000" spc="-50" dirty="0">
                          <a:latin typeface="Arial"/>
                          <a:cs typeface="Arial"/>
                        </a:rPr>
                        <a:t>1</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a:lnSpc>
                          <a:spcPct val="100000"/>
                        </a:lnSpc>
                        <a:spcBef>
                          <a:spcPts val="85"/>
                        </a:spcBef>
                      </a:pPr>
                      <a:r>
                        <a:rPr sz="1400" spc="-75" dirty="0">
                          <a:latin typeface="Arial"/>
                          <a:cs typeface="Arial"/>
                        </a:rPr>
                        <a:t>Computer</a:t>
                      </a:r>
                      <a:r>
                        <a:rPr sz="1400" spc="60" dirty="0">
                          <a:latin typeface="Arial"/>
                          <a:cs typeface="Arial"/>
                        </a:rPr>
                        <a:t> </a:t>
                      </a:r>
                      <a:r>
                        <a:rPr sz="1400" spc="-10" dirty="0">
                          <a:latin typeface="Arial"/>
                          <a:cs typeface="Arial"/>
                        </a:rPr>
                        <a:t>Engineering</a:t>
                      </a:r>
                      <a:endParaRPr sz="1400" dirty="0">
                        <a:latin typeface="Arial"/>
                        <a:cs typeface="Arial"/>
                      </a:endParaRPr>
                    </a:p>
                    <a:p>
                      <a:pPr>
                        <a:lnSpc>
                          <a:spcPct val="100000"/>
                        </a:lnSpc>
                        <a:spcBef>
                          <a:spcPts val="235"/>
                        </a:spcBef>
                      </a:pPr>
                      <a:endParaRPr sz="1400" dirty="0">
                        <a:latin typeface="Times New Roman"/>
                        <a:cs typeface="Times New Roman"/>
                      </a:endParaRPr>
                    </a:p>
                    <a:p>
                      <a:pPr marL="77470" marR="181610">
                        <a:lnSpc>
                          <a:spcPct val="95000"/>
                        </a:lnSpc>
                      </a:pPr>
                      <a:r>
                        <a:rPr sz="1400" spc="-10" dirty="0">
                          <a:latin typeface="Arial"/>
                          <a:cs typeface="Arial"/>
                        </a:rPr>
                        <a:t>(Computer </a:t>
                      </a:r>
                      <a:r>
                        <a:rPr sz="1400" spc="-90" dirty="0">
                          <a:latin typeface="Arial"/>
                          <a:cs typeface="Arial"/>
                        </a:rPr>
                        <a:t>Engineering</a:t>
                      </a:r>
                      <a:r>
                        <a:rPr sz="1400" spc="65" dirty="0">
                          <a:latin typeface="Arial"/>
                          <a:cs typeface="Arial"/>
                        </a:rPr>
                        <a:t> </a:t>
                      </a:r>
                      <a:r>
                        <a:rPr sz="1400" spc="-75" dirty="0">
                          <a:latin typeface="Arial"/>
                          <a:cs typeface="Arial"/>
                        </a:rPr>
                        <a:t>emerged </a:t>
                      </a:r>
                      <a:r>
                        <a:rPr sz="1400" spc="-25" dirty="0">
                          <a:latin typeface="Arial"/>
                          <a:cs typeface="Arial"/>
                        </a:rPr>
                        <a:t>from</a:t>
                      </a:r>
                      <a:r>
                        <a:rPr sz="1400" spc="-50" dirty="0">
                          <a:latin typeface="Arial"/>
                          <a:cs typeface="Arial"/>
                        </a:rPr>
                        <a:t> </a:t>
                      </a:r>
                      <a:r>
                        <a:rPr sz="1400" spc="-10" dirty="0">
                          <a:latin typeface="Arial"/>
                          <a:cs typeface="Arial"/>
                        </a:rPr>
                        <a:t>Electrical</a:t>
                      </a:r>
                      <a:r>
                        <a:rPr lang="en-US" sz="1400" spc="-10" dirty="0">
                          <a:latin typeface="Arial"/>
                          <a:cs typeface="Arial"/>
                        </a:rPr>
                        <a:t>)</a:t>
                      </a:r>
                      <a:endParaRPr sz="1400" dirty="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66370">
                        <a:lnSpc>
                          <a:spcPct val="96700"/>
                        </a:lnSpc>
                        <a:spcBef>
                          <a:spcPts val="250"/>
                        </a:spcBef>
                      </a:pPr>
                      <a:r>
                        <a:rPr sz="1400" spc="-75" dirty="0">
                          <a:latin typeface="Arial"/>
                          <a:cs typeface="Arial"/>
                        </a:rPr>
                        <a:t>Computer</a:t>
                      </a:r>
                      <a:r>
                        <a:rPr sz="1400" spc="80" dirty="0">
                          <a:latin typeface="Arial"/>
                          <a:cs typeface="Arial"/>
                        </a:rPr>
                        <a:t> </a:t>
                      </a:r>
                      <a:r>
                        <a:rPr sz="1400" spc="-85" dirty="0">
                          <a:latin typeface="Arial"/>
                          <a:cs typeface="Arial"/>
                        </a:rPr>
                        <a:t>Engineering</a:t>
                      </a:r>
                      <a:r>
                        <a:rPr sz="1400" spc="55" dirty="0">
                          <a:latin typeface="Arial"/>
                          <a:cs typeface="Arial"/>
                        </a:rPr>
                        <a:t> </a:t>
                      </a:r>
                      <a:r>
                        <a:rPr sz="1400" spc="-70" dirty="0">
                          <a:latin typeface="Arial"/>
                          <a:cs typeface="Arial"/>
                        </a:rPr>
                        <a:t>focuses </a:t>
                      </a:r>
                      <a:r>
                        <a:rPr sz="1400" spc="-110" dirty="0">
                          <a:latin typeface="Arial"/>
                          <a:cs typeface="Arial"/>
                        </a:rPr>
                        <a:t>on</a:t>
                      </a:r>
                      <a:r>
                        <a:rPr sz="1400" spc="-125" dirty="0">
                          <a:latin typeface="Arial"/>
                          <a:cs typeface="Arial"/>
                        </a:rPr>
                        <a:t> </a:t>
                      </a:r>
                      <a:r>
                        <a:rPr sz="1400" dirty="0">
                          <a:latin typeface="Arial"/>
                          <a:cs typeface="Arial"/>
                        </a:rPr>
                        <a:t>the</a:t>
                      </a:r>
                      <a:r>
                        <a:rPr sz="1400" spc="-65" dirty="0">
                          <a:latin typeface="Arial"/>
                          <a:cs typeface="Arial"/>
                        </a:rPr>
                        <a:t> </a:t>
                      </a:r>
                      <a:r>
                        <a:rPr sz="1400" spc="-80" dirty="0">
                          <a:latin typeface="Arial"/>
                          <a:cs typeface="Arial"/>
                        </a:rPr>
                        <a:t>design,</a:t>
                      </a:r>
                      <a:r>
                        <a:rPr sz="1400" spc="40" dirty="0">
                          <a:latin typeface="Arial"/>
                          <a:cs typeface="Arial"/>
                        </a:rPr>
                        <a:t> </a:t>
                      </a:r>
                      <a:r>
                        <a:rPr sz="1400" spc="-10" dirty="0">
                          <a:latin typeface="Arial"/>
                          <a:cs typeface="Arial"/>
                        </a:rPr>
                        <a:t>construction, </a:t>
                      </a:r>
                      <a:r>
                        <a:rPr sz="1400" spc="-110" dirty="0">
                          <a:latin typeface="Arial"/>
                          <a:cs typeface="Arial"/>
                        </a:rPr>
                        <a:t>and</a:t>
                      </a:r>
                      <a:r>
                        <a:rPr sz="1400" spc="-25" dirty="0">
                          <a:latin typeface="Arial"/>
                          <a:cs typeface="Arial"/>
                        </a:rPr>
                        <a:t> </a:t>
                      </a:r>
                      <a:r>
                        <a:rPr sz="1400" spc="-60" dirty="0">
                          <a:latin typeface="Arial"/>
                          <a:cs typeface="Arial"/>
                        </a:rPr>
                        <a:t>programming</a:t>
                      </a:r>
                      <a:r>
                        <a:rPr sz="1400" spc="135" dirty="0">
                          <a:latin typeface="Arial"/>
                          <a:cs typeface="Arial"/>
                        </a:rPr>
                        <a:t> </a:t>
                      </a:r>
                      <a:r>
                        <a:rPr sz="1400" dirty="0">
                          <a:latin typeface="Arial"/>
                          <a:cs typeface="Arial"/>
                        </a:rPr>
                        <a:t>of</a:t>
                      </a:r>
                      <a:r>
                        <a:rPr sz="1400" spc="-150" dirty="0">
                          <a:latin typeface="Arial"/>
                          <a:cs typeface="Arial"/>
                        </a:rPr>
                        <a:t> </a:t>
                      </a:r>
                      <a:r>
                        <a:rPr sz="1400" dirty="0">
                          <a:latin typeface="Arial"/>
                          <a:cs typeface="Arial"/>
                        </a:rPr>
                        <a:t>the</a:t>
                      </a:r>
                      <a:r>
                        <a:rPr sz="1400" spc="-95" dirty="0">
                          <a:latin typeface="Arial"/>
                          <a:cs typeface="Arial"/>
                        </a:rPr>
                        <a:t> </a:t>
                      </a:r>
                      <a:r>
                        <a:rPr sz="1400" spc="-30" dirty="0">
                          <a:latin typeface="Arial"/>
                          <a:cs typeface="Arial"/>
                        </a:rPr>
                        <a:t>chips </a:t>
                      </a:r>
                      <a:r>
                        <a:rPr sz="1400" spc="-25" dirty="0">
                          <a:latin typeface="Arial"/>
                          <a:cs typeface="Arial"/>
                        </a:rPr>
                        <a:t>that</a:t>
                      </a:r>
                      <a:r>
                        <a:rPr sz="1400" spc="-114" dirty="0">
                          <a:latin typeface="Arial"/>
                          <a:cs typeface="Arial"/>
                        </a:rPr>
                        <a:t> </a:t>
                      </a:r>
                      <a:r>
                        <a:rPr sz="1400" spc="-35" dirty="0">
                          <a:latin typeface="Arial"/>
                          <a:cs typeface="Arial"/>
                        </a:rPr>
                        <a:t>digitally</a:t>
                      </a:r>
                      <a:r>
                        <a:rPr sz="1400" spc="45" dirty="0">
                          <a:latin typeface="Arial"/>
                          <a:cs typeface="Arial"/>
                        </a:rPr>
                        <a:t> </a:t>
                      </a:r>
                      <a:r>
                        <a:rPr sz="1400" spc="-20" dirty="0">
                          <a:latin typeface="Arial"/>
                          <a:cs typeface="Arial"/>
                        </a:rPr>
                        <a:t>control</a:t>
                      </a:r>
                      <a:r>
                        <a:rPr sz="1400" spc="-35" dirty="0">
                          <a:latin typeface="Arial"/>
                          <a:cs typeface="Arial"/>
                        </a:rPr>
                        <a:t> </a:t>
                      </a:r>
                      <a:r>
                        <a:rPr sz="1400" spc="-20" dirty="0">
                          <a:latin typeface="Arial"/>
                          <a:cs typeface="Arial"/>
                        </a:rPr>
                        <a:t>many</a:t>
                      </a:r>
                      <a:endParaRPr sz="1400" dirty="0">
                        <a:latin typeface="Arial"/>
                        <a:cs typeface="Arial"/>
                      </a:endParaRPr>
                    </a:p>
                  </a:txBody>
                  <a:tcPr marL="0" marR="0" marT="280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62560">
                        <a:lnSpc>
                          <a:spcPct val="97900"/>
                        </a:lnSpc>
                        <a:spcBef>
                          <a:spcPts val="200"/>
                        </a:spcBef>
                      </a:pPr>
                      <a:r>
                        <a:rPr sz="1400" spc="-75" dirty="0">
                          <a:latin typeface="Arial"/>
                          <a:cs typeface="Arial"/>
                        </a:rPr>
                        <a:t>Computer</a:t>
                      </a:r>
                      <a:r>
                        <a:rPr sz="1400" spc="15" dirty="0">
                          <a:latin typeface="Arial"/>
                          <a:cs typeface="Arial"/>
                        </a:rPr>
                        <a:t> </a:t>
                      </a:r>
                      <a:r>
                        <a:rPr sz="1400" spc="-10" dirty="0">
                          <a:latin typeface="Arial"/>
                          <a:cs typeface="Arial"/>
                        </a:rPr>
                        <a:t>architecture </a:t>
                      </a:r>
                      <a:r>
                        <a:rPr sz="1400" spc="-105" dirty="0">
                          <a:latin typeface="Arial"/>
                          <a:cs typeface="Arial"/>
                        </a:rPr>
                        <a:t>and</a:t>
                      </a:r>
                      <a:r>
                        <a:rPr sz="1400" spc="-60" dirty="0">
                          <a:latin typeface="Arial"/>
                          <a:cs typeface="Arial"/>
                        </a:rPr>
                        <a:t> </a:t>
                      </a:r>
                      <a:r>
                        <a:rPr sz="1400" spc="-55" dirty="0">
                          <a:latin typeface="Arial"/>
                          <a:cs typeface="Arial"/>
                        </a:rPr>
                        <a:t>organization,</a:t>
                      </a:r>
                      <a:r>
                        <a:rPr sz="1400" spc="130" dirty="0">
                          <a:latin typeface="Arial"/>
                          <a:cs typeface="Arial"/>
                        </a:rPr>
                        <a:t> </a:t>
                      </a:r>
                      <a:r>
                        <a:rPr sz="1400" spc="-40" dirty="0">
                          <a:latin typeface="Arial"/>
                          <a:cs typeface="Arial"/>
                        </a:rPr>
                        <a:t>Digital </a:t>
                      </a:r>
                      <a:r>
                        <a:rPr sz="1400" spc="-85" dirty="0">
                          <a:latin typeface="Arial"/>
                          <a:cs typeface="Arial"/>
                        </a:rPr>
                        <a:t>logic,</a:t>
                      </a:r>
                      <a:r>
                        <a:rPr sz="1400" spc="-55" dirty="0">
                          <a:latin typeface="Arial"/>
                          <a:cs typeface="Arial"/>
                        </a:rPr>
                        <a:t> </a:t>
                      </a:r>
                      <a:r>
                        <a:rPr sz="1400" spc="-80" dirty="0">
                          <a:latin typeface="Arial"/>
                          <a:cs typeface="Arial"/>
                        </a:rPr>
                        <a:t>Analysis</a:t>
                      </a:r>
                      <a:r>
                        <a:rPr sz="1400" spc="75" dirty="0">
                          <a:latin typeface="Arial"/>
                          <a:cs typeface="Arial"/>
                        </a:rPr>
                        <a:t> </a:t>
                      </a:r>
                      <a:r>
                        <a:rPr sz="1400" spc="-25" dirty="0">
                          <a:latin typeface="Arial"/>
                          <a:cs typeface="Arial"/>
                        </a:rPr>
                        <a:t>of </a:t>
                      </a:r>
                      <a:r>
                        <a:rPr sz="1400" spc="-65" dirty="0">
                          <a:latin typeface="Arial"/>
                          <a:cs typeface="Arial"/>
                        </a:rPr>
                        <a:t>technical</a:t>
                      </a:r>
                      <a:r>
                        <a:rPr sz="1400" spc="55" dirty="0">
                          <a:latin typeface="Arial"/>
                          <a:cs typeface="Arial"/>
                        </a:rPr>
                        <a:t> </a:t>
                      </a:r>
                      <a:r>
                        <a:rPr sz="1400" spc="-25" dirty="0">
                          <a:latin typeface="Arial"/>
                          <a:cs typeface="Arial"/>
                        </a:rPr>
                        <a:t>requirements, </a:t>
                      </a:r>
                      <a:r>
                        <a:rPr sz="1400" spc="-114" dirty="0">
                          <a:latin typeface="Arial"/>
                          <a:cs typeface="Arial"/>
                        </a:rPr>
                        <a:t>Embedded</a:t>
                      </a:r>
                      <a:r>
                        <a:rPr sz="1400" spc="100" dirty="0">
                          <a:latin typeface="Arial"/>
                          <a:cs typeface="Arial"/>
                        </a:rPr>
                        <a:t> </a:t>
                      </a:r>
                      <a:r>
                        <a:rPr sz="1400" spc="-10" dirty="0">
                          <a:latin typeface="Arial"/>
                          <a:cs typeface="Arial"/>
                        </a:rPr>
                        <a:t>systems,</a:t>
                      </a:r>
                      <a:endParaRPr sz="1400" dirty="0">
                        <a:latin typeface="Arial"/>
                        <a:cs typeface="Arial"/>
                      </a:endParaRPr>
                    </a:p>
                  </a:txBody>
                  <a:tcPr marL="0" marR="0" marT="2241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205740">
                        <a:lnSpc>
                          <a:spcPct val="96700"/>
                        </a:lnSpc>
                        <a:spcBef>
                          <a:spcPts val="250"/>
                        </a:spcBef>
                      </a:pPr>
                      <a:r>
                        <a:rPr sz="1400" spc="-280" dirty="0">
                          <a:latin typeface="Arial"/>
                          <a:cs typeface="Arial"/>
                        </a:rPr>
                        <a:t>CE</a:t>
                      </a:r>
                      <a:r>
                        <a:rPr sz="1400" spc="-45" dirty="0">
                          <a:latin typeface="Arial"/>
                          <a:cs typeface="Arial"/>
                        </a:rPr>
                        <a:t> </a:t>
                      </a:r>
                      <a:r>
                        <a:rPr sz="1400" spc="-65" dirty="0">
                          <a:latin typeface="Arial"/>
                          <a:cs typeface="Arial"/>
                        </a:rPr>
                        <a:t>programs</a:t>
                      </a:r>
                      <a:r>
                        <a:rPr sz="1400" spc="35" dirty="0">
                          <a:latin typeface="Arial"/>
                          <a:cs typeface="Arial"/>
                        </a:rPr>
                        <a:t> </a:t>
                      </a:r>
                      <a:r>
                        <a:rPr sz="1400" spc="-25" dirty="0">
                          <a:latin typeface="Arial"/>
                          <a:cs typeface="Arial"/>
                        </a:rPr>
                        <a:t>are </a:t>
                      </a:r>
                      <a:r>
                        <a:rPr sz="1400" spc="-85" dirty="0">
                          <a:latin typeface="Arial"/>
                          <a:cs typeface="Arial"/>
                        </a:rPr>
                        <a:t>usually</a:t>
                      </a:r>
                      <a:r>
                        <a:rPr sz="1400" spc="10" dirty="0">
                          <a:latin typeface="Arial"/>
                          <a:cs typeface="Arial"/>
                        </a:rPr>
                        <a:t> </a:t>
                      </a:r>
                      <a:r>
                        <a:rPr sz="1400" spc="-50" dirty="0">
                          <a:latin typeface="Arial"/>
                          <a:cs typeface="Arial"/>
                        </a:rPr>
                        <a:t>located</a:t>
                      </a:r>
                      <a:r>
                        <a:rPr sz="1400" spc="25" dirty="0">
                          <a:latin typeface="Arial"/>
                          <a:cs typeface="Arial"/>
                        </a:rPr>
                        <a:t> </a:t>
                      </a:r>
                      <a:r>
                        <a:rPr sz="1400" spc="-25" dirty="0">
                          <a:latin typeface="Arial"/>
                          <a:cs typeface="Arial"/>
                        </a:rPr>
                        <a:t>in </a:t>
                      </a:r>
                      <a:r>
                        <a:rPr sz="1400" spc="-120" dirty="0">
                          <a:latin typeface="Arial"/>
                          <a:cs typeface="Arial"/>
                        </a:rPr>
                        <a:t>an</a:t>
                      </a:r>
                      <a:r>
                        <a:rPr sz="1400" spc="-105" dirty="0">
                          <a:latin typeface="Arial"/>
                          <a:cs typeface="Arial"/>
                        </a:rPr>
                        <a:t> </a:t>
                      </a:r>
                      <a:r>
                        <a:rPr sz="1400" spc="-10" dirty="0">
                          <a:latin typeface="Arial"/>
                          <a:cs typeface="Arial"/>
                        </a:rPr>
                        <a:t>engineering school.</a:t>
                      </a:r>
                      <a:endParaRPr sz="1400" dirty="0">
                        <a:latin typeface="Arial"/>
                        <a:cs typeface="Arial"/>
                      </a:endParaRPr>
                    </a:p>
                  </a:txBody>
                  <a:tcPr marL="0" marR="0" marT="280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79070">
                        <a:lnSpc>
                          <a:spcPct val="97900"/>
                        </a:lnSpc>
                        <a:spcBef>
                          <a:spcPts val="200"/>
                        </a:spcBef>
                      </a:pPr>
                      <a:r>
                        <a:rPr sz="1400" spc="-85" dirty="0">
                          <a:latin typeface="Arial"/>
                          <a:cs typeface="Arial"/>
                        </a:rPr>
                        <a:t>Suitable</a:t>
                      </a:r>
                      <a:r>
                        <a:rPr sz="1400" spc="-20" dirty="0">
                          <a:latin typeface="Arial"/>
                          <a:cs typeface="Arial"/>
                        </a:rPr>
                        <a:t> </a:t>
                      </a:r>
                      <a:r>
                        <a:rPr sz="1400" dirty="0">
                          <a:latin typeface="Arial"/>
                          <a:cs typeface="Arial"/>
                        </a:rPr>
                        <a:t>for</a:t>
                      </a:r>
                      <a:r>
                        <a:rPr sz="1400" spc="-50" dirty="0">
                          <a:latin typeface="Arial"/>
                          <a:cs typeface="Arial"/>
                        </a:rPr>
                        <a:t> students</a:t>
                      </a:r>
                      <a:r>
                        <a:rPr sz="1400" spc="45" dirty="0">
                          <a:latin typeface="Arial"/>
                          <a:cs typeface="Arial"/>
                        </a:rPr>
                        <a:t> </a:t>
                      </a:r>
                      <a:r>
                        <a:rPr sz="1400" spc="-35" dirty="0">
                          <a:latin typeface="Arial"/>
                          <a:cs typeface="Arial"/>
                        </a:rPr>
                        <a:t>who</a:t>
                      </a:r>
                      <a:r>
                        <a:rPr sz="1400" spc="-50" dirty="0">
                          <a:latin typeface="Arial"/>
                          <a:cs typeface="Arial"/>
                        </a:rPr>
                        <a:t> </a:t>
                      </a:r>
                      <a:r>
                        <a:rPr sz="1400" spc="-25" dirty="0">
                          <a:latin typeface="Arial"/>
                          <a:cs typeface="Arial"/>
                        </a:rPr>
                        <a:t>are </a:t>
                      </a:r>
                      <a:r>
                        <a:rPr sz="1400" spc="-75" dirty="0">
                          <a:latin typeface="Arial"/>
                          <a:cs typeface="Arial"/>
                        </a:rPr>
                        <a:t>mostly</a:t>
                      </a:r>
                      <a:r>
                        <a:rPr sz="1400" dirty="0">
                          <a:latin typeface="Arial"/>
                          <a:cs typeface="Arial"/>
                        </a:rPr>
                        <a:t> </a:t>
                      </a:r>
                      <a:r>
                        <a:rPr sz="1400" spc="-40" dirty="0">
                          <a:latin typeface="Arial"/>
                          <a:cs typeface="Arial"/>
                        </a:rPr>
                        <a:t>interested</a:t>
                      </a:r>
                      <a:r>
                        <a:rPr sz="1400" spc="90" dirty="0">
                          <a:latin typeface="Arial"/>
                          <a:cs typeface="Arial"/>
                        </a:rPr>
                        <a:t> </a:t>
                      </a:r>
                      <a:r>
                        <a:rPr sz="1400" spc="-10" dirty="0">
                          <a:latin typeface="Arial"/>
                          <a:cs typeface="Arial"/>
                        </a:rPr>
                        <a:t>in</a:t>
                      </a:r>
                      <a:r>
                        <a:rPr sz="1400" spc="-95" dirty="0">
                          <a:latin typeface="Arial"/>
                          <a:cs typeface="Arial"/>
                        </a:rPr>
                        <a:t> </a:t>
                      </a:r>
                      <a:r>
                        <a:rPr sz="1400" spc="-45" dirty="0">
                          <a:latin typeface="Arial"/>
                          <a:cs typeface="Arial"/>
                        </a:rPr>
                        <a:t>hardware </a:t>
                      </a:r>
                      <a:r>
                        <a:rPr sz="1400" spc="-65" dirty="0">
                          <a:latin typeface="Arial"/>
                          <a:cs typeface="Arial"/>
                        </a:rPr>
                        <a:t>design.</a:t>
                      </a:r>
                      <a:r>
                        <a:rPr sz="1400" spc="155" dirty="0">
                          <a:latin typeface="Arial"/>
                          <a:cs typeface="Arial"/>
                        </a:rPr>
                        <a:t> </a:t>
                      </a:r>
                      <a:r>
                        <a:rPr sz="1400" spc="-90" dirty="0">
                          <a:latin typeface="Arial"/>
                          <a:cs typeface="Arial"/>
                        </a:rPr>
                        <a:t>For</a:t>
                      </a:r>
                      <a:r>
                        <a:rPr sz="1400" spc="-80" dirty="0">
                          <a:latin typeface="Arial"/>
                          <a:cs typeface="Arial"/>
                        </a:rPr>
                        <a:t> </a:t>
                      </a:r>
                      <a:r>
                        <a:rPr sz="1400" spc="-60" dirty="0">
                          <a:latin typeface="Arial"/>
                          <a:cs typeface="Arial"/>
                        </a:rPr>
                        <a:t>example,</a:t>
                      </a:r>
                      <a:r>
                        <a:rPr sz="1400" spc="5" dirty="0">
                          <a:latin typeface="Arial"/>
                          <a:cs typeface="Arial"/>
                        </a:rPr>
                        <a:t> </a:t>
                      </a:r>
                      <a:r>
                        <a:rPr sz="1400" spc="-55" dirty="0">
                          <a:latin typeface="Arial"/>
                          <a:cs typeface="Arial"/>
                        </a:rPr>
                        <a:t>students </a:t>
                      </a:r>
                      <a:r>
                        <a:rPr sz="1400" spc="-80" dirty="0">
                          <a:latin typeface="Arial"/>
                          <a:cs typeface="Arial"/>
                        </a:rPr>
                        <a:t>who</a:t>
                      </a:r>
                      <a:r>
                        <a:rPr sz="1400" spc="-45" dirty="0">
                          <a:latin typeface="Arial"/>
                          <a:cs typeface="Arial"/>
                        </a:rPr>
                        <a:t> </a:t>
                      </a:r>
                      <a:r>
                        <a:rPr sz="1400" spc="-10" dirty="0">
                          <a:latin typeface="Arial"/>
                          <a:cs typeface="Arial"/>
                        </a:rPr>
                        <a:t>want</a:t>
                      </a:r>
                      <a:r>
                        <a:rPr sz="1400" spc="-140" dirty="0">
                          <a:latin typeface="Arial"/>
                          <a:cs typeface="Arial"/>
                        </a:rPr>
                        <a:t> </a:t>
                      </a:r>
                      <a:r>
                        <a:rPr sz="1400" dirty="0">
                          <a:latin typeface="Arial"/>
                          <a:cs typeface="Arial"/>
                        </a:rPr>
                        <a:t>to</a:t>
                      </a:r>
                      <a:r>
                        <a:rPr sz="1400" spc="5" dirty="0">
                          <a:latin typeface="Arial"/>
                          <a:cs typeface="Arial"/>
                        </a:rPr>
                        <a:t> </a:t>
                      </a:r>
                      <a:r>
                        <a:rPr sz="1400" spc="-85" dirty="0">
                          <a:latin typeface="Arial"/>
                          <a:cs typeface="Arial"/>
                        </a:rPr>
                        <a:t>design</a:t>
                      </a:r>
                      <a:r>
                        <a:rPr sz="1400" spc="35" dirty="0">
                          <a:latin typeface="Arial"/>
                          <a:cs typeface="Arial"/>
                        </a:rPr>
                        <a:t> </a:t>
                      </a:r>
                      <a:r>
                        <a:rPr sz="1400" dirty="0">
                          <a:latin typeface="Arial"/>
                          <a:cs typeface="Arial"/>
                        </a:rPr>
                        <a:t>or</a:t>
                      </a:r>
                      <a:r>
                        <a:rPr sz="1400" spc="-90" dirty="0">
                          <a:latin typeface="Arial"/>
                          <a:cs typeface="Arial"/>
                        </a:rPr>
                        <a:t> </a:t>
                      </a:r>
                      <a:r>
                        <a:rPr sz="1400" spc="-10" dirty="0">
                          <a:latin typeface="Arial"/>
                          <a:cs typeface="Arial"/>
                        </a:rPr>
                        <a:t>build </a:t>
                      </a:r>
                      <a:r>
                        <a:rPr sz="1400" spc="-65" dirty="0">
                          <a:latin typeface="Arial"/>
                          <a:cs typeface="Arial"/>
                        </a:rPr>
                        <a:t>computers</a:t>
                      </a:r>
                      <a:r>
                        <a:rPr sz="1400" spc="70" dirty="0">
                          <a:latin typeface="Arial"/>
                          <a:cs typeface="Arial"/>
                        </a:rPr>
                        <a:t> </a:t>
                      </a:r>
                      <a:r>
                        <a:rPr sz="1400" dirty="0">
                          <a:latin typeface="Arial"/>
                          <a:cs typeface="Arial"/>
                        </a:rPr>
                        <a:t>or</a:t>
                      </a:r>
                      <a:r>
                        <a:rPr sz="1400" spc="-140" dirty="0">
                          <a:latin typeface="Arial"/>
                          <a:cs typeface="Arial"/>
                        </a:rPr>
                        <a:t> </a:t>
                      </a:r>
                      <a:r>
                        <a:rPr sz="1400" spc="-10" dirty="0">
                          <a:latin typeface="Arial"/>
                          <a:cs typeface="Arial"/>
                        </a:rPr>
                        <a:t>computing</a:t>
                      </a:r>
                      <a:endParaRPr sz="1400" dirty="0">
                        <a:latin typeface="Arial"/>
                        <a:cs typeface="Arial"/>
                      </a:endParaRPr>
                    </a:p>
                  </a:txBody>
                  <a:tcPr marL="0" marR="0" marT="22412"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bl>
          </a:graphicData>
        </a:graphic>
      </p:graphicFrame>
      <p:pic>
        <p:nvPicPr>
          <p:cNvPr id="18" name="object 18"/>
          <p:cNvPicPr/>
          <p:nvPr/>
        </p:nvPicPr>
        <p:blipFill>
          <a:blip r:embed="rId11" cstate="print"/>
          <a:stretch>
            <a:fillRect/>
          </a:stretch>
        </p:blipFill>
        <p:spPr>
          <a:xfrm>
            <a:off x="944096" y="5193926"/>
            <a:ext cx="11206" cy="22412"/>
          </a:xfrm>
          <a:prstGeom prst="rect">
            <a:avLst/>
          </a:prstGeom>
        </p:spPr>
      </p:pic>
      <p:pic>
        <p:nvPicPr>
          <p:cNvPr id="19" name="object 19"/>
          <p:cNvPicPr/>
          <p:nvPr/>
        </p:nvPicPr>
        <p:blipFill>
          <a:blip r:embed="rId11" cstate="print"/>
          <a:stretch>
            <a:fillRect/>
          </a:stretch>
        </p:blipFill>
        <p:spPr>
          <a:xfrm>
            <a:off x="1100978" y="5193926"/>
            <a:ext cx="11206" cy="22412"/>
          </a:xfrm>
          <a:prstGeom prst="rect">
            <a:avLst/>
          </a:prstGeom>
        </p:spPr>
      </p:pic>
      <p:pic>
        <p:nvPicPr>
          <p:cNvPr id="20" name="object 20"/>
          <p:cNvPicPr/>
          <p:nvPr/>
        </p:nvPicPr>
        <p:blipFill>
          <a:blip r:embed="rId11" cstate="print"/>
          <a:stretch>
            <a:fillRect/>
          </a:stretch>
        </p:blipFill>
        <p:spPr>
          <a:xfrm>
            <a:off x="2360518" y="5193926"/>
            <a:ext cx="11206" cy="22412"/>
          </a:xfrm>
          <a:prstGeom prst="rect">
            <a:avLst/>
          </a:prstGeom>
        </p:spPr>
      </p:pic>
      <p:pic>
        <p:nvPicPr>
          <p:cNvPr id="21" name="object 21"/>
          <p:cNvPicPr/>
          <p:nvPr/>
        </p:nvPicPr>
        <p:blipFill>
          <a:blip r:embed="rId11" cstate="print"/>
          <a:stretch>
            <a:fillRect/>
          </a:stretch>
        </p:blipFill>
        <p:spPr>
          <a:xfrm>
            <a:off x="4081182" y="5193926"/>
            <a:ext cx="11206" cy="22412"/>
          </a:xfrm>
          <a:prstGeom prst="rect">
            <a:avLst/>
          </a:prstGeom>
        </p:spPr>
      </p:pic>
      <p:pic>
        <p:nvPicPr>
          <p:cNvPr id="22" name="object 22"/>
          <p:cNvPicPr/>
          <p:nvPr/>
        </p:nvPicPr>
        <p:blipFill>
          <a:blip r:embed="rId11" cstate="print"/>
          <a:stretch>
            <a:fillRect/>
          </a:stretch>
        </p:blipFill>
        <p:spPr>
          <a:xfrm>
            <a:off x="5493684" y="5193926"/>
            <a:ext cx="11206" cy="22412"/>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1294" y="851647"/>
            <a:ext cx="7373471" cy="475690"/>
            <a:chOff x="914400" y="965200"/>
            <a:chExt cx="8356600" cy="539115"/>
          </a:xfrm>
        </p:grpSpPr>
        <p:pic>
          <p:nvPicPr>
            <p:cNvPr id="3" name="object 3"/>
            <p:cNvPicPr/>
            <p:nvPr/>
          </p:nvPicPr>
          <p:blipFill>
            <a:blip r:embed="rId2" cstate="print"/>
            <a:stretch>
              <a:fillRect/>
            </a:stretch>
          </p:blipFill>
          <p:spPr>
            <a:xfrm>
              <a:off x="914400" y="965200"/>
              <a:ext cx="8356600" cy="520700"/>
            </a:xfrm>
            <a:prstGeom prst="rect">
              <a:avLst/>
            </a:prstGeom>
          </p:spPr>
        </p:pic>
        <p:pic>
          <p:nvPicPr>
            <p:cNvPr id="4" name="object 4"/>
            <p:cNvPicPr/>
            <p:nvPr/>
          </p:nvPicPr>
          <p:blipFill>
            <a:blip r:embed="rId3" cstate="print"/>
            <a:stretch>
              <a:fillRect/>
            </a:stretch>
          </p:blipFill>
          <p:spPr>
            <a:xfrm>
              <a:off x="1163954" y="1161414"/>
              <a:ext cx="1308100" cy="177799"/>
            </a:xfrm>
            <a:prstGeom prst="rect">
              <a:avLst/>
            </a:prstGeom>
          </p:spPr>
        </p:pic>
        <p:pic>
          <p:nvPicPr>
            <p:cNvPr id="5" name="object 5"/>
            <p:cNvPicPr/>
            <p:nvPr/>
          </p:nvPicPr>
          <p:blipFill>
            <a:blip r:embed="rId4" cstate="print"/>
            <a:stretch>
              <a:fillRect/>
            </a:stretch>
          </p:blipFill>
          <p:spPr>
            <a:xfrm>
              <a:off x="2593339" y="1161414"/>
              <a:ext cx="1816100" cy="177799"/>
            </a:xfrm>
            <a:prstGeom prst="rect">
              <a:avLst/>
            </a:prstGeom>
          </p:spPr>
        </p:pic>
        <p:pic>
          <p:nvPicPr>
            <p:cNvPr id="6" name="object 6"/>
            <p:cNvPicPr/>
            <p:nvPr/>
          </p:nvPicPr>
          <p:blipFill>
            <a:blip r:embed="rId5" cstate="print"/>
            <a:stretch>
              <a:fillRect/>
            </a:stretch>
          </p:blipFill>
          <p:spPr>
            <a:xfrm>
              <a:off x="4537075" y="1161414"/>
              <a:ext cx="1473200" cy="342899"/>
            </a:xfrm>
            <a:prstGeom prst="rect">
              <a:avLst/>
            </a:prstGeom>
          </p:spPr>
        </p:pic>
        <p:pic>
          <p:nvPicPr>
            <p:cNvPr id="7" name="object 7"/>
            <p:cNvPicPr/>
            <p:nvPr/>
          </p:nvPicPr>
          <p:blipFill>
            <a:blip r:embed="rId6" cstate="print"/>
            <a:stretch>
              <a:fillRect/>
            </a:stretch>
          </p:blipFill>
          <p:spPr>
            <a:xfrm>
              <a:off x="6137275" y="1161414"/>
              <a:ext cx="1130300" cy="177799"/>
            </a:xfrm>
            <a:prstGeom prst="rect">
              <a:avLst/>
            </a:prstGeom>
          </p:spPr>
        </p:pic>
        <p:pic>
          <p:nvPicPr>
            <p:cNvPr id="8" name="object 8"/>
            <p:cNvPicPr/>
            <p:nvPr/>
          </p:nvPicPr>
          <p:blipFill>
            <a:blip r:embed="rId7" cstate="print"/>
            <a:stretch>
              <a:fillRect/>
            </a:stretch>
          </p:blipFill>
          <p:spPr>
            <a:xfrm>
              <a:off x="7394575" y="1161414"/>
              <a:ext cx="1816100" cy="342899"/>
            </a:xfrm>
            <a:prstGeom prst="rect">
              <a:avLst/>
            </a:prstGeom>
          </p:spPr>
        </p:pic>
      </p:grpSp>
      <p:sp>
        <p:nvSpPr>
          <p:cNvPr id="9" name="object 9"/>
          <p:cNvSpPr txBox="1"/>
          <p:nvPr/>
        </p:nvSpPr>
        <p:spPr>
          <a:xfrm>
            <a:off x="8087733" y="393550"/>
            <a:ext cx="74519" cy="160715"/>
          </a:xfrm>
          <a:prstGeom prst="rect">
            <a:avLst/>
          </a:prstGeom>
        </p:spPr>
        <p:txBody>
          <a:bodyPr vert="horz" wrap="square" lIns="0" tIns="11206" rIns="0" bIns="0" rtlCol="0">
            <a:spAutoFit/>
          </a:bodyPr>
          <a:lstStyle/>
          <a:p>
            <a:pPr marL="11206" defTabSz="806867">
              <a:spcBef>
                <a:spcPts val="88"/>
              </a:spcBef>
            </a:pPr>
            <a:r>
              <a:rPr sz="971" spc="-93" dirty="0">
                <a:latin typeface="Arial"/>
                <a:cs typeface="Arial"/>
              </a:rPr>
              <a:t>3</a:t>
            </a:r>
            <a:endParaRPr sz="971">
              <a:latin typeface="Arial"/>
              <a:cs typeface="Arial"/>
            </a:endParaRPr>
          </a:p>
        </p:txBody>
      </p:sp>
      <p:grpSp>
        <p:nvGrpSpPr>
          <p:cNvPr id="10" name="object 10"/>
          <p:cNvGrpSpPr/>
          <p:nvPr/>
        </p:nvGrpSpPr>
        <p:grpSpPr>
          <a:xfrm>
            <a:off x="2360518" y="1014693"/>
            <a:ext cx="5968253" cy="323850"/>
            <a:chOff x="2522854" y="1149985"/>
            <a:chExt cx="6764020" cy="367030"/>
          </a:xfrm>
        </p:grpSpPr>
        <p:pic>
          <p:nvPicPr>
            <p:cNvPr id="11" name="object 11"/>
            <p:cNvPicPr/>
            <p:nvPr/>
          </p:nvPicPr>
          <p:blipFill>
            <a:blip r:embed="rId8" cstate="print"/>
            <a:stretch>
              <a:fillRect/>
            </a:stretch>
          </p:blipFill>
          <p:spPr>
            <a:xfrm>
              <a:off x="6073775" y="1149985"/>
              <a:ext cx="25400" cy="12699"/>
            </a:xfrm>
            <a:prstGeom prst="rect">
              <a:avLst/>
            </a:prstGeom>
          </p:spPr>
        </p:pic>
        <p:pic>
          <p:nvPicPr>
            <p:cNvPr id="12" name="object 12"/>
            <p:cNvPicPr/>
            <p:nvPr/>
          </p:nvPicPr>
          <p:blipFill>
            <a:blip r:embed="rId8" cstate="print"/>
            <a:stretch>
              <a:fillRect/>
            </a:stretch>
          </p:blipFill>
          <p:spPr>
            <a:xfrm>
              <a:off x="7331075" y="1149985"/>
              <a:ext cx="25400" cy="12699"/>
            </a:xfrm>
            <a:prstGeom prst="rect">
              <a:avLst/>
            </a:prstGeom>
          </p:spPr>
        </p:pic>
        <p:pic>
          <p:nvPicPr>
            <p:cNvPr id="13" name="object 13"/>
            <p:cNvPicPr/>
            <p:nvPr/>
          </p:nvPicPr>
          <p:blipFill>
            <a:blip r:embed="rId9" cstate="print"/>
            <a:stretch>
              <a:fillRect/>
            </a:stretch>
          </p:blipFill>
          <p:spPr>
            <a:xfrm>
              <a:off x="2522854" y="1491615"/>
              <a:ext cx="12700" cy="25400"/>
            </a:xfrm>
            <a:prstGeom prst="rect">
              <a:avLst/>
            </a:prstGeom>
          </p:spPr>
        </p:pic>
        <p:pic>
          <p:nvPicPr>
            <p:cNvPr id="14" name="object 14"/>
            <p:cNvPicPr/>
            <p:nvPr/>
          </p:nvPicPr>
          <p:blipFill>
            <a:blip r:embed="rId10" cstate="print"/>
            <a:stretch>
              <a:fillRect/>
            </a:stretch>
          </p:blipFill>
          <p:spPr>
            <a:xfrm>
              <a:off x="9274174" y="1504315"/>
              <a:ext cx="12699" cy="12700"/>
            </a:xfrm>
            <a:prstGeom prst="rect">
              <a:avLst/>
            </a:prstGeom>
          </p:spPr>
        </p:pic>
      </p:grpSp>
      <p:graphicFrame>
        <p:nvGraphicFramePr>
          <p:cNvPr id="15" name="object 15"/>
          <p:cNvGraphicFramePr>
            <a:graphicFrameLocks noGrp="1"/>
          </p:cNvGraphicFramePr>
          <p:nvPr>
            <p:extLst>
              <p:ext uri="{D42A27DB-BD31-4B8C-83A1-F6EECF244321}">
                <p14:modId xmlns:p14="http://schemas.microsoft.com/office/powerpoint/2010/main" val="2887263529"/>
              </p:ext>
            </p:extLst>
          </p:nvPr>
        </p:nvGraphicFramePr>
        <p:xfrm>
          <a:off x="933225" y="858147"/>
          <a:ext cx="7374591" cy="5121649"/>
        </p:xfrm>
        <a:graphic>
          <a:graphicData uri="http://schemas.openxmlformats.org/drawingml/2006/table">
            <a:tbl>
              <a:tblPr firstRow="1" bandRow="1">
                <a:tableStyleId>{2D5ABB26-0587-4C30-8999-92F81FD0307C}</a:tableStyleId>
              </a:tblPr>
              <a:tblGrid>
                <a:gridCol w="161365">
                  <a:extLst>
                    <a:ext uri="{9D8B030D-6E8A-4147-A177-3AD203B41FA5}">
                      <a16:colId xmlns:a16="http://schemas.microsoft.com/office/drawing/2014/main" val="20000"/>
                    </a:ext>
                  </a:extLst>
                </a:gridCol>
                <a:gridCol w="1261222">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11941">
                  <a:extLst>
                    <a:ext uri="{9D8B030D-6E8A-4147-A177-3AD203B41FA5}">
                      <a16:colId xmlns:a16="http://schemas.microsoft.com/office/drawing/2014/main" val="20003"/>
                    </a:ext>
                  </a:extLst>
                </a:gridCol>
                <a:gridCol w="1109382">
                  <a:extLst>
                    <a:ext uri="{9D8B030D-6E8A-4147-A177-3AD203B41FA5}">
                      <a16:colId xmlns:a16="http://schemas.microsoft.com/office/drawing/2014/main" val="20004"/>
                    </a:ext>
                  </a:extLst>
                </a:gridCol>
                <a:gridCol w="1716181">
                  <a:extLst>
                    <a:ext uri="{9D8B030D-6E8A-4147-A177-3AD203B41FA5}">
                      <a16:colId xmlns:a16="http://schemas.microsoft.com/office/drawing/2014/main" val="20005"/>
                    </a:ext>
                  </a:extLst>
                </a:gridCol>
              </a:tblGrid>
              <a:tr h="155762">
                <a:tc gridSpan="6">
                  <a:txBody>
                    <a:bodyPr/>
                    <a:lstStyle/>
                    <a:p>
                      <a:pPr marL="80645">
                        <a:lnSpc>
                          <a:spcPts val="1215"/>
                        </a:lnSpc>
                        <a:spcBef>
                          <a:spcPts val="75"/>
                        </a:spcBef>
                      </a:pPr>
                      <a:r>
                        <a:rPr sz="1000" b="1" spc="-125" dirty="0">
                          <a:latin typeface="Arial"/>
                          <a:cs typeface="Arial"/>
                        </a:rPr>
                        <a:t>Comparison</a:t>
                      </a:r>
                      <a:r>
                        <a:rPr sz="1000" b="1" spc="80" dirty="0">
                          <a:latin typeface="Arial"/>
                          <a:cs typeface="Arial"/>
                        </a:rPr>
                        <a:t> </a:t>
                      </a:r>
                      <a:r>
                        <a:rPr sz="1000" b="1" spc="-85" dirty="0">
                          <a:latin typeface="Arial"/>
                          <a:cs typeface="Arial"/>
                        </a:rPr>
                        <a:t>between</a:t>
                      </a:r>
                      <a:r>
                        <a:rPr sz="1000" b="1" spc="20" dirty="0">
                          <a:latin typeface="Arial"/>
                          <a:cs typeface="Arial"/>
                        </a:rPr>
                        <a:t> </a:t>
                      </a:r>
                      <a:r>
                        <a:rPr sz="1000" b="1" spc="-40" dirty="0">
                          <a:latin typeface="Arial"/>
                          <a:cs typeface="Arial"/>
                        </a:rPr>
                        <a:t>the</a:t>
                      </a:r>
                      <a:r>
                        <a:rPr sz="1000" b="1" spc="-50" dirty="0">
                          <a:latin typeface="Arial"/>
                          <a:cs typeface="Arial"/>
                        </a:rPr>
                        <a:t> </a:t>
                      </a:r>
                      <a:r>
                        <a:rPr sz="1000" b="1" spc="-85" dirty="0">
                          <a:latin typeface="Arial"/>
                          <a:cs typeface="Arial"/>
                        </a:rPr>
                        <a:t>main</a:t>
                      </a:r>
                      <a:r>
                        <a:rPr sz="1000" b="1" spc="-40" dirty="0">
                          <a:latin typeface="Arial"/>
                          <a:cs typeface="Arial"/>
                        </a:rPr>
                        <a:t> </a:t>
                      </a:r>
                      <a:r>
                        <a:rPr sz="1000" b="1" spc="-100" dirty="0">
                          <a:latin typeface="Arial"/>
                          <a:cs typeface="Arial"/>
                        </a:rPr>
                        <a:t>computing</a:t>
                      </a:r>
                      <a:r>
                        <a:rPr sz="1000" b="1" spc="80" dirty="0">
                          <a:latin typeface="Arial"/>
                          <a:cs typeface="Arial"/>
                        </a:rPr>
                        <a:t> </a:t>
                      </a:r>
                      <a:r>
                        <a:rPr sz="1000" b="1" spc="-20" dirty="0">
                          <a:latin typeface="Arial"/>
                          <a:cs typeface="Arial"/>
                        </a:rPr>
                        <a:t>disciplines:</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6481">
                <a:tc>
                  <a:txBody>
                    <a:bodyPr/>
                    <a:lstStyle/>
                    <a:p>
                      <a:pPr marL="31115" algn="ctr">
                        <a:lnSpc>
                          <a:spcPts val="1310"/>
                        </a:lnSpc>
                      </a:pPr>
                      <a:r>
                        <a:rPr sz="1000" b="1" strike="sngStrike" spc="-50" dirty="0">
                          <a:latin typeface="Arial"/>
                          <a:cs typeface="Arial"/>
                        </a:rPr>
                        <a:t>#</a:t>
                      </a:r>
                      <a:endParaRPr sz="1000">
                        <a:latin typeface="Arial"/>
                        <a:cs typeface="Arial"/>
                      </a:endParaRPr>
                    </a:p>
                  </a:txBody>
                  <a:tcPr marL="0" marR="0" marT="0" marB="0">
                    <a:lnL w="12700">
                      <a:solidFill>
                        <a:srgbClr val="000000"/>
                      </a:solidFill>
                      <a:prstDash val="solid"/>
                    </a:lnL>
                    <a:lnR w="12700">
                      <a:solidFill>
                        <a:srgbClr val="000000"/>
                      </a:solidFill>
                      <a:prstDash val="solid"/>
                    </a:lnR>
                    <a:lnT w="1905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3820">
                        <a:lnSpc>
                          <a:spcPct val="100000"/>
                        </a:lnSpc>
                        <a:spcBef>
                          <a:spcPts val="75"/>
                        </a:spcBef>
                      </a:pPr>
                      <a:r>
                        <a:rPr sz="1000" b="1" spc="-30" dirty="0">
                          <a:latin typeface="Arial"/>
                          <a:cs typeface="Arial"/>
                        </a:rPr>
                        <a:t>Discipline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114" dirty="0">
                          <a:latin typeface="Arial"/>
                          <a:cs typeface="Arial"/>
                        </a:rPr>
                        <a:t>Brief</a:t>
                      </a:r>
                      <a:r>
                        <a:rPr sz="1000" b="1" spc="-30" dirty="0">
                          <a:latin typeface="Arial"/>
                          <a:cs typeface="Arial"/>
                        </a:rPr>
                        <a:t> </a:t>
                      </a:r>
                      <a:r>
                        <a:rPr sz="1000" b="1" spc="-10" dirty="0">
                          <a:latin typeface="Arial"/>
                          <a:cs typeface="Arial"/>
                        </a:rPr>
                        <a:t>description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468630">
                        <a:lnSpc>
                          <a:spcPts val="1210"/>
                        </a:lnSpc>
                        <a:spcBef>
                          <a:spcPts val="215"/>
                        </a:spcBef>
                      </a:pPr>
                      <a:r>
                        <a:rPr sz="1000" b="1" spc="-160" dirty="0">
                          <a:latin typeface="Arial"/>
                          <a:cs typeface="Arial"/>
                        </a:rPr>
                        <a:t>Examples</a:t>
                      </a:r>
                      <a:r>
                        <a:rPr sz="1000" b="1" spc="145" dirty="0">
                          <a:latin typeface="Arial"/>
                          <a:cs typeface="Arial"/>
                        </a:rPr>
                        <a:t> </a:t>
                      </a:r>
                      <a:r>
                        <a:rPr sz="1000" b="1" spc="-20" dirty="0">
                          <a:latin typeface="Arial"/>
                          <a:cs typeface="Arial"/>
                        </a:rPr>
                        <a:t>of</a:t>
                      </a:r>
                      <a:r>
                        <a:rPr sz="1000" b="1" spc="-140" dirty="0">
                          <a:latin typeface="Arial"/>
                          <a:cs typeface="Arial"/>
                        </a:rPr>
                        <a:t> </a:t>
                      </a:r>
                      <a:r>
                        <a:rPr sz="1000" b="1" spc="-95" dirty="0">
                          <a:latin typeface="Arial"/>
                          <a:cs typeface="Arial"/>
                        </a:rPr>
                        <a:t>topics </a:t>
                      </a:r>
                      <a:r>
                        <a:rPr sz="1000" b="1" spc="-35" dirty="0">
                          <a:latin typeface="Arial"/>
                          <a:cs typeface="Arial"/>
                        </a:rPr>
                        <a:t>emphasized</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20" dirty="0">
                          <a:latin typeface="Arial"/>
                          <a:cs typeface="Arial"/>
                        </a:rPr>
                        <a:t>Location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581660" indent="-1905">
                        <a:lnSpc>
                          <a:spcPts val="1210"/>
                        </a:lnSpc>
                        <a:spcBef>
                          <a:spcPts val="215"/>
                        </a:spcBef>
                      </a:pPr>
                      <a:r>
                        <a:rPr sz="1000" b="1" spc="-130" dirty="0">
                          <a:latin typeface="Arial"/>
                          <a:cs typeface="Arial"/>
                        </a:rPr>
                        <a:t>Who</a:t>
                      </a:r>
                      <a:r>
                        <a:rPr sz="1000" b="1" spc="-10" dirty="0">
                          <a:latin typeface="Arial"/>
                          <a:cs typeface="Arial"/>
                        </a:rPr>
                        <a:t> </a:t>
                      </a:r>
                      <a:r>
                        <a:rPr sz="1000" b="1" spc="-114" dirty="0">
                          <a:latin typeface="Arial"/>
                          <a:cs typeface="Arial"/>
                        </a:rPr>
                        <a:t>should</a:t>
                      </a:r>
                      <a:r>
                        <a:rPr sz="1000" b="1" spc="55" dirty="0">
                          <a:latin typeface="Arial"/>
                          <a:cs typeface="Arial"/>
                        </a:rPr>
                        <a:t> </a:t>
                      </a:r>
                      <a:r>
                        <a:rPr sz="1000" b="1" spc="-110" dirty="0">
                          <a:latin typeface="Arial"/>
                          <a:cs typeface="Arial"/>
                        </a:rPr>
                        <a:t>study</a:t>
                      </a:r>
                      <a:r>
                        <a:rPr sz="1000" b="1" spc="10" dirty="0">
                          <a:latin typeface="Arial"/>
                          <a:cs typeface="Arial"/>
                        </a:rPr>
                        <a:t> </a:t>
                      </a:r>
                      <a:r>
                        <a:rPr sz="1000" b="1" spc="-55" dirty="0">
                          <a:latin typeface="Arial"/>
                          <a:cs typeface="Arial"/>
                        </a:rPr>
                        <a:t>this </a:t>
                      </a:r>
                      <a:r>
                        <a:rPr sz="1000" b="1" spc="-25" dirty="0">
                          <a:latin typeface="Arial"/>
                          <a:cs typeface="Arial"/>
                        </a:rPr>
                        <a:t>discipline</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81915">
                        <a:lnSpc>
                          <a:spcPct val="97900"/>
                        </a:lnSpc>
                        <a:spcBef>
                          <a:spcPts val="259"/>
                        </a:spcBef>
                      </a:pPr>
                      <a:endParaRPr sz="1000" dirty="0">
                        <a:latin typeface="Arial"/>
                        <a:cs typeface="Arial"/>
                      </a:endParaRPr>
                    </a:p>
                  </a:txBody>
                  <a:tcPr marL="0" marR="0" marT="291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424180">
                        <a:lnSpc>
                          <a:spcPts val="1210"/>
                        </a:lnSpc>
                        <a:spcBef>
                          <a:spcPts val="315"/>
                        </a:spcBef>
                      </a:pPr>
                      <a:endParaRPr sz="1000" dirty="0">
                        <a:latin typeface="Arial"/>
                        <a:cs typeface="Arial"/>
                      </a:endParaRPr>
                    </a:p>
                  </a:txBody>
                  <a:tcPr marL="0" marR="0" marT="3529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255270">
                        <a:lnSpc>
                          <a:spcPct val="99900"/>
                        </a:lnSpc>
                        <a:spcBef>
                          <a:spcPts val="229"/>
                        </a:spcBef>
                      </a:pPr>
                      <a:endParaRPr sz="1000" dirty="0">
                        <a:latin typeface="Arial"/>
                        <a:cs typeface="Arial"/>
                      </a:endParaRPr>
                    </a:p>
                  </a:txBody>
                  <a:tcPr marL="0" marR="0" marT="257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dirty="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191135">
                        <a:lnSpc>
                          <a:spcPct val="97700"/>
                        </a:lnSpc>
                        <a:spcBef>
                          <a:spcPts val="260"/>
                        </a:spcBef>
                      </a:pPr>
                      <a:endParaRPr sz="1000" dirty="0">
                        <a:latin typeface="Arial"/>
                        <a:cs typeface="Arial"/>
                      </a:endParaRPr>
                    </a:p>
                  </a:txBody>
                  <a:tcPr marL="0" marR="0" marT="291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816249">
                <a:tc>
                  <a:txBody>
                    <a:bodyPr/>
                    <a:lstStyle/>
                    <a:p>
                      <a:pPr marL="38100" algn="ctr">
                        <a:lnSpc>
                          <a:spcPct val="100000"/>
                        </a:lnSpc>
                        <a:spcBef>
                          <a:spcPts val="85"/>
                        </a:spcBef>
                      </a:pPr>
                      <a:r>
                        <a:rPr sz="1000" spc="-50" dirty="0">
                          <a:latin typeface="Arial"/>
                          <a:cs typeface="Arial"/>
                        </a:rPr>
                        <a:t>2</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a:lnSpc>
                          <a:spcPct val="100000"/>
                        </a:lnSpc>
                        <a:spcBef>
                          <a:spcPts val="85"/>
                        </a:spcBef>
                      </a:pPr>
                      <a:r>
                        <a:rPr sz="1400" spc="-85" dirty="0">
                          <a:latin typeface="Arial"/>
                          <a:cs typeface="Arial"/>
                        </a:rPr>
                        <a:t>Computer</a:t>
                      </a:r>
                      <a:r>
                        <a:rPr sz="1400" spc="70" dirty="0">
                          <a:latin typeface="Arial"/>
                          <a:cs typeface="Arial"/>
                        </a:rPr>
                        <a:t> </a:t>
                      </a:r>
                      <a:r>
                        <a:rPr sz="1400" spc="-10" dirty="0">
                          <a:latin typeface="Arial"/>
                          <a:cs typeface="Arial"/>
                        </a:rPr>
                        <a:t>Science</a:t>
                      </a:r>
                      <a:endParaRPr sz="1400" dirty="0">
                        <a:latin typeface="Arial"/>
                        <a:cs typeface="Arial"/>
                      </a:endParaRPr>
                    </a:p>
                    <a:p>
                      <a:pPr>
                        <a:lnSpc>
                          <a:spcPct val="100000"/>
                        </a:lnSpc>
                        <a:spcBef>
                          <a:spcPts val="254"/>
                        </a:spcBef>
                      </a:pPr>
                      <a:endParaRPr sz="1400" dirty="0">
                        <a:latin typeface="Times New Roman"/>
                        <a:cs typeface="Times New Roman"/>
                      </a:endParaRPr>
                    </a:p>
                    <a:p>
                      <a:pPr marL="80645" marR="254000">
                        <a:lnSpc>
                          <a:spcPct val="98500"/>
                        </a:lnSpc>
                      </a:pPr>
                      <a:r>
                        <a:rPr sz="1400" spc="-75" dirty="0">
                          <a:latin typeface="Arial"/>
                          <a:cs typeface="Arial"/>
                        </a:rPr>
                        <a:t>(Computer</a:t>
                      </a:r>
                      <a:r>
                        <a:rPr sz="1400" spc="10" dirty="0">
                          <a:latin typeface="Arial"/>
                          <a:cs typeface="Arial"/>
                        </a:rPr>
                        <a:t> </a:t>
                      </a:r>
                      <a:r>
                        <a:rPr sz="1400" spc="-40" dirty="0">
                          <a:latin typeface="Arial"/>
                          <a:cs typeface="Arial"/>
                        </a:rPr>
                        <a:t>Science </a:t>
                      </a:r>
                      <a:r>
                        <a:rPr sz="1400" dirty="0">
                          <a:latin typeface="Arial"/>
                          <a:cs typeface="Arial"/>
                        </a:rPr>
                        <a:t>is</a:t>
                      </a:r>
                      <a:r>
                        <a:rPr sz="1400" spc="355" dirty="0">
                          <a:latin typeface="Arial"/>
                          <a:cs typeface="Arial"/>
                        </a:rPr>
                        <a:t> </a:t>
                      </a:r>
                      <a:r>
                        <a:rPr sz="1400" spc="-110" dirty="0">
                          <a:latin typeface="Arial"/>
                          <a:cs typeface="Arial"/>
                        </a:rPr>
                        <a:t>one</a:t>
                      </a:r>
                      <a:r>
                        <a:rPr sz="1400" spc="-75" dirty="0">
                          <a:latin typeface="Arial"/>
                          <a:cs typeface="Arial"/>
                        </a:rPr>
                        <a:t> </a:t>
                      </a:r>
                      <a:r>
                        <a:rPr sz="1400" dirty="0">
                          <a:latin typeface="Arial"/>
                          <a:cs typeface="Arial"/>
                        </a:rPr>
                        <a:t>of</a:t>
                      </a:r>
                      <a:r>
                        <a:rPr sz="1400" spc="-150" dirty="0">
                          <a:latin typeface="Arial"/>
                          <a:cs typeface="Arial"/>
                        </a:rPr>
                        <a:t> </a:t>
                      </a:r>
                      <a:r>
                        <a:rPr sz="1400" dirty="0">
                          <a:latin typeface="Arial"/>
                          <a:cs typeface="Arial"/>
                        </a:rPr>
                        <a:t>the</a:t>
                      </a:r>
                      <a:r>
                        <a:rPr sz="1400" spc="-120" dirty="0">
                          <a:latin typeface="Arial"/>
                          <a:cs typeface="Arial"/>
                        </a:rPr>
                        <a:t> </a:t>
                      </a:r>
                      <a:r>
                        <a:rPr sz="1400" spc="-10" dirty="0">
                          <a:latin typeface="Arial"/>
                          <a:cs typeface="Arial"/>
                        </a:rPr>
                        <a:t>three </a:t>
                      </a:r>
                      <a:r>
                        <a:rPr sz="1400" spc="-55" dirty="0">
                          <a:latin typeface="Arial"/>
                          <a:cs typeface="Arial"/>
                        </a:rPr>
                        <a:t>original</a:t>
                      </a:r>
                      <a:r>
                        <a:rPr sz="1400" spc="-20" dirty="0">
                          <a:latin typeface="Arial"/>
                          <a:cs typeface="Arial"/>
                        </a:rPr>
                        <a:t> </a:t>
                      </a:r>
                      <a:r>
                        <a:rPr sz="1400" spc="-10" dirty="0">
                          <a:latin typeface="Arial"/>
                          <a:cs typeface="Arial"/>
                        </a:rPr>
                        <a:t>computing </a:t>
                      </a:r>
                      <a:r>
                        <a:rPr sz="1400" spc="-70" dirty="0">
                          <a:latin typeface="Arial"/>
                          <a:cs typeface="Arial"/>
                        </a:rPr>
                        <a:t>disciplines,</a:t>
                      </a:r>
                      <a:r>
                        <a:rPr sz="1400" spc="-5" dirty="0">
                          <a:latin typeface="Arial"/>
                          <a:cs typeface="Arial"/>
                        </a:rPr>
                        <a:t> </a:t>
                      </a:r>
                      <a:r>
                        <a:rPr sz="1400" spc="-10" dirty="0">
                          <a:latin typeface="Arial"/>
                          <a:cs typeface="Arial"/>
                        </a:rPr>
                        <a:t>first </a:t>
                      </a:r>
                      <a:r>
                        <a:rPr sz="1400" spc="-80" dirty="0">
                          <a:latin typeface="Arial"/>
                          <a:cs typeface="Arial"/>
                        </a:rPr>
                        <a:t>appearing</a:t>
                      </a:r>
                      <a:r>
                        <a:rPr sz="1400" spc="45" dirty="0">
                          <a:latin typeface="Arial"/>
                          <a:cs typeface="Arial"/>
                        </a:rPr>
                        <a:t> </a:t>
                      </a:r>
                      <a:r>
                        <a:rPr sz="1400" spc="-95" dirty="0">
                          <a:latin typeface="Arial"/>
                          <a:cs typeface="Arial"/>
                        </a:rPr>
                        <a:t>as</a:t>
                      </a:r>
                      <a:r>
                        <a:rPr sz="1400" spc="-105" dirty="0">
                          <a:latin typeface="Arial"/>
                          <a:cs typeface="Arial"/>
                        </a:rPr>
                        <a:t> </a:t>
                      </a:r>
                      <a:r>
                        <a:rPr sz="1400" spc="-50" dirty="0">
                          <a:latin typeface="Arial"/>
                          <a:cs typeface="Arial"/>
                        </a:rPr>
                        <a:t>a </a:t>
                      </a:r>
                      <a:r>
                        <a:rPr sz="1400" spc="-65" dirty="0">
                          <a:latin typeface="Arial"/>
                          <a:cs typeface="Arial"/>
                        </a:rPr>
                        <a:t>discipline</a:t>
                      </a:r>
                      <a:r>
                        <a:rPr sz="1400" spc="45" dirty="0">
                          <a:latin typeface="Arial"/>
                          <a:cs typeface="Arial"/>
                        </a:rPr>
                        <a:t> </a:t>
                      </a:r>
                      <a:r>
                        <a:rPr sz="1400" spc="-10" dirty="0">
                          <a:latin typeface="Arial"/>
                          <a:cs typeface="Arial"/>
                        </a:rPr>
                        <a:t>in</a:t>
                      </a:r>
                      <a:r>
                        <a:rPr sz="1400" spc="-165" dirty="0">
                          <a:latin typeface="Arial"/>
                          <a:cs typeface="Arial"/>
                        </a:rPr>
                        <a:t> </a:t>
                      </a:r>
                      <a:r>
                        <a:rPr sz="1400" spc="-25" dirty="0">
                          <a:latin typeface="Arial"/>
                          <a:cs typeface="Arial"/>
                        </a:rPr>
                        <a:t>the </a:t>
                      </a:r>
                      <a:r>
                        <a:rPr sz="1400" spc="-10" dirty="0">
                          <a:latin typeface="Arial"/>
                          <a:cs typeface="Arial"/>
                        </a:rPr>
                        <a:t>1960s.)</a:t>
                      </a:r>
                      <a:endParaRPr sz="1400" dirty="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250190">
                        <a:lnSpc>
                          <a:spcPts val="1260"/>
                        </a:lnSpc>
                        <a:spcBef>
                          <a:spcPts val="285"/>
                        </a:spcBef>
                      </a:pPr>
                      <a:r>
                        <a:rPr sz="1400" spc="-85" dirty="0">
                          <a:latin typeface="Arial"/>
                          <a:cs typeface="Arial"/>
                        </a:rPr>
                        <a:t>Computer</a:t>
                      </a:r>
                      <a:r>
                        <a:rPr sz="1400" spc="85" dirty="0">
                          <a:latin typeface="Arial"/>
                          <a:cs typeface="Arial"/>
                        </a:rPr>
                        <a:t> </a:t>
                      </a:r>
                      <a:r>
                        <a:rPr sz="1400" spc="-105" dirty="0">
                          <a:latin typeface="Arial"/>
                          <a:cs typeface="Arial"/>
                        </a:rPr>
                        <a:t>Science</a:t>
                      </a:r>
                      <a:r>
                        <a:rPr sz="1400" spc="30" dirty="0">
                          <a:latin typeface="Arial"/>
                          <a:cs typeface="Arial"/>
                        </a:rPr>
                        <a:t> </a:t>
                      </a:r>
                      <a:r>
                        <a:rPr sz="1400" spc="-80" dirty="0">
                          <a:latin typeface="Arial"/>
                          <a:cs typeface="Arial"/>
                        </a:rPr>
                        <a:t>focuses</a:t>
                      </a:r>
                      <a:r>
                        <a:rPr sz="1400" spc="75" dirty="0">
                          <a:latin typeface="Arial"/>
                          <a:cs typeface="Arial"/>
                        </a:rPr>
                        <a:t> </a:t>
                      </a:r>
                      <a:r>
                        <a:rPr sz="1400" spc="-35" dirty="0">
                          <a:latin typeface="Arial"/>
                          <a:cs typeface="Arial"/>
                        </a:rPr>
                        <a:t>in </a:t>
                      </a:r>
                      <a:r>
                        <a:rPr sz="1400" spc="-75" dirty="0">
                          <a:latin typeface="Arial"/>
                          <a:cs typeface="Arial"/>
                        </a:rPr>
                        <a:t>developing</a:t>
                      </a:r>
                      <a:r>
                        <a:rPr sz="1400" spc="70" dirty="0">
                          <a:latin typeface="Arial"/>
                          <a:cs typeface="Arial"/>
                        </a:rPr>
                        <a:t> </a:t>
                      </a:r>
                      <a:r>
                        <a:rPr sz="1400" spc="-70" dirty="0">
                          <a:latin typeface="Arial"/>
                          <a:cs typeface="Arial"/>
                        </a:rPr>
                        <a:t>and</a:t>
                      </a:r>
                      <a:r>
                        <a:rPr sz="1400" spc="-35" dirty="0">
                          <a:latin typeface="Arial"/>
                          <a:cs typeface="Arial"/>
                        </a:rPr>
                        <a:t> </a:t>
                      </a:r>
                      <a:r>
                        <a:rPr sz="1400" spc="-10" dirty="0">
                          <a:latin typeface="Arial"/>
                          <a:cs typeface="Arial"/>
                        </a:rPr>
                        <a:t>maintaining </a:t>
                      </a:r>
                      <a:r>
                        <a:rPr sz="1400" spc="-60" dirty="0">
                          <a:latin typeface="Arial"/>
                          <a:cs typeface="Arial"/>
                        </a:rPr>
                        <a:t>computer</a:t>
                      </a:r>
                      <a:r>
                        <a:rPr sz="1400" spc="25" dirty="0">
                          <a:latin typeface="Arial"/>
                          <a:cs typeface="Arial"/>
                        </a:rPr>
                        <a:t> </a:t>
                      </a:r>
                      <a:r>
                        <a:rPr sz="1400" spc="-10" dirty="0">
                          <a:latin typeface="Arial"/>
                          <a:cs typeface="Arial"/>
                        </a:rPr>
                        <a:t>software.</a:t>
                      </a:r>
                      <a:endParaRPr sz="1400">
                        <a:latin typeface="Arial"/>
                        <a:cs typeface="Arial"/>
                      </a:endParaRPr>
                    </a:p>
                    <a:p>
                      <a:pPr marL="80645" marR="222885">
                        <a:lnSpc>
                          <a:spcPct val="97700"/>
                        </a:lnSpc>
                        <a:spcBef>
                          <a:spcPts val="229"/>
                        </a:spcBef>
                      </a:pPr>
                      <a:r>
                        <a:rPr sz="1400" spc="-165" dirty="0">
                          <a:latin typeface="Arial"/>
                          <a:cs typeface="Arial"/>
                        </a:rPr>
                        <a:t>On</a:t>
                      </a:r>
                      <a:r>
                        <a:rPr sz="1400" spc="-90" dirty="0">
                          <a:latin typeface="Arial"/>
                          <a:cs typeface="Arial"/>
                        </a:rPr>
                        <a:t> </a:t>
                      </a:r>
                      <a:r>
                        <a:rPr sz="1400" spc="-55" dirty="0">
                          <a:latin typeface="Arial"/>
                          <a:cs typeface="Arial"/>
                        </a:rPr>
                        <a:t>one</a:t>
                      </a:r>
                      <a:r>
                        <a:rPr sz="1400" spc="-85" dirty="0">
                          <a:latin typeface="Arial"/>
                          <a:cs typeface="Arial"/>
                        </a:rPr>
                        <a:t> </a:t>
                      </a:r>
                      <a:r>
                        <a:rPr sz="1400" spc="-60" dirty="0">
                          <a:latin typeface="Arial"/>
                          <a:cs typeface="Arial"/>
                        </a:rPr>
                        <a:t>side,</a:t>
                      </a:r>
                      <a:r>
                        <a:rPr sz="1400" spc="-20" dirty="0">
                          <a:latin typeface="Arial"/>
                          <a:cs typeface="Arial"/>
                        </a:rPr>
                        <a:t> </a:t>
                      </a:r>
                      <a:r>
                        <a:rPr sz="1400" dirty="0">
                          <a:latin typeface="Arial"/>
                          <a:cs typeface="Arial"/>
                        </a:rPr>
                        <a:t>it</a:t>
                      </a:r>
                      <a:r>
                        <a:rPr sz="1400" spc="-50" dirty="0">
                          <a:latin typeface="Arial"/>
                          <a:cs typeface="Arial"/>
                        </a:rPr>
                        <a:t> </a:t>
                      </a:r>
                      <a:r>
                        <a:rPr sz="1400" spc="-70" dirty="0">
                          <a:latin typeface="Arial"/>
                          <a:cs typeface="Arial"/>
                        </a:rPr>
                        <a:t>focuses</a:t>
                      </a:r>
                      <a:r>
                        <a:rPr sz="1400" spc="65" dirty="0">
                          <a:latin typeface="Arial"/>
                          <a:cs typeface="Arial"/>
                        </a:rPr>
                        <a:t> </a:t>
                      </a:r>
                      <a:r>
                        <a:rPr sz="1400" spc="-10" dirty="0">
                          <a:latin typeface="Arial"/>
                          <a:cs typeface="Arial"/>
                        </a:rPr>
                        <a:t>in</a:t>
                      </a:r>
                      <a:r>
                        <a:rPr sz="1400" spc="-155" dirty="0">
                          <a:latin typeface="Arial"/>
                          <a:cs typeface="Arial"/>
                        </a:rPr>
                        <a:t> </a:t>
                      </a:r>
                      <a:r>
                        <a:rPr sz="1400" spc="-25" dirty="0">
                          <a:latin typeface="Arial"/>
                          <a:cs typeface="Arial"/>
                        </a:rPr>
                        <a:t>the </a:t>
                      </a:r>
                      <a:r>
                        <a:rPr sz="1400" spc="-65" dirty="0">
                          <a:latin typeface="Arial"/>
                          <a:cs typeface="Arial"/>
                        </a:rPr>
                        <a:t>development</a:t>
                      </a:r>
                      <a:r>
                        <a:rPr sz="1400" spc="130" dirty="0">
                          <a:latin typeface="Arial"/>
                          <a:cs typeface="Arial"/>
                        </a:rPr>
                        <a:t> </a:t>
                      </a:r>
                      <a:r>
                        <a:rPr sz="1400" dirty="0">
                          <a:latin typeface="Arial"/>
                          <a:cs typeface="Arial"/>
                        </a:rPr>
                        <a:t>of</a:t>
                      </a:r>
                      <a:r>
                        <a:rPr sz="1400" spc="-100" dirty="0">
                          <a:latin typeface="Arial"/>
                          <a:cs typeface="Arial"/>
                        </a:rPr>
                        <a:t> </a:t>
                      </a:r>
                      <a:r>
                        <a:rPr sz="1400" spc="-25" dirty="0">
                          <a:latin typeface="Arial"/>
                          <a:cs typeface="Arial"/>
                        </a:rPr>
                        <a:t>new </a:t>
                      </a:r>
                      <a:r>
                        <a:rPr sz="1400" spc="-80" dirty="0">
                          <a:latin typeface="Arial"/>
                          <a:cs typeface="Arial"/>
                        </a:rPr>
                        <a:t>knowledge</a:t>
                      </a:r>
                      <a:r>
                        <a:rPr sz="1400" spc="60" dirty="0">
                          <a:latin typeface="Arial"/>
                          <a:cs typeface="Arial"/>
                        </a:rPr>
                        <a:t> </a:t>
                      </a:r>
                      <a:r>
                        <a:rPr sz="1400" spc="-80" dirty="0">
                          <a:latin typeface="Arial"/>
                          <a:cs typeface="Arial"/>
                        </a:rPr>
                        <a:t>and</a:t>
                      </a:r>
                      <a:r>
                        <a:rPr sz="1400" spc="-90" dirty="0">
                          <a:latin typeface="Arial"/>
                          <a:cs typeface="Arial"/>
                        </a:rPr>
                        <a:t> </a:t>
                      </a:r>
                      <a:r>
                        <a:rPr sz="1400" spc="-60" dirty="0">
                          <a:latin typeface="Arial"/>
                          <a:cs typeface="Arial"/>
                        </a:rPr>
                        <a:t>techniques</a:t>
                      </a:r>
                      <a:r>
                        <a:rPr sz="1400" spc="50" dirty="0">
                          <a:latin typeface="Arial"/>
                          <a:cs typeface="Arial"/>
                        </a:rPr>
                        <a:t> </a:t>
                      </a:r>
                      <a:r>
                        <a:rPr sz="1400" spc="-25" dirty="0">
                          <a:latin typeface="Arial"/>
                          <a:cs typeface="Arial"/>
                        </a:rPr>
                        <a:t>to </a:t>
                      </a:r>
                      <a:r>
                        <a:rPr sz="1400" spc="-100" dirty="0">
                          <a:latin typeface="Arial"/>
                          <a:cs typeface="Arial"/>
                        </a:rPr>
                        <a:t>enhance</a:t>
                      </a:r>
                      <a:r>
                        <a:rPr sz="1400" spc="50" dirty="0">
                          <a:latin typeface="Arial"/>
                          <a:cs typeface="Arial"/>
                        </a:rPr>
                        <a:t> </a:t>
                      </a:r>
                      <a:r>
                        <a:rPr sz="1400" spc="-75" dirty="0">
                          <a:latin typeface="Arial"/>
                          <a:cs typeface="Arial"/>
                        </a:rPr>
                        <a:t>and</a:t>
                      </a:r>
                      <a:r>
                        <a:rPr sz="1400" dirty="0">
                          <a:latin typeface="Arial"/>
                          <a:cs typeface="Arial"/>
                        </a:rPr>
                        <a:t> </a:t>
                      </a:r>
                      <a:r>
                        <a:rPr sz="1400" spc="-85" dirty="0">
                          <a:latin typeface="Arial"/>
                          <a:cs typeface="Arial"/>
                        </a:rPr>
                        <a:t>make</a:t>
                      </a:r>
                      <a:r>
                        <a:rPr sz="1400" spc="5" dirty="0">
                          <a:latin typeface="Arial"/>
                          <a:cs typeface="Arial"/>
                        </a:rPr>
                        <a:t> </a:t>
                      </a:r>
                      <a:r>
                        <a:rPr sz="1400" spc="-20" dirty="0">
                          <a:latin typeface="Arial"/>
                          <a:cs typeface="Arial"/>
                        </a:rPr>
                        <a:t>more </a:t>
                      </a:r>
                      <a:r>
                        <a:rPr sz="1400" spc="-10" dirty="0">
                          <a:latin typeface="Arial"/>
                          <a:cs typeface="Arial"/>
                        </a:rPr>
                        <a:t>efficientthe</a:t>
                      </a:r>
                      <a:r>
                        <a:rPr sz="1400" spc="-75" dirty="0">
                          <a:latin typeface="Arial"/>
                          <a:cs typeface="Arial"/>
                        </a:rPr>
                        <a:t> </a:t>
                      </a:r>
                      <a:r>
                        <a:rPr sz="1400" spc="-10" dirty="0">
                          <a:latin typeface="Arial"/>
                          <a:cs typeface="Arial"/>
                        </a:rPr>
                        <a:t>computing discipline.</a:t>
                      </a:r>
                      <a:endParaRPr sz="1400">
                        <a:latin typeface="Arial"/>
                        <a:cs typeface="Arial"/>
                      </a:endParaRPr>
                    </a:p>
                    <a:p>
                      <a:pPr marL="80645" marR="177800" indent="-3175">
                        <a:lnSpc>
                          <a:spcPct val="95000"/>
                        </a:lnSpc>
                        <a:spcBef>
                          <a:spcPts val="270"/>
                        </a:spcBef>
                      </a:pPr>
                      <a:r>
                        <a:rPr sz="1400" spc="-55" dirty="0">
                          <a:latin typeface="Arial"/>
                          <a:cs typeface="Arial"/>
                        </a:rPr>
                        <a:t>Additionally,</a:t>
                      </a:r>
                      <a:r>
                        <a:rPr sz="1400" spc="90" dirty="0">
                          <a:latin typeface="Arial"/>
                          <a:cs typeface="Arial"/>
                        </a:rPr>
                        <a:t> </a:t>
                      </a:r>
                      <a:r>
                        <a:rPr sz="1400" spc="-235" dirty="0">
                          <a:latin typeface="Arial"/>
                          <a:cs typeface="Arial"/>
                        </a:rPr>
                        <a:t>CS</a:t>
                      </a:r>
                      <a:r>
                        <a:rPr sz="1400" spc="-135" dirty="0">
                          <a:latin typeface="Arial"/>
                          <a:cs typeface="Arial"/>
                        </a:rPr>
                        <a:t> </a:t>
                      </a:r>
                      <a:r>
                        <a:rPr sz="1400" spc="-65" dirty="0">
                          <a:latin typeface="Arial"/>
                          <a:cs typeface="Arial"/>
                        </a:rPr>
                        <a:t>focuses</a:t>
                      </a:r>
                      <a:r>
                        <a:rPr sz="1400" spc="45" dirty="0">
                          <a:latin typeface="Arial"/>
                          <a:cs typeface="Arial"/>
                        </a:rPr>
                        <a:t> </a:t>
                      </a:r>
                      <a:r>
                        <a:rPr sz="1400" spc="-20" dirty="0">
                          <a:latin typeface="Arial"/>
                          <a:cs typeface="Arial"/>
                        </a:rPr>
                        <a:t>in</a:t>
                      </a:r>
                      <a:r>
                        <a:rPr sz="1400" spc="-150" dirty="0">
                          <a:latin typeface="Arial"/>
                          <a:cs typeface="Arial"/>
                        </a:rPr>
                        <a:t> </a:t>
                      </a:r>
                      <a:r>
                        <a:rPr sz="1400" spc="-25" dirty="0">
                          <a:latin typeface="Arial"/>
                          <a:cs typeface="Arial"/>
                        </a:rPr>
                        <a:t>the </a:t>
                      </a:r>
                      <a:r>
                        <a:rPr sz="1400" spc="-55" dirty="0">
                          <a:latin typeface="Arial"/>
                          <a:cs typeface="Arial"/>
                        </a:rPr>
                        <a:t>application</a:t>
                      </a:r>
                      <a:r>
                        <a:rPr sz="1400" spc="55" dirty="0">
                          <a:latin typeface="Arial"/>
                          <a:cs typeface="Arial"/>
                        </a:rPr>
                        <a:t> </a:t>
                      </a:r>
                      <a:r>
                        <a:rPr sz="1400" dirty="0">
                          <a:latin typeface="Arial"/>
                          <a:cs typeface="Arial"/>
                        </a:rPr>
                        <a:t>of</a:t>
                      </a:r>
                      <a:r>
                        <a:rPr sz="1400" spc="-114" dirty="0">
                          <a:latin typeface="Arial"/>
                          <a:cs typeface="Arial"/>
                        </a:rPr>
                        <a:t> </a:t>
                      </a:r>
                      <a:r>
                        <a:rPr sz="1400" spc="-10" dirty="0">
                          <a:latin typeface="Arial"/>
                          <a:cs typeface="Arial"/>
                        </a:rPr>
                        <a:t>current </a:t>
                      </a:r>
                      <a:r>
                        <a:rPr sz="1400" spc="-80" dirty="0">
                          <a:latin typeface="Arial"/>
                          <a:cs typeface="Arial"/>
                        </a:rPr>
                        <a:t>knowledge</a:t>
                      </a:r>
                      <a:r>
                        <a:rPr sz="1400" spc="60" dirty="0">
                          <a:latin typeface="Arial"/>
                          <a:cs typeface="Arial"/>
                        </a:rPr>
                        <a:t> </a:t>
                      </a:r>
                      <a:r>
                        <a:rPr sz="1400" spc="-80" dirty="0">
                          <a:latin typeface="Arial"/>
                          <a:cs typeface="Arial"/>
                        </a:rPr>
                        <a:t>and</a:t>
                      </a:r>
                      <a:r>
                        <a:rPr sz="1400" spc="-90" dirty="0">
                          <a:latin typeface="Arial"/>
                          <a:cs typeface="Arial"/>
                        </a:rPr>
                        <a:t> </a:t>
                      </a:r>
                      <a:r>
                        <a:rPr sz="1400" spc="-60" dirty="0">
                          <a:latin typeface="Arial"/>
                          <a:cs typeface="Arial"/>
                        </a:rPr>
                        <a:t>techniques</a:t>
                      </a:r>
                      <a:r>
                        <a:rPr sz="1400" spc="50" dirty="0">
                          <a:latin typeface="Arial"/>
                          <a:cs typeface="Arial"/>
                        </a:rPr>
                        <a:t> </a:t>
                      </a:r>
                      <a:r>
                        <a:rPr sz="1400" spc="-25" dirty="0">
                          <a:latin typeface="Arial"/>
                          <a:cs typeface="Arial"/>
                        </a:rPr>
                        <a:t>to</a:t>
                      </a:r>
                      <a:endParaRPr sz="1400">
                        <a:latin typeface="Arial"/>
                        <a:cs typeface="Arial"/>
                      </a:endParaRPr>
                    </a:p>
                  </a:txBody>
                  <a:tcPr marL="0" marR="0" marT="31937"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02870">
                        <a:lnSpc>
                          <a:spcPct val="99800"/>
                        </a:lnSpc>
                        <a:spcBef>
                          <a:spcPts val="220"/>
                        </a:spcBef>
                      </a:pPr>
                      <a:r>
                        <a:rPr sz="1400" spc="-10" dirty="0">
                          <a:latin typeface="Arial"/>
                          <a:cs typeface="Arial"/>
                        </a:rPr>
                        <a:t>Programming fundamentals, </a:t>
                      </a:r>
                      <a:r>
                        <a:rPr sz="1400" spc="-60" dirty="0">
                          <a:latin typeface="Arial"/>
                          <a:cs typeface="Arial"/>
                        </a:rPr>
                        <a:t>Algorithms,</a:t>
                      </a:r>
                      <a:r>
                        <a:rPr sz="1400" spc="100" dirty="0">
                          <a:latin typeface="Arial"/>
                          <a:cs typeface="Arial"/>
                        </a:rPr>
                        <a:t> </a:t>
                      </a:r>
                      <a:r>
                        <a:rPr sz="1400" spc="-75" dirty="0">
                          <a:latin typeface="Arial"/>
                          <a:cs typeface="Arial"/>
                        </a:rPr>
                        <a:t>Programming </a:t>
                      </a:r>
                      <a:r>
                        <a:rPr sz="1400" spc="-100" dirty="0">
                          <a:latin typeface="Arial"/>
                          <a:cs typeface="Arial"/>
                        </a:rPr>
                        <a:t>languages,</a:t>
                      </a:r>
                      <a:r>
                        <a:rPr sz="1400" spc="35" dirty="0">
                          <a:latin typeface="Arial"/>
                          <a:cs typeface="Arial"/>
                        </a:rPr>
                        <a:t> </a:t>
                      </a:r>
                      <a:r>
                        <a:rPr sz="1400" spc="-10" dirty="0">
                          <a:latin typeface="Arial"/>
                          <a:cs typeface="Arial"/>
                        </a:rPr>
                        <a:t>Computer </a:t>
                      </a:r>
                      <a:r>
                        <a:rPr sz="1400" spc="-50" dirty="0">
                          <a:latin typeface="Arial"/>
                          <a:cs typeface="Arial"/>
                        </a:rPr>
                        <a:t>architecture</a:t>
                      </a:r>
                      <a:r>
                        <a:rPr sz="1400" spc="50" dirty="0">
                          <a:latin typeface="Arial"/>
                          <a:cs typeface="Arial"/>
                        </a:rPr>
                        <a:t> </a:t>
                      </a:r>
                      <a:r>
                        <a:rPr sz="1400" spc="-25" dirty="0">
                          <a:latin typeface="Arial"/>
                          <a:cs typeface="Arial"/>
                        </a:rPr>
                        <a:t>and </a:t>
                      </a:r>
                      <a:r>
                        <a:rPr sz="1400" spc="-70" dirty="0">
                          <a:latin typeface="Arial"/>
                          <a:cs typeface="Arial"/>
                        </a:rPr>
                        <a:t>organization,</a:t>
                      </a:r>
                      <a:r>
                        <a:rPr sz="1400" spc="95" dirty="0">
                          <a:latin typeface="Arial"/>
                          <a:cs typeface="Arial"/>
                        </a:rPr>
                        <a:t> </a:t>
                      </a:r>
                      <a:r>
                        <a:rPr sz="1400" spc="-10" dirty="0">
                          <a:latin typeface="Arial"/>
                          <a:cs typeface="Arial"/>
                        </a:rPr>
                        <a:t>Artificial </a:t>
                      </a:r>
                      <a:r>
                        <a:rPr sz="1400" spc="-60" dirty="0">
                          <a:latin typeface="Arial"/>
                          <a:cs typeface="Arial"/>
                        </a:rPr>
                        <a:t>intelligence,</a:t>
                      </a:r>
                      <a:r>
                        <a:rPr sz="1400" spc="90" dirty="0">
                          <a:latin typeface="Arial"/>
                          <a:cs typeface="Arial"/>
                        </a:rPr>
                        <a:t> </a:t>
                      </a:r>
                      <a:r>
                        <a:rPr sz="1400" spc="-10" dirty="0">
                          <a:latin typeface="Arial"/>
                          <a:cs typeface="Arial"/>
                        </a:rPr>
                        <a:t>Information </a:t>
                      </a:r>
                      <a:r>
                        <a:rPr sz="1400" spc="-85" dirty="0">
                          <a:latin typeface="Arial"/>
                          <a:cs typeface="Arial"/>
                        </a:rPr>
                        <a:t>management</a:t>
                      </a:r>
                      <a:r>
                        <a:rPr sz="1400" spc="75" dirty="0">
                          <a:latin typeface="Arial"/>
                          <a:cs typeface="Arial"/>
                        </a:rPr>
                        <a:t> </a:t>
                      </a:r>
                      <a:r>
                        <a:rPr sz="1400" spc="-10" dirty="0">
                          <a:latin typeface="Arial"/>
                          <a:cs typeface="Arial"/>
                        </a:rPr>
                        <a:t>theory</a:t>
                      </a:r>
                      <a:r>
                        <a:rPr sz="1400" spc="-170" dirty="0">
                          <a:latin typeface="Arial"/>
                          <a:cs typeface="Arial"/>
                        </a:rPr>
                        <a:t> </a:t>
                      </a:r>
                      <a:r>
                        <a:rPr sz="1400" spc="-25" dirty="0">
                          <a:latin typeface="Arial"/>
                          <a:cs typeface="Arial"/>
                        </a:rPr>
                        <a:t>and </a:t>
                      </a:r>
                      <a:r>
                        <a:rPr sz="1400" spc="-65" dirty="0">
                          <a:latin typeface="Arial"/>
                          <a:cs typeface="Arial"/>
                        </a:rPr>
                        <a:t>practice,</a:t>
                      </a:r>
                      <a:r>
                        <a:rPr sz="1400" spc="-10" dirty="0">
                          <a:latin typeface="Arial"/>
                          <a:cs typeface="Arial"/>
                        </a:rPr>
                        <a:t> Software</a:t>
                      </a:r>
                      <a:endParaRPr sz="1400">
                        <a:latin typeface="Arial"/>
                        <a:cs typeface="Arial"/>
                      </a:endParaRPr>
                    </a:p>
                    <a:p>
                      <a:pPr marL="77470" marR="106680">
                        <a:lnSpc>
                          <a:spcPct val="100000"/>
                        </a:lnSpc>
                      </a:pPr>
                      <a:r>
                        <a:rPr sz="1400" spc="-90" dirty="0">
                          <a:latin typeface="Arial"/>
                          <a:cs typeface="Arial"/>
                        </a:rPr>
                        <a:t>design,</a:t>
                      </a:r>
                      <a:r>
                        <a:rPr sz="1400" spc="-20" dirty="0">
                          <a:latin typeface="Arial"/>
                          <a:cs typeface="Arial"/>
                        </a:rPr>
                        <a:t> </a:t>
                      </a:r>
                      <a:r>
                        <a:rPr sz="1400" spc="-55" dirty="0">
                          <a:latin typeface="Arial"/>
                          <a:cs typeface="Arial"/>
                        </a:rPr>
                        <a:t>Security</a:t>
                      </a:r>
                      <a:r>
                        <a:rPr sz="1400" dirty="0">
                          <a:latin typeface="Arial"/>
                          <a:cs typeface="Arial"/>
                        </a:rPr>
                        <a:t> </a:t>
                      </a:r>
                      <a:r>
                        <a:rPr sz="1400" spc="-10" dirty="0">
                          <a:latin typeface="Arial"/>
                          <a:cs typeface="Arial"/>
                        </a:rPr>
                        <a:t>issues </a:t>
                      </a:r>
                      <a:r>
                        <a:rPr sz="1400" spc="-110" dirty="0">
                          <a:latin typeface="Arial"/>
                          <a:cs typeface="Arial"/>
                        </a:rPr>
                        <a:t>and</a:t>
                      </a:r>
                      <a:r>
                        <a:rPr sz="1400" spc="-25" dirty="0">
                          <a:latin typeface="Arial"/>
                          <a:cs typeface="Arial"/>
                        </a:rPr>
                        <a:t> </a:t>
                      </a:r>
                      <a:r>
                        <a:rPr sz="1400" spc="-50" dirty="0">
                          <a:latin typeface="Arial"/>
                          <a:cs typeface="Arial"/>
                        </a:rPr>
                        <a:t>principles,</a:t>
                      </a:r>
                      <a:r>
                        <a:rPr sz="1400" spc="55" dirty="0">
                          <a:latin typeface="Arial"/>
                          <a:cs typeface="Arial"/>
                        </a:rPr>
                        <a:t> </a:t>
                      </a:r>
                      <a:r>
                        <a:rPr sz="1400" spc="-20" dirty="0">
                          <a:latin typeface="Arial"/>
                          <a:cs typeface="Arial"/>
                        </a:rPr>
                        <a:t>Data </a:t>
                      </a:r>
                      <a:r>
                        <a:rPr sz="1400" spc="-55" dirty="0">
                          <a:latin typeface="Arial"/>
                          <a:cs typeface="Arial"/>
                        </a:rPr>
                        <a:t>structures,</a:t>
                      </a:r>
                      <a:r>
                        <a:rPr sz="1400" spc="75" dirty="0">
                          <a:latin typeface="Arial"/>
                          <a:cs typeface="Arial"/>
                        </a:rPr>
                        <a:t> </a:t>
                      </a:r>
                      <a:r>
                        <a:rPr sz="1400" spc="-70" dirty="0">
                          <a:latin typeface="Arial"/>
                          <a:cs typeface="Arial"/>
                        </a:rPr>
                        <a:t>and</a:t>
                      </a:r>
                      <a:r>
                        <a:rPr sz="1400" spc="-55" dirty="0">
                          <a:latin typeface="Arial"/>
                          <a:cs typeface="Arial"/>
                        </a:rPr>
                        <a:t> </a:t>
                      </a:r>
                      <a:r>
                        <a:rPr sz="1400" spc="-65" dirty="0">
                          <a:latin typeface="Arial"/>
                          <a:cs typeface="Arial"/>
                        </a:rPr>
                        <a:t>Operating</a:t>
                      </a:r>
                      <a:endParaRPr sz="1400">
                        <a:latin typeface="Arial"/>
                        <a:cs typeface="Arial"/>
                      </a:endParaRPr>
                    </a:p>
                  </a:txBody>
                  <a:tcPr marL="0" marR="0" marT="2465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208915">
                        <a:lnSpc>
                          <a:spcPct val="96700"/>
                        </a:lnSpc>
                        <a:spcBef>
                          <a:spcPts val="250"/>
                        </a:spcBef>
                      </a:pPr>
                      <a:r>
                        <a:rPr sz="1400" spc="-305" dirty="0">
                          <a:latin typeface="Arial"/>
                          <a:cs typeface="Arial"/>
                        </a:rPr>
                        <a:t>CS</a:t>
                      </a:r>
                      <a:r>
                        <a:rPr sz="1400" spc="-35" dirty="0">
                          <a:latin typeface="Arial"/>
                          <a:cs typeface="Arial"/>
                        </a:rPr>
                        <a:t> </a:t>
                      </a:r>
                      <a:r>
                        <a:rPr sz="1400" spc="-65" dirty="0">
                          <a:latin typeface="Arial"/>
                          <a:cs typeface="Arial"/>
                        </a:rPr>
                        <a:t>programs</a:t>
                      </a:r>
                      <a:r>
                        <a:rPr sz="1400" spc="35" dirty="0">
                          <a:latin typeface="Arial"/>
                          <a:cs typeface="Arial"/>
                        </a:rPr>
                        <a:t> </a:t>
                      </a:r>
                      <a:r>
                        <a:rPr sz="1400" spc="-25" dirty="0">
                          <a:latin typeface="Arial"/>
                          <a:cs typeface="Arial"/>
                        </a:rPr>
                        <a:t>are </a:t>
                      </a:r>
                      <a:r>
                        <a:rPr sz="1400" spc="-85" dirty="0">
                          <a:latin typeface="Arial"/>
                          <a:cs typeface="Arial"/>
                        </a:rPr>
                        <a:t>usually</a:t>
                      </a:r>
                      <a:r>
                        <a:rPr sz="1400" spc="10" dirty="0">
                          <a:latin typeface="Arial"/>
                          <a:cs typeface="Arial"/>
                        </a:rPr>
                        <a:t> </a:t>
                      </a:r>
                      <a:r>
                        <a:rPr sz="1400" spc="-50" dirty="0">
                          <a:latin typeface="Arial"/>
                          <a:cs typeface="Arial"/>
                        </a:rPr>
                        <a:t>located</a:t>
                      </a:r>
                      <a:r>
                        <a:rPr sz="1400" spc="25" dirty="0">
                          <a:latin typeface="Arial"/>
                          <a:cs typeface="Arial"/>
                        </a:rPr>
                        <a:t> </a:t>
                      </a:r>
                      <a:r>
                        <a:rPr sz="1400" spc="-25" dirty="0">
                          <a:latin typeface="Arial"/>
                          <a:cs typeface="Arial"/>
                        </a:rPr>
                        <a:t>in </a:t>
                      </a:r>
                      <a:r>
                        <a:rPr sz="1400" spc="-30" dirty="0">
                          <a:latin typeface="Arial"/>
                          <a:cs typeface="Arial"/>
                        </a:rPr>
                        <a:t>the</a:t>
                      </a:r>
                      <a:r>
                        <a:rPr sz="1400" spc="-170" dirty="0">
                          <a:latin typeface="Arial"/>
                          <a:cs typeface="Arial"/>
                        </a:rPr>
                        <a:t> </a:t>
                      </a:r>
                      <a:r>
                        <a:rPr sz="1400" spc="-90" dirty="0">
                          <a:latin typeface="Arial"/>
                          <a:cs typeface="Arial"/>
                        </a:rPr>
                        <a:t>School</a:t>
                      </a:r>
                      <a:r>
                        <a:rPr sz="1400" spc="35" dirty="0">
                          <a:latin typeface="Arial"/>
                          <a:cs typeface="Arial"/>
                        </a:rPr>
                        <a:t> </a:t>
                      </a:r>
                      <a:r>
                        <a:rPr sz="1400" spc="-35" dirty="0">
                          <a:latin typeface="Arial"/>
                          <a:cs typeface="Arial"/>
                        </a:rPr>
                        <a:t>of </a:t>
                      </a:r>
                      <a:r>
                        <a:rPr sz="1400" spc="-10" dirty="0">
                          <a:latin typeface="Arial"/>
                          <a:cs typeface="Arial"/>
                        </a:rPr>
                        <a:t>Sciences.</a:t>
                      </a:r>
                      <a:endParaRPr sz="1400" dirty="0">
                        <a:latin typeface="Arial"/>
                        <a:cs typeface="Arial"/>
                      </a:endParaRPr>
                    </a:p>
                  </a:txBody>
                  <a:tcPr marL="0" marR="0" marT="2801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97155">
                        <a:lnSpc>
                          <a:spcPct val="98700"/>
                        </a:lnSpc>
                        <a:spcBef>
                          <a:spcPts val="225"/>
                        </a:spcBef>
                      </a:pPr>
                      <a:r>
                        <a:rPr sz="1400" spc="-85" dirty="0">
                          <a:latin typeface="Arial"/>
                          <a:cs typeface="Arial"/>
                        </a:rPr>
                        <a:t>Suitable</a:t>
                      </a:r>
                      <a:r>
                        <a:rPr sz="1400" spc="-20" dirty="0">
                          <a:latin typeface="Arial"/>
                          <a:cs typeface="Arial"/>
                        </a:rPr>
                        <a:t> </a:t>
                      </a:r>
                      <a:r>
                        <a:rPr sz="1400" dirty="0">
                          <a:latin typeface="Arial"/>
                          <a:cs typeface="Arial"/>
                        </a:rPr>
                        <a:t>for</a:t>
                      </a:r>
                      <a:r>
                        <a:rPr sz="1400" spc="-50" dirty="0">
                          <a:latin typeface="Arial"/>
                          <a:cs typeface="Arial"/>
                        </a:rPr>
                        <a:t> students</a:t>
                      </a:r>
                      <a:r>
                        <a:rPr sz="1400" spc="40" dirty="0">
                          <a:latin typeface="Arial"/>
                          <a:cs typeface="Arial"/>
                        </a:rPr>
                        <a:t> </a:t>
                      </a:r>
                      <a:r>
                        <a:rPr sz="1400" spc="-35" dirty="0">
                          <a:latin typeface="Arial"/>
                          <a:cs typeface="Arial"/>
                        </a:rPr>
                        <a:t>who</a:t>
                      </a:r>
                      <a:r>
                        <a:rPr sz="1400" spc="-50" dirty="0">
                          <a:latin typeface="Arial"/>
                          <a:cs typeface="Arial"/>
                        </a:rPr>
                        <a:t> </a:t>
                      </a:r>
                      <a:r>
                        <a:rPr sz="1400" spc="-25" dirty="0">
                          <a:latin typeface="Arial"/>
                          <a:cs typeface="Arial"/>
                        </a:rPr>
                        <a:t>are </a:t>
                      </a:r>
                      <a:r>
                        <a:rPr sz="1400" spc="-80" dirty="0">
                          <a:latin typeface="Arial"/>
                          <a:cs typeface="Arial"/>
                        </a:rPr>
                        <a:t>highly</a:t>
                      </a:r>
                      <a:r>
                        <a:rPr sz="1400" spc="5" dirty="0">
                          <a:latin typeface="Arial"/>
                          <a:cs typeface="Arial"/>
                        </a:rPr>
                        <a:t> </a:t>
                      </a:r>
                      <a:r>
                        <a:rPr sz="1400" spc="-40" dirty="0">
                          <a:latin typeface="Arial"/>
                          <a:cs typeface="Arial"/>
                        </a:rPr>
                        <a:t>interested</a:t>
                      </a:r>
                      <a:r>
                        <a:rPr sz="1400" spc="60" dirty="0">
                          <a:latin typeface="Arial"/>
                          <a:cs typeface="Arial"/>
                        </a:rPr>
                        <a:t> </a:t>
                      </a:r>
                      <a:r>
                        <a:rPr sz="1400" spc="-25" dirty="0">
                          <a:latin typeface="Arial"/>
                          <a:cs typeface="Arial"/>
                        </a:rPr>
                        <a:t>in </a:t>
                      </a:r>
                      <a:r>
                        <a:rPr sz="1400" spc="-65" dirty="0">
                          <a:latin typeface="Arial"/>
                          <a:cs typeface="Arial"/>
                        </a:rPr>
                        <a:t>programming.</a:t>
                      </a:r>
                      <a:r>
                        <a:rPr sz="1400" spc="254" dirty="0">
                          <a:latin typeface="Arial"/>
                          <a:cs typeface="Arial"/>
                        </a:rPr>
                        <a:t> </a:t>
                      </a:r>
                      <a:r>
                        <a:rPr sz="1400" spc="-65" dirty="0">
                          <a:latin typeface="Arial"/>
                          <a:cs typeface="Arial"/>
                        </a:rPr>
                        <a:t>Also,</a:t>
                      </a:r>
                      <a:r>
                        <a:rPr sz="1400" spc="-70" dirty="0">
                          <a:latin typeface="Arial"/>
                          <a:cs typeface="Arial"/>
                        </a:rPr>
                        <a:t> </a:t>
                      </a:r>
                      <a:r>
                        <a:rPr sz="1400" spc="-25" dirty="0">
                          <a:latin typeface="Arial"/>
                          <a:cs typeface="Arial"/>
                        </a:rPr>
                        <a:t>for</a:t>
                      </a:r>
                      <a:r>
                        <a:rPr sz="1400" spc="500" dirty="0">
                          <a:latin typeface="Arial"/>
                          <a:cs typeface="Arial"/>
                        </a:rPr>
                        <a:t> </a:t>
                      </a:r>
                      <a:r>
                        <a:rPr sz="1400" spc="-65" dirty="0">
                          <a:latin typeface="Arial"/>
                          <a:cs typeface="Arial"/>
                        </a:rPr>
                        <a:t>students</a:t>
                      </a:r>
                      <a:r>
                        <a:rPr sz="1400" spc="-10" dirty="0">
                          <a:latin typeface="Arial"/>
                          <a:cs typeface="Arial"/>
                        </a:rPr>
                        <a:t> </a:t>
                      </a:r>
                      <a:r>
                        <a:rPr sz="1400" spc="-40" dirty="0">
                          <a:latin typeface="Arial"/>
                          <a:cs typeface="Arial"/>
                        </a:rPr>
                        <a:t>interested</a:t>
                      </a:r>
                      <a:r>
                        <a:rPr sz="1400" spc="50" dirty="0">
                          <a:latin typeface="Arial"/>
                          <a:cs typeface="Arial"/>
                        </a:rPr>
                        <a:t> </a:t>
                      </a:r>
                      <a:r>
                        <a:rPr sz="1400" spc="-10" dirty="0">
                          <a:latin typeface="Arial"/>
                          <a:cs typeface="Arial"/>
                        </a:rPr>
                        <a:t>in</a:t>
                      </a:r>
                      <a:r>
                        <a:rPr sz="1400" spc="-80" dirty="0">
                          <a:latin typeface="Arial"/>
                          <a:cs typeface="Arial"/>
                        </a:rPr>
                        <a:t> </a:t>
                      </a:r>
                      <a:r>
                        <a:rPr sz="1400" spc="-60" dirty="0">
                          <a:latin typeface="Arial"/>
                          <a:cs typeface="Arial"/>
                        </a:rPr>
                        <a:t>research, </a:t>
                      </a:r>
                      <a:r>
                        <a:rPr sz="1400" spc="-180" dirty="0">
                          <a:latin typeface="Arial"/>
                          <a:cs typeface="Arial"/>
                        </a:rPr>
                        <a:t>as</a:t>
                      </a:r>
                      <a:r>
                        <a:rPr sz="1400" spc="-85" dirty="0">
                          <a:latin typeface="Arial"/>
                          <a:cs typeface="Arial"/>
                        </a:rPr>
                        <a:t> </a:t>
                      </a:r>
                      <a:r>
                        <a:rPr sz="1400" spc="-20" dirty="0">
                          <a:latin typeface="Arial"/>
                          <a:cs typeface="Arial"/>
                        </a:rPr>
                        <a:t>well</a:t>
                      </a:r>
                      <a:r>
                        <a:rPr sz="1400" spc="-65" dirty="0">
                          <a:latin typeface="Arial"/>
                          <a:cs typeface="Arial"/>
                        </a:rPr>
                        <a:t> </a:t>
                      </a:r>
                      <a:r>
                        <a:rPr sz="1400" spc="-90" dirty="0">
                          <a:latin typeface="Arial"/>
                          <a:cs typeface="Arial"/>
                        </a:rPr>
                        <a:t>as</a:t>
                      </a:r>
                      <a:r>
                        <a:rPr sz="1400" spc="-40" dirty="0">
                          <a:latin typeface="Arial"/>
                          <a:cs typeface="Arial"/>
                        </a:rPr>
                        <a:t> </a:t>
                      </a:r>
                      <a:r>
                        <a:rPr sz="1400" spc="-20" dirty="0">
                          <a:latin typeface="Arial"/>
                          <a:cs typeface="Arial"/>
                        </a:rPr>
                        <a:t>in</a:t>
                      </a:r>
                      <a:r>
                        <a:rPr sz="1400" spc="-125" dirty="0">
                          <a:latin typeface="Arial"/>
                          <a:cs typeface="Arial"/>
                        </a:rPr>
                        <a:t> </a:t>
                      </a:r>
                      <a:r>
                        <a:rPr sz="1400" dirty="0">
                          <a:latin typeface="Arial"/>
                          <a:cs typeface="Arial"/>
                        </a:rPr>
                        <a:t>the</a:t>
                      </a:r>
                      <a:r>
                        <a:rPr sz="1400" spc="-95" dirty="0">
                          <a:latin typeface="Arial"/>
                          <a:cs typeface="Arial"/>
                        </a:rPr>
                        <a:t> </a:t>
                      </a:r>
                      <a:r>
                        <a:rPr sz="1400" spc="-20" dirty="0">
                          <a:latin typeface="Arial"/>
                          <a:cs typeface="Arial"/>
                        </a:rPr>
                        <a:t>theoretical</a:t>
                      </a:r>
                      <a:r>
                        <a:rPr sz="1400" spc="-150" dirty="0">
                          <a:latin typeface="Arial"/>
                          <a:cs typeface="Arial"/>
                        </a:rPr>
                        <a:t> </a:t>
                      </a:r>
                      <a:r>
                        <a:rPr sz="1400" spc="-25" dirty="0">
                          <a:latin typeface="Arial"/>
                          <a:cs typeface="Arial"/>
                        </a:rPr>
                        <a:t>and </a:t>
                      </a:r>
                      <a:r>
                        <a:rPr sz="1400" spc="-35" dirty="0">
                          <a:latin typeface="Arial"/>
                          <a:cs typeface="Arial"/>
                        </a:rPr>
                        <a:t>formal</a:t>
                      </a:r>
                      <a:r>
                        <a:rPr sz="1400" spc="-114" dirty="0">
                          <a:latin typeface="Arial"/>
                          <a:cs typeface="Arial"/>
                        </a:rPr>
                        <a:t> </a:t>
                      </a:r>
                      <a:r>
                        <a:rPr sz="1400" spc="-85" dirty="0">
                          <a:latin typeface="Arial"/>
                          <a:cs typeface="Arial"/>
                        </a:rPr>
                        <a:t>aspects</a:t>
                      </a:r>
                      <a:r>
                        <a:rPr sz="1400" spc="80" dirty="0">
                          <a:latin typeface="Arial"/>
                          <a:cs typeface="Arial"/>
                        </a:rPr>
                        <a:t> </a:t>
                      </a:r>
                      <a:r>
                        <a:rPr sz="1400" dirty="0">
                          <a:latin typeface="Arial"/>
                          <a:cs typeface="Arial"/>
                        </a:rPr>
                        <a:t>of</a:t>
                      </a:r>
                      <a:r>
                        <a:rPr sz="1400" spc="-90" dirty="0">
                          <a:latin typeface="Arial"/>
                          <a:cs typeface="Arial"/>
                        </a:rPr>
                        <a:t> </a:t>
                      </a:r>
                      <a:r>
                        <a:rPr sz="1400" spc="-10" dirty="0">
                          <a:latin typeface="Arial"/>
                          <a:cs typeface="Arial"/>
                        </a:rPr>
                        <a:t>computer software.</a:t>
                      </a:r>
                      <a:endParaRPr sz="1400" dirty="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16" name="object 16"/>
          <p:cNvPicPr/>
          <p:nvPr/>
        </p:nvPicPr>
        <p:blipFill>
          <a:blip r:embed="rId9" cstate="print"/>
          <a:stretch>
            <a:fillRect/>
          </a:stretch>
        </p:blipFill>
        <p:spPr>
          <a:xfrm>
            <a:off x="944096" y="1316130"/>
            <a:ext cx="11206" cy="22412"/>
          </a:xfrm>
          <a:prstGeom prst="rect">
            <a:avLst/>
          </a:prstGeom>
        </p:spPr>
      </p:pic>
      <p:pic>
        <p:nvPicPr>
          <p:cNvPr id="17" name="object 17"/>
          <p:cNvPicPr/>
          <p:nvPr/>
        </p:nvPicPr>
        <p:blipFill>
          <a:blip r:embed="rId9" cstate="print"/>
          <a:stretch>
            <a:fillRect/>
          </a:stretch>
        </p:blipFill>
        <p:spPr>
          <a:xfrm>
            <a:off x="1100978" y="1316130"/>
            <a:ext cx="11206" cy="22412"/>
          </a:xfrm>
          <a:prstGeom prst="rect">
            <a:avLst/>
          </a:prstGeom>
        </p:spPr>
      </p:pic>
      <p:pic>
        <p:nvPicPr>
          <p:cNvPr id="18" name="object 18"/>
          <p:cNvPicPr/>
          <p:nvPr/>
        </p:nvPicPr>
        <p:blipFill>
          <a:blip r:embed="rId9" cstate="print"/>
          <a:stretch>
            <a:fillRect/>
          </a:stretch>
        </p:blipFill>
        <p:spPr>
          <a:xfrm>
            <a:off x="4081182" y="1316130"/>
            <a:ext cx="11206" cy="22412"/>
          </a:xfrm>
          <a:prstGeom prst="rect">
            <a:avLst/>
          </a:prstGeom>
        </p:spPr>
      </p:pic>
      <p:pic>
        <p:nvPicPr>
          <p:cNvPr id="19" name="object 19"/>
          <p:cNvPicPr/>
          <p:nvPr/>
        </p:nvPicPr>
        <p:blipFill>
          <a:blip r:embed="rId9" cstate="print"/>
          <a:stretch>
            <a:fillRect/>
          </a:stretch>
        </p:blipFill>
        <p:spPr>
          <a:xfrm>
            <a:off x="5493684" y="1316130"/>
            <a:ext cx="11206" cy="22412"/>
          </a:xfrm>
          <a:prstGeom prst="rect">
            <a:avLst/>
          </a:prstGeom>
        </p:spPr>
      </p:pic>
      <p:pic>
        <p:nvPicPr>
          <p:cNvPr id="20" name="object 20"/>
          <p:cNvPicPr/>
          <p:nvPr/>
        </p:nvPicPr>
        <p:blipFill>
          <a:blip r:embed="rId9" cstate="print"/>
          <a:stretch>
            <a:fillRect/>
          </a:stretch>
        </p:blipFill>
        <p:spPr>
          <a:xfrm>
            <a:off x="6603067" y="1316130"/>
            <a:ext cx="11205" cy="22412"/>
          </a:xfrm>
          <a:prstGeom prst="rect">
            <a:avLst/>
          </a:prstGeom>
        </p:spPr>
      </p:pic>
      <p:pic>
        <p:nvPicPr>
          <p:cNvPr id="21" name="object 21"/>
          <p:cNvPicPr/>
          <p:nvPr/>
        </p:nvPicPr>
        <p:blipFill>
          <a:blip r:embed="rId9" cstate="print"/>
          <a:stretch>
            <a:fillRect/>
          </a:stretch>
        </p:blipFill>
        <p:spPr>
          <a:xfrm>
            <a:off x="944096" y="4189319"/>
            <a:ext cx="11206" cy="22412"/>
          </a:xfrm>
          <a:prstGeom prst="rect">
            <a:avLst/>
          </a:prstGeom>
        </p:spPr>
      </p:pic>
      <p:pic>
        <p:nvPicPr>
          <p:cNvPr id="22" name="object 22"/>
          <p:cNvPicPr/>
          <p:nvPr/>
        </p:nvPicPr>
        <p:blipFill>
          <a:blip r:embed="rId9" cstate="print"/>
          <a:stretch>
            <a:fillRect/>
          </a:stretch>
        </p:blipFill>
        <p:spPr>
          <a:xfrm>
            <a:off x="1100978" y="4189319"/>
            <a:ext cx="11206" cy="22412"/>
          </a:xfrm>
          <a:prstGeom prst="rect">
            <a:avLst/>
          </a:prstGeom>
        </p:spPr>
      </p:pic>
      <p:pic>
        <p:nvPicPr>
          <p:cNvPr id="23" name="object 23"/>
          <p:cNvPicPr/>
          <p:nvPr/>
        </p:nvPicPr>
        <p:blipFill>
          <a:blip r:embed="rId9" cstate="print"/>
          <a:stretch>
            <a:fillRect/>
          </a:stretch>
        </p:blipFill>
        <p:spPr>
          <a:xfrm>
            <a:off x="2360518" y="4189319"/>
            <a:ext cx="11206" cy="22412"/>
          </a:xfrm>
          <a:prstGeom prst="rect">
            <a:avLst/>
          </a:prstGeom>
        </p:spPr>
      </p:pic>
      <p:pic>
        <p:nvPicPr>
          <p:cNvPr id="24" name="object 24"/>
          <p:cNvPicPr/>
          <p:nvPr/>
        </p:nvPicPr>
        <p:blipFill>
          <a:blip r:embed="rId9" cstate="print"/>
          <a:stretch>
            <a:fillRect/>
          </a:stretch>
        </p:blipFill>
        <p:spPr>
          <a:xfrm>
            <a:off x="4081182" y="4189319"/>
            <a:ext cx="11206" cy="22412"/>
          </a:xfrm>
          <a:prstGeom prst="rect">
            <a:avLst/>
          </a:prstGeom>
        </p:spPr>
      </p:pic>
      <p:pic>
        <p:nvPicPr>
          <p:cNvPr id="25" name="object 25"/>
          <p:cNvPicPr/>
          <p:nvPr/>
        </p:nvPicPr>
        <p:blipFill>
          <a:blip r:embed="rId9" cstate="print"/>
          <a:stretch>
            <a:fillRect/>
          </a:stretch>
        </p:blipFill>
        <p:spPr>
          <a:xfrm>
            <a:off x="5493684" y="4189319"/>
            <a:ext cx="11206" cy="22412"/>
          </a:xfrm>
          <a:prstGeom prst="rect">
            <a:avLst/>
          </a:prstGeom>
        </p:spPr>
      </p:pic>
      <p:pic>
        <p:nvPicPr>
          <p:cNvPr id="26" name="object 26"/>
          <p:cNvPicPr/>
          <p:nvPr/>
        </p:nvPicPr>
        <p:blipFill>
          <a:blip r:embed="rId9" cstate="print"/>
          <a:stretch>
            <a:fillRect/>
          </a:stretch>
        </p:blipFill>
        <p:spPr>
          <a:xfrm>
            <a:off x="6603067" y="4189319"/>
            <a:ext cx="11205" cy="22412"/>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1294" y="851647"/>
            <a:ext cx="7373471" cy="475690"/>
            <a:chOff x="914400" y="965200"/>
            <a:chExt cx="8356600" cy="539115"/>
          </a:xfrm>
        </p:grpSpPr>
        <p:pic>
          <p:nvPicPr>
            <p:cNvPr id="3" name="object 3"/>
            <p:cNvPicPr/>
            <p:nvPr/>
          </p:nvPicPr>
          <p:blipFill>
            <a:blip r:embed="rId2" cstate="print"/>
            <a:stretch>
              <a:fillRect/>
            </a:stretch>
          </p:blipFill>
          <p:spPr>
            <a:xfrm>
              <a:off x="914400" y="965200"/>
              <a:ext cx="8356600" cy="520700"/>
            </a:xfrm>
            <a:prstGeom prst="rect">
              <a:avLst/>
            </a:prstGeom>
          </p:spPr>
        </p:pic>
        <p:pic>
          <p:nvPicPr>
            <p:cNvPr id="4" name="object 4"/>
            <p:cNvPicPr/>
            <p:nvPr/>
          </p:nvPicPr>
          <p:blipFill>
            <a:blip r:embed="rId3" cstate="print"/>
            <a:stretch>
              <a:fillRect/>
            </a:stretch>
          </p:blipFill>
          <p:spPr>
            <a:xfrm>
              <a:off x="1163954" y="1161414"/>
              <a:ext cx="1308100" cy="177799"/>
            </a:xfrm>
            <a:prstGeom prst="rect">
              <a:avLst/>
            </a:prstGeom>
          </p:spPr>
        </p:pic>
        <p:pic>
          <p:nvPicPr>
            <p:cNvPr id="5" name="object 5"/>
            <p:cNvPicPr/>
            <p:nvPr/>
          </p:nvPicPr>
          <p:blipFill>
            <a:blip r:embed="rId4" cstate="print"/>
            <a:stretch>
              <a:fillRect/>
            </a:stretch>
          </p:blipFill>
          <p:spPr>
            <a:xfrm>
              <a:off x="2593339" y="1161414"/>
              <a:ext cx="1816100" cy="177799"/>
            </a:xfrm>
            <a:prstGeom prst="rect">
              <a:avLst/>
            </a:prstGeom>
          </p:spPr>
        </p:pic>
        <p:pic>
          <p:nvPicPr>
            <p:cNvPr id="6" name="object 6"/>
            <p:cNvPicPr/>
            <p:nvPr/>
          </p:nvPicPr>
          <p:blipFill>
            <a:blip r:embed="rId5" cstate="print"/>
            <a:stretch>
              <a:fillRect/>
            </a:stretch>
          </p:blipFill>
          <p:spPr>
            <a:xfrm>
              <a:off x="4537075" y="1161414"/>
              <a:ext cx="1473200" cy="342899"/>
            </a:xfrm>
            <a:prstGeom prst="rect">
              <a:avLst/>
            </a:prstGeom>
          </p:spPr>
        </p:pic>
        <p:pic>
          <p:nvPicPr>
            <p:cNvPr id="7" name="object 7"/>
            <p:cNvPicPr/>
            <p:nvPr/>
          </p:nvPicPr>
          <p:blipFill>
            <a:blip r:embed="rId6" cstate="print"/>
            <a:stretch>
              <a:fillRect/>
            </a:stretch>
          </p:blipFill>
          <p:spPr>
            <a:xfrm>
              <a:off x="6137275" y="1161414"/>
              <a:ext cx="1130300" cy="177799"/>
            </a:xfrm>
            <a:prstGeom prst="rect">
              <a:avLst/>
            </a:prstGeom>
          </p:spPr>
        </p:pic>
        <p:pic>
          <p:nvPicPr>
            <p:cNvPr id="8" name="object 8"/>
            <p:cNvPicPr/>
            <p:nvPr/>
          </p:nvPicPr>
          <p:blipFill>
            <a:blip r:embed="rId7" cstate="print"/>
            <a:stretch>
              <a:fillRect/>
            </a:stretch>
          </p:blipFill>
          <p:spPr>
            <a:xfrm>
              <a:off x="7394575" y="1161414"/>
              <a:ext cx="1816100" cy="342899"/>
            </a:xfrm>
            <a:prstGeom prst="rect">
              <a:avLst/>
            </a:prstGeom>
          </p:spPr>
        </p:pic>
      </p:grpSp>
      <p:sp>
        <p:nvSpPr>
          <p:cNvPr id="9" name="object 9"/>
          <p:cNvSpPr txBox="1"/>
          <p:nvPr/>
        </p:nvSpPr>
        <p:spPr>
          <a:xfrm>
            <a:off x="8085045" y="393550"/>
            <a:ext cx="77881" cy="160715"/>
          </a:xfrm>
          <a:prstGeom prst="rect">
            <a:avLst/>
          </a:prstGeom>
        </p:spPr>
        <p:txBody>
          <a:bodyPr vert="horz" wrap="square" lIns="0" tIns="11206" rIns="0" bIns="0" rtlCol="0">
            <a:spAutoFit/>
          </a:bodyPr>
          <a:lstStyle/>
          <a:p>
            <a:pPr marL="11206" defTabSz="806867">
              <a:spcBef>
                <a:spcPts val="88"/>
              </a:spcBef>
            </a:pPr>
            <a:r>
              <a:rPr sz="971" spc="-66" dirty="0">
                <a:latin typeface="Arial"/>
                <a:cs typeface="Arial"/>
              </a:rPr>
              <a:t>4</a:t>
            </a:r>
            <a:endParaRPr sz="971">
              <a:latin typeface="Arial"/>
              <a:cs typeface="Arial"/>
            </a:endParaRPr>
          </a:p>
        </p:txBody>
      </p:sp>
      <p:grpSp>
        <p:nvGrpSpPr>
          <p:cNvPr id="10" name="object 10"/>
          <p:cNvGrpSpPr/>
          <p:nvPr/>
        </p:nvGrpSpPr>
        <p:grpSpPr>
          <a:xfrm>
            <a:off x="2360518" y="1014693"/>
            <a:ext cx="5968253" cy="323850"/>
            <a:chOff x="2522854" y="1149985"/>
            <a:chExt cx="6764020" cy="367030"/>
          </a:xfrm>
        </p:grpSpPr>
        <p:pic>
          <p:nvPicPr>
            <p:cNvPr id="11" name="object 11"/>
            <p:cNvPicPr/>
            <p:nvPr/>
          </p:nvPicPr>
          <p:blipFill>
            <a:blip r:embed="rId8" cstate="print"/>
            <a:stretch>
              <a:fillRect/>
            </a:stretch>
          </p:blipFill>
          <p:spPr>
            <a:xfrm>
              <a:off x="6073775" y="1149985"/>
              <a:ext cx="25400" cy="12699"/>
            </a:xfrm>
            <a:prstGeom prst="rect">
              <a:avLst/>
            </a:prstGeom>
          </p:spPr>
        </p:pic>
        <p:pic>
          <p:nvPicPr>
            <p:cNvPr id="12" name="object 12"/>
            <p:cNvPicPr/>
            <p:nvPr/>
          </p:nvPicPr>
          <p:blipFill>
            <a:blip r:embed="rId8" cstate="print"/>
            <a:stretch>
              <a:fillRect/>
            </a:stretch>
          </p:blipFill>
          <p:spPr>
            <a:xfrm>
              <a:off x="7331075" y="1149985"/>
              <a:ext cx="25400" cy="12699"/>
            </a:xfrm>
            <a:prstGeom prst="rect">
              <a:avLst/>
            </a:prstGeom>
          </p:spPr>
        </p:pic>
        <p:pic>
          <p:nvPicPr>
            <p:cNvPr id="13" name="object 13"/>
            <p:cNvPicPr/>
            <p:nvPr/>
          </p:nvPicPr>
          <p:blipFill>
            <a:blip r:embed="rId9" cstate="print"/>
            <a:stretch>
              <a:fillRect/>
            </a:stretch>
          </p:blipFill>
          <p:spPr>
            <a:xfrm>
              <a:off x="2522854" y="1491615"/>
              <a:ext cx="12700" cy="25400"/>
            </a:xfrm>
            <a:prstGeom prst="rect">
              <a:avLst/>
            </a:prstGeom>
          </p:spPr>
        </p:pic>
        <p:pic>
          <p:nvPicPr>
            <p:cNvPr id="14" name="object 14"/>
            <p:cNvPicPr/>
            <p:nvPr/>
          </p:nvPicPr>
          <p:blipFill>
            <a:blip r:embed="rId10" cstate="print"/>
            <a:stretch>
              <a:fillRect/>
            </a:stretch>
          </p:blipFill>
          <p:spPr>
            <a:xfrm>
              <a:off x="9274174" y="1504315"/>
              <a:ext cx="12699" cy="12700"/>
            </a:xfrm>
            <a:prstGeom prst="rect">
              <a:avLst/>
            </a:prstGeom>
          </p:spPr>
        </p:pic>
      </p:grpSp>
      <p:graphicFrame>
        <p:nvGraphicFramePr>
          <p:cNvPr id="15" name="object 15"/>
          <p:cNvGraphicFramePr>
            <a:graphicFrameLocks noGrp="1"/>
          </p:cNvGraphicFramePr>
          <p:nvPr>
            <p:extLst>
              <p:ext uri="{D42A27DB-BD31-4B8C-83A1-F6EECF244321}">
                <p14:modId xmlns:p14="http://schemas.microsoft.com/office/powerpoint/2010/main" val="930132490"/>
              </p:ext>
            </p:extLst>
          </p:nvPr>
        </p:nvGraphicFramePr>
        <p:xfrm>
          <a:off x="912027" y="685800"/>
          <a:ext cx="7395545" cy="5526274"/>
        </p:xfrm>
        <a:graphic>
          <a:graphicData uri="http://schemas.openxmlformats.org/drawingml/2006/table">
            <a:tbl>
              <a:tblPr firstRow="1" bandRow="1">
                <a:tableStyleId>{2D5ABB26-0587-4C30-8999-92F81FD0307C}</a:tableStyleId>
              </a:tblPr>
              <a:tblGrid>
                <a:gridCol w="161823">
                  <a:extLst>
                    <a:ext uri="{9D8B030D-6E8A-4147-A177-3AD203B41FA5}">
                      <a16:colId xmlns:a16="http://schemas.microsoft.com/office/drawing/2014/main" val="20000"/>
                    </a:ext>
                  </a:extLst>
                </a:gridCol>
                <a:gridCol w="1264806">
                  <a:extLst>
                    <a:ext uri="{9D8B030D-6E8A-4147-A177-3AD203B41FA5}">
                      <a16:colId xmlns:a16="http://schemas.microsoft.com/office/drawing/2014/main" val="20001"/>
                    </a:ext>
                  </a:extLst>
                </a:gridCol>
                <a:gridCol w="1719372">
                  <a:extLst>
                    <a:ext uri="{9D8B030D-6E8A-4147-A177-3AD203B41FA5}">
                      <a16:colId xmlns:a16="http://schemas.microsoft.com/office/drawing/2014/main" val="20002"/>
                    </a:ext>
                  </a:extLst>
                </a:gridCol>
                <a:gridCol w="1415953">
                  <a:extLst>
                    <a:ext uri="{9D8B030D-6E8A-4147-A177-3AD203B41FA5}">
                      <a16:colId xmlns:a16="http://schemas.microsoft.com/office/drawing/2014/main" val="20003"/>
                    </a:ext>
                  </a:extLst>
                </a:gridCol>
                <a:gridCol w="1112534">
                  <a:extLst>
                    <a:ext uri="{9D8B030D-6E8A-4147-A177-3AD203B41FA5}">
                      <a16:colId xmlns:a16="http://schemas.microsoft.com/office/drawing/2014/main" val="20004"/>
                    </a:ext>
                  </a:extLst>
                </a:gridCol>
                <a:gridCol w="1721057">
                  <a:extLst>
                    <a:ext uri="{9D8B030D-6E8A-4147-A177-3AD203B41FA5}">
                      <a16:colId xmlns:a16="http://schemas.microsoft.com/office/drawing/2014/main" val="20005"/>
                    </a:ext>
                  </a:extLst>
                </a:gridCol>
              </a:tblGrid>
              <a:tr h="213413">
                <a:tc gridSpan="6">
                  <a:txBody>
                    <a:bodyPr/>
                    <a:lstStyle/>
                    <a:p>
                      <a:pPr marL="80645">
                        <a:lnSpc>
                          <a:spcPts val="1215"/>
                        </a:lnSpc>
                        <a:spcBef>
                          <a:spcPts val="75"/>
                        </a:spcBef>
                      </a:pPr>
                      <a:r>
                        <a:rPr sz="1000" b="1" spc="-125" dirty="0">
                          <a:latin typeface="Arial"/>
                          <a:cs typeface="Arial"/>
                        </a:rPr>
                        <a:t>Comparison</a:t>
                      </a:r>
                      <a:r>
                        <a:rPr sz="1000" b="1" spc="80" dirty="0">
                          <a:latin typeface="Arial"/>
                          <a:cs typeface="Arial"/>
                        </a:rPr>
                        <a:t> </a:t>
                      </a:r>
                      <a:r>
                        <a:rPr sz="1000" b="1" spc="-85" dirty="0">
                          <a:latin typeface="Arial"/>
                          <a:cs typeface="Arial"/>
                        </a:rPr>
                        <a:t>between</a:t>
                      </a:r>
                      <a:r>
                        <a:rPr sz="1000" b="1" spc="20" dirty="0">
                          <a:latin typeface="Arial"/>
                          <a:cs typeface="Arial"/>
                        </a:rPr>
                        <a:t> </a:t>
                      </a:r>
                      <a:r>
                        <a:rPr sz="1000" b="1" spc="-40" dirty="0">
                          <a:latin typeface="Arial"/>
                          <a:cs typeface="Arial"/>
                        </a:rPr>
                        <a:t>the</a:t>
                      </a:r>
                      <a:r>
                        <a:rPr sz="1000" b="1" spc="-50" dirty="0">
                          <a:latin typeface="Arial"/>
                          <a:cs typeface="Arial"/>
                        </a:rPr>
                        <a:t> </a:t>
                      </a:r>
                      <a:r>
                        <a:rPr sz="1000" b="1" spc="-85" dirty="0">
                          <a:latin typeface="Arial"/>
                          <a:cs typeface="Arial"/>
                        </a:rPr>
                        <a:t>main</a:t>
                      </a:r>
                      <a:r>
                        <a:rPr sz="1000" b="1" spc="-40" dirty="0">
                          <a:latin typeface="Arial"/>
                          <a:cs typeface="Arial"/>
                        </a:rPr>
                        <a:t> </a:t>
                      </a:r>
                      <a:r>
                        <a:rPr sz="1000" b="1" spc="-100" dirty="0">
                          <a:latin typeface="Arial"/>
                          <a:cs typeface="Arial"/>
                        </a:rPr>
                        <a:t>computing</a:t>
                      </a:r>
                      <a:r>
                        <a:rPr sz="1000" b="1" spc="80" dirty="0">
                          <a:latin typeface="Arial"/>
                          <a:cs typeface="Arial"/>
                        </a:rPr>
                        <a:t> </a:t>
                      </a:r>
                      <a:r>
                        <a:rPr sz="1000" b="1" spc="-20" dirty="0">
                          <a:latin typeface="Arial"/>
                          <a:cs typeface="Arial"/>
                        </a:rPr>
                        <a:t>disciplines:</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638753">
                <a:tc>
                  <a:txBody>
                    <a:bodyPr/>
                    <a:lstStyle/>
                    <a:p>
                      <a:pPr marL="31115" algn="ctr">
                        <a:lnSpc>
                          <a:spcPts val="1310"/>
                        </a:lnSpc>
                      </a:pPr>
                      <a:r>
                        <a:rPr sz="1000" b="1" strike="sngStrike" spc="-50" dirty="0">
                          <a:latin typeface="Arial"/>
                          <a:cs typeface="Arial"/>
                        </a:rPr>
                        <a:t>#</a:t>
                      </a:r>
                      <a:endParaRPr sz="1000">
                        <a:latin typeface="Arial"/>
                        <a:cs typeface="Arial"/>
                      </a:endParaRPr>
                    </a:p>
                  </a:txBody>
                  <a:tcPr marL="0" marR="0" marT="0" marB="0">
                    <a:lnL w="12700">
                      <a:solidFill>
                        <a:srgbClr val="000000"/>
                      </a:solidFill>
                      <a:prstDash val="solid"/>
                    </a:lnL>
                    <a:lnR w="12700">
                      <a:solidFill>
                        <a:srgbClr val="000000"/>
                      </a:solidFill>
                      <a:prstDash val="solid"/>
                    </a:lnR>
                    <a:lnT w="1905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3820">
                        <a:lnSpc>
                          <a:spcPct val="100000"/>
                        </a:lnSpc>
                        <a:spcBef>
                          <a:spcPts val="75"/>
                        </a:spcBef>
                      </a:pPr>
                      <a:r>
                        <a:rPr sz="1000" b="1" spc="-30" dirty="0">
                          <a:latin typeface="Arial"/>
                          <a:cs typeface="Arial"/>
                        </a:rPr>
                        <a:t>Discipline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114" dirty="0">
                          <a:latin typeface="Arial"/>
                          <a:cs typeface="Arial"/>
                        </a:rPr>
                        <a:t>Brief</a:t>
                      </a:r>
                      <a:r>
                        <a:rPr sz="1000" b="1" spc="-30" dirty="0">
                          <a:latin typeface="Arial"/>
                          <a:cs typeface="Arial"/>
                        </a:rPr>
                        <a:t> </a:t>
                      </a:r>
                      <a:r>
                        <a:rPr sz="1000" b="1" spc="-10" dirty="0">
                          <a:latin typeface="Arial"/>
                          <a:cs typeface="Arial"/>
                        </a:rPr>
                        <a:t>description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468630">
                        <a:lnSpc>
                          <a:spcPts val="1210"/>
                        </a:lnSpc>
                        <a:spcBef>
                          <a:spcPts val="215"/>
                        </a:spcBef>
                      </a:pPr>
                      <a:r>
                        <a:rPr sz="1000" b="1" spc="-160" dirty="0">
                          <a:latin typeface="Arial"/>
                          <a:cs typeface="Arial"/>
                        </a:rPr>
                        <a:t>Examples</a:t>
                      </a:r>
                      <a:r>
                        <a:rPr sz="1000" b="1" spc="145" dirty="0">
                          <a:latin typeface="Arial"/>
                          <a:cs typeface="Arial"/>
                        </a:rPr>
                        <a:t> </a:t>
                      </a:r>
                      <a:r>
                        <a:rPr sz="1000" b="1" spc="-20" dirty="0">
                          <a:latin typeface="Arial"/>
                          <a:cs typeface="Arial"/>
                        </a:rPr>
                        <a:t>of</a:t>
                      </a:r>
                      <a:r>
                        <a:rPr sz="1000" b="1" spc="-140" dirty="0">
                          <a:latin typeface="Arial"/>
                          <a:cs typeface="Arial"/>
                        </a:rPr>
                        <a:t> </a:t>
                      </a:r>
                      <a:r>
                        <a:rPr sz="1000" b="1" spc="-95" dirty="0">
                          <a:latin typeface="Arial"/>
                          <a:cs typeface="Arial"/>
                        </a:rPr>
                        <a:t>topics </a:t>
                      </a:r>
                      <a:r>
                        <a:rPr sz="1000" b="1" spc="-35" dirty="0">
                          <a:latin typeface="Arial"/>
                          <a:cs typeface="Arial"/>
                        </a:rPr>
                        <a:t>emphasized</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20" dirty="0">
                          <a:latin typeface="Arial"/>
                          <a:cs typeface="Arial"/>
                        </a:rPr>
                        <a:t>Location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581660" indent="-1905">
                        <a:lnSpc>
                          <a:spcPts val="1210"/>
                        </a:lnSpc>
                        <a:spcBef>
                          <a:spcPts val="215"/>
                        </a:spcBef>
                      </a:pPr>
                      <a:r>
                        <a:rPr sz="1000" b="1" spc="-130" dirty="0">
                          <a:latin typeface="Arial"/>
                          <a:cs typeface="Arial"/>
                        </a:rPr>
                        <a:t>Who</a:t>
                      </a:r>
                      <a:r>
                        <a:rPr sz="1000" b="1" spc="-10" dirty="0">
                          <a:latin typeface="Arial"/>
                          <a:cs typeface="Arial"/>
                        </a:rPr>
                        <a:t> </a:t>
                      </a:r>
                      <a:r>
                        <a:rPr sz="1000" b="1" spc="-114" dirty="0">
                          <a:latin typeface="Arial"/>
                          <a:cs typeface="Arial"/>
                        </a:rPr>
                        <a:t>should</a:t>
                      </a:r>
                      <a:r>
                        <a:rPr sz="1000" b="1" spc="65" dirty="0">
                          <a:latin typeface="Arial"/>
                          <a:cs typeface="Arial"/>
                        </a:rPr>
                        <a:t> </a:t>
                      </a:r>
                      <a:r>
                        <a:rPr sz="1000" b="1" spc="-110" dirty="0">
                          <a:latin typeface="Arial"/>
                          <a:cs typeface="Arial"/>
                        </a:rPr>
                        <a:t>study</a:t>
                      </a:r>
                      <a:r>
                        <a:rPr sz="1000" b="1" spc="10" dirty="0">
                          <a:latin typeface="Arial"/>
                          <a:cs typeface="Arial"/>
                        </a:rPr>
                        <a:t> </a:t>
                      </a:r>
                      <a:r>
                        <a:rPr sz="1000" b="1" spc="-55" dirty="0">
                          <a:latin typeface="Arial"/>
                          <a:cs typeface="Arial"/>
                        </a:rPr>
                        <a:t>this </a:t>
                      </a:r>
                      <a:r>
                        <a:rPr sz="1000" b="1" spc="-25" dirty="0">
                          <a:latin typeface="Arial"/>
                          <a:cs typeface="Arial"/>
                        </a:rPr>
                        <a:t>discipline</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249107">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a:lnSpc>
                          <a:spcPct val="100000"/>
                        </a:lnSpc>
                        <a:spcBef>
                          <a:spcPts val="204"/>
                        </a:spcBef>
                      </a:pPr>
                      <a:endParaRPr sz="1000" dirty="0">
                        <a:latin typeface="Arial"/>
                        <a:cs typeface="Arial"/>
                      </a:endParaRPr>
                    </a:p>
                  </a:txBody>
                  <a:tcPr marL="0" marR="0" marT="22971"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257175" indent="-1905">
                        <a:lnSpc>
                          <a:spcPts val="1210"/>
                        </a:lnSpc>
                        <a:spcBef>
                          <a:spcPts val="315"/>
                        </a:spcBef>
                      </a:pPr>
                      <a:endParaRPr sz="1000" dirty="0">
                        <a:latin typeface="Arial"/>
                        <a:cs typeface="Arial"/>
                      </a:endParaRPr>
                    </a:p>
                  </a:txBody>
                  <a:tcPr marL="0" marR="0" marT="3529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883889">
                <a:tc>
                  <a:txBody>
                    <a:bodyPr/>
                    <a:lstStyle/>
                    <a:p>
                      <a:pPr marL="40005" algn="ctr">
                        <a:lnSpc>
                          <a:spcPct val="100000"/>
                        </a:lnSpc>
                        <a:spcBef>
                          <a:spcPts val="85"/>
                        </a:spcBef>
                      </a:pPr>
                      <a:r>
                        <a:rPr sz="1000" spc="-50" dirty="0">
                          <a:latin typeface="Arial"/>
                          <a:cs typeface="Arial"/>
                        </a:rPr>
                        <a:t>3</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a:lnSpc>
                          <a:spcPct val="100000"/>
                        </a:lnSpc>
                        <a:spcBef>
                          <a:spcPts val="85"/>
                        </a:spcBef>
                      </a:pPr>
                      <a:r>
                        <a:rPr sz="1200" spc="-65" dirty="0">
                          <a:latin typeface="Arial"/>
                          <a:cs typeface="Arial"/>
                        </a:rPr>
                        <a:t>Software</a:t>
                      </a:r>
                      <a:r>
                        <a:rPr sz="1200" dirty="0">
                          <a:latin typeface="Arial"/>
                          <a:cs typeface="Arial"/>
                        </a:rPr>
                        <a:t> </a:t>
                      </a:r>
                      <a:r>
                        <a:rPr sz="1200" spc="-10" dirty="0">
                          <a:latin typeface="Arial"/>
                          <a:cs typeface="Arial"/>
                        </a:rPr>
                        <a:t>Engineering</a:t>
                      </a:r>
                      <a:endParaRPr sz="1200" dirty="0">
                        <a:latin typeface="Arial"/>
                        <a:cs typeface="Arial"/>
                      </a:endParaRPr>
                    </a:p>
                    <a:p>
                      <a:pPr>
                        <a:lnSpc>
                          <a:spcPct val="100000"/>
                        </a:lnSpc>
                        <a:spcBef>
                          <a:spcPts val="330"/>
                        </a:spcBef>
                      </a:pPr>
                      <a:endParaRPr sz="1200" dirty="0">
                        <a:latin typeface="Times New Roman"/>
                        <a:cs typeface="Times New Roman"/>
                      </a:endParaRPr>
                    </a:p>
                    <a:p>
                      <a:pPr marL="71120" marR="152400">
                        <a:lnSpc>
                          <a:spcPct val="79400"/>
                        </a:lnSpc>
                      </a:pPr>
                      <a:endParaRPr sz="1200" dirty="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365760">
                        <a:lnSpc>
                          <a:spcPct val="97700"/>
                        </a:lnSpc>
                        <a:spcBef>
                          <a:spcPts val="260"/>
                        </a:spcBef>
                      </a:pPr>
                      <a:r>
                        <a:rPr sz="1200" spc="-165" dirty="0">
                          <a:latin typeface="Arial"/>
                          <a:cs typeface="Arial"/>
                        </a:rPr>
                        <a:t>Same</a:t>
                      </a:r>
                      <a:r>
                        <a:rPr sz="1200" spc="-20" dirty="0">
                          <a:latin typeface="Arial"/>
                          <a:cs typeface="Arial"/>
                        </a:rPr>
                        <a:t> </a:t>
                      </a:r>
                      <a:r>
                        <a:rPr sz="1200" spc="-95" dirty="0">
                          <a:latin typeface="Arial"/>
                          <a:cs typeface="Arial"/>
                        </a:rPr>
                        <a:t>as </a:t>
                      </a:r>
                      <a:r>
                        <a:rPr sz="1200" spc="-55" dirty="0">
                          <a:latin typeface="Arial"/>
                          <a:cs typeface="Arial"/>
                        </a:rPr>
                        <a:t>Computer</a:t>
                      </a:r>
                      <a:r>
                        <a:rPr sz="1200" spc="25" dirty="0">
                          <a:latin typeface="Arial"/>
                          <a:cs typeface="Arial"/>
                        </a:rPr>
                        <a:t> </a:t>
                      </a:r>
                      <a:r>
                        <a:rPr sz="1200" spc="-95" dirty="0">
                          <a:latin typeface="Arial"/>
                          <a:cs typeface="Arial"/>
                        </a:rPr>
                        <a:t>Science </a:t>
                      </a:r>
                      <a:r>
                        <a:rPr sz="1200" spc="-110" dirty="0">
                          <a:latin typeface="Arial"/>
                          <a:cs typeface="Arial"/>
                        </a:rPr>
                        <a:t>does,</a:t>
                      </a:r>
                      <a:r>
                        <a:rPr sz="1200" spc="-25" dirty="0">
                          <a:latin typeface="Arial"/>
                          <a:cs typeface="Arial"/>
                        </a:rPr>
                        <a:t> </a:t>
                      </a:r>
                      <a:r>
                        <a:rPr sz="1200" spc="-50" dirty="0">
                          <a:latin typeface="Arial"/>
                          <a:cs typeface="Arial"/>
                        </a:rPr>
                        <a:t>Software</a:t>
                      </a:r>
                      <a:r>
                        <a:rPr sz="1200" spc="65" dirty="0">
                          <a:latin typeface="Arial"/>
                          <a:cs typeface="Arial"/>
                        </a:rPr>
                        <a:t> </a:t>
                      </a:r>
                      <a:r>
                        <a:rPr sz="1200" spc="-90" dirty="0">
                          <a:latin typeface="Arial"/>
                          <a:cs typeface="Arial"/>
                        </a:rPr>
                        <a:t>Engineering </a:t>
                      </a:r>
                      <a:r>
                        <a:rPr sz="1200" spc="-95" dirty="0">
                          <a:latin typeface="Arial"/>
                          <a:cs typeface="Arial"/>
                        </a:rPr>
                        <a:t>focuses</a:t>
                      </a:r>
                      <a:r>
                        <a:rPr sz="1200" spc="20" dirty="0">
                          <a:latin typeface="Arial"/>
                          <a:cs typeface="Arial"/>
                        </a:rPr>
                        <a:t> </a:t>
                      </a:r>
                      <a:r>
                        <a:rPr sz="1200" spc="-10" dirty="0">
                          <a:latin typeface="Arial"/>
                          <a:cs typeface="Arial"/>
                        </a:rPr>
                        <a:t>in</a:t>
                      </a:r>
                      <a:r>
                        <a:rPr sz="1200" spc="-125" dirty="0">
                          <a:latin typeface="Arial"/>
                          <a:cs typeface="Arial"/>
                        </a:rPr>
                        <a:t> </a:t>
                      </a:r>
                      <a:r>
                        <a:rPr sz="1200" spc="-60" dirty="0">
                          <a:latin typeface="Arial"/>
                          <a:cs typeface="Arial"/>
                        </a:rPr>
                        <a:t>developing</a:t>
                      </a:r>
                      <a:r>
                        <a:rPr sz="1200" spc="80" dirty="0">
                          <a:latin typeface="Arial"/>
                          <a:cs typeface="Arial"/>
                        </a:rPr>
                        <a:t> </a:t>
                      </a:r>
                      <a:r>
                        <a:rPr sz="1200" spc="-25" dirty="0">
                          <a:latin typeface="Arial"/>
                          <a:cs typeface="Arial"/>
                        </a:rPr>
                        <a:t>and </a:t>
                      </a:r>
                      <a:r>
                        <a:rPr sz="1200" spc="-60" dirty="0">
                          <a:latin typeface="Arial"/>
                          <a:cs typeface="Arial"/>
                        </a:rPr>
                        <a:t>maintaining</a:t>
                      </a:r>
                      <a:r>
                        <a:rPr sz="1200" spc="15" dirty="0">
                          <a:latin typeface="Arial"/>
                          <a:cs typeface="Arial"/>
                        </a:rPr>
                        <a:t> </a:t>
                      </a:r>
                      <a:r>
                        <a:rPr sz="1200" spc="-10" dirty="0">
                          <a:latin typeface="Arial"/>
                          <a:cs typeface="Arial"/>
                        </a:rPr>
                        <a:t>computer software.</a:t>
                      </a:r>
                      <a:endParaRPr sz="1200" dirty="0">
                        <a:latin typeface="Arial"/>
                        <a:cs typeface="Arial"/>
                      </a:endParaRPr>
                    </a:p>
                    <a:p>
                      <a:pPr marL="80645" marR="128905" indent="-1905" algn="just">
                        <a:lnSpc>
                          <a:spcPct val="90300"/>
                        </a:lnSpc>
                        <a:spcBef>
                          <a:spcPts val="295"/>
                        </a:spcBef>
                      </a:pPr>
                      <a:r>
                        <a:rPr sz="1200" spc="-595" dirty="0">
                          <a:latin typeface="Arial"/>
                          <a:cs typeface="Arial"/>
                        </a:rPr>
                        <a:t>SE</a:t>
                      </a:r>
                      <a:r>
                        <a:rPr sz="1200" spc="110" dirty="0">
                          <a:latin typeface="Arial"/>
                          <a:cs typeface="Arial"/>
                        </a:rPr>
                        <a:t>  </a:t>
                      </a:r>
                      <a:r>
                        <a:rPr sz="1200" spc="-70" dirty="0">
                          <a:latin typeface="Arial"/>
                          <a:cs typeface="Arial"/>
                        </a:rPr>
                        <a:t>combines</a:t>
                      </a:r>
                      <a:r>
                        <a:rPr sz="1200" spc="-5" dirty="0">
                          <a:latin typeface="Arial"/>
                          <a:cs typeface="Arial"/>
                        </a:rPr>
                        <a:t> </a:t>
                      </a:r>
                      <a:r>
                        <a:rPr sz="1200" spc="-40" dirty="0">
                          <a:latin typeface="Arial"/>
                          <a:cs typeface="Arial"/>
                        </a:rPr>
                        <a:t>computer</a:t>
                      </a:r>
                      <a:r>
                        <a:rPr sz="1200" spc="45" dirty="0">
                          <a:latin typeface="Arial"/>
                          <a:cs typeface="Arial"/>
                        </a:rPr>
                        <a:t> </a:t>
                      </a:r>
                      <a:r>
                        <a:rPr sz="1200" spc="-55" dirty="0">
                          <a:latin typeface="Arial"/>
                          <a:cs typeface="Arial"/>
                        </a:rPr>
                        <a:t>science </a:t>
                      </a:r>
                      <a:r>
                        <a:rPr sz="1200" spc="-65" dirty="0">
                          <a:latin typeface="Arial"/>
                          <a:cs typeface="Arial"/>
                        </a:rPr>
                        <a:t>principles</a:t>
                      </a:r>
                      <a:r>
                        <a:rPr sz="1200" spc="-10" dirty="0">
                          <a:latin typeface="Arial"/>
                          <a:cs typeface="Arial"/>
                        </a:rPr>
                        <a:t> </a:t>
                      </a:r>
                      <a:r>
                        <a:rPr sz="1200" spc="-110" dirty="0">
                          <a:latin typeface="Arial"/>
                          <a:cs typeface="Arial"/>
                        </a:rPr>
                        <a:t>and</a:t>
                      </a:r>
                      <a:r>
                        <a:rPr sz="1200" spc="35" dirty="0">
                          <a:latin typeface="Arial"/>
                          <a:cs typeface="Arial"/>
                        </a:rPr>
                        <a:t> </a:t>
                      </a:r>
                      <a:r>
                        <a:rPr sz="1200" spc="-55" dirty="0">
                          <a:latin typeface="Arial"/>
                          <a:cs typeface="Arial"/>
                        </a:rPr>
                        <a:t>techniques</a:t>
                      </a:r>
                      <a:r>
                        <a:rPr sz="1200" spc="25" dirty="0">
                          <a:latin typeface="Arial"/>
                          <a:cs typeface="Arial"/>
                        </a:rPr>
                        <a:t> </a:t>
                      </a:r>
                      <a:r>
                        <a:rPr sz="1200" spc="-20" dirty="0">
                          <a:latin typeface="Arial"/>
                          <a:cs typeface="Arial"/>
                        </a:rPr>
                        <a:t>with </a:t>
                      </a:r>
                      <a:r>
                        <a:rPr sz="1200" spc="-75" dirty="0">
                          <a:latin typeface="Arial"/>
                          <a:cs typeface="Arial"/>
                        </a:rPr>
                        <a:t>engineering</a:t>
                      </a:r>
                      <a:r>
                        <a:rPr sz="1200" spc="110" dirty="0">
                          <a:latin typeface="Arial"/>
                          <a:cs typeface="Arial"/>
                        </a:rPr>
                        <a:t> </a:t>
                      </a:r>
                      <a:r>
                        <a:rPr sz="1200" spc="-60" dirty="0">
                          <a:latin typeface="Arial"/>
                          <a:cs typeface="Arial"/>
                        </a:rPr>
                        <a:t>practices</a:t>
                      </a:r>
                      <a:r>
                        <a:rPr sz="1200" spc="-5" dirty="0">
                          <a:latin typeface="Arial"/>
                          <a:cs typeface="Arial"/>
                        </a:rPr>
                        <a:t> </a:t>
                      </a:r>
                      <a:r>
                        <a:rPr sz="1200" dirty="0">
                          <a:latin typeface="Arial"/>
                          <a:cs typeface="Arial"/>
                        </a:rPr>
                        <a:t>to</a:t>
                      </a:r>
                      <a:r>
                        <a:rPr sz="1200" spc="-40" dirty="0">
                          <a:latin typeface="Arial"/>
                          <a:cs typeface="Arial"/>
                        </a:rPr>
                        <a:t> </a:t>
                      </a:r>
                      <a:r>
                        <a:rPr sz="1200" spc="-70" dirty="0">
                          <a:latin typeface="Arial"/>
                          <a:cs typeface="Arial"/>
                        </a:rPr>
                        <a:t>design </a:t>
                      </a:r>
                      <a:r>
                        <a:rPr sz="1200" spc="-105" dirty="0">
                          <a:latin typeface="Arial"/>
                          <a:cs typeface="Arial"/>
                        </a:rPr>
                        <a:t>and</a:t>
                      </a:r>
                      <a:r>
                        <a:rPr sz="1200" spc="-60" dirty="0">
                          <a:latin typeface="Arial"/>
                          <a:cs typeface="Arial"/>
                        </a:rPr>
                        <a:t> </a:t>
                      </a:r>
                      <a:r>
                        <a:rPr sz="1200" spc="-50" dirty="0">
                          <a:latin typeface="Arial"/>
                          <a:cs typeface="Arial"/>
                        </a:rPr>
                        <a:t>create</a:t>
                      </a:r>
                      <a:r>
                        <a:rPr sz="1200" spc="-25" dirty="0">
                          <a:latin typeface="Arial"/>
                          <a:cs typeface="Arial"/>
                        </a:rPr>
                        <a:t> </a:t>
                      </a:r>
                      <a:r>
                        <a:rPr sz="1200" spc="-65" dirty="0">
                          <a:latin typeface="Arial"/>
                          <a:cs typeface="Arial"/>
                        </a:rPr>
                        <a:t>comprehensive</a:t>
                      </a:r>
                      <a:r>
                        <a:rPr sz="1200" spc="95" dirty="0">
                          <a:latin typeface="Arial"/>
                          <a:cs typeface="Arial"/>
                        </a:rPr>
                        <a:t> </a:t>
                      </a:r>
                      <a:r>
                        <a:rPr sz="1200" spc="-35" dirty="0">
                          <a:latin typeface="Arial"/>
                          <a:cs typeface="Arial"/>
                        </a:rPr>
                        <a:t>and</a:t>
                      </a:r>
                      <a:endParaRPr sz="1200" dirty="0">
                        <a:latin typeface="Arial"/>
                        <a:cs typeface="Arial"/>
                      </a:endParaRPr>
                    </a:p>
                    <a:p>
                      <a:pPr marL="80645" algn="just">
                        <a:lnSpc>
                          <a:spcPct val="100000"/>
                        </a:lnSpc>
                        <a:spcBef>
                          <a:spcPts val="234"/>
                        </a:spcBef>
                      </a:pPr>
                      <a:r>
                        <a:rPr sz="1200" spc="-95" dirty="0">
                          <a:latin typeface="Arial"/>
                          <a:cs typeface="Arial"/>
                        </a:rPr>
                        <a:t>large-</a:t>
                      </a:r>
                      <a:r>
                        <a:rPr sz="1200" spc="-80" dirty="0">
                          <a:latin typeface="Arial"/>
                          <a:cs typeface="Arial"/>
                        </a:rPr>
                        <a:t>scale</a:t>
                      </a:r>
                      <a:r>
                        <a:rPr sz="1200" spc="65" dirty="0">
                          <a:latin typeface="Arial"/>
                          <a:cs typeface="Arial"/>
                        </a:rPr>
                        <a:t> </a:t>
                      </a:r>
                      <a:r>
                        <a:rPr sz="1200" spc="-10" dirty="0">
                          <a:latin typeface="Arial"/>
                          <a:cs typeface="Arial"/>
                        </a:rPr>
                        <a:t>“applications</a:t>
                      </a:r>
                      <a:endParaRPr sz="1200" dirty="0">
                        <a:latin typeface="Arial"/>
                        <a:cs typeface="Arial"/>
                      </a:endParaRPr>
                    </a:p>
                    <a:p>
                      <a:pPr marL="80645" marR="148590" algn="just">
                        <a:lnSpc>
                          <a:spcPct val="109100"/>
                        </a:lnSpc>
                        <a:spcBef>
                          <a:spcPts val="370"/>
                        </a:spcBef>
                      </a:pPr>
                      <a:r>
                        <a:rPr sz="1200" spc="-35" dirty="0">
                          <a:latin typeface="Arial"/>
                          <a:cs typeface="Arial"/>
                        </a:rPr>
                        <a:t>software”,</a:t>
                      </a:r>
                      <a:r>
                        <a:rPr sz="1200" spc="-40" dirty="0">
                          <a:latin typeface="Arial"/>
                          <a:cs typeface="Arial"/>
                        </a:rPr>
                        <a:t> </a:t>
                      </a:r>
                      <a:r>
                        <a:rPr sz="1200" spc="-35" dirty="0">
                          <a:latin typeface="Arial"/>
                          <a:cs typeface="Arial"/>
                        </a:rPr>
                        <a:t>like</a:t>
                      </a:r>
                      <a:r>
                        <a:rPr sz="1200" spc="15" dirty="0">
                          <a:latin typeface="Arial"/>
                          <a:cs typeface="Arial"/>
                        </a:rPr>
                        <a:t> </a:t>
                      </a:r>
                      <a:r>
                        <a:rPr sz="1200" spc="-10" dirty="0">
                          <a:latin typeface="Arial"/>
                          <a:cs typeface="Arial"/>
                        </a:rPr>
                        <a:t>Inventory </a:t>
                      </a:r>
                      <a:r>
                        <a:rPr sz="1200" spc="-80" dirty="0">
                          <a:latin typeface="Arial"/>
                          <a:cs typeface="Arial"/>
                        </a:rPr>
                        <a:t>Control</a:t>
                      </a:r>
                      <a:r>
                        <a:rPr sz="1200" spc="55" dirty="0">
                          <a:latin typeface="Arial"/>
                          <a:cs typeface="Arial"/>
                        </a:rPr>
                        <a:t> </a:t>
                      </a:r>
                      <a:r>
                        <a:rPr sz="1200" spc="-80" dirty="0">
                          <a:latin typeface="Arial"/>
                          <a:cs typeface="Arial"/>
                        </a:rPr>
                        <a:t>systems,</a:t>
                      </a:r>
                      <a:r>
                        <a:rPr sz="1200" spc="55" dirty="0">
                          <a:latin typeface="Arial"/>
                          <a:cs typeface="Arial"/>
                        </a:rPr>
                        <a:t> </a:t>
                      </a:r>
                      <a:r>
                        <a:rPr sz="1200" spc="-10" dirty="0">
                          <a:latin typeface="Arial"/>
                          <a:cs typeface="Arial"/>
                        </a:rPr>
                        <a:t>Airline</a:t>
                      </a:r>
                      <a:endParaRPr sz="1200" dirty="0">
                        <a:latin typeface="Arial"/>
                        <a:cs typeface="Arial"/>
                      </a:endParaRPr>
                    </a:p>
                    <a:p>
                      <a:pPr marL="80645" marR="148590">
                        <a:lnSpc>
                          <a:spcPts val="1190"/>
                        </a:lnSpc>
                        <a:spcBef>
                          <a:spcPts val="15"/>
                        </a:spcBef>
                      </a:pPr>
                      <a:r>
                        <a:rPr sz="1200" spc="-90" dirty="0">
                          <a:latin typeface="Arial"/>
                          <a:cs typeface="Arial"/>
                        </a:rPr>
                        <a:t>Reservation</a:t>
                      </a:r>
                      <a:r>
                        <a:rPr sz="1200" spc="125" dirty="0">
                          <a:latin typeface="Arial"/>
                          <a:cs typeface="Arial"/>
                        </a:rPr>
                        <a:t> </a:t>
                      </a:r>
                      <a:r>
                        <a:rPr sz="1200" spc="-80" dirty="0">
                          <a:latin typeface="Arial"/>
                          <a:cs typeface="Arial"/>
                        </a:rPr>
                        <a:t>systems,</a:t>
                      </a:r>
                      <a:r>
                        <a:rPr sz="1200" spc="35" dirty="0">
                          <a:latin typeface="Arial"/>
                          <a:cs typeface="Arial"/>
                        </a:rPr>
                        <a:t> </a:t>
                      </a:r>
                      <a:r>
                        <a:rPr sz="1200" spc="-65" dirty="0">
                          <a:latin typeface="Arial"/>
                          <a:cs typeface="Arial"/>
                        </a:rPr>
                        <a:t>and</a:t>
                      </a:r>
                      <a:r>
                        <a:rPr sz="1200" spc="-25" dirty="0">
                          <a:latin typeface="Arial"/>
                          <a:cs typeface="Arial"/>
                        </a:rPr>
                        <a:t> </a:t>
                      </a:r>
                      <a:r>
                        <a:rPr sz="1200" spc="-85" dirty="0">
                          <a:latin typeface="Arial"/>
                          <a:cs typeface="Arial"/>
                        </a:rPr>
                        <a:t>Loan </a:t>
                      </a:r>
                      <a:r>
                        <a:rPr sz="1200" spc="-60" dirty="0">
                          <a:latin typeface="Arial"/>
                          <a:cs typeface="Arial"/>
                        </a:rPr>
                        <a:t>Origination</a:t>
                      </a:r>
                      <a:r>
                        <a:rPr sz="1200" spc="65" dirty="0">
                          <a:latin typeface="Arial"/>
                          <a:cs typeface="Arial"/>
                        </a:rPr>
                        <a:t> </a:t>
                      </a:r>
                      <a:r>
                        <a:rPr sz="1200" spc="-65" dirty="0">
                          <a:latin typeface="Arial"/>
                          <a:cs typeface="Arial"/>
                        </a:rPr>
                        <a:t>and</a:t>
                      </a:r>
                      <a:r>
                        <a:rPr sz="1200" spc="-10" dirty="0">
                          <a:latin typeface="Arial"/>
                          <a:cs typeface="Arial"/>
                        </a:rPr>
                        <a:t> Processing</a:t>
                      </a:r>
                      <a:endParaRPr sz="1200" dirty="0">
                        <a:latin typeface="Arial"/>
                        <a:cs typeface="Arial"/>
                      </a:endParaRPr>
                    </a:p>
                    <a:p>
                      <a:pPr marL="80645">
                        <a:lnSpc>
                          <a:spcPts val="1180"/>
                        </a:lnSpc>
                      </a:pPr>
                      <a:r>
                        <a:rPr sz="1200" spc="-10" dirty="0">
                          <a:latin typeface="Arial"/>
                          <a:cs typeface="Arial"/>
                        </a:rPr>
                        <a:t>systems.</a:t>
                      </a:r>
                      <a:endParaRPr sz="1200" dirty="0">
                        <a:latin typeface="Arial"/>
                        <a:cs typeface="Arial"/>
                      </a:endParaRPr>
                    </a:p>
                  </a:txBody>
                  <a:tcPr marL="0" marR="0" marT="2913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04139">
                        <a:lnSpc>
                          <a:spcPct val="100499"/>
                        </a:lnSpc>
                        <a:spcBef>
                          <a:spcPts val="225"/>
                        </a:spcBef>
                      </a:pPr>
                      <a:r>
                        <a:rPr sz="1200" spc="-10" dirty="0">
                          <a:latin typeface="Arial"/>
                          <a:cs typeface="Arial"/>
                        </a:rPr>
                        <a:t>Programming fundamentals, </a:t>
                      </a:r>
                      <a:r>
                        <a:rPr sz="1200" spc="-60" dirty="0">
                          <a:latin typeface="Arial"/>
                          <a:cs typeface="Arial"/>
                        </a:rPr>
                        <a:t>Algorithms,</a:t>
                      </a:r>
                      <a:r>
                        <a:rPr sz="1200" spc="85" dirty="0">
                          <a:latin typeface="Arial"/>
                          <a:cs typeface="Arial"/>
                        </a:rPr>
                        <a:t> </a:t>
                      </a:r>
                      <a:r>
                        <a:rPr sz="1200" spc="-75" dirty="0">
                          <a:latin typeface="Arial"/>
                          <a:cs typeface="Arial"/>
                        </a:rPr>
                        <a:t>Programming </a:t>
                      </a:r>
                      <a:r>
                        <a:rPr sz="1200" spc="-100" dirty="0">
                          <a:latin typeface="Arial"/>
                          <a:cs typeface="Arial"/>
                        </a:rPr>
                        <a:t>languages,</a:t>
                      </a:r>
                      <a:r>
                        <a:rPr sz="1200" spc="25" dirty="0">
                          <a:latin typeface="Arial"/>
                          <a:cs typeface="Arial"/>
                        </a:rPr>
                        <a:t> </a:t>
                      </a:r>
                      <a:r>
                        <a:rPr sz="1200" spc="-10" dirty="0">
                          <a:latin typeface="Arial"/>
                          <a:cs typeface="Arial"/>
                        </a:rPr>
                        <a:t>Computer </a:t>
                      </a:r>
                      <a:r>
                        <a:rPr sz="1200" spc="-50" dirty="0">
                          <a:latin typeface="Arial"/>
                          <a:cs typeface="Arial"/>
                        </a:rPr>
                        <a:t>architecture</a:t>
                      </a:r>
                      <a:r>
                        <a:rPr sz="1200" spc="50" dirty="0">
                          <a:latin typeface="Arial"/>
                          <a:cs typeface="Arial"/>
                        </a:rPr>
                        <a:t> </a:t>
                      </a:r>
                      <a:r>
                        <a:rPr sz="1200" spc="-25" dirty="0">
                          <a:latin typeface="Arial"/>
                          <a:cs typeface="Arial"/>
                        </a:rPr>
                        <a:t>and </a:t>
                      </a:r>
                      <a:r>
                        <a:rPr sz="1200" spc="-65" dirty="0">
                          <a:latin typeface="Arial"/>
                          <a:cs typeface="Arial"/>
                        </a:rPr>
                        <a:t>organization,</a:t>
                      </a:r>
                      <a:r>
                        <a:rPr sz="1200" spc="95" dirty="0">
                          <a:latin typeface="Arial"/>
                          <a:cs typeface="Arial"/>
                        </a:rPr>
                        <a:t> </a:t>
                      </a:r>
                      <a:r>
                        <a:rPr sz="1200" spc="-30" dirty="0">
                          <a:latin typeface="Arial"/>
                          <a:cs typeface="Arial"/>
                        </a:rPr>
                        <a:t>Information </a:t>
                      </a:r>
                      <a:r>
                        <a:rPr sz="1200" spc="-85" dirty="0">
                          <a:latin typeface="Arial"/>
                          <a:cs typeface="Arial"/>
                        </a:rPr>
                        <a:t>management</a:t>
                      </a:r>
                      <a:r>
                        <a:rPr sz="1200" spc="75" dirty="0">
                          <a:latin typeface="Arial"/>
                          <a:cs typeface="Arial"/>
                        </a:rPr>
                        <a:t> </a:t>
                      </a:r>
                      <a:r>
                        <a:rPr sz="1200" spc="-10" dirty="0">
                          <a:latin typeface="Arial"/>
                          <a:cs typeface="Arial"/>
                        </a:rPr>
                        <a:t>theory</a:t>
                      </a:r>
                      <a:r>
                        <a:rPr sz="1200" spc="-170" dirty="0">
                          <a:latin typeface="Arial"/>
                          <a:cs typeface="Arial"/>
                        </a:rPr>
                        <a:t> </a:t>
                      </a:r>
                      <a:r>
                        <a:rPr sz="1200" spc="-25" dirty="0">
                          <a:latin typeface="Arial"/>
                          <a:cs typeface="Arial"/>
                        </a:rPr>
                        <a:t>and </a:t>
                      </a:r>
                      <a:r>
                        <a:rPr sz="1200" spc="-65" dirty="0">
                          <a:latin typeface="Arial"/>
                          <a:cs typeface="Arial"/>
                        </a:rPr>
                        <a:t>practice,</a:t>
                      </a:r>
                      <a:r>
                        <a:rPr sz="1200" spc="-10" dirty="0">
                          <a:latin typeface="Arial"/>
                          <a:cs typeface="Arial"/>
                        </a:rPr>
                        <a:t> Software</a:t>
                      </a:r>
                      <a:endParaRPr sz="1200" dirty="0">
                        <a:latin typeface="Arial"/>
                        <a:cs typeface="Arial"/>
                      </a:endParaRPr>
                    </a:p>
                    <a:p>
                      <a:pPr marL="77470" marR="111125">
                        <a:lnSpc>
                          <a:spcPct val="100600"/>
                        </a:lnSpc>
                      </a:pPr>
                      <a:r>
                        <a:rPr sz="1200" spc="-90" dirty="0">
                          <a:latin typeface="Arial"/>
                          <a:cs typeface="Arial"/>
                        </a:rPr>
                        <a:t>design,</a:t>
                      </a:r>
                      <a:r>
                        <a:rPr sz="1200" spc="-20" dirty="0">
                          <a:latin typeface="Arial"/>
                          <a:cs typeface="Arial"/>
                        </a:rPr>
                        <a:t> </a:t>
                      </a:r>
                      <a:r>
                        <a:rPr sz="1200" spc="-55" dirty="0">
                          <a:latin typeface="Arial"/>
                          <a:cs typeface="Arial"/>
                        </a:rPr>
                        <a:t>Security</a:t>
                      </a:r>
                      <a:r>
                        <a:rPr sz="1200" dirty="0">
                          <a:latin typeface="Arial"/>
                          <a:cs typeface="Arial"/>
                        </a:rPr>
                        <a:t> </a:t>
                      </a:r>
                      <a:r>
                        <a:rPr sz="1200" spc="-10" dirty="0">
                          <a:latin typeface="Arial"/>
                          <a:cs typeface="Arial"/>
                        </a:rPr>
                        <a:t>issues </a:t>
                      </a:r>
                      <a:r>
                        <a:rPr sz="1200" spc="-110" dirty="0">
                          <a:latin typeface="Arial"/>
                          <a:cs typeface="Arial"/>
                        </a:rPr>
                        <a:t>and</a:t>
                      </a:r>
                      <a:r>
                        <a:rPr sz="1200" spc="-25" dirty="0">
                          <a:latin typeface="Arial"/>
                          <a:cs typeface="Arial"/>
                        </a:rPr>
                        <a:t> </a:t>
                      </a:r>
                      <a:r>
                        <a:rPr sz="1200" spc="-55" dirty="0">
                          <a:latin typeface="Arial"/>
                          <a:cs typeface="Arial"/>
                        </a:rPr>
                        <a:t>principles,</a:t>
                      </a:r>
                      <a:r>
                        <a:rPr sz="1200" spc="70" dirty="0">
                          <a:latin typeface="Arial"/>
                          <a:cs typeface="Arial"/>
                        </a:rPr>
                        <a:t> </a:t>
                      </a:r>
                      <a:r>
                        <a:rPr sz="1200" spc="-45" dirty="0">
                          <a:latin typeface="Arial"/>
                          <a:cs typeface="Arial"/>
                        </a:rPr>
                        <a:t>Operating </a:t>
                      </a:r>
                      <a:r>
                        <a:rPr sz="1200" spc="-100" dirty="0">
                          <a:latin typeface="Arial"/>
                          <a:cs typeface="Arial"/>
                        </a:rPr>
                        <a:t>systems</a:t>
                      </a:r>
                      <a:r>
                        <a:rPr sz="1200" spc="30" dirty="0">
                          <a:latin typeface="Arial"/>
                          <a:cs typeface="Arial"/>
                        </a:rPr>
                        <a:t> </a:t>
                      </a:r>
                      <a:r>
                        <a:rPr sz="1200" spc="-55" dirty="0">
                          <a:latin typeface="Arial"/>
                          <a:cs typeface="Arial"/>
                        </a:rPr>
                        <a:t>principles</a:t>
                      </a:r>
                      <a:r>
                        <a:rPr sz="1200" spc="65" dirty="0">
                          <a:latin typeface="Arial"/>
                          <a:cs typeface="Arial"/>
                        </a:rPr>
                        <a:t> </a:t>
                      </a:r>
                      <a:r>
                        <a:rPr sz="1200" spc="-25" dirty="0">
                          <a:latin typeface="Arial"/>
                          <a:cs typeface="Arial"/>
                        </a:rPr>
                        <a:t>and </a:t>
                      </a:r>
                      <a:r>
                        <a:rPr sz="1200" spc="-90" dirty="0">
                          <a:latin typeface="Arial"/>
                          <a:cs typeface="Arial"/>
                        </a:rPr>
                        <a:t>design,</a:t>
                      </a:r>
                      <a:r>
                        <a:rPr sz="1200" spc="50" dirty="0">
                          <a:latin typeface="Arial"/>
                          <a:cs typeface="Arial"/>
                        </a:rPr>
                        <a:t> </a:t>
                      </a:r>
                      <a:r>
                        <a:rPr sz="1200" spc="-10" dirty="0">
                          <a:latin typeface="Arial"/>
                          <a:cs typeface="Arial"/>
                        </a:rPr>
                        <a:t>Engineering </a:t>
                      </a:r>
                      <a:r>
                        <a:rPr sz="1200" spc="-55" dirty="0">
                          <a:latin typeface="Arial"/>
                          <a:cs typeface="Arial"/>
                        </a:rPr>
                        <a:t>foundations</a:t>
                      </a:r>
                      <a:r>
                        <a:rPr sz="1200" spc="30" dirty="0">
                          <a:latin typeface="Arial"/>
                          <a:cs typeface="Arial"/>
                        </a:rPr>
                        <a:t> </a:t>
                      </a:r>
                      <a:r>
                        <a:rPr sz="1200" spc="-25" dirty="0">
                          <a:latin typeface="Arial"/>
                          <a:cs typeface="Arial"/>
                        </a:rPr>
                        <a:t>and </a:t>
                      </a:r>
                      <a:r>
                        <a:rPr sz="1200" spc="-90" dirty="0">
                          <a:latin typeface="Arial"/>
                          <a:cs typeface="Arial"/>
                        </a:rPr>
                        <a:t>economics</a:t>
                      </a:r>
                      <a:r>
                        <a:rPr sz="1200" spc="50" dirty="0">
                          <a:latin typeface="Arial"/>
                          <a:cs typeface="Arial"/>
                        </a:rPr>
                        <a:t> </a:t>
                      </a:r>
                      <a:r>
                        <a:rPr sz="1200" dirty="0">
                          <a:latin typeface="Arial"/>
                          <a:cs typeface="Arial"/>
                        </a:rPr>
                        <a:t>for</a:t>
                      </a:r>
                      <a:r>
                        <a:rPr sz="1200" spc="-30" dirty="0">
                          <a:latin typeface="Arial"/>
                          <a:cs typeface="Arial"/>
                        </a:rPr>
                        <a:t> </a:t>
                      </a:r>
                      <a:r>
                        <a:rPr sz="1200" spc="-10" dirty="0">
                          <a:latin typeface="Arial"/>
                          <a:cs typeface="Arial"/>
                        </a:rPr>
                        <a:t>software, </a:t>
                      </a:r>
                      <a:r>
                        <a:rPr sz="1200" spc="-80" dirty="0">
                          <a:latin typeface="Arial"/>
                          <a:cs typeface="Arial"/>
                        </a:rPr>
                        <a:t>Software</a:t>
                      </a:r>
                      <a:r>
                        <a:rPr sz="1200" spc="60" dirty="0">
                          <a:latin typeface="Arial"/>
                          <a:cs typeface="Arial"/>
                        </a:rPr>
                        <a:t> </a:t>
                      </a:r>
                      <a:r>
                        <a:rPr sz="1200" spc="-10" dirty="0">
                          <a:latin typeface="Arial"/>
                          <a:cs typeface="Arial"/>
                        </a:rPr>
                        <a:t>design, </a:t>
                      </a:r>
                      <a:r>
                        <a:rPr sz="1200" spc="-80" dirty="0">
                          <a:latin typeface="Arial"/>
                          <a:cs typeface="Arial"/>
                        </a:rPr>
                        <a:t>Software</a:t>
                      </a:r>
                      <a:r>
                        <a:rPr sz="1200" spc="5" dirty="0">
                          <a:latin typeface="Arial"/>
                          <a:cs typeface="Arial"/>
                        </a:rPr>
                        <a:t> </a:t>
                      </a:r>
                      <a:r>
                        <a:rPr sz="1200" spc="-30" dirty="0">
                          <a:latin typeface="Arial"/>
                          <a:cs typeface="Arial"/>
                        </a:rPr>
                        <a:t>verification</a:t>
                      </a:r>
                      <a:r>
                        <a:rPr sz="1200" spc="70" dirty="0">
                          <a:latin typeface="Arial"/>
                          <a:cs typeface="Arial"/>
                        </a:rPr>
                        <a:t> </a:t>
                      </a:r>
                      <a:r>
                        <a:rPr sz="1200" spc="-40" dirty="0">
                          <a:latin typeface="Arial"/>
                          <a:cs typeface="Arial"/>
                        </a:rPr>
                        <a:t>and</a:t>
                      </a:r>
                      <a:endParaRPr sz="1200" dirty="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00965">
                        <a:lnSpc>
                          <a:spcPct val="99800"/>
                        </a:lnSpc>
                        <a:spcBef>
                          <a:spcPts val="234"/>
                        </a:spcBef>
                      </a:pPr>
                      <a:r>
                        <a:rPr sz="1200" spc="-295" dirty="0">
                          <a:latin typeface="Arial"/>
                          <a:cs typeface="Arial"/>
                        </a:rPr>
                        <a:t>SE</a:t>
                      </a:r>
                      <a:r>
                        <a:rPr sz="1200" spc="-50" dirty="0">
                          <a:latin typeface="Arial"/>
                          <a:cs typeface="Arial"/>
                        </a:rPr>
                        <a:t> </a:t>
                      </a:r>
                      <a:r>
                        <a:rPr sz="1200" spc="-60" dirty="0">
                          <a:latin typeface="Arial"/>
                          <a:cs typeface="Arial"/>
                        </a:rPr>
                        <a:t>programs</a:t>
                      </a:r>
                      <a:r>
                        <a:rPr sz="1200" spc="10" dirty="0">
                          <a:latin typeface="Arial"/>
                          <a:cs typeface="Arial"/>
                        </a:rPr>
                        <a:t> </a:t>
                      </a:r>
                      <a:r>
                        <a:rPr sz="1200" spc="-25" dirty="0">
                          <a:latin typeface="Arial"/>
                          <a:cs typeface="Arial"/>
                        </a:rPr>
                        <a:t>are </a:t>
                      </a:r>
                      <a:r>
                        <a:rPr sz="1200" spc="-80" dirty="0">
                          <a:latin typeface="Arial"/>
                          <a:cs typeface="Arial"/>
                        </a:rPr>
                        <a:t>located</a:t>
                      </a:r>
                      <a:r>
                        <a:rPr sz="1200" spc="60" dirty="0">
                          <a:latin typeface="Arial"/>
                          <a:cs typeface="Arial"/>
                        </a:rPr>
                        <a:t> </a:t>
                      </a:r>
                      <a:r>
                        <a:rPr sz="1200" spc="-25" dirty="0">
                          <a:latin typeface="Arial"/>
                          <a:cs typeface="Arial"/>
                        </a:rPr>
                        <a:t>in</a:t>
                      </a:r>
                      <a:r>
                        <a:rPr sz="1200" spc="-95" dirty="0">
                          <a:latin typeface="Arial"/>
                          <a:cs typeface="Arial"/>
                        </a:rPr>
                        <a:t> </a:t>
                      </a:r>
                      <a:r>
                        <a:rPr sz="1200" spc="-10" dirty="0">
                          <a:latin typeface="Arial"/>
                          <a:cs typeface="Arial"/>
                        </a:rPr>
                        <a:t>several </a:t>
                      </a:r>
                      <a:r>
                        <a:rPr sz="1200" spc="-90" dirty="0">
                          <a:latin typeface="Arial"/>
                          <a:cs typeface="Arial"/>
                        </a:rPr>
                        <a:t>schools,</a:t>
                      </a:r>
                      <a:r>
                        <a:rPr sz="1200" spc="60" dirty="0">
                          <a:latin typeface="Arial"/>
                          <a:cs typeface="Arial"/>
                        </a:rPr>
                        <a:t> </a:t>
                      </a:r>
                      <a:r>
                        <a:rPr sz="1200" spc="-10" dirty="0">
                          <a:latin typeface="Arial"/>
                          <a:cs typeface="Arial"/>
                        </a:rPr>
                        <a:t>including </a:t>
                      </a:r>
                      <a:r>
                        <a:rPr sz="1200" spc="-30" dirty="0">
                          <a:latin typeface="Arial"/>
                          <a:cs typeface="Arial"/>
                        </a:rPr>
                        <a:t>the</a:t>
                      </a:r>
                      <a:r>
                        <a:rPr sz="1200" spc="-100" dirty="0">
                          <a:latin typeface="Arial"/>
                          <a:cs typeface="Arial"/>
                        </a:rPr>
                        <a:t> </a:t>
                      </a:r>
                      <a:r>
                        <a:rPr sz="1200" spc="-10" dirty="0">
                          <a:latin typeface="Arial"/>
                          <a:cs typeface="Arial"/>
                        </a:rPr>
                        <a:t>Engineering </a:t>
                      </a:r>
                      <a:r>
                        <a:rPr sz="1200" spc="-110" dirty="0">
                          <a:latin typeface="Arial"/>
                          <a:cs typeface="Arial"/>
                        </a:rPr>
                        <a:t>School,</a:t>
                      </a:r>
                      <a:r>
                        <a:rPr sz="1200" spc="60" dirty="0">
                          <a:latin typeface="Arial"/>
                          <a:cs typeface="Arial"/>
                        </a:rPr>
                        <a:t> </a:t>
                      </a:r>
                      <a:r>
                        <a:rPr sz="1200" spc="-70" dirty="0">
                          <a:latin typeface="Arial"/>
                          <a:cs typeface="Arial"/>
                        </a:rPr>
                        <a:t>and</a:t>
                      </a:r>
                      <a:r>
                        <a:rPr sz="1200" spc="-60" dirty="0">
                          <a:latin typeface="Arial"/>
                          <a:cs typeface="Arial"/>
                        </a:rPr>
                        <a:t> </a:t>
                      </a:r>
                      <a:r>
                        <a:rPr sz="1200" spc="-25" dirty="0">
                          <a:latin typeface="Arial"/>
                          <a:cs typeface="Arial"/>
                        </a:rPr>
                        <a:t>the </a:t>
                      </a:r>
                      <a:r>
                        <a:rPr sz="1200" spc="-120" dirty="0">
                          <a:latin typeface="Arial"/>
                          <a:cs typeface="Arial"/>
                        </a:rPr>
                        <a:t>School</a:t>
                      </a:r>
                      <a:r>
                        <a:rPr sz="1200" spc="65" dirty="0">
                          <a:latin typeface="Arial"/>
                          <a:cs typeface="Arial"/>
                        </a:rPr>
                        <a:t> </a:t>
                      </a:r>
                      <a:r>
                        <a:rPr sz="1200" dirty="0">
                          <a:latin typeface="Arial"/>
                          <a:cs typeface="Arial"/>
                        </a:rPr>
                        <a:t>of</a:t>
                      </a:r>
                      <a:r>
                        <a:rPr sz="1200" spc="-85" dirty="0">
                          <a:latin typeface="Arial"/>
                          <a:cs typeface="Arial"/>
                        </a:rPr>
                        <a:t> </a:t>
                      </a:r>
                      <a:r>
                        <a:rPr sz="1200" spc="-65" dirty="0">
                          <a:latin typeface="Arial"/>
                          <a:cs typeface="Arial"/>
                        </a:rPr>
                        <a:t>Sciences. </a:t>
                      </a:r>
                      <a:r>
                        <a:rPr sz="1200" spc="-45" dirty="0">
                          <a:latin typeface="Arial"/>
                          <a:cs typeface="Arial"/>
                        </a:rPr>
                        <a:t>It</a:t>
                      </a:r>
                      <a:r>
                        <a:rPr sz="1200" spc="-90" dirty="0">
                          <a:latin typeface="Arial"/>
                          <a:cs typeface="Arial"/>
                        </a:rPr>
                        <a:t> </a:t>
                      </a:r>
                      <a:r>
                        <a:rPr sz="1200" spc="-60" dirty="0">
                          <a:latin typeface="Arial"/>
                          <a:cs typeface="Arial"/>
                        </a:rPr>
                        <a:t>is</a:t>
                      </a:r>
                      <a:r>
                        <a:rPr sz="1200" spc="-105" dirty="0">
                          <a:latin typeface="Arial"/>
                          <a:cs typeface="Arial"/>
                        </a:rPr>
                        <a:t> </a:t>
                      </a:r>
                      <a:r>
                        <a:rPr sz="1200" spc="-10" dirty="0">
                          <a:latin typeface="Arial"/>
                          <a:cs typeface="Arial"/>
                        </a:rPr>
                        <a:t>sometimes </a:t>
                      </a:r>
                      <a:r>
                        <a:rPr sz="1200" spc="-80" dirty="0">
                          <a:latin typeface="Arial"/>
                          <a:cs typeface="Arial"/>
                        </a:rPr>
                        <a:t>located</a:t>
                      </a:r>
                      <a:r>
                        <a:rPr sz="1200" spc="45" dirty="0">
                          <a:latin typeface="Arial"/>
                          <a:cs typeface="Arial"/>
                        </a:rPr>
                        <a:t> </a:t>
                      </a:r>
                      <a:r>
                        <a:rPr sz="1200" spc="-75" dirty="0">
                          <a:latin typeface="Arial"/>
                          <a:cs typeface="Arial"/>
                        </a:rPr>
                        <a:t>also</a:t>
                      </a:r>
                      <a:r>
                        <a:rPr sz="1200" spc="-50" dirty="0">
                          <a:latin typeface="Arial"/>
                          <a:cs typeface="Arial"/>
                        </a:rPr>
                        <a:t> </a:t>
                      </a:r>
                      <a:r>
                        <a:rPr sz="1200" spc="-10" dirty="0">
                          <a:latin typeface="Arial"/>
                          <a:cs typeface="Arial"/>
                        </a:rPr>
                        <a:t>within </a:t>
                      </a:r>
                      <a:r>
                        <a:rPr sz="1200" spc="-30" dirty="0">
                          <a:latin typeface="Arial"/>
                          <a:cs typeface="Arial"/>
                        </a:rPr>
                        <a:t>the</a:t>
                      </a:r>
                      <a:r>
                        <a:rPr sz="1200" spc="-135" dirty="0">
                          <a:latin typeface="Arial"/>
                          <a:cs typeface="Arial"/>
                        </a:rPr>
                        <a:t> </a:t>
                      </a:r>
                      <a:r>
                        <a:rPr sz="1200" spc="-10" dirty="0">
                          <a:latin typeface="Arial"/>
                          <a:cs typeface="Arial"/>
                        </a:rPr>
                        <a:t>Computer Science </a:t>
                      </a:r>
                      <a:r>
                        <a:rPr sz="1200" spc="-50" dirty="0">
                          <a:latin typeface="Arial"/>
                          <a:cs typeface="Arial"/>
                        </a:rPr>
                        <a:t>department,</a:t>
                      </a:r>
                      <a:r>
                        <a:rPr sz="1200" spc="15" dirty="0">
                          <a:latin typeface="Arial"/>
                          <a:cs typeface="Arial"/>
                        </a:rPr>
                        <a:t> </a:t>
                      </a:r>
                      <a:r>
                        <a:rPr sz="1200" spc="-10" dirty="0">
                          <a:latin typeface="Arial"/>
                          <a:cs typeface="Arial"/>
                        </a:rPr>
                        <a:t>either </a:t>
                      </a:r>
                      <a:r>
                        <a:rPr sz="1200" spc="-180" dirty="0">
                          <a:latin typeface="Arial"/>
                          <a:cs typeface="Arial"/>
                        </a:rPr>
                        <a:t>as</a:t>
                      </a:r>
                      <a:r>
                        <a:rPr sz="1200" spc="-90" dirty="0">
                          <a:latin typeface="Arial"/>
                          <a:cs typeface="Arial"/>
                        </a:rPr>
                        <a:t> </a:t>
                      </a:r>
                      <a:r>
                        <a:rPr sz="1200" spc="-40" dirty="0">
                          <a:latin typeface="Arial"/>
                          <a:cs typeface="Arial"/>
                        </a:rPr>
                        <a:t>a</a:t>
                      </a:r>
                      <a:r>
                        <a:rPr sz="1200" spc="-120" dirty="0">
                          <a:latin typeface="Arial"/>
                          <a:cs typeface="Arial"/>
                        </a:rPr>
                        <a:t> </a:t>
                      </a:r>
                      <a:r>
                        <a:rPr sz="1200" spc="-10" dirty="0">
                          <a:latin typeface="Arial"/>
                          <a:cs typeface="Arial"/>
                        </a:rPr>
                        <a:t>separate </a:t>
                      </a:r>
                      <a:r>
                        <a:rPr sz="1200" spc="-85" dirty="0">
                          <a:latin typeface="Arial"/>
                          <a:cs typeface="Arial"/>
                        </a:rPr>
                        <a:t>program</a:t>
                      </a:r>
                      <a:r>
                        <a:rPr sz="1200" spc="40" dirty="0">
                          <a:latin typeface="Arial"/>
                          <a:cs typeface="Arial"/>
                        </a:rPr>
                        <a:t> </a:t>
                      </a:r>
                      <a:r>
                        <a:rPr sz="1200" spc="-25" dirty="0">
                          <a:latin typeface="Arial"/>
                          <a:cs typeface="Arial"/>
                        </a:rPr>
                        <a:t>or </a:t>
                      </a:r>
                      <a:r>
                        <a:rPr sz="1200" spc="-85" dirty="0">
                          <a:latin typeface="Arial"/>
                          <a:cs typeface="Arial"/>
                        </a:rPr>
                        <a:t>combined</a:t>
                      </a:r>
                      <a:r>
                        <a:rPr sz="1200" spc="65" dirty="0">
                          <a:latin typeface="Arial"/>
                          <a:cs typeface="Arial"/>
                        </a:rPr>
                        <a:t> </a:t>
                      </a:r>
                      <a:r>
                        <a:rPr sz="1200" spc="-20" dirty="0">
                          <a:latin typeface="Arial"/>
                          <a:cs typeface="Arial"/>
                        </a:rPr>
                        <a:t>with </a:t>
                      </a:r>
                      <a:r>
                        <a:rPr sz="1200" spc="-85" dirty="0">
                          <a:latin typeface="Arial"/>
                          <a:cs typeface="Arial"/>
                        </a:rPr>
                        <a:t>Computer</a:t>
                      </a:r>
                      <a:r>
                        <a:rPr sz="1200" spc="70" dirty="0">
                          <a:latin typeface="Arial"/>
                          <a:cs typeface="Arial"/>
                        </a:rPr>
                        <a:t> </a:t>
                      </a:r>
                      <a:r>
                        <a:rPr sz="1200" spc="-50" dirty="0">
                          <a:latin typeface="Arial"/>
                          <a:cs typeface="Arial"/>
                        </a:rPr>
                        <a:t>Science.</a:t>
                      </a:r>
                      <a:endParaRPr sz="1200" dirty="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91440">
                        <a:lnSpc>
                          <a:spcPct val="99800"/>
                        </a:lnSpc>
                        <a:spcBef>
                          <a:spcPts val="234"/>
                        </a:spcBef>
                      </a:pPr>
                      <a:r>
                        <a:rPr sz="1200" spc="-85" dirty="0">
                          <a:latin typeface="Arial"/>
                          <a:cs typeface="Arial"/>
                        </a:rPr>
                        <a:t>Suitable</a:t>
                      </a:r>
                      <a:r>
                        <a:rPr sz="1200" spc="-20" dirty="0">
                          <a:latin typeface="Arial"/>
                          <a:cs typeface="Arial"/>
                        </a:rPr>
                        <a:t> </a:t>
                      </a:r>
                      <a:r>
                        <a:rPr sz="1200" dirty="0">
                          <a:latin typeface="Arial"/>
                          <a:cs typeface="Arial"/>
                        </a:rPr>
                        <a:t>for</a:t>
                      </a:r>
                      <a:r>
                        <a:rPr sz="1200" spc="-50" dirty="0">
                          <a:latin typeface="Arial"/>
                          <a:cs typeface="Arial"/>
                        </a:rPr>
                        <a:t> students</a:t>
                      </a:r>
                      <a:r>
                        <a:rPr sz="1200" spc="45" dirty="0">
                          <a:latin typeface="Arial"/>
                          <a:cs typeface="Arial"/>
                        </a:rPr>
                        <a:t> </a:t>
                      </a:r>
                      <a:r>
                        <a:rPr sz="1200" spc="-35" dirty="0">
                          <a:latin typeface="Arial"/>
                          <a:cs typeface="Arial"/>
                        </a:rPr>
                        <a:t>who</a:t>
                      </a:r>
                      <a:r>
                        <a:rPr sz="1200" spc="-50" dirty="0">
                          <a:latin typeface="Arial"/>
                          <a:cs typeface="Arial"/>
                        </a:rPr>
                        <a:t> </a:t>
                      </a:r>
                      <a:r>
                        <a:rPr sz="1200" spc="-25" dirty="0">
                          <a:latin typeface="Arial"/>
                          <a:cs typeface="Arial"/>
                        </a:rPr>
                        <a:t>are </a:t>
                      </a:r>
                      <a:r>
                        <a:rPr sz="1200" spc="-85" dirty="0">
                          <a:latin typeface="Arial"/>
                          <a:cs typeface="Arial"/>
                        </a:rPr>
                        <a:t>highly</a:t>
                      </a:r>
                      <a:r>
                        <a:rPr sz="1200" spc="10" dirty="0">
                          <a:latin typeface="Arial"/>
                          <a:cs typeface="Arial"/>
                        </a:rPr>
                        <a:t> </a:t>
                      </a:r>
                      <a:r>
                        <a:rPr sz="1200" spc="-40" dirty="0">
                          <a:latin typeface="Arial"/>
                          <a:cs typeface="Arial"/>
                        </a:rPr>
                        <a:t>interested</a:t>
                      </a:r>
                      <a:r>
                        <a:rPr sz="1200" spc="105" dirty="0">
                          <a:latin typeface="Arial"/>
                          <a:cs typeface="Arial"/>
                        </a:rPr>
                        <a:t> </a:t>
                      </a:r>
                      <a:r>
                        <a:rPr sz="1200" spc="-20" dirty="0">
                          <a:latin typeface="Arial"/>
                          <a:cs typeface="Arial"/>
                        </a:rPr>
                        <a:t>in</a:t>
                      </a:r>
                      <a:r>
                        <a:rPr sz="1200" spc="-114" dirty="0">
                          <a:latin typeface="Arial"/>
                          <a:cs typeface="Arial"/>
                        </a:rPr>
                        <a:t> </a:t>
                      </a:r>
                      <a:r>
                        <a:rPr sz="1200" spc="-10" dirty="0">
                          <a:latin typeface="Arial"/>
                          <a:cs typeface="Arial"/>
                        </a:rPr>
                        <a:t>designing </a:t>
                      </a:r>
                      <a:r>
                        <a:rPr sz="1200" spc="-110" dirty="0">
                          <a:latin typeface="Arial"/>
                          <a:cs typeface="Arial"/>
                        </a:rPr>
                        <a:t>and</a:t>
                      </a:r>
                      <a:r>
                        <a:rPr sz="1200" spc="-5" dirty="0">
                          <a:latin typeface="Arial"/>
                          <a:cs typeface="Arial"/>
                        </a:rPr>
                        <a:t> </a:t>
                      </a:r>
                      <a:r>
                        <a:rPr sz="1200" spc="-10" dirty="0">
                          <a:latin typeface="Arial"/>
                          <a:cs typeface="Arial"/>
                        </a:rPr>
                        <a:t>programming </a:t>
                      </a:r>
                      <a:r>
                        <a:rPr sz="1200" spc="-80" dirty="0">
                          <a:latin typeface="Arial"/>
                          <a:cs typeface="Arial"/>
                        </a:rPr>
                        <a:t>comprehensive</a:t>
                      </a:r>
                      <a:r>
                        <a:rPr sz="1200" spc="210" dirty="0">
                          <a:latin typeface="Arial"/>
                          <a:cs typeface="Arial"/>
                        </a:rPr>
                        <a:t> </a:t>
                      </a:r>
                      <a:r>
                        <a:rPr sz="1200" spc="-70" dirty="0">
                          <a:latin typeface="Arial"/>
                          <a:cs typeface="Arial"/>
                        </a:rPr>
                        <a:t>and</a:t>
                      </a:r>
                      <a:r>
                        <a:rPr sz="1200" spc="-35" dirty="0">
                          <a:latin typeface="Arial"/>
                          <a:cs typeface="Arial"/>
                        </a:rPr>
                        <a:t> </a:t>
                      </a:r>
                      <a:r>
                        <a:rPr sz="1200" spc="-85" dirty="0">
                          <a:latin typeface="Arial"/>
                          <a:cs typeface="Arial"/>
                        </a:rPr>
                        <a:t>large-</a:t>
                      </a:r>
                      <a:r>
                        <a:rPr sz="1200" spc="-10" dirty="0">
                          <a:latin typeface="Arial"/>
                          <a:cs typeface="Arial"/>
                        </a:rPr>
                        <a:t>scale </a:t>
                      </a:r>
                      <a:r>
                        <a:rPr sz="1200" spc="-70" dirty="0">
                          <a:latin typeface="Arial"/>
                          <a:cs typeface="Arial"/>
                        </a:rPr>
                        <a:t>applications</a:t>
                      </a:r>
                      <a:r>
                        <a:rPr sz="1200" spc="95" dirty="0">
                          <a:latin typeface="Arial"/>
                          <a:cs typeface="Arial"/>
                        </a:rPr>
                        <a:t> </a:t>
                      </a:r>
                      <a:r>
                        <a:rPr sz="1200" spc="-40" dirty="0">
                          <a:latin typeface="Arial"/>
                          <a:cs typeface="Arial"/>
                        </a:rPr>
                        <a:t>software,</a:t>
                      </a:r>
                      <a:r>
                        <a:rPr sz="1200" spc="10" dirty="0">
                          <a:latin typeface="Arial"/>
                          <a:cs typeface="Arial"/>
                        </a:rPr>
                        <a:t> </a:t>
                      </a:r>
                      <a:r>
                        <a:rPr sz="1200" dirty="0">
                          <a:latin typeface="Arial"/>
                          <a:cs typeface="Arial"/>
                        </a:rPr>
                        <a:t>to</a:t>
                      </a:r>
                      <a:r>
                        <a:rPr sz="1200" spc="-5" dirty="0">
                          <a:latin typeface="Arial"/>
                          <a:cs typeface="Arial"/>
                        </a:rPr>
                        <a:t> </a:t>
                      </a:r>
                      <a:r>
                        <a:rPr sz="1200" spc="-25" dirty="0">
                          <a:latin typeface="Arial"/>
                          <a:cs typeface="Arial"/>
                        </a:rPr>
                        <a:t>be </a:t>
                      </a:r>
                      <a:r>
                        <a:rPr sz="1200" spc="-60" dirty="0">
                          <a:latin typeface="Arial"/>
                          <a:cs typeface="Arial"/>
                        </a:rPr>
                        <a:t>implemented</a:t>
                      </a:r>
                      <a:r>
                        <a:rPr sz="1200" spc="110" dirty="0">
                          <a:latin typeface="Arial"/>
                          <a:cs typeface="Arial"/>
                        </a:rPr>
                        <a:t> </a:t>
                      </a:r>
                      <a:r>
                        <a:rPr sz="1200" spc="-10" dirty="0">
                          <a:latin typeface="Arial"/>
                          <a:cs typeface="Arial"/>
                        </a:rPr>
                        <a:t>in</a:t>
                      </a:r>
                      <a:r>
                        <a:rPr sz="1200" spc="-130" dirty="0">
                          <a:latin typeface="Arial"/>
                          <a:cs typeface="Arial"/>
                        </a:rPr>
                        <a:t> </a:t>
                      </a:r>
                      <a:r>
                        <a:rPr sz="1200" spc="-10" dirty="0">
                          <a:latin typeface="Arial"/>
                          <a:cs typeface="Arial"/>
                        </a:rPr>
                        <a:t>organizations </a:t>
                      </a:r>
                      <a:r>
                        <a:rPr sz="1200" spc="-65" dirty="0">
                          <a:latin typeface="Arial"/>
                          <a:cs typeface="Arial"/>
                        </a:rPr>
                        <a:t>or</a:t>
                      </a:r>
                      <a:r>
                        <a:rPr sz="1200" spc="-90" dirty="0">
                          <a:latin typeface="Arial"/>
                          <a:cs typeface="Arial"/>
                        </a:rPr>
                        <a:t> </a:t>
                      </a:r>
                      <a:r>
                        <a:rPr sz="1200" spc="-95" dirty="0">
                          <a:latin typeface="Arial"/>
                          <a:cs typeface="Arial"/>
                        </a:rPr>
                        <a:t>used</a:t>
                      </a:r>
                      <a:r>
                        <a:rPr sz="1200" dirty="0">
                          <a:latin typeface="Arial"/>
                          <a:cs typeface="Arial"/>
                        </a:rPr>
                        <a:t> </a:t>
                      </a:r>
                      <a:r>
                        <a:rPr sz="1200" spc="-50" dirty="0">
                          <a:latin typeface="Arial"/>
                          <a:cs typeface="Arial"/>
                        </a:rPr>
                        <a:t>by</a:t>
                      </a:r>
                      <a:r>
                        <a:rPr sz="1200" spc="-75" dirty="0">
                          <a:latin typeface="Arial"/>
                          <a:cs typeface="Arial"/>
                        </a:rPr>
                        <a:t> </a:t>
                      </a:r>
                      <a:r>
                        <a:rPr sz="1200" spc="-50" dirty="0">
                          <a:latin typeface="Arial"/>
                          <a:cs typeface="Arial"/>
                        </a:rPr>
                        <a:t>individuals.</a:t>
                      </a:r>
                      <a:r>
                        <a:rPr sz="1200" spc="295" dirty="0">
                          <a:latin typeface="Arial"/>
                          <a:cs typeface="Arial"/>
                        </a:rPr>
                        <a:t> </a:t>
                      </a:r>
                      <a:r>
                        <a:rPr sz="1200" spc="-65" dirty="0">
                          <a:latin typeface="Arial"/>
                          <a:cs typeface="Arial"/>
                        </a:rPr>
                        <a:t>Also,</a:t>
                      </a:r>
                      <a:r>
                        <a:rPr sz="1200" spc="-95" dirty="0">
                          <a:latin typeface="Arial"/>
                          <a:cs typeface="Arial"/>
                        </a:rPr>
                        <a:t> </a:t>
                      </a:r>
                      <a:r>
                        <a:rPr sz="1200" spc="-25" dirty="0">
                          <a:latin typeface="Arial"/>
                          <a:cs typeface="Arial"/>
                        </a:rPr>
                        <a:t>for </a:t>
                      </a:r>
                      <a:r>
                        <a:rPr sz="1200" spc="-65" dirty="0">
                          <a:latin typeface="Arial"/>
                          <a:cs typeface="Arial"/>
                        </a:rPr>
                        <a:t>students</a:t>
                      </a:r>
                      <a:r>
                        <a:rPr sz="1200" spc="5" dirty="0">
                          <a:latin typeface="Arial"/>
                          <a:cs typeface="Arial"/>
                        </a:rPr>
                        <a:t> </a:t>
                      </a:r>
                      <a:r>
                        <a:rPr sz="1200" spc="-40" dirty="0">
                          <a:latin typeface="Arial"/>
                          <a:cs typeface="Arial"/>
                        </a:rPr>
                        <a:t>interested</a:t>
                      </a:r>
                      <a:r>
                        <a:rPr sz="1200" spc="35" dirty="0">
                          <a:latin typeface="Arial"/>
                          <a:cs typeface="Arial"/>
                        </a:rPr>
                        <a:t> </a:t>
                      </a:r>
                      <a:r>
                        <a:rPr sz="1200" spc="-25" dirty="0">
                          <a:latin typeface="Arial"/>
                          <a:cs typeface="Arial"/>
                        </a:rPr>
                        <a:t>in</a:t>
                      </a:r>
                      <a:r>
                        <a:rPr sz="1200" spc="500" dirty="0">
                          <a:latin typeface="Arial"/>
                          <a:cs typeface="Arial"/>
                        </a:rPr>
                        <a:t> </a:t>
                      </a:r>
                      <a:r>
                        <a:rPr sz="1200" spc="-75" dirty="0">
                          <a:latin typeface="Arial"/>
                          <a:cs typeface="Arial"/>
                        </a:rPr>
                        <a:t>combining</a:t>
                      </a:r>
                      <a:r>
                        <a:rPr sz="1200" spc="55" dirty="0">
                          <a:latin typeface="Arial"/>
                          <a:cs typeface="Arial"/>
                        </a:rPr>
                        <a:t> </a:t>
                      </a:r>
                      <a:r>
                        <a:rPr sz="1200" spc="-10" dirty="0">
                          <a:latin typeface="Arial"/>
                          <a:cs typeface="Arial"/>
                        </a:rPr>
                        <a:t>computing </a:t>
                      </a:r>
                      <a:r>
                        <a:rPr sz="1200" spc="-80" dirty="0">
                          <a:latin typeface="Arial"/>
                          <a:cs typeface="Arial"/>
                        </a:rPr>
                        <a:t>knowledge</a:t>
                      </a:r>
                      <a:r>
                        <a:rPr sz="1200" spc="55" dirty="0">
                          <a:latin typeface="Arial"/>
                          <a:cs typeface="Arial"/>
                        </a:rPr>
                        <a:t> </a:t>
                      </a:r>
                      <a:r>
                        <a:rPr sz="1200" spc="-80" dirty="0">
                          <a:latin typeface="Arial"/>
                          <a:cs typeface="Arial"/>
                        </a:rPr>
                        <a:t>and </a:t>
                      </a:r>
                      <a:r>
                        <a:rPr sz="1200" spc="-10" dirty="0">
                          <a:latin typeface="Arial"/>
                          <a:cs typeface="Arial"/>
                        </a:rPr>
                        <a:t>techniques</a:t>
                      </a:r>
                      <a:endParaRPr sz="1200" dirty="0">
                        <a:latin typeface="Arial"/>
                        <a:cs typeface="Arial"/>
                      </a:endParaRPr>
                    </a:p>
                    <a:p>
                      <a:pPr marL="77470">
                        <a:lnSpc>
                          <a:spcPct val="100000"/>
                        </a:lnSpc>
                      </a:pPr>
                      <a:r>
                        <a:rPr sz="1200" spc="-35" dirty="0">
                          <a:latin typeface="Arial"/>
                          <a:cs typeface="Arial"/>
                        </a:rPr>
                        <a:t>with</a:t>
                      </a:r>
                      <a:r>
                        <a:rPr sz="1200" spc="-90" dirty="0">
                          <a:latin typeface="Arial"/>
                          <a:cs typeface="Arial"/>
                        </a:rPr>
                        <a:t> </a:t>
                      </a:r>
                      <a:r>
                        <a:rPr sz="1200" spc="-60" dirty="0">
                          <a:latin typeface="Arial"/>
                          <a:cs typeface="Arial"/>
                        </a:rPr>
                        <a:t>engineering</a:t>
                      </a:r>
                      <a:r>
                        <a:rPr sz="1200" spc="110" dirty="0">
                          <a:latin typeface="Arial"/>
                          <a:cs typeface="Arial"/>
                        </a:rPr>
                        <a:t> </a:t>
                      </a:r>
                      <a:r>
                        <a:rPr sz="1200" spc="-10" dirty="0">
                          <a:latin typeface="Arial"/>
                          <a:cs typeface="Arial"/>
                        </a:rPr>
                        <a:t>practices.</a:t>
                      </a:r>
                      <a:endParaRPr sz="1200" dirty="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16" name="object 16"/>
          <p:cNvPicPr/>
          <p:nvPr/>
        </p:nvPicPr>
        <p:blipFill>
          <a:blip r:embed="rId9" cstate="print"/>
          <a:stretch>
            <a:fillRect/>
          </a:stretch>
        </p:blipFill>
        <p:spPr>
          <a:xfrm>
            <a:off x="944096" y="1316130"/>
            <a:ext cx="11206" cy="22412"/>
          </a:xfrm>
          <a:prstGeom prst="rect">
            <a:avLst/>
          </a:prstGeom>
        </p:spPr>
      </p:pic>
      <p:pic>
        <p:nvPicPr>
          <p:cNvPr id="17" name="object 17"/>
          <p:cNvPicPr/>
          <p:nvPr/>
        </p:nvPicPr>
        <p:blipFill>
          <a:blip r:embed="rId9" cstate="print"/>
          <a:stretch>
            <a:fillRect/>
          </a:stretch>
        </p:blipFill>
        <p:spPr>
          <a:xfrm>
            <a:off x="1100978" y="1316130"/>
            <a:ext cx="11206" cy="22412"/>
          </a:xfrm>
          <a:prstGeom prst="rect">
            <a:avLst/>
          </a:prstGeom>
        </p:spPr>
      </p:pic>
      <p:pic>
        <p:nvPicPr>
          <p:cNvPr id="18" name="object 18"/>
          <p:cNvPicPr/>
          <p:nvPr/>
        </p:nvPicPr>
        <p:blipFill>
          <a:blip r:embed="rId9" cstate="print"/>
          <a:stretch>
            <a:fillRect/>
          </a:stretch>
        </p:blipFill>
        <p:spPr>
          <a:xfrm>
            <a:off x="4081182" y="1316130"/>
            <a:ext cx="11206" cy="22412"/>
          </a:xfrm>
          <a:prstGeom prst="rect">
            <a:avLst/>
          </a:prstGeom>
        </p:spPr>
      </p:pic>
      <p:pic>
        <p:nvPicPr>
          <p:cNvPr id="19" name="object 19"/>
          <p:cNvPicPr/>
          <p:nvPr/>
        </p:nvPicPr>
        <p:blipFill>
          <a:blip r:embed="rId9" cstate="print"/>
          <a:stretch>
            <a:fillRect/>
          </a:stretch>
        </p:blipFill>
        <p:spPr>
          <a:xfrm>
            <a:off x="5493684" y="1316130"/>
            <a:ext cx="11206" cy="22412"/>
          </a:xfrm>
          <a:prstGeom prst="rect">
            <a:avLst/>
          </a:prstGeom>
        </p:spPr>
      </p:pic>
      <p:pic>
        <p:nvPicPr>
          <p:cNvPr id="20" name="object 20"/>
          <p:cNvPicPr/>
          <p:nvPr/>
        </p:nvPicPr>
        <p:blipFill>
          <a:blip r:embed="rId9" cstate="print"/>
          <a:stretch>
            <a:fillRect/>
          </a:stretch>
        </p:blipFill>
        <p:spPr>
          <a:xfrm>
            <a:off x="6603067" y="1316130"/>
            <a:ext cx="11205" cy="22412"/>
          </a:xfrm>
          <a:prstGeom prst="rect">
            <a:avLst/>
          </a:prstGeom>
        </p:spPr>
      </p:pic>
      <p:pic>
        <p:nvPicPr>
          <p:cNvPr id="21" name="object 21"/>
          <p:cNvPicPr/>
          <p:nvPr/>
        </p:nvPicPr>
        <p:blipFill>
          <a:blip r:embed="rId9" cstate="print"/>
          <a:stretch>
            <a:fillRect/>
          </a:stretch>
        </p:blipFill>
        <p:spPr>
          <a:xfrm>
            <a:off x="944096" y="3584201"/>
            <a:ext cx="11206" cy="22412"/>
          </a:xfrm>
          <a:prstGeom prst="rect">
            <a:avLst/>
          </a:prstGeom>
        </p:spPr>
      </p:pic>
      <p:pic>
        <p:nvPicPr>
          <p:cNvPr id="22" name="object 22"/>
          <p:cNvPicPr/>
          <p:nvPr/>
        </p:nvPicPr>
        <p:blipFill>
          <a:blip r:embed="rId9" cstate="print"/>
          <a:stretch>
            <a:fillRect/>
          </a:stretch>
        </p:blipFill>
        <p:spPr>
          <a:xfrm>
            <a:off x="1100978" y="3584201"/>
            <a:ext cx="11206" cy="22412"/>
          </a:xfrm>
          <a:prstGeom prst="rect">
            <a:avLst/>
          </a:prstGeom>
        </p:spPr>
      </p:pic>
      <p:pic>
        <p:nvPicPr>
          <p:cNvPr id="23" name="object 23"/>
          <p:cNvPicPr/>
          <p:nvPr/>
        </p:nvPicPr>
        <p:blipFill>
          <a:blip r:embed="rId9" cstate="print"/>
          <a:stretch>
            <a:fillRect/>
          </a:stretch>
        </p:blipFill>
        <p:spPr>
          <a:xfrm>
            <a:off x="2360518" y="3584201"/>
            <a:ext cx="11206" cy="22412"/>
          </a:xfrm>
          <a:prstGeom prst="rect">
            <a:avLst/>
          </a:prstGeom>
        </p:spPr>
      </p:pic>
      <p:pic>
        <p:nvPicPr>
          <p:cNvPr id="24" name="object 24"/>
          <p:cNvPicPr/>
          <p:nvPr/>
        </p:nvPicPr>
        <p:blipFill>
          <a:blip r:embed="rId9" cstate="print"/>
          <a:stretch>
            <a:fillRect/>
          </a:stretch>
        </p:blipFill>
        <p:spPr>
          <a:xfrm>
            <a:off x="4081182" y="3584201"/>
            <a:ext cx="11206" cy="22412"/>
          </a:xfrm>
          <a:prstGeom prst="rect">
            <a:avLst/>
          </a:prstGeom>
        </p:spPr>
      </p:pic>
      <p:pic>
        <p:nvPicPr>
          <p:cNvPr id="25" name="object 25"/>
          <p:cNvPicPr/>
          <p:nvPr/>
        </p:nvPicPr>
        <p:blipFill>
          <a:blip r:embed="rId9" cstate="print"/>
          <a:stretch>
            <a:fillRect/>
          </a:stretch>
        </p:blipFill>
        <p:spPr>
          <a:xfrm>
            <a:off x="5493684" y="3584201"/>
            <a:ext cx="11206" cy="22412"/>
          </a:xfrm>
          <a:prstGeom prst="rect">
            <a:avLst/>
          </a:prstGeom>
        </p:spPr>
      </p:pic>
      <p:pic>
        <p:nvPicPr>
          <p:cNvPr id="26" name="object 26"/>
          <p:cNvPicPr/>
          <p:nvPr/>
        </p:nvPicPr>
        <p:blipFill>
          <a:blip r:embed="rId9" cstate="print"/>
          <a:stretch>
            <a:fillRect/>
          </a:stretch>
        </p:blipFill>
        <p:spPr>
          <a:xfrm>
            <a:off x="6603067" y="3584201"/>
            <a:ext cx="11205" cy="22412"/>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1294" y="851647"/>
            <a:ext cx="7373471" cy="475690"/>
            <a:chOff x="914400" y="965200"/>
            <a:chExt cx="8356600" cy="539115"/>
          </a:xfrm>
        </p:grpSpPr>
        <p:pic>
          <p:nvPicPr>
            <p:cNvPr id="3" name="object 3"/>
            <p:cNvPicPr/>
            <p:nvPr/>
          </p:nvPicPr>
          <p:blipFill>
            <a:blip r:embed="rId2" cstate="print"/>
            <a:stretch>
              <a:fillRect/>
            </a:stretch>
          </p:blipFill>
          <p:spPr>
            <a:xfrm>
              <a:off x="914400" y="965200"/>
              <a:ext cx="8356600" cy="520700"/>
            </a:xfrm>
            <a:prstGeom prst="rect">
              <a:avLst/>
            </a:prstGeom>
          </p:spPr>
        </p:pic>
        <p:pic>
          <p:nvPicPr>
            <p:cNvPr id="4" name="object 4"/>
            <p:cNvPicPr/>
            <p:nvPr/>
          </p:nvPicPr>
          <p:blipFill>
            <a:blip r:embed="rId3" cstate="print"/>
            <a:stretch>
              <a:fillRect/>
            </a:stretch>
          </p:blipFill>
          <p:spPr>
            <a:xfrm>
              <a:off x="1163954" y="1161414"/>
              <a:ext cx="1308100" cy="177799"/>
            </a:xfrm>
            <a:prstGeom prst="rect">
              <a:avLst/>
            </a:prstGeom>
          </p:spPr>
        </p:pic>
        <p:pic>
          <p:nvPicPr>
            <p:cNvPr id="5" name="object 5"/>
            <p:cNvPicPr/>
            <p:nvPr/>
          </p:nvPicPr>
          <p:blipFill>
            <a:blip r:embed="rId4" cstate="print"/>
            <a:stretch>
              <a:fillRect/>
            </a:stretch>
          </p:blipFill>
          <p:spPr>
            <a:xfrm>
              <a:off x="2593339" y="1161414"/>
              <a:ext cx="1816100" cy="177799"/>
            </a:xfrm>
            <a:prstGeom prst="rect">
              <a:avLst/>
            </a:prstGeom>
          </p:spPr>
        </p:pic>
        <p:pic>
          <p:nvPicPr>
            <p:cNvPr id="6" name="object 6"/>
            <p:cNvPicPr/>
            <p:nvPr/>
          </p:nvPicPr>
          <p:blipFill>
            <a:blip r:embed="rId5" cstate="print"/>
            <a:stretch>
              <a:fillRect/>
            </a:stretch>
          </p:blipFill>
          <p:spPr>
            <a:xfrm>
              <a:off x="4537075" y="1161414"/>
              <a:ext cx="1473200" cy="342899"/>
            </a:xfrm>
            <a:prstGeom prst="rect">
              <a:avLst/>
            </a:prstGeom>
          </p:spPr>
        </p:pic>
        <p:pic>
          <p:nvPicPr>
            <p:cNvPr id="7" name="object 7"/>
            <p:cNvPicPr/>
            <p:nvPr/>
          </p:nvPicPr>
          <p:blipFill>
            <a:blip r:embed="rId6" cstate="print"/>
            <a:stretch>
              <a:fillRect/>
            </a:stretch>
          </p:blipFill>
          <p:spPr>
            <a:xfrm>
              <a:off x="6137275" y="1161414"/>
              <a:ext cx="1130300" cy="177799"/>
            </a:xfrm>
            <a:prstGeom prst="rect">
              <a:avLst/>
            </a:prstGeom>
          </p:spPr>
        </p:pic>
        <p:pic>
          <p:nvPicPr>
            <p:cNvPr id="8" name="object 8"/>
            <p:cNvPicPr/>
            <p:nvPr/>
          </p:nvPicPr>
          <p:blipFill>
            <a:blip r:embed="rId7" cstate="print"/>
            <a:stretch>
              <a:fillRect/>
            </a:stretch>
          </p:blipFill>
          <p:spPr>
            <a:xfrm>
              <a:off x="7394575" y="1161414"/>
              <a:ext cx="1816100" cy="342899"/>
            </a:xfrm>
            <a:prstGeom prst="rect">
              <a:avLst/>
            </a:prstGeom>
          </p:spPr>
        </p:pic>
      </p:grpSp>
      <p:sp>
        <p:nvSpPr>
          <p:cNvPr id="9" name="object 9"/>
          <p:cNvSpPr txBox="1"/>
          <p:nvPr/>
        </p:nvSpPr>
        <p:spPr>
          <a:xfrm>
            <a:off x="8087733" y="393550"/>
            <a:ext cx="74519" cy="160715"/>
          </a:xfrm>
          <a:prstGeom prst="rect">
            <a:avLst/>
          </a:prstGeom>
        </p:spPr>
        <p:txBody>
          <a:bodyPr vert="horz" wrap="square" lIns="0" tIns="11206" rIns="0" bIns="0" rtlCol="0">
            <a:spAutoFit/>
          </a:bodyPr>
          <a:lstStyle/>
          <a:p>
            <a:pPr marL="11206" defTabSz="806867">
              <a:spcBef>
                <a:spcPts val="88"/>
              </a:spcBef>
            </a:pPr>
            <a:r>
              <a:rPr sz="971" spc="-93" dirty="0">
                <a:latin typeface="Arial"/>
                <a:cs typeface="Arial"/>
              </a:rPr>
              <a:t>5</a:t>
            </a:r>
            <a:endParaRPr sz="971">
              <a:latin typeface="Arial"/>
              <a:cs typeface="Arial"/>
            </a:endParaRPr>
          </a:p>
        </p:txBody>
      </p:sp>
      <p:grpSp>
        <p:nvGrpSpPr>
          <p:cNvPr id="10" name="object 10"/>
          <p:cNvGrpSpPr/>
          <p:nvPr/>
        </p:nvGrpSpPr>
        <p:grpSpPr>
          <a:xfrm>
            <a:off x="2360518" y="1014693"/>
            <a:ext cx="5968253" cy="323850"/>
            <a:chOff x="2522854" y="1149985"/>
            <a:chExt cx="6764020" cy="367030"/>
          </a:xfrm>
        </p:grpSpPr>
        <p:pic>
          <p:nvPicPr>
            <p:cNvPr id="11" name="object 11"/>
            <p:cNvPicPr/>
            <p:nvPr/>
          </p:nvPicPr>
          <p:blipFill>
            <a:blip r:embed="rId8" cstate="print"/>
            <a:stretch>
              <a:fillRect/>
            </a:stretch>
          </p:blipFill>
          <p:spPr>
            <a:xfrm>
              <a:off x="6073775" y="1149985"/>
              <a:ext cx="25400" cy="12699"/>
            </a:xfrm>
            <a:prstGeom prst="rect">
              <a:avLst/>
            </a:prstGeom>
          </p:spPr>
        </p:pic>
        <p:pic>
          <p:nvPicPr>
            <p:cNvPr id="12" name="object 12"/>
            <p:cNvPicPr/>
            <p:nvPr/>
          </p:nvPicPr>
          <p:blipFill>
            <a:blip r:embed="rId8" cstate="print"/>
            <a:stretch>
              <a:fillRect/>
            </a:stretch>
          </p:blipFill>
          <p:spPr>
            <a:xfrm>
              <a:off x="7331075" y="1149985"/>
              <a:ext cx="25400" cy="12699"/>
            </a:xfrm>
            <a:prstGeom prst="rect">
              <a:avLst/>
            </a:prstGeom>
          </p:spPr>
        </p:pic>
        <p:pic>
          <p:nvPicPr>
            <p:cNvPr id="13" name="object 13"/>
            <p:cNvPicPr/>
            <p:nvPr/>
          </p:nvPicPr>
          <p:blipFill>
            <a:blip r:embed="rId9" cstate="print"/>
            <a:stretch>
              <a:fillRect/>
            </a:stretch>
          </p:blipFill>
          <p:spPr>
            <a:xfrm>
              <a:off x="2522854" y="1491615"/>
              <a:ext cx="12700" cy="25400"/>
            </a:xfrm>
            <a:prstGeom prst="rect">
              <a:avLst/>
            </a:prstGeom>
          </p:spPr>
        </p:pic>
        <p:pic>
          <p:nvPicPr>
            <p:cNvPr id="14" name="object 14"/>
            <p:cNvPicPr/>
            <p:nvPr/>
          </p:nvPicPr>
          <p:blipFill>
            <a:blip r:embed="rId10" cstate="print"/>
            <a:stretch>
              <a:fillRect/>
            </a:stretch>
          </p:blipFill>
          <p:spPr>
            <a:xfrm>
              <a:off x="9274174" y="1504315"/>
              <a:ext cx="12699" cy="12700"/>
            </a:xfrm>
            <a:prstGeom prst="rect">
              <a:avLst/>
            </a:prstGeom>
          </p:spPr>
        </p:pic>
      </p:grpSp>
      <p:graphicFrame>
        <p:nvGraphicFramePr>
          <p:cNvPr id="15" name="object 15"/>
          <p:cNvGraphicFramePr>
            <a:graphicFrameLocks noGrp="1"/>
          </p:cNvGraphicFramePr>
          <p:nvPr>
            <p:extLst>
              <p:ext uri="{D42A27DB-BD31-4B8C-83A1-F6EECF244321}">
                <p14:modId xmlns:p14="http://schemas.microsoft.com/office/powerpoint/2010/main" val="2850090289"/>
              </p:ext>
            </p:extLst>
          </p:nvPr>
        </p:nvGraphicFramePr>
        <p:xfrm>
          <a:off x="933225" y="858147"/>
          <a:ext cx="7374591" cy="4104719"/>
        </p:xfrm>
        <a:graphic>
          <a:graphicData uri="http://schemas.openxmlformats.org/drawingml/2006/table">
            <a:tbl>
              <a:tblPr firstRow="1" bandRow="1">
                <a:tableStyleId>{2D5ABB26-0587-4C30-8999-92F81FD0307C}</a:tableStyleId>
              </a:tblPr>
              <a:tblGrid>
                <a:gridCol w="161365">
                  <a:extLst>
                    <a:ext uri="{9D8B030D-6E8A-4147-A177-3AD203B41FA5}">
                      <a16:colId xmlns:a16="http://schemas.microsoft.com/office/drawing/2014/main" val="20000"/>
                    </a:ext>
                  </a:extLst>
                </a:gridCol>
                <a:gridCol w="1261222">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11941">
                  <a:extLst>
                    <a:ext uri="{9D8B030D-6E8A-4147-A177-3AD203B41FA5}">
                      <a16:colId xmlns:a16="http://schemas.microsoft.com/office/drawing/2014/main" val="20003"/>
                    </a:ext>
                  </a:extLst>
                </a:gridCol>
                <a:gridCol w="1109382">
                  <a:extLst>
                    <a:ext uri="{9D8B030D-6E8A-4147-A177-3AD203B41FA5}">
                      <a16:colId xmlns:a16="http://schemas.microsoft.com/office/drawing/2014/main" val="20004"/>
                    </a:ext>
                  </a:extLst>
                </a:gridCol>
                <a:gridCol w="1716181">
                  <a:extLst>
                    <a:ext uri="{9D8B030D-6E8A-4147-A177-3AD203B41FA5}">
                      <a16:colId xmlns:a16="http://schemas.microsoft.com/office/drawing/2014/main" val="20005"/>
                    </a:ext>
                  </a:extLst>
                </a:gridCol>
              </a:tblGrid>
              <a:tr h="155762">
                <a:tc gridSpan="6">
                  <a:txBody>
                    <a:bodyPr/>
                    <a:lstStyle/>
                    <a:p>
                      <a:pPr marL="80645">
                        <a:lnSpc>
                          <a:spcPts val="1215"/>
                        </a:lnSpc>
                        <a:spcBef>
                          <a:spcPts val="75"/>
                        </a:spcBef>
                      </a:pPr>
                      <a:r>
                        <a:rPr sz="1000" b="1" spc="-125" dirty="0">
                          <a:latin typeface="Arial"/>
                          <a:cs typeface="Arial"/>
                        </a:rPr>
                        <a:t>Comparison</a:t>
                      </a:r>
                      <a:r>
                        <a:rPr sz="1000" b="1" spc="80" dirty="0">
                          <a:latin typeface="Arial"/>
                          <a:cs typeface="Arial"/>
                        </a:rPr>
                        <a:t> </a:t>
                      </a:r>
                      <a:r>
                        <a:rPr sz="1000" b="1" spc="-85" dirty="0">
                          <a:latin typeface="Arial"/>
                          <a:cs typeface="Arial"/>
                        </a:rPr>
                        <a:t>between</a:t>
                      </a:r>
                      <a:r>
                        <a:rPr sz="1000" b="1" spc="20" dirty="0">
                          <a:latin typeface="Arial"/>
                          <a:cs typeface="Arial"/>
                        </a:rPr>
                        <a:t> </a:t>
                      </a:r>
                      <a:r>
                        <a:rPr sz="1000" b="1" spc="-40" dirty="0">
                          <a:latin typeface="Arial"/>
                          <a:cs typeface="Arial"/>
                        </a:rPr>
                        <a:t>the</a:t>
                      </a:r>
                      <a:r>
                        <a:rPr sz="1000" b="1" spc="-50" dirty="0">
                          <a:latin typeface="Arial"/>
                          <a:cs typeface="Arial"/>
                        </a:rPr>
                        <a:t> </a:t>
                      </a:r>
                      <a:r>
                        <a:rPr sz="1000" b="1" spc="-85" dirty="0">
                          <a:latin typeface="Arial"/>
                          <a:cs typeface="Arial"/>
                        </a:rPr>
                        <a:t>main</a:t>
                      </a:r>
                      <a:r>
                        <a:rPr sz="1000" b="1" spc="-40" dirty="0">
                          <a:latin typeface="Arial"/>
                          <a:cs typeface="Arial"/>
                        </a:rPr>
                        <a:t> </a:t>
                      </a:r>
                      <a:r>
                        <a:rPr sz="1000" b="1" spc="-100" dirty="0">
                          <a:latin typeface="Arial"/>
                          <a:cs typeface="Arial"/>
                        </a:rPr>
                        <a:t>computing</a:t>
                      </a:r>
                      <a:r>
                        <a:rPr sz="1000" b="1" spc="80" dirty="0">
                          <a:latin typeface="Arial"/>
                          <a:cs typeface="Arial"/>
                        </a:rPr>
                        <a:t> </a:t>
                      </a:r>
                      <a:r>
                        <a:rPr sz="1000" b="1" spc="-20" dirty="0">
                          <a:latin typeface="Arial"/>
                          <a:cs typeface="Arial"/>
                        </a:rPr>
                        <a:t>disciplines:</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6481">
                <a:tc>
                  <a:txBody>
                    <a:bodyPr/>
                    <a:lstStyle/>
                    <a:p>
                      <a:pPr marL="31115" algn="ctr">
                        <a:lnSpc>
                          <a:spcPts val="1310"/>
                        </a:lnSpc>
                      </a:pPr>
                      <a:r>
                        <a:rPr sz="1000" b="1" strike="sngStrike" spc="-50" dirty="0">
                          <a:latin typeface="Arial"/>
                          <a:cs typeface="Arial"/>
                        </a:rPr>
                        <a:t>#</a:t>
                      </a:r>
                      <a:endParaRPr sz="1000">
                        <a:latin typeface="Arial"/>
                        <a:cs typeface="Arial"/>
                      </a:endParaRPr>
                    </a:p>
                  </a:txBody>
                  <a:tcPr marL="0" marR="0" marT="0" marB="0">
                    <a:lnL w="12700">
                      <a:solidFill>
                        <a:srgbClr val="000000"/>
                      </a:solidFill>
                      <a:prstDash val="solid"/>
                    </a:lnL>
                    <a:lnR w="12700">
                      <a:solidFill>
                        <a:srgbClr val="000000"/>
                      </a:solidFill>
                      <a:prstDash val="solid"/>
                    </a:lnR>
                    <a:lnT w="1905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3820">
                        <a:lnSpc>
                          <a:spcPct val="100000"/>
                        </a:lnSpc>
                        <a:spcBef>
                          <a:spcPts val="75"/>
                        </a:spcBef>
                      </a:pPr>
                      <a:r>
                        <a:rPr sz="1000" b="1" spc="-30" dirty="0">
                          <a:latin typeface="Arial"/>
                          <a:cs typeface="Arial"/>
                        </a:rPr>
                        <a:t>Discipline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114" dirty="0">
                          <a:latin typeface="Arial"/>
                          <a:cs typeface="Arial"/>
                        </a:rPr>
                        <a:t>Brief</a:t>
                      </a:r>
                      <a:r>
                        <a:rPr sz="1000" b="1" spc="-30" dirty="0">
                          <a:latin typeface="Arial"/>
                          <a:cs typeface="Arial"/>
                        </a:rPr>
                        <a:t> </a:t>
                      </a:r>
                      <a:r>
                        <a:rPr sz="1000" b="1" spc="-10" dirty="0">
                          <a:latin typeface="Arial"/>
                          <a:cs typeface="Arial"/>
                        </a:rPr>
                        <a:t>description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468630">
                        <a:lnSpc>
                          <a:spcPts val="1210"/>
                        </a:lnSpc>
                        <a:spcBef>
                          <a:spcPts val="215"/>
                        </a:spcBef>
                      </a:pPr>
                      <a:r>
                        <a:rPr sz="1000" b="1" spc="-160" dirty="0">
                          <a:latin typeface="Arial"/>
                          <a:cs typeface="Arial"/>
                        </a:rPr>
                        <a:t>Examples</a:t>
                      </a:r>
                      <a:r>
                        <a:rPr sz="1000" b="1" spc="145" dirty="0">
                          <a:latin typeface="Arial"/>
                          <a:cs typeface="Arial"/>
                        </a:rPr>
                        <a:t> </a:t>
                      </a:r>
                      <a:r>
                        <a:rPr sz="1000" b="1" spc="-20" dirty="0">
                          <a:latin typeface="Arial"/>
                          <a:cs typeface="Arial"/>
                        </a:rPr>
                        <a:t>of</a:t>
                      </a:r>
                      <a:r>
                        <a:rPr sz="1000" b="1" spc="-140" dirty="0">
                          <a:latin typeface="Arial"/>
                          <a:cs typeface="Arial"/>
                        </a:rPr>
                        <a:t> </a:t>
                      </a:r>
                      <a:r>
                        <a:rPr sz="1000" b="1" spc="-95" dirty="0">
                          <a:latin typeface="Arial"/>
                          <a:cs typeface="Arial"/>
                        </a:rPr>
                        <a:t>topics </a:t>
                      </a:r>
                      <a:r>
                        <a:rPr sz="1000" b="1" spc="-35" dirty="0">
                          <a:latin typeface="Arial"/>
                          <a:cs typeface="Arial"/>
                        </a:rPr>
                        <a:t>emphasized</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20" dirty="0">
                          <a:latin typeface="Arial"/>
                          <a:cs typeface="Arial"/>
                        </a:rPr>
                        <a:t>Location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581660" indent="-1905">
                        <a:lnSpc>
                          <a:spcPts val="1210"/>
                        </a:lnSpc>
                        <a:spcBef>
                          <a:spcPts val="215"/>
                        </a:spcBef>
                      </a:pPr>
                      <a:r>
                        <a:rPr sz="1000" b="1" spc="-130" dirty="0">
                          <a:latin typeface="Arial"/>
                          <a:cs typeface="Arial"/>
                        </a:rPr>
                        <a:t>Who</a:t>
                      </a:r>
                      <a:r>
                        <a:rPr sz="1000" b="1" spc="-10" dirty="0">
                          <a:latin typeface="Arial"/>
                          <a:cs typeface="Arial"/>
                        </a:rPr>
                        <a:t> </a:t>
                      </a:r>
                      <a:r>
                        <a:rPr sz="1000" b="1" spc="-114" dirty="0">
                          <a:latin typeface="Arial"/>
                          <a:cs typeface="Arial"/>
                        </a:rPr>
                        <a:t>should</a:t>
                      </a:r>
                      <a:r>
                        <a:rPr sz="1000" b="1" spc="65" dirty="0">
                          <a:latin typeface="Arial"/>
                          <a:cs typeface="Arial"/>
                        </a:rPr>
                        <a:t> </a:t>
                      </a:r>
                      <a:r>
                        <a:rPr sz="1000" b="1" spc="-110" dirty="0">
                          <a:latin typeface="Arial"/>
                          <a:cs typeface="Arial"/>
                        </a:rPr>
                        <a:t>study</a:t>
                      </a:r>
                      <a:r>
                        <a:rPr sz="1000" b="1" spc="10" dirty="0">
                          <a:latin typeface="Arial"/>
                          <a:cs typeface="Arial"/>
                        </a:rPr>
                        <a:t> </a:t>
                      </a:r>
                      <a:r>
                        <a:rPr sz="1000" b="1" spc="-55" dirty="0">
                          <a:latin typeface="Arial"/>
                          <a:cs typeface="Arial"/>
                        </a:rPr>
                        <a:t>this </a:t>
                      </a:r>
                      <a:r>
                        <a:rPr sz="1000" b="1" spc="-25" dirty="0">
                          <a:latin typeface="Arial"/>
                          <a:cs typeface="Arial"/>
                        </a:rPr>
                        <a:t>discipline</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99956">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a:lnSpc>
                          <a:spcPct val="100000"/>
                        </a:lnSpc>
                        <a:spcBef>
                          <a:spcPts val="555"/>
                        </a:spcBef>
                      </a:pPr>
                      <a:endParaRPr sz="1000" dirty="0">
                        <a:latin typeface="Arial"/>
                        <a:cs typeface="Arial"/>
                      </a:endParaRPr>
                    </a:p>
                  </a:txBody>
                  <a:tcPr marL="0" marR="0" marT="621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09220">
                        <a:lnSpc>
                          <a:spcPct val="98500"/>
                        </a:lnSpc>
                        <a:spcBef>
                          <a:spcPts val="240"/>
                        </a:spcBef>
                      </a:pPr>
                      <a:endParaRPr sz="1000" dirty="0">
                        <a:latin typeface="Arial"/>
                        <a:cs typeface="Arial"/>
                      </a:endParaRPr>
                    </a:p>
                  </a:txBody>
                  <a:tcPr marL="0" marR="0" marT="2689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185" marR="217804" indent="-7620">
                        <a:lnSpc>
                          <a:spcPts val="1210"/>
                        </a:lnSpc>
                        <a:spcBef>
                          <a:spcPts val="315"/>
                        </a:spcBef>
                      </a:pPr>
                      <a:endParaRPr sz="1000" dirty="0">
                        <a:latin typeface="Arial"/>
                        <a:cs typeface="Arial"/>
                      </a:endParaRPr>
                    </a:p>
                  </a:txBody>
                  <a:tcPr marL="0" marR="0" marT="3529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2715185">
                <a:tc>
                  <a:txBody>
                    <a:bodyPr/>
                    <a:lstStyle/>
                    <a:p>
                      <a:pPr marL="34925" algn="ctr">
                        <a:lnSpc>
                          <a:spcPct val="100000"/>
                        </a:lnSpc>
                        <a:spcBef>
                          <a:spcPts val="85"/>
                        </a:spcBef>
                      </a:pPr>
                      <a:r>
                        <a:rPr sz="1000" spc="-50" dirty="0">
                          <a:latin typeface="Arial"/>
                          <a:cs typeface="Arial"/>
                        </a:rPr>
                        <a:t>4</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6200" marR="720090">
                        <a:lnSpc>
                          <a:spcPts val="1210"/>
                        </a:lnSpc>
                        <a:spcBef>
                          <a:spcPts val="315"/>
                        </a:spcBef>
                      </a:pPr>
                      <a:r>
                        <a:rPr sz="1000" spc="-60" dirty="0">
                          <a:latin typeface="Arial"/>
                          <a:cs typeface="Arial"/>
                        </a:rPr>
                        <a:t>Information </a:t>
                      </a:r>
                      <a:r>
                        <a:rPr sz="1000" spc="-90" dirty="0">
                          <a:latin typeface="Arial"/>
                          <a:cs typeface="Arial"/>
                        </a:rPr>
                        <a:t>Technology</a:t>
                      </a:r>
                      <a:endParaRPr sz="1000" dirty="0">
                        <a:latin typeface="Arial"/>
                        <a:cs typeface="Arial"/>
                      </a:endParaRPr>
                    </a:p>
                    <a:p>
                      <a:pPr>
                        <a:lnSpc>
                          <a:spcPct val="100000"/>
                        </a:lnSpc>
                        <a:spcBef>
                          <a:spcPts val="310"/>
                        </a:spcBef>
                      </a:pPr>
                      <a:endParaRPr sz="1000" dirty="0">
                        <a:latin typeface="Times New Roman"/>
                        <a:cs typeface="Times New Roman"/>
                      </a:endParaRPr>
                    </a:p>
                    <a:p>
                      <a:pPr marL="76200" marR="124460">
                        <a:lnSpc>
                          <a:spcPct val="92900"/>
                        </a:lnSpc>
                      </a:pPr>
                      <a:endParaRPr sz="1000" dirty="0">
                        <a:latin typeface="Arial"/>
                        <a:cs typeface="Arial"/>
                      </a:endParaRPr>
                    </a:p>
                  </a:txBody>
                  <a:tcPr marL="0" marR="0" marT="3529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6200" marR="167005">
                        <a:lnSpc>
                          <a:spcPct val="99800"/>
                        </a:lnSpc>
                        <a:spcBef>
                          <a:spcPts val="234"/>
                        </a:spcBef>
                      </a:pPr>
                      <a:r>
                        <a:rPr sz="1000" spc="-50" dirty="0">
                          <a:latin typeface="Arial"/>
                          <a:cs typeface="Arial"/>
                        </a:rPr>
                        <a:t>Information</a:t>
                      </a:r>
                      <a:r>
                        <a:rPr sz="1000" spc="25" dirty="0">
                          <a:latin typeface="Arial"/>
                          <a:cs typeface="Arial"/>
                        </a:rPr>
                        <a:t> </a:t>
                      </a:r>
                      <a:r>
                        <a:rPr sz="1000" spc="-10" dirty="0">
                          <a:latin typeface="Arial"/>
                          <a:cs typeface="Arial"/>
                        </a:rPr>
                        <a:t>Technology </a:t>
                      </a:r>
                      <a:r>
                        <a:rPr sz="1000" spc="-100" dirty="0">
                          <a:latin typeface="Arial"/>
                          <a:cs typeface="Arial"/>
                        </a:rPr>
                        <a:t>focuses</a:t>
                      </a:r>
                      <a:r>
                        <a:rPr sz="1000" spc="25" dirty="0">
                          <a:latin typeface="Arial"/>
                          <a:cs typeface="Arial"/>
                        </a:rPr>
                        <a:t> </a:t>
                      </a:r>
                      <a:r>
                        <a:rPr sz="1000" spc="-40" dirty="0">
                          <a:latin typeface="Arial"/>
                          <a:cs typeface="Arial"/>
                        </a:rPr>
                        <a:t>on</a:t>
                      </a:r>
                      <a:r>
                        <a:rPr sz="1000" spc="-85" dirty="0">
                          <a:latin typeface="Arial"/>
                          <a:cs typeface="Arial"/>
                        </a:rPr>
                        <a:t> </a:t>
                      </a:r>
                      <a:r>
                        <a:rPr sz="1000" spc="-55" dirty="0">
                          <a:latin typeface="Arial"/>
                          <a:cs typeface="Arial"/>
                        </a:rPr>
                        <a:t>deploying</a:t>
                      </a:r>
                      <a:r>
                        <a:rPr sz="1000" spc="55" dirty="0">
                          <a:latin typeface="Arial"/>
                          <a:cs typeface="Arial"/>
                        </a:rPr>
                        <a:t> </a:t>
                      </a:r>
                      <a:r>
                        <a:rPr sz="1000" spc="-25" dirty="0">
                          <a:latin typeface="Arial"/>
                          <a:cs typeface="Arial"/>
                        </a:rPr>
                        <a:t>and </a:t>
                      </a:r>
                      <a:r>
                        <a:rPr sz="1000" spc="-60" dirty="0">
                          <a:latin typeface="Arial"/>
                          <a:cs typeface="Arial"/>
                        </a:rPr>
                        <a:t>supporting</a:t>
                      </a:r>
                      <a:r>
                        <a:rPr sz="1000" spc="10" dirty="0">
                          <a:latin typeface="Arial"/>
                          <a:cs typeface="Arial"/>
                        </a:rPr>
                        <a:t> </a:t>
                      </a:r>
                      <a:r>
                        <a:rPr sz="1000" dirty="0">
                          <a:latin typeface="Arial"/>
                          <a:cs typeface="Arial"/>
                        </a:rPr>
                        <a:t>the</a:t>
                      </a:r>
                      <a:r>
                        <a:rPr sz="1000" spc="-95" dirty="0">
                          <a:latin typeface="Arial"/>
                          <a:cs typeface="Arial"/>
                        </a:rPr>
                        <a:t> </a:t>
                      </a:r>
                      <a:r>
                        <a:rPr sz="1000" spc="-10" dirty="0">
                          <a:latin typeface="Arial"/>
                          <a:cs typeface="Arial"/>
                        </a:rPr>
                        <a:t>computing </a:t>
                      </a:r>
                      <a:r>
                        <a:rPr sz="1000" spc="-45" dirty="0">
                          <a:latin typeface="Arial"/>
                          <a:cs typeface="Arial"/>
                        </a:rPr>
                        <a:t>infrastructure</a:t>
                      </a:r>
                      <a:r>
                        <a:rPr sz="1000" spc="140" dirty="0">
                          <a:latin typeface="Arial"/>
                          <a:cs typeface="Arial"/>
                        </a:rPr>
                        <a:t> </a:t>
                      </a:r>
                      <a:r>
                        <a:rPr sz="1000" spc="-20" dirty="0">
                          <a:latin typeface="Arial"/>
                          <a:cs typeface="Arial"/>
                        </a:rPr>
                        <a:t>in</a:t>
                      </a:r>
                      <a:r>
                        <a:rPr sz="1000" spc="-114" dirty="0">
                          <a:latin typeface="Arial"/>
                          <a:cs typeface="Arial"/>
                        </a:rPr>
                        <a:t> </a:t>
                      </a:r>
                      <a:r>
                        <a:rPr sz="1000" spc="-65" dirty="0">
                          <a:latin typeface="Arial"/>
                          <a:cs typeface="Arial"/>
                        </a:rPr>
                        <a:t>organizations. </a:t>
                      </a:r>
                      <a:r>
                        <a:rPr sz="1000" spc="-95" dirty="0">
                          <a:latin typeface="Arial"/>
                          <a:cs typeface="Arial"/>
                        </a:rPr>
                        <a:t>That</a:t>
                      </a:r>
                      <a:r>
                        <a:rPr sz="1000" spc="-20" dirty="0">
                          <a:latin typeface="Arial"/>
                          <a:cs typeface="Arial"/>
                        </a:rPr>
                        <a:t> </a:t>
                      </a:r>
                      <a:r>
                        <a:rPr sz="1000" spc="-50" dirty="0">
                          <a:latin typeface="Arial"/>
                          <a:cs typeface="Arial"/>
                        </a:rPr>
                        <a:t>is,</a:t>
                      </a:r>
                      <a:r>
                        <a:rPr sz="1000" spc="-95" dirty="0">
                          <a:latin typeface="Arial"/>
                          <a:cs typeface="Arial"/>
                        </a:rPr>
                        <a:t> </a:t>
                      </a:r>
                      <a:r>
                        <a:rPr sz="1000" spc="-55" dirty="0">
                          <a:latin typeface="Arial"/>
                          <a:cs typeface="Arial"/>
                        </a:rPr>
                        <a:t>deploying</a:t>
                      </a:r>
                      <a:r>
                        <a:rPr sz="1000" spc="50" dirty="0">
                          <a:latin typeface="Arial"/>
                          <a:cs typeface="Arial"/>
                        </a:rPr>
                        <a:t> </a:t>
                      </a:r>
                      <a:r>
                        <a:rPr sz="1000" spc="-25" dirty="0">
                          <a:latin typeface="Arial"/>
                          <a:cs typeface="Arial"/>
                        </a:rPr>
                        <a:t>and </a:t>
                      </a:r>
                      <a:r>
                        <a:rPr sz="1000" spc="-60" dirty="0">
                          <a:latin typeface="Arial"/>
                          <a:cs typeface="Arial"/>
                        </a:rPr>
                        <a:t>supporting</a:t>
                      </a:r>
                      <a:r>
                        <a:rPr sz="1000" spc="40" dirty="0">
                          <a:latin typeface="Arial"/>
                          <a:cs typeface="Arial"/>
                        </a:rPr>
                        <a:t> </a:t>
                      </a:r>
                      <a:r>
                        <a:rPr sz="1000" spc="-65" dirty="0">
                          <a:latin typeface="Arial"/>
                          <a:cs typeface="Arial"/>
                        </a:rPr>
                        <a:t>servers,</a:t>
                      </a:r>
                      <a:r>
                        <a:rPr sz="1000" spc="-10" dirty="0">
                          <a:latin typeface="Arial"/>
                          <a:cs typeface="Arial"/>
                        </a:rPr>
                        <a:t> desktops, </a:t>
                      </a:r>
                      <a:r>
                        <a:rPr sz="1000" spc="-65" dirty="0">
                          <a:latin typeface="Arial"/>
                          <a:cs typeface="Arial"/>
                        </a:rPr>
                        <a:t>communication</a:t>
                      </a:r>
                      <a:r>
                        <a:rPr sz="1000" spc="165" dirty="0">
                          <a:latin typeface="Arial"/>
                          <a:cs typeface="Arial"/>
                        </a:rPr>
                        <a:t> </a:t>
                      </a:r>
                      <a:r>
                        <a:rPr sz="1000" spc="-10" dirty="0">
                          <a:latin typeface="Arial"/>
                          <a:cs typeface="Arial"/>
                        </a:rPr>
                        <a:t>networks, </a:t>
                      </a:r>
                      <a:r>
                        <a:rPr sz="1000" spc="-60" dirty="0">
                          <a:latin typeface="Arial"/>
                          <a:cs typeface="Arial"/>
                        </a:rPr>
                        <a:t>operating</a:t>
                      </a:r>
                      <a:r>
                        <a:rPr sz="1000" spc="30" dirty="0">
                          <a:latin typeface="Arial"/>
                          <a:cs typeface="Arial"/>
                        </a:rPr>
                        <a:t> </a:t>
                      </a:r>
                      <a:r>
                        <a:rPr sz="1000" spc="-80" dirty="0">
                          <a:latin typeface="Arial"/>
                          <a:cs typeface="Arial"/>
                        </a:rPr>
                        <a:t>systems,</a:t>
                      </a:r>
                      <a:r>
                        <a:rPr sz="1000" spc="40" dirty="0">
                          <a:latin typeface="Arial"/>
                          <a:cs typeface="Arial"/>
                        </a:rPr>
                        <a:t> </a:t>
                      </a:r>
                      <a:r>
                        <a:rPr sz="1000" spc="-25" dirty="0">
                          <a:latin typeface="Arial"/>
                          <a:cs typeface="Arial"/>
                        </a:rPr>
                        <a:t>and </a:t>
                      </a:r>
                      <a:r>
                        <a:rPr sz="1000" spc="-35" dirty="0">
                          <a:latin typeface="Arial"/>
                          <a:cs typeface="Arial"/>
                        </a:rPr>
                        <a:t>platform</a:t>
                      </a:r>
                      <a:r>
                        <a:rPr sz="1000" spc="-114" dirty="0">
                          <a:latin typeface="Arial"/>
                          <a:cs typeface="Arial"/>
                        </a:rPr>
                        <a:t> </a:t>
                      </a:r>
                      <a:r>
                        <a:rPr sz="1000" spc="-55" dirty="0">
                          <a:latin typeface="Arial"/>
                          <a:cs typeface="Arial"/>
                        </a:rPr>
                        <a:t>applications</a:t>
                      </a:r>
                      <a:r>
                        <a:rPr sz="1000" spc="145" dirty="0">
                          <a:latin typeface="Arial"/>
                          <a:cs typeface="Arial"/>
                        </a:rPr>
                        <a:t> </a:t>
                      </a:r>
                      <a:r>
                        <a:rPr sz="1000" spc="-20" dirty="0">
                          <a:latin typeface="Arial"/>
                          <a:cs typeface="Arial"/>
                        </a:rPr>
                        <a:t>(like </a:t>
                      </a:r>
                      <a:r>
                        <a:rPr sz="1000" spc="-55" dirty="0">
                          <a:latin typeface="Arial"/>
                          <a:cs typeface="Arial"/>
                        </a:rPr>
                        <a:t>office </a:t>
                      </a:r>
                      <a:r>
                        <a:rPr sz="1000" spc="-70" dirty="0">
                          <a:latin typeface="Arial"/>
                          <a:cs typeface="Arial"/>
                        </a:rPr>
                        <a:t>systems,</a:t>
                      </a:r>
                      <a:r>
                        <a:rPr sz="1000" spc="65" dirty="0">
                          <a:latin typeface="Arial"/>
                          <a:cs typeface="Arial"/>
                        </a:rPr>
                        <a:t> </a:t>
                      </a:r>
                      <a:r>
                        <a:rPr sz="1000" spc="-50" dirty="0">
                          <a:latin typeface="Arial"/>
                          <a:cs typeface="Arial"/>
                        </a:rPr>
                        <a:t>email </a:t>
                      </a:r>
                      <a:r>
                        <a:rPr sz="1000" spc="-70" dirty="0">
                          <a:latin typeface="Arial"/>
                          <a:cs typeface="Arial"/>
                        </a:rPr>
                        <a:t>and</a:t>
                      </a:r>
                      <a:r>
                        <a:rPr sz="1000" spc="-75" dirty="0">
                          <a:latin typeface="Arial"/>
                          <a:cs typeface="Arial"/>
                        </a:rPr>
                        <a:t> </a:t>
                      </a:r>
                      <a:r>
                        <a:rPr sz="1000" spc="-25" dirty="0">
                          <a:latin typeface="Arial"/>
                          <a:cs typeface="Arial"/>
                        </a:rPr>
                        <a:t>web </a:t>
                      </a:r>
                      <a:r>
                        <a:rPr sz="1000" spc="-75" dirty="0">
                          <a:latin typeface="Arial"/>
                          <a:cs typeface="Arial"/>
                        </a:rPr>
                        <a:t>related</a:t>
                      </a:r>
                      <a:r>
                        <a:rPr sz="1000" spc="55" dirty="0">
                          <a:latin typeface="Arial"/>
                          <a:cs typeface="Arial"/>
                        </a:rPr>
                        <a:t> </a:t>
                      </a:r>
                      <a:r>
                        <a:rPr sz="1000" spc="-10" dirty="0">
                          <a:latin typeface="Arial"/>
                          <a:cs typeface="Arial"/>
                        </a:rPr>
                        <a:t>software).</a:t>
                      </a:r>
                      <a:endParaRPr sz="1000">
                        <a:latin typeface="Arial"/>
                        <a:cs typeface="Arial"/>
                      </a:endParaRPr>
                    </a:p>
                    <a:p>
                      <a:pPr marL="80645" marR="221615">
                        <a:lnSpc>
                          <a:spcPct val="98500"/>
                        </a:lnSpc>
                        <a:spcBef>
                          <a:spcPts val="300"/>
                        </a:spcBef>
                      </a:pPr>
                      <a:r>
                        <a:rPr sz="1000" spc="-45" dirty="0">
                          <a:latin typeface="Arial"/>
                          <a:cs typeface="Arial"/>
                        </a:rPr>
                        <a:t>It</a:t>
                      </a:r>
                      <a:r>
                        <a:rPr sz="1000" spc="-75" dirty="0">
                          <a:latin typeface="Arial"/>
                          <a:cs typeface="Arial"/>
                        </a:rPr>
                        <a:t> </a:t>
                      </a:r>
                      <a:r>
                        <a:rPr sz="1000" spc="-105" dirty="0">
                          <a:latin typeface="Arial"/>
                          <a:cs typeface="Arial"/>
                        </a:rPr>
                        <a:t>makes</a:t>
                      </a:r>
                      <a:r>
                        <a:rPr sz="1000" spc="20" dirty="0">
                          <a:latin typeface="Arial"/>
                          <a:cs typeface="Arial"/>
                        </a:rPr>
                        <a:t> </a:t>
                      </a:r>
                      <a:r>
                        <a:rPr sz="1000" spc="-70" dirty="0">
                          <a:latin typeface="Arial"/>
                          <a:cs typeface="Arial"/>
                        </a:rPr>
                        <a:t>sure</a:t>
                      </a:r>
                      <a:r>
                        <a:rPr sz="1000" spc="-55" dirty="0">
                          <a:latin typeface="Arial"/>
                          <a:cs typeface="Arial"/>
                        </a:rPr>
                        <a:t> </a:t>
                      </a:r>
                      <a:r>
                        <a:rPr sz="1000" dirty="0">
                          <a:latin typeface="Arial"/>
                          <a:cs typeface="Arial"/>
                        </a:rPr>
                        <a:t>that</a:t>
                      </a:r>
                      <a:r>
                        <a:rPr sz="1000" spc="-25" dirty="0">
                          <a:latin typeface="Arial"/>
                          <a:cs typeface="Arial"/>
                        </a:rPr>
                        <a:t> </a:t>
                      </a:r>
                      <a:r>
                        <a:rPr sz="1000" spc="-35" dirty="0">
                          <a:latin typeface="Arial"/>
                          <a:cs typeface="Arial"/>
                        </a:rPr>
                        <a:t>computing </a:t>
                      </a:r>
                      <a:r>
                        <a:rPr sz="1000" spc="-45" dirty="0">
                          <a:latin typeface="Arial"/>
                          <a:cs typeface="Arial"/>
                        </a:rPr>
                        <a:t>infrastructure</a:t>
                      </a:r>
                      <a:r>
                        <a:rPr sz="1000" spc="125" dirty="0">
                          <a:latin typeface="Arial"/>
                          <a:cs typeface="Arial"/>
                        </a:rPr>
                        <a:t> </a:t>
                      </a:r>
                      <a:r>
                        <a:rPr sz="1000" spc="-50" dirty="0">
                          <a:latin typeface="Arial"/>
                          <a:cs typeface="Arial"/>
                        </a:rPr>
                        <a:t>is</a:t>
                      </a:r>
                      <a:r>
                        <a:rPr sz="1000" spc="-145" dirty="0">
                          <a:latin typeface="Arial"/>
                          <a:cs typeface="Arial"/>
                        </a:rPr>
                        <a:t> </a:t>
                      </a:r>
                      <a:r>
                        <a:rPr sz="1000" spc="-45" dirty="0">
                          <a:latin typeface="Arial"/>
                          <a:cs typeface="Arial"/>
                        </a:rPr>
                        <a:t>suitable,</a:t>
                      </a:r>
                      <a:r>
                        <a:rPr sz="1000" spc="40" dirty="0">
                          <a:latin typeface="Arial"/>
                          <a:cs typeface="Arial"/>
                        </a:rPr>
                        <a:t> </a:t>
                      </a:r>
                      <a:r>
                        <a:rPr sz="1000" spc="-25" dirty="0">
                          <a:latin typeface="Arial"/>
                          <a:cs typeface="Arial"/>
                        </a:rPr>
                        <a:t>is </a:t>
                      </a:r>
                      <a:r>
                        <a:rPr sz="1000" spc="-70" dirty="0">
                          <a:latin typeface="Arial"/>
                          <a:cs typeface="Arial"/>
                        </a:rPr>
                        <a:t>available,</a:t>
                      </a:r>
                      <a:r>
                        <a:rPr sz="1000" spc="25" dirty="0">
                          <a:latin typeface="Arial"/>
                          <a:cs typeface="Arial"/>
                        </a:rPr>
                        <a:t> </a:t>
                      </a:r>
                      <a:r>
                        <a:rPr sz="1000" spc="-65" dirty="0">
                          <a:latin typeface="Arial"/>
                          <a:cs typeface="Arial"/>
                        </a:rPr>
                        <a:t>and</a:t>
                      </a:r>
                      <a:r>
                        <a:rPr sz="1000" spc="-80" dirty="0">
                          <a:latin typeface="Arial"/>
                          <a:cs typeface="Arial"/>
                        </a:rPr>
                        <a:t> </a:t>
                      </a:r>
                      <a:r>
                        <a:rPr sz="1000" spc="-45" dirty="0">
                          <a:latin typeface="Arial"/>
                          <a:cs typeface="Arial"/>
                        </a:rPr>
                        <a:t>works</a:t>
                      </a:r>
                      <a:r>
                        <a:rPr sz="1000" spc="-5" dirty="0">
                          <a:latin typeface="Arial"/>
                          <a:cs typeface="Arial"/>
                        </a:rPr>
                        <a:t> </a:t>
                      </a:r>
                      <a:r>
                        <a:rPr sz="1000" spc="-10" dirty="0">
                          <a:latin typeface="Arial"/>
                          <a:cs typeface="Arial"/>
                        </a:rPr>
                        <a:t>reliably. </a:t>
                      </a:r>
                      <a:r>
                        <a:rPr sz="1000" spc="-45" dirty="0">
                          <a:latin typeface="Arial"/>
                          <a:cs typeface="Arial"/>
                        </a:rPr>
                        <a:t>It</a:t>
                      </a:r>
                      <a:r>
                        <a:rPr sz="1000" spc="-95" dirty="0">
                          <a:latin typeface="Arial"/>
                          <a:cs typeface="Arial"/>
                        </a:rPr>
                        <a:t> </a:t>
                      </a:r>
                      <a:r>
                        <a:rPr sz="1000" spc="-55" dirty="0">
                          <a:latin typeface="Arial"/>
                          <a:cs typeface="Arial"/>
                        </a:rPr>
                        <a:t>puts</a:t>
                      </a:r>
                      <a:r>
                        <a:rPr sz="1000" spc="-30" dirty="0">
                          <a:latin typeface="Arial"/>
                          <a:cs typeface="Arial"/>
                        </a:rPr>
                        <a:t> </a:t>
                      </a:r>
                      <a:r>
                        <a:rPr sz="1000" spc="-55" dirty="0">
                          <a:latin typeface="Arial"/>
                          <a:cs typeface="Arial"/>
                        </a:rPr>
                        <a:t>more</a:t>
                      </a:r>
                      <a:r>
                        <a:rPr sz="1000" spc="-10" dirty="0">
                          <a:latin typeface="Arial"/>
                          <a:cs typeface="Arial"/>
                        </a:rPr>
                        <a:t> </a:t>
                      </a:r>
                      <a:r>
                        <a:rPr sz="1000" spc="-80" dirty="0">
                          <a:latin typeface="Arial"/>
                          <a:cs typeface="Arial"/>
                        </a:rPr>
                        <a:t>emphasis</a:t>
                      </a:r>
                      <a:r>
                        <a:rPr sz="1000" spc="65" dirty="0">
                          <a:latin typeface="Arial"/>
                          <a:cs typeface="Arial"/>
                        </a:rPr>
                        <a:t> </a:t>
                      </a:r>
                      <a:r>
                        <a:rPr sz="1000" spc="-40" dirty="0">
                          <a:latin typeface="Arial"/>
                          <a:cs typeface="Arial"/>
                        </a:rPr>
                        <a:t>on</a:t>
                      </a:r>
                      <a:r>
                        <a:rPr sz="1000" spc="-120" dirty="0">
                          <a:latin typeface="Arial"/>
                          <a:cs typeface="Arial"/>
                        </a:rPr>
                        <a:t> </a:t>
                      </a:r>
                      <a:r>
                        <a:rPr sz="1000" spc="-25" dirty="0">
                          <a:latin typeface="Arial"/>
                          <a:cs typeface="Arial"/>
                        </a:rPr>
                        <a:t>the </a:t>
                      </a:r>
                      <a:r>
                        <a:rPr sz="1000" spc="-50" dirty="0">
                          <a:latin typeface="Arial"/>
                          <a:cs typeface="Arial"/>
                        </a:rPr>
                        <a:t>integration</a:t>
                      </a:r>
                      <a:r>
                        <a:rPr sz="1000" spc="105" dirty="0">
                          <a:latin typeface="Arial"/>
                          <a:cs typeface="Arial"/>
                        </a:rPr>
                        <a:t> </a:t>
                      </a:r>
                      <a:r>
                        <a:rPr sz="1000" dirty="0">
                          <a:latin typeface="Arial"/>
                          <a:cs typeface="Arial"/>
                        </a:rPr>
                        <a:t>of</a:t>
                      </a:r>
                      <a:r>
                        <a:rPr sz="1000" spc="-90" dirty="0">
                          <a:latin typeface="Arial"/>
                          <a:cs typeface="Arial"/>
                        </a:rPr>
                        <a:t> </a:t>
                      </a:r>
                      <a:r>
                        <a:rPr sz="1000" spc="-10" dirty="0">
                          <a:latin typeface="Arial"/>
                          <a:cs typeface="Arial"/>
                        </a:rPr>
                        <a:t>hardware, </a:t>
                      </a:r>
                      <a:r>
                        <a:rPr sz="1000" spc="-55" dirty="0">
                          <a:latin typeface="Arial"/>
                          <a:cs typeface="Arial"/>
                        </a:rPr>
                        <a:t>software,</a:t>
                      </a:r>
                      <a:r>
                        <a:rPr sz="1000" spc="35" dirty="0">
                          <a:latin typeface="Arial"/>
                          <a:cs typeface="Arial"/>
                        </a:rPr>
                        <a:t> </a:t>
                      </a:r>
                      <a:r>
                        <a:rPr sz="1000" spc="-70" dirty="0">
                          <a:latin typeface="Arial"/>
                          <a:cs typeface="Arial"/>
                        </a:rPr>
                        <a:t>and</a:t>
                      </a:r>
                      <a:r>
                        <a:rPr sz="1000" spc="-55" dirty="0">
                          <a:latin typeface="Arial"/>
                          <a:cs typeface="Arial"/>
                        </a:rPr>
                        <a:t> </a:t>
                      </a:r>
                      <a:r>
                        <a:rPr sz="1000" spc="-65" dirty="0">
                          <a:latin typeface="Arial"/>
                          <a:cs typeface="Arial"/>
                        </a:rPr>
                        <a:t>communication </a:t>
                      </a:r>
                      <a:r>
                        <a:rPr sz="1000" spc="-60" dirty="0">
                          <a:latin typeface="Arial"/>
                          <a:cs typeface="Arial"/>
                        </a:rPr>
                        <a:t>networks</a:t>
                      </a:r>
                      <a:r>
                        <a:rPr sz="1000" spc="60" dirty="0">
                          <a:latin typeface="Arial"/>
                          <a:cs typeface="Arial"/>
                        </a:rPr>
                        <a:t> </a:t>
                      </a:r>
                      <a:r>
                        <a:rPr sz="1000" spc="-20" dirty="0">
                          <a:latin typeface="Arial"/>
                          <a:cs typeface="Arial"/>
                        </a:rPr>
                        <a:t>into</a:t>
                      </a:r>
                      <a:r>
                        <a:rPr sz="1000" spc="-75" dirty="0">
                          <a:latin typeface="Arial"/>
                          <a:cs typeface="Arial"/>
                        </a:rPr>
                        <a:t> </a:t>
                      </a:r>
                      <a:r>
                        <a:rPr sz="1000" spc="-40" dirty="0">
                          <a:latin typeface="Arial"/>
                          <a:cs typeface="Arial"/>
                        </a:rPr>
                        <a:t>a</a:t>
                      </a:r>
                      <a:r>
                        <a:rPr sz="1000" spc="-160" dirty="0">
                          <a:latin typeface="Arial"/>
                          <a:cs typeface="Arial"/>
                        </a:rPr>
                        <a:t> </a:t>
                      </a:r>
                      <a:r>
                        <a:rPr sz="1000" spc="-50" dirty="0">
                          <a:latin typeface="Arial"/>
                          <a:cs typeface="Arial"/>
                        </a:rPr>
                        <a:t>technological</a:t>
                      </a:r>
                      <a:endParaRPr sz="100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02870">
                        <a:lnSpc>
                          <a:spcPct val="100600"/>
                        </a:lnSpc>
                        <a:spcBef>
                          <a:spcPts val="225"/>
                        </a:spcBef>
                      </a:pPr>
                      <a:r>
                        <a:rPr sz="1000" spc="-75" dirty="0">
                          <a:latin typeface="Arial"/>
                          <a:cs typeface="Arial"/>
                        </a:rPr>
                        <a:t>Configuring</a:t>
                      </a:r>
                      <a:r>
                        <a:rPr sz="1000" spc="50" dirty="0">
                          <a:latin typeface="Arial"/>
                          <a:cs typeface="Arial"/>
                        </a:rPr>
                        <a:t> </a:t>
                      </a:r>
                      <a:r>
                        <a:rPr sz="1000" spc="-25" dirty="0">
                          <a:latin typeface="Arial"/>
                          <a:cs typeface="Arial"/>
                        </a:rPr>
                        <a:t>and</a:t>
                      </a:r>
                      <a:r>
                        <a:rPr sz="1000" spc="500" dirty="0">
                          <a:latin typeface="Arial"/>
                          <a:cs typeface="Arial"/>
                        </a:rPr>
                        <a:t> </a:t>
                      </a:r>
                      <a:r>
                        <a:rPr sz="1000" spc="-70" dirty="0">
                          <a:latin typeface="Arial"/>
                          <a:cs typeface="Arial"/>
                        </a:rPr>
                        <a:t>operating</a:t>
                      </a:r>
                      <a:r>
                        <a:rPr sz="1000" spc="65" dirty="0">
                          <a:latin typeface="Arial"/>
                          <a:cs typeface="Arial"/>
                        </a:rPr>
                        <a:t> </a:t>
                      </a:r>
                      <a:r>
                        <a:rPr sz="1000" spc="-25" dirty="0">
                          <a:latin typeface="Arial"/>
                          <a:cs typeface="Arial"/>
                        </a:rPr>
                        <a:t>the</a:t>
                      </a:r>
                      <a:r>
                        <a:rPr sz="1000" spc="500" dirty="0">
                          <a:latin typeface="Arial"/>
                          <a:cs typeface="Arial"/>
                        </a:rPr>
                        <a:t> </a:t>
                      </a:r>
                      <a:r>
                        <a:rPr sz="1000" spc="-80" dirty="0">
                          <a:latin typeface="Arial"/>
                          <a:cs typeface="Arial"/>
                        </a:rPr>
                        <a:t>components</a:t>
                      </a:r>
                      <a:r>
                        <a:rPr sz="1000" spc="130" dirty="0">
                          <a:latin typeface="Arial"/>
                          <a:cs typeface="Arial"/>
                        </a:rPr>
                        <a:t> </a:t>
                      </a:r>
                      <a:r>
                        <a:rPr sz="1000" dirty="0">
                          <a:latin typeface="Arial"/>
                          <a:cs typeface="Arial"/>
                        </a:rPr>
                        <a:t>of</a:t>
                      </a:r>
                      <a:r>
                        <a:rPr sz="1000" spc="-150" dirty="0">
                          <a:latin typeface="Arial"/>
                          <a:cs typeface="Arial"/>
                        </a:rPr>
                        <a:t> </a:t>
                      </a:r>
                      <a:r>
                        <a:rPr sz="1000" spc="-25" dirty="0">
                          <a:latin typeface="Arial"/>
                          <a:cs typeface="Arial"/>
                        </a:rPr>
                        <a:t>the </a:t>
                      </a:r>
                      <a:r>
                        <a:rPr sz="1000" spc="-65" dirty="0">
                          <a:latin typeface="Arial"/>
                          <a:cs typeface="Arial"/>
                        </a:rPr>
                        <a:t>computing</a:t>
                      </a:r>
                      <a:r>
                        <a:rPr sz="1000" spc="50" dirty="0">
                          <a:latin typeface="Arial"/>
                          <a:cs typeface="Arial"/>
                        </a:rPr>
                        <a:t> </a:t>
                      </a:r>
                      <a:r>
                        <a:rPr sz="1000" spc="-20" dirty="0">
                          <a:latin typeface="Arial"/>
                          <a:cs typeface="Arial"/>
                        </a:rPr>
                        <a:t>infrastructure </a:t>
                      </a:r>
                      <a:r>
                        <a:rPr sz="1000" spc="-85" dirty="0">
                          <a:latin typeface="Arial"/>
                          <a:cs typeface="Arial"/>
                        </a:rPr>
                        <a:t>in</a:t>
                      </a:r>
                      <a:r>
                        <a:rPr sz="1000" spc="-100" dirty="0">
                          <a:latin typeface="Arial"/>
                          <a:cs typeface="Arial"/>
                        </a:rPr>
                        <a:t> </a:t>
                      </a:r>
                      <a:r>
                        <a:rPr sz="1000" spc="-65" dirty="0">
                          <a:latin typeface="Arial"/>
                          <a:cs typeface="Arial"/>
                        </a:rPr>
                        <a:t>an</a:t>
                      </a:r>
                      <a:r>
                        <a:rPr sz="1000" spc="-80" dirty="0">
                          <a:latin typeface="Arial"/>
                          <a:cs typeface="Arial"/>
                        </a:rPr>
                        <a:t> </a:t>
                      </a:r>
                      <a:r>
                        <a:rPr sz="1000" spc="-10" dirty="0">
                          <a:latin typeface="Arial"/>
                          <a:cs typeface="Arial"/>
                        </a:rPr>
                        <a:t>organization, </a:t>
                      </a:r>
                      <a:r>
                        <a:rPr sz="1000" spc="-70" dirty="0">
                          <a:latin typeface="Arial"/>
                          <a:cs typeface="Arial"/>
                        </a:rPr>
                        <a:t>Operating</a:t>
                      </a:r>
                      <a:r>
                        <a:rPr sz="1000" spc="5" dirty="0">
                          <a:latin typeface="Arial"/>
                          <a:cs typeface="Arial"/>
                        </a:rPr>
                        <a:t> </a:t>
                      </a:r>
                      <a:r>
                        <a:rPr sz="1000" spc="-10" dirty="0">
                          <a:latin typeface="Arial"/>
                          <a:cs typeface="Arial"/>
                        </a:rPr>
                        <a:t>systems </a:t>
                      </a:r>
                      <a:r>
                        <a:rPr sz="1000" spc="-55" dirty="0">
                          <a:latin typeface="Arial"/>
                          <a:cs typeface="Arial"/>
                        </a:rPr>
                        <a:t>configuration</a:t>
                      </a:r>
                      <a:r>
                        <a:rPr sz="1000" spc="120" dirty="0">
                          <a:latin typeface="Arial"/>
                          <a:cs typeface="Arial"/>
                        </a:rPr>
                        <a:t> </a:t>
                      </a:r>
                      <a:r>
                        <a:rPr sz="1000" spc="-65" dirty="0">
                          <a:latin typeface="Arial"/>
                          <a:cs typeface="Arial"/>
                        </a:rPr>
                        <a:t>and</a:t>
                      </a:r>
                      <a:r>
                        <a:rPr sz="1000" spc="-30" dirty="0">
                          <a:latin typeface="Arial"/>
                          <a:cs typeface="Arial"/>
                        </a:rPr>
                        <a:t> </a:t>
                      </a:r>
                      <a:r>
                        <a:rPr sz="1000" spc="-20" dirty="0">
                          <a:latin typeface="Arial"/>
                          <a:cs typeface="Arial"/>
                        </a:rPr>
                        <a:t>use, </a:t>
                      </a:r>
                      <a:r>
                        <a:rPr sz="1000" spc="-75" dirty="0">
                          <a:latin typeface="Arial"/>
                          <a:cs typeface="Arial"/>
                        </a:rPr>
                        <a:t>Security</a:t>
                      </a:r>
                      <a:r>
                        <a:rPr sz="1000" spc="15" dirty="0">
                          <a:latin typeface="Arial"/>
                          <a:cs typeface="Arial"/>
                        </a:rPr>
                        <a:t> </a:t>
                      </a:r>
                      <a:r>
                        <a:rPr sz="1000" spc="-10" dirty="0">
                          <a:latin typeface="Arial"/>
                          <a:cs typeface="Arial"/>
                        </a:rPr>
                        <a:t>implementation </a:t>
                      </a:r>
                      <a:r>
                        <a:rPr sz="1000" spc="-110" dirty="0">
                          <a:latin typeface="Arial"/>
                          <a:cs typeface="Arial"/>
                        </a:rPr>
                        <a:t>and</a:t>
                      </a:r>
                      <a:r>
                        <a:rPr sz="1000" spc="-35" dirty="0">
                          <a:latin typeface="Arial"/>
                          <a:cs typeface="Arial"/>
                        </a:rPr>
                        <a:t> </a:t>
                      </a:r>
                      <a:r>
                        <a:rPr sz="1000" spc="-70" dirty="0">
                          <a:latin typeface="Arial"/>
                          <a:cs typeface="Arial"/>
                        </a:rPr>
                        <a:t>management,</a:t>
                      </a:r>
                      <a:r>
                        <a:rPr sz="1000" spc="155" dirty="0">
                          <a:latin typeface="Arial"/>
                          <a:cs typeface="Arial"/>
                        </a:rPr>
                        <a:t> </a:t>
                      </a:r>
                      <a:r>
                        <a:rPr sz="1000" spc="-95" dirty="0">
                          <a:latin typeface="Arial"/>
                          <a:cs typeface="Arial"/>
                        </a:rPr>
                        <a:t>Design </a:t>
                      </a:r>
                      <a:r>
                        <a:rPr sz="1000" spc="-110" dirty="0">
                          <a:latin typeface="Arial"/>
                          <a:cs typeface="Arial"/>
                        </a:rPr>
                        <a:t>and</a:t>
                      </a:r>
                      <a:r>
                        <a:rPr sz="1000" spc="-35" dirty="0">
                          <a:latin typeface="Arial"/>
                          <a:cs typeface="Arial"/>
                        </a:rPr>
                        <a:t> </a:t>
                      </a:r>
                      <a:r>
                        <a:rPr sz="1000" spc="-45" dirty="0">
                          <a:latin typeface="Arial"/>
                          <a:cs typeface="Arial"/>
                        </a:rPr>
                        <a:t>implementation</a:t>
                      </a:r>
                      <a:r>
                        <a:rPr sz="1000" spc="140" dirty="0">
                          <a:latin typeface="Arial"/>
                          <a:cs typeface="Arial"/>
                        </a:rPr>
                        <a:t> </a:t>
                      </a:r>
                      <a:r>
                        <a:rPr sz="1000" spc="-25" dirty="0">
                          <a:latin typeface="Arial"/>
                          <a:cs typeface="Arial"/>
                        </a:rPr>
                        <a:t>of </a:t>
                      </a:r>
                      <a:r>
                        <a:rPr sz="1000" spc="-85" dirty="0">
                          <a:latin typeface="Arial"/>
                          <a:cs typeface="Arial"/>
                        </a:rPr>
                        <a:t>local</a:t>
                      </a:r>
                      <a:r>
                        <a:rPr sz="1000" spc="-30" dirty="0">
                          <a:latin typeface="Arial"/>
                          <a:cs typeface="Arial"/>
                        </a:rPr>
                        <a:t> </a:t>
                      </a:r>
                      <a:r>
                        <a:rPr sz="1000" spc="-70" dirty="0">
                          <a:latin typeface="Arial"/>
                          <a:cs typeface="Arial"/>
                        </a:rPr>
                        <a:t>and</a:t>
                      </a:r>
                      <a:r>
                        <a:rPr sz="1000" spc="-95" dirty="0">
                          <a:latin typeface="Arial"/>
                          <a:cs typeface="Arial"/>
                        </a:rPr>
                        <a:t> </a:t>
                      </a:r>
                      <a:r>
                        <a:rPr sz="1000" spc="-30" dirty="0">
                          <a:latin typeface="Arial"/>
                          <a:cs typeface="Arial"/>
                        </a:rPr>
                        <a:t>wide </a:t>
                      </a:r>
                      <a:r>
                        <a:rPr sz="1000" spc="-20" dirty="0">
                          <a:latin typeface="Arial"/>
                          <a:cs typeface="Arial"/>
                        </a:rPr>
                        <a:t>area </a:t>
                      </a:r>
                      <a:r>
                        <a:rPr sz="1000" spc="-55" dirty="0">
                          <a:latin typeface="Arial"/>
                          <a:cs typeface="Arial"/>
                        </a:rPr>
                        <a:t>networks,</a:t>
                      </a:r>
                      <a:r>
                        <a:rPr sz="1000" spc="10" dirty="0">
                          <a:latin typeface="Arial"/>
                          <a:cs typeface="Arial"/>
                        </a:rPr>
                        <a:t> </a:t>
                      </a:r>
                      <a:r>
                        <a:rPr sz="1000" spc="-10" dirty="0">
                          <a:latin typeface="Arial"/>
                          <a:cs typeface="Arial"/>
                        </a:rPr>
                        <a:t>Hardware </a:t>
                      </a:r>
                      <a:r>
                        <a:rPr sz="1000" spc="-40" dirty="0">
                          <a:latin typeface="Arial"/>
                          <a:cs typeface="Arial"/>
                        </a:rPr>
                        <a:t>warranty,</a:t>
                      </a:r>
                      <a:r>
                        <a:rPr sz="1000" spc="-30" dirty="0">
                          <a:latin typeface="Arial"/>
                          <a:cs typeface="Arial"/>
                        </a:rPr>
                        <a:t> </a:t>
                      </a:r>
                      <a:r>
                        <a:rPr sz="1000" spc="-10" dirty="0">
                          <a:latin typeface="Arial"/>
                          <a:cs typeface="Arial"/>
                        </a:rPr>
                        <a:t>maintenance </a:t>
                      </a:r>
                      <a:r>
                        <a:rPr sz="1000" spc="-105" dirty="0">
                          <a:latin typeface="Arial"/>
                          <a:cs typeface="Arial"/>
                        </a:rPr>
                        <a:t>and</a:t>
                      </a:r>
                      <a:r>
                        <a:rPr sz="1000" spc="-60" dirty="0">
                          <a:latin typeface="Arial"/>
                          <a:cs typeface="Arial"/>
                        </a:rPr>
                        <a:t> </a:t>
                      </a:r>
                      <a:r>
                        <a:rPr sz="1000" spc="-35" dirty="0">
                          <a:latin typeface="Arial"/>
                          <a:cs typeface="Arial"/>
                        </a:rPr>
                        <a:t>support,</a:t>
                      </a:r>
                      <a:r>
                        <a:rPr sz="1000" spc="-5" dirty="0">
                          <a:latin typeface="Arial"/>
                          <a:cs typeface="Arial"/>
                        </a:rPr>
                        <a:t> </a:t>
                      </a:r>
                      <a:r>
                        <a:rPr sz="1000" spc="-10" dirty="0">
                          <a:latin typeface="Arial"/>
                          <a:cs typeface="Arial"/>
                        </a:rPr>
                        <a:t>Installation </a:t>
                      </a:r>
                      <a:r>
                        <a:rPr sz="1000" spc="-105" dirty="0">
                          <a:latin typeface="Arial"/>
                          <a:cs typeface="Arial"/>
                        </a:rPr>
                        <a:t>and</a:t>
                      </a:r>
                      <a:r>
                        <a:rPr sz="1000" spc="-60" dirty="0">
                          <a:latin typeface="Arial"/>
                          <a:cs typeface="Arial"/>
                        </a:rPr>
                        <a:t> </a:t>
                      </a:r>
                      <a:r>
                        <a:rPr sz="1000" spc="-45" dirty="0">
                          <a:latin typeface="Arial"/>
                          <a:cs typeface="Arial"/>
                        </a:rPr>
                        <a:t>configuration</a:t>
                      </a:r>
                      <a:r>
                        <a:rPr sz="1000" spc="100" dirty="0">
                          <a:latin typeface="Arial"/>
                          <a:cs typeface="Arial"/>
                        </a:rPr>
                        <a:t> </a:t>
                      </a:r>
                      <a:r>
                        <a:rPr sz="1000" spc="-25" dirty="0">
                          <a:latin typeface="Arial"/>
                          <a:cs typeface="Arial"/>
                        </a:rPr>
                        <a:t>of </a:t>
                      </a:r>
                      <a:r>
                        <a:rPr sz="1000" spc="-45" dirty="0">
                          <a:latin typeface="Arial"/>
                          <a:cs typeface="Arial"/>
                        </a:rPr>
                        <a:t>infrastructure</a:t>
                      </a:r>
                      <a:r>
                        <a:rPr sz="1000" spc="90" dirty="0">
                          <a:latin typeface="Arial"/>
                          <a:cs typeface="Arial"/>
                        </a:rPr>
                        <a:t> </a:t>
                      </a:r>
                      <a:r>
                        <a:rPr sz="1000" spc="-10" dirty="0">
                          <a:latin typeface="Arial"/>
                          <a:cs typeface="Arial"/>
                        </a:rPr>
                        <a:t>software, </a:t>
                      </a:r>
                      <a:r>
                        <a:rPr sz="1000" spc="-105" dirty="0">
                          <a:latin typeface="Arial"/>
                          <a:cs typeface="Arial"/>
                        </a:rPr>
                        <a:t>Analysis</a:t>
                      </a:r>
                      <a:r>
                        <a:rPr sz="1000" spc="105" dirty="0">
                          <a:latin typeface="Arial"/>
                          <a:cs typeface="Arial"/>
                        </a:rPr>
                        <a:t> </a:t>
                      </a:r>
                      <a:r>
                        <a:rPr sz="1000" dirty="0">
                          <a:latin typeface="Arial"/>
                          <a:cs typeface="Arial"/>
                        </a:rPr>
                        <a:t>of</a:t>
                      </a:r>
                      <a:r>
                        <a:rPr sz="1000" spc="-130" dirty="0">
                          <a:latin typeface="Arial"/>
                          <a:cs typeface="Arial"/>
                        </a:rPr>
                        <a:t> </a:t>
                      </a:r>
                      <a:r>
                        <a:rPr sz="1000" spc="-10" dirty="0">
                          <a:latin typeface="Arial"/>
                          <a:cs typeface="Arial"/>
                        </a:rPr>
                        <a:t>technical </a:t>
                      </a:r>
                      <a:r>
                        <a:rPr sz="1000" spc="-60" dirty="0">
                          <a:latin typeface="Arial"/>
                          <a:cs typeface="Arial"/>
                        </a:rPr>
                        <a:t>requirements,</a:t>
                      </a:r>
                      <a:r>
                        <a:rPr sz="1000" spc="100" dirty="0">
                          <a:latin typeface="Arial"/>
                          <a:cs typeface="Arial"/>
                        </a:rPr>
                        <a:t> </a:t>
                      </a:r>
                      <a:r>
                        <a:rPr sz="1000" spc="-70" dirty="0">
                          <a:latin typeface="Arial"/>
                          <a:cs typeface="Arial"/>
                        </a:rPr>
                        <a:t>Web</a:t>
                      </a:r>
                      <a:r>
                        <a:rPr sz="1000" spc="-35" dirty="0">
                          <a:latin typeface="Arial"/>
                          <a:cs typeface="Arial"/>
                        </a:rPr>
                        <a:t> </a:t>
                      </a:r>
                      <a:r>
                        <a:rPr sz="1000" spc="-20" dirty="0">
                          <a:latin typeface="Arial"/>
                          <a:cs typeface="Arial"/>
                        </a:rPr>
                        <a:t>site</a:t>
                      </a:r>
                      <a:endParaRPr sz="100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208915">
                        <a:lnSpc>
                          <a:spcPct val="99800"/>
                        </a:lnSpc>
                        <a:spcBef>
                          <a:spcPts val="234"/>
                        </a:spcBef>
                      </a:pPr>
                      <a:r>
                        <a:rPr sz="1000" spc="-160" dirty="0">
                          <a:latin typeface="Arial"/>
                          <a:cs typeface="Arial"/>
                        </a:rPr>
                        <a:t>IT</a:t>
                      </a:r>
                      <a:r>
                        <a:rPr sz="1000" spc="-85" dirty="0">
                          <a:latin typeface="Arial"/>
                          <a:cs typeface="Arial"/>
                        </a:rPr>
                        <a:t> </a:t>
                      </a:r>
                      <a:r>
                        <a:rPr sz="1000" spc="-65" dirty="0">
                          <a:latin typeface="Arial"/>
                          <a:cs typeface="Arial"/>
                        </a:rPr>
                        <a:t>programs</a:t>
                      </a:r>
                      <a:r>
                        <a:rPr sz="1000" spc="35" dirty="0">
                          <a:latin typeface="Arial"/>
                          <a:cs typeface="Arial"/>
                        </a:rPr>
                        <a:t> </a:t>
                      </a:r>
                      <a:r>
                        <a:rPr sz="1000" spc="-25" dirty="0">
                          <a:latin typeface="Arial"/>
                          <a:cs typeface="Arial"/>
                        </a:rPr>
                        <a:t>are </a:t>
                      </a:r>
                      <a:r>
                        <a:rPr sz="1000" spc="-80" dirty="0">
                          <a:latin typeface="Arial"/>
                          <a:cs typeface="Arial"/>
                        </a:rPr>
                        <a:t>located</a:t>
                      </a:r>
                      <a:r>
                        <a:rPr sz="1000" spc="60" dirty="0">
                          <a:latin typeface="Arial"/>
                          <a:cs typeface="Arial"/>
                        </a:rPr>
                        <a:t> </a:t>
                      </a:r>
                      <a:r>
                        <a:rPr sz="1000" spc="-20" dirty="0">
                          <a:latin typeface="Arial"/>
                          <a:cs typeface="Arial"/>
                        </a:rPr>
                        <a:t>in</a:t>
                      </a:r>
                      <a:r>
                        <a:rPr sz="1000" spc="-100" dirty="0">
                          <a:latin typeface="Arial"/>
                          <a:cs typeface="Arial"/>
                        </a:rPr>
                        <a:t> </a:t>
                      </a:r>
                      <a:r>
                        <a:rPr sz="1000" spc="-60" dirty="0">
                          <a:latin typeface="Arial"/>
                          <a:cs typeface="Arial"/>
                        </a:rPr>
                        <a:t>several </a:t>
                      </a:r>
                      <a:r>
                        <a:rPr sz="1000" spc="-90" dirty="0">
                          <a:latin typeface="Arial"/>
                          <a:cs typeface="Arial"/>
                        </a:rPr>
                        <a:t>schools,</a:t>
                      </a:r>
                      <a:r>
                        <a:rPr sz="1000" spc="60" dirty="0">
                          <a:latin typeface="Arial"/>
                          <a:cs typeface="Arial"/>
                        </a:rPr>
                        <a:t> </a:t>
                      </a:r>
                      <a:r>
                        <a:rPr sz="1000" spc="-65" dirty="0">
                          <a:latin typeface="Arial"/>
                          <a:cs typeface="Arial"/>
                        </a:rPr>
                        <a:t>including </a:t>
                      </a:r>
                      <a:r>
                        <a:rPr sz="1000" spc="-30" dirty="0">
                          <a:latin typeface="Arial"/>
                          <a:cs typeface="Arial"/>
                        </a:rPr>
                        <a:t>the</a:t>
                      </a:r>
                      <a:r>
                        <a:rPr sz="1000" spc="-100" dirty="0">
                          <a:latin typeface="Arial"/>
                          <a:cs typeface="Arial"/>
                        </a:rPr>
                        <a:t> </a:t>
                      </a:r>
                      <a:r>
                        <a:rPr sz="1000" spc="-10" dirty="0">
                          <a:latin typeface="Arial"/>
                          <a:cs typeface="Arial"/>
                        </a:rPr>
                        <a:t>Engineering </a:t>
                      </a:r>
                      <a:r>
                        <a:rPr sz="1000" spc="-110" dirty="0">
                          <a:latin typeface="Arial"/>
                          <a:cs typeface="Arial"/>
                        </a:rPr>
                        <a:t>School,</a:t>
                      </a:r>
                      <a:r>
                        <a:rPr sz="1000" spc="35" dirty="0">
                          <a:latin typeface="Arial"/>
                          <a:cs typeface="Arial"/>
                        </a:rPr>
                        <a:t> </a:t>
                      </a:r>
                      <a:r>
                        <a:rPr sz="1000" spc="-25" dirty="0">
                          <a:latin typeface="Arial"/>
                          <a:cs typeface="Arial"/>
                        </a:rPr>
                        <a:t>the </a:t>
                      </a:r>
                      <a:r>
                        <a:rPr sz="1000" spc="-130" dirty="0">
                          <a:latin typeface="Arial"/>
                          <a:cs typeface="Arial"/>
                        </a:rPr>
                        <a:t>Business</a:t>
                      </a:r>
                      <a:r>
                        <a:rPr sz="1000" spc="85" dirty="0">
                          <a:latin typeface="Arial"/>
                          <a:cs typeface="Arial"/>
                        </a:rPr>
                        <a:t> </a:t>
                      </a:r>
                      <a:r>
                        <a:rPr sz="1000" spc="-10" dirty="0">
                          <a:latin typeface="Arial"/>
                          <a:cs typeface="Arial"/>
                        </a:rPr>
                        <a:t>School, </a:t>
                      </a:r>
                      <a:r>
                        <a:rPr sz="1000" spc="-105" dirty="0">
                          <a:latin typeface="Arial"/>
                          <a:cs typeface="Arial"/>
                        </a:rPr>
                        <a:t>and</a:t>
                      </a:r>
                      <a:r>
                        <a:rPr sz="1000" spc="-60" dirty="0">
                          <a:latin typeface="Arial"/>
                          <a:cs typeface="Arial"/>
                        </a:rPr>
                        <a:t> </a:t>
                      </a:r>
                      <a:r>
                        <a:rPr sz="1000" spc="-35" dirty="0">
                          <a:latin typeface="Arial"/>
                          <a:cs typeface="Arial"/>
                        </a:rPr>
                        <a:t>an </a:t>
                      </a:r>
                      <a:r>
                        <a:rPr sz="1000" spc="-10" dirty="0">
                          <a:latin typeface="Arial"/>
                          <a:cs typeface="Arial"/>
                        </a:rPr>
                        <a:t>independent school.</a:t>
                      </a:r>
                      <a:endParaRPr sz="100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54305">
                        <a:lnSpc>
                          <a:spcPct val="100600"/>
                        </a:lnSpc>
                        <a:spcBef>
                          <a:spcPts val="225"/>
                        </a:spcBef>
                      </a:pPr>
                      <a:r>
                        <a:rPr sz="1000" spc="-85" dirty="0">
                          <a:latin typeface="Arial"/>
                          <a:cs typeface="Arial"/>
                        </a:rPr>
                        <a:t>Suitable</a:t>
                      </a:r>
                      <a:r>
                        <a:rPr sz="1000" spc="-20" dirty="0">
                          <a:latin typeface="Arial"/>
                          <a:cs typeface="Arial"/>
                        </a:rPr>
                        <a:t> </a:t>
                      </a:r>
                      <a:r>
                        <a:rPr sz="1000" dirty="0">
                          <a:latin typeface="Arial"/>
                          <a:cs typeface="Arial"/>
                        </a:rPr>
                        <a:t>for</a:t>
                      </a:r>
                      <a:r>
                        <a:rPr sz="1000" spc="-50" dirty="0">
                          <a:latin typeface="Arial"/>
                          <a:cs typeface="Arial"/>
                        </a:rPr>
                        <a:t> students</a:t>
                      </a:r>
                      <a:r>
                        <a:rPr sz="1000" spc="45" dirty="0">
                          <a:latin typeface="Arial"/>
                          <a:cs typeface="Arial"/>
                        </a:rPr>
                        <a:t> </a:t>
                      </a:r>
                      <a:r>
                        <a:rPr sz="1000" spc="-35" dirty="0">
                          <a:latin typeface="Arial"/>
                          <a:cs typeface="Arial"/>
                        </a:rPr>
                        <a:t>who</a:t>
                      </a:r>
                      <a:r>
                        <a:rPr sz="1000" spc="-50" dirty="0">
                          <a:latin typeface="Arial"/>
                          <a:cs typeface="Arial"/>
                        </a:rPr>
                        <a:t> </a:t>
                      </a:r>
                      <a:r>
                        <a:rPr sz="1000" spc="-25" dirty="0">
                          <a:latin typeface="Arial"/>
                          <a:cs typeface="Arial"/>
                        </a:rPr>
                        <a:t>are </a:t>
                      </a:r>
                      <a:r>
                        <a:rPr sz="1000" spc="-80" dirty="0">
                          <a:latin typeface="Arial"/>
                          <a:cs typeface="Arial"/>
                        </a:rPr>
                        <a:t>highly</a:t>
                      </a:r>
                      <a:r>
                        <a:rPr sz="1000" spc="5" dirty="0">
                          <a:latin typeface="Arial"/>
                          <a:cs typeface="Arial"/>
                        </a:rPr>
                        <a:t> </a:t>
                      </a:r>
                      <a:r>
                        <a:rPr sz="1000" spc="-40" dirty="0">
                          <a:latin typeface="Arial"/>
                          <a:cs typeface="Arial"/>
                        </a:rPr>
                        <a:t>interested</a:t>
                      </a:r>
                      <a:r>
                        <a:rPr sz="1000" spc="65" dirty="0">
                          <a:latin typeface="Arial"/>
                          <a:cs typeface="Arial"/>
                        </a:rPr>
                        <a:t> </a:t>
                      </a:r>
                      <a:r>
                        <a:rPr sz="1000" spc="-10" dirty="0">
                          <a:latin typeface="Arial"/>
                          <a:cs typeface="Arial"/>
                        </a:rPr>
                        <a:t>in</a:t>
                      </a:r>
                      <a:r>
                        <a:rPr sz="1000" spc="-130" dirty="0">
                          <a:latin typeface="Arial"/>
                          <a:cs typeface="Arial"/>
                        </a:rPr>
                        <a:t> </a:t>
                      </a:r>
                      <a:r>
                        <a:rPr sz="1000" spc="-10" dirty="0">
                          <a:latin typeface="Arial"/>
                          <a:cs typeface="Arial"/>
                        </a:rPr>
                        <a:t>deploying </a:t>
                      </a:r>
                      <a:r>
                        <a:rPr sz="1000" spc="-105" dirty="0">
                          <a:latin typeface="Arial"/>
                          <a:cs typeface="Arial"/>
                        </a:rPr>
                        <a:t>and</a:t>
                      </a:r>
                      <a:r>
                        <a:rPr sz="1000" spc="-60" dirty="0">
                          <a:latin typeface="Arial"/>
                          <a:cs typeface="Arial"/>
                        </a:rPr>
                        <a:t> </a:t>
                      </a:r>
                      <a:r>
                        <a:rPr sz="1000" spc="-50" dirty="0">
                          <a:latin typeface="Arial"/>
                          <a:cs typeface="Arial"/>
                        </a:rPr>
                        <a:t>supporting</a:t>
                      </a:r>
                      <a:r>
                        <a:rPr sz="1000" spc="40" dirty="0">
                          <a:latin typeface="Arial"/>
                          <a:cs typeface="Arial"/>
                        </a:rPr>
                        <a:t> </a:t>
                      </a:r>
                      <a:r>
                        <a:rPr sz="1000" dirty="0">
                          <a:latin typeface="Arial"/>
                          <a:cs typeface="Arial"/>
                        </a:rPr>
                        <a:t>the</a:t>
                      </a:r>
                      <a:r>
                        <a:rPr sz="1000" spc="-75" dirty="0">
                          <a:latin typeface="Arial"/>
                          <a:cs typeface="Arial"/>
                        </a:rPr>
                        <a:t> </a:t>
                      </a:r>
                      <a:r>
                        <a:rPr sz="1000" spc="-95" dirty="0">
                          <a:latin typeface="Arial"/>
                          <a:cs typeface="Arial"/>
                        </a:rPr>
                        <a:t>use</a:t>
                      </a:r>
                      <a:r>
                        <a:rPr sz="1000" spc="-85" dirty="0">
                          <a:latin typeface="Arial"/>
                          <a:cs typeface="Arial"/>
                        </a:rPr>
                        <a:t> </a:t>
                      </a:r>
                      <a:r>
                        <a:rPr sz="1000" spc="-25" dirty="0">
                          <a:latin typeface="Arial"/>
                          <a:cs typeface="Arial"/>
                        </a:rPr>
                        <a:t>of </a:t>
                      </a:r>
                      <a:r>
                        <a:rPr sz="1000" spc="-70" dirty="0">
                          <a:latin typeface="Arial"/>
                          <a:cs typeface="Arial"/>
                        </a:rPr>
                        <a:t>technology</a:t>
                      </a:r>
                      <a:r>
                        <a:rPr sz="1000" spc="105" dirty="0">
                          <a:latin typeface="Arial"/>
                          <a:cs typeface="Arial"/>
                        </a:rPr>
                        <a:t> </a:t>
                      </a:r>
                      <a:r>
                        <a:rPr sz="1000" spc="-20" dirty="0">
                          <a:latin typeface="Arial"/>
                          <a:cs typeface="Arial"/>
                        </a:rPr>
                        <a:t>in</a:t>
                      </a:r>
                      <a:r>
                        <a:rPr sz="1000" spc="-114" dirty="0">
                          <a:latin typeface="Arial"/>
                          <a:cs typeface="Arial"/>
                        </a:rPr>
                        <a:t> </a:t>
                      </a:r>
                      <a:r>
                        <a:rPr sz="1000" spc="-10" dirty="0">
                          <a:latin typeface="Arial"/>
                          <a:cs typeface="Arial"/>
                        </a:rPr>
                        <a:t>organizations. </a:t>
                      </a:r>
                      <a:r>
                        <a:rPr sz="1000" spc="-65" dirty="0">
                          <a:latin typeface="Arial"/>
                          <a:cs typeface="Arial"/>
                        </a:rPr>
                        <a:t>(Implementing</a:t>
                      </a:r>
                      <a:r>
                        <a:rPr sz="1000" spc="175" dirty="0">
                          <a:latin typeface="Arial"/>
                          <a:cs typeface="Arial"/>
                        </a:rPr>
                        <a:t> </a:t>
                      </a:r>
                      <a:r>
                        <a:rPr sz="1000" spc="-70" dirty="0">
                          <a:latin typeface="Arial"/>
                          <a:cs typeface="Arial"/>
                        </a:rPr>
                        <a:t>and</a:t>
                      </a:r>
                      <a:r>
                        <a:rPr sz="1000" spc="-85" dirty="0">
                          <a:latin typeface="Arial"/>
                          <a:cs typeface="Arial"/>
                        </a:rPr>
                        <a:t> </a:t>
                      </a:r>
                      <a:r>
                        <a:rPr sz="1000" spc="-10" dirty="0">
                          <a:latin typeface="Arial"/>
                          <a:cs typeface="Arial"/>
                        </a:rPr>
                        <a:t>operating </a:t>
                      </a:r>
                      <a:r>
                        <a:rPr sz="1000" spc="-90" dirty="0">
                          <a:latin typeface="Arial"/>
                          <a:cs typeface="Arial"/>
                        </a:rPr>
                        <a:t>servers,</a:t>
                      </a:r>
                      <a:r>
                        <a:rPr sz="1000" spc="30" dirty="0">
                          <a:latin typeface="Arial"/>
                          <a:cs typeface="Arial"/>
                        </a:rPr>
                        <a:t> </a:t>
                      </a:r>
                      <a:r>
                        <a:rPr sz="1000" spc="-55" dirty="0">
                          <a:latin typeface="Arial"/>
                          <a:cs typeface="Arial"/>
                        </a:rPr>
                        <a:t>desktops,</a:t>
                      </a:r>
                      <a:r>
                        <a:rPr sz="1000" spc="90" dirty="0">
                          <a:latin typeface="Arial"/>
                          <a:cs typeface="Arial"/>
                        </a:rPr>
                        <a:t> </a:t>
                      </a:r>
                      <a:r>
                        <a:rPr sz="1000" spc="-65" dirty="0">
                          <a:latin typeface="Arial"/>
                          <a:cs typeface="Arial"/>
                        </a:rPr>
                        <a:t>local</a:t>
                      </a:r>
                      <a:r>
                        <a:rPr sz="1000" spc="-40" dirty="0">
                          <a:latin typeface="Arial"/>
                          <a:cs typeface="Arial"/>
                        </a:rPr>
                        <a:t> </a:t>
                      </a:r>
                      <a:r>
                        <a:rPr sz="1000" spc="-20" dirty="0">
                          <a:latin typeface="Arial"/>
                          <a:cs typeface="Arial"/>
                        </a:rPr>
                        <a:t>area </a:t>
                      </a:r>
                      <a:r>
                        <a:rPr sz="1000" spc="-60" dirty="0">
                          <a:latin typeface="Arial"/>
                          <a:cs typeface="Arial"/>
                        </a:rPr>
                        <a:t>networks,</a:t>
                      </a:r>
                      <a:r>
                        <a:rPr sz="1000" spc="25" dirty="0">
                          <a:latin typeface="Arial"/>
                          <a:cs typeface="Arial"/>
                        </a:rPr>
                        <a:t> </a:t>
                      </a:r>
                      <a:r>
                        <a:rPr sz="1000" spc="-35" dirty="0">
                          <a:latin typeface="Arial"/>
                          <a:cs typeface="Arial"/>
                        </a:rPr>
                        <a:t>wide</a:t>
                      </a:r>
                      <a:r>
                        <a:rPr sz="1000" spc="-50" dirty="0">
                          <a:latin typeface="Arial"/>
                          <a:cs typeface="Arial"/>
                        </a:rPr>
                        <a:t> </a:t>
                      </a:r>
                      <a:r>
                        <a:rPr sz="1000" spc="-70" dirty="0">
                          <a:latin typeface="Arial"/>
                          <a:cs typeface="Arial"/>
                        </a:rPr>
                        <a:t>area</a:t>
                      </a:r>
                      <a:r>
                        <a:rPr sz="1000" spc="-20" dirty="0">
                          <a:latin typeface="Arial"/>
                          <a:cs typeface="Arial"/>
                        </a:rPr>
                        <a:t> </a:t>
                      </a:r>
                      <a:r>
                        <a:rPr sz="1000" spc="-50" dirty="0">
                          <a:latin typeface="Arial"/>
                          <a:cs typeface="Arial"/>
                        </a:rPr>
                        <a:t>networks, </a:t>
                      </a:r>
                      <a:r>
                        <a:rPr sz="1000" spc="-105" dirty="0">
                          <a:latin typeface="Arial"/>
                          <a:cs typeface="Arial"/>
                        </a:rPr>
                        <a:t>and</a:t>
                      </a:r>
                      <a:r>
                        <a:rPr sz="1000" spc="-60" dirty="0">
                          <a:latin typeface="Arial"/>
                          <a:cs typeface="Arial"/>
                        </a:rPr>
                        <a:t> </a:t>
                      </a:r>
                      <a:r>
                        <a:rPr sz="1000" spc="-10" dirty="0">
                          <a:latin typeface="Arial"/>
                          <a:cs typeface="Arial"/>
                        </a:rPr>
                        <a:t>other</a:t>
                      </a:r>
                      <a:r>
                        <a:rPr sz="1000" spc="-130" dirty="0">
                          <a:latin typeface="Arial"/>
                          <a:cs typeface="Arial"/>
                        </a:rPr>
                        <a:t> </a:t>
                      </a:r>
                      <a:r>
                        <a:rPr sz="1000" spc="-65" dirty="0">
                          <a:latin typeface="Arial"/>
                          <a:cs typeface="Arial"/>
                        </a:rPr>
                        <a:t>components</a:t>
                      </a:r>
                      <a:r>
                        <a:rPr sz="1000" spc="160" dirty="0">
                          <a:latin typeface="Arial"/>
                          <a:cs typeface="Arial"/>
                        </a:rPr>
                        <a:t> </a:t>
                      </a:r>
                      <a:r>
                        <a:rPr sz="1000" dirty="0">
                          <a:latin typeface="Arial"/>
                          <a:cs typeface="Arial"/>
                        </a:rPr>
                        <a:t>of</a:t>
                      </a:r>
                      <a:r>
                        <a:rPr sz="1000" spc="-160" dirty="0">
                          <a:latin typeface="Arial"/>
                          <a:cs typeface="Arial"/>
                        </a:rPr>
                        <a:t> </a:t>
                      </a:r>
                      <a:r>
                        <a:rPr sz="1000" spc="-25" dirty="0">
                          <a:latin typeface="Arial"/>
                          <a:cs typeface="Arial"/>
                        </a:rPr>
                        <a:t>the </a:t>
                      </a:r>
                      <a:r>
                        <a:rPr sz="1000" spc="-65" dirty="0">
                          <a:latin typeface="Arial"/>
                          <a:cs typeface="Arial"/>
                        </a:rPr>
                        <a:t>computing</a:t>
                      </a:r>
                      <a:r>
                        <a:rPr sz="1000" spc="45" dirty="0">
                          <a:latin typeface="Arial"/>
                          <a:cs typeface="Arial"/>
                        </a:rPr>
                        <a:t> </a:t>
                      </a:r>
                      <a:r>
                        <a:rPr sz="1000" spc="-35" dirty="0">
                          <a:latin typeface="Arial"/>
                          <a:cs typeface="Arial"/>
                        </a:rPr>
                        <a:t>infrastructure</a:t>
                      </a:r>
                      <a:r>
                        <a:rPr sz="1000" spc="114" dirty="0">
                          <a:latin typeface="Arial"/>
                          <a:cs typeface="Arial"/>
                        </a:rPr>
                        <a:t> </a:t>
                      </a:r>
                      <a:r>
                        <a:rPr sz="1000" spc="-25" dirty="0">
                          <a:latin typeface="Arial"/>
                          <a:cs typeface="Arial"/>
                        </a:rPr>
                        <a:t>in </a:t>
                      </a:r>
                      <a:r>
                        <a:rPr sz="1000" spc="-70" dirty="0">
                          <a:latin typeface="Arial"/>
                          <a:cs typeface="Arial"/>
                        </a:rPr>
                        <a:t>organizations</a:t>
                      </a:r>
                      <a:r>
                        <a:rPr sz="1000" spc="90" dirty="0">
                          <a:latin typeface="Arial"/>
                          <a:cs typeface="Arial"/>
                        </a:rPr>
                        <a:t> </a:t>
                      </a:r>
                      <a:r>
                        <a:rPr sz="1000" spc="-50" dirty="0">
                          <a:latin typeface="Arial"/>
                          <a:cs typeface="Arial"/>
                        </a:rPr>
                        <a:t>requires</a:t>
                      </a:r>
                      <a:r>
                        <a:rPr sz="1000" spc="5" dirty="0">
                          <a:latin typeface="Arial"/>
                          <a:cs typeface="Arial"/>
                        </a:rPr>
                        <a:t> </a:t>
                      </a:r>
                      <a:r>
                        <a:rPr sz="1000" spc="-20" dirty="0">
                          <a:latin typeface="Arial"/>
                          <a:cs typeface="Arial"/>
                        </a:rPr>
                        <a:t>more </a:t>
                      </a:r>
                      <a:r>
                        <a:rPr sz="1000" spc="-65" dirty="0">
                          <a:latin typeface="Arial"/>
                          <a:cs typeface="Arial"/>
                        </a:rPr>
                        <a:t>technical</a:t>
                      </a:r>
                      <a:r>
                        <a:rPr sz="1000" spc="80" dirty="0">
                          <a:latin typeface="Arial"/>
                          <a:cs typeface="Arial"/>
                        </a:rPr>
                        <a:t> </a:t>
                      </a:r>
                      <a:r>
                        <a:rPr sz="1000" spc="-55" dirty="0">
                          <a:latin typeface="Arial"/>
                          <a:cs typeface="Arial"/>
                        </a:rPr>
                        <a:t>skills</a:t>
                      </a:r>
                      <a:r>
                        <a:rPr sz="1000" spc="-45" dirty="0">
                          <a:latin typeface="Arial"/>
                          <a:cs typeface="Arial"/>
                        </a:rPr>
                        <a:t> </a:t>
                      </a:r>
                      <a:r>
                        <a:rPr sz="1000" spc="-65" dirty="0">
                          <a:latin typeface="Arial"/>
                          <a:cs typeface="Arial"/>
                        </a:rPr>
                        <a:t>and</a:t>
                      </a:r>
                      <a:r>
                        <a:rPr sz="1000" spc="-25" dirty="0">
                          <a:latin typeface="Arial"/>
                          <a:cs typeface="Arial"/>
                        </a:rPr>
                        <a:t> </a:t>
                      </a:r>
                      <a:r>
                        <a:rPr sz="1000" spc="-95" dirty="0">
                          <a:latin typeface="Arial"/>
                          <a:cs typeface="Arial"/>
                        </a:rPr>
                        <a:t>less</a:t>
                      </a:r>
                      <a:r>
                        <a:rPr sz="1000" spc="-60" dirty="0">
                          <a:latin typeface="Arial"/>
                          <a:cs typeface="Arial"/>
                        </a:rPr>
                        <a:t> </a:t>
                      </a:r>
                      <a:r>
                        <a:rPr sz="1000" spc="-10" dirty="0">
                          <a:latin typeface="Arial"/>
                          <a:cs typeface="Arial"/>
                        </a:rPr>
                        <a:t>client- </a:t>
                      </a:r>
                      <a:r>
                        <a:rPr sz="1000" spc="-90" dirty="0">
                          <a:latin typeface="Arial"/>
                          <a:cs typeface="Arial"/>
                        </a:rPr>
                        <a:t>facing</a:t>
                      </a:r>
                      <a:r>
                        <a:rPr sz="1000" spc="-5" dirty="0">
                          <a:latin typeface="Arial"/>
                          <a:cs typeface="Arial"/>
                        </a:rPr>
                        <a:t> </a:t>
                      </a:r>
                      <a:r>
                        <a:rPr sz="1000" spc="-25" dirty="0">
                          <a:latin typeface="Arial"/>
                          <a:cs typeface="Arial"/>
                        </a:rPr>
                        <a:t>skills.</a:t>
                      </a:r>
                      <a:r>
                        <a:rPr sz="1000" spc="200" dirty="0">
                          <a:latin typeface="Arial"/>
                          <a:cs typeface="Arial"/>
                        </a:rPr>
                        <a:t> </a:t>
                      </a:r>
                      <a:r>
                        <a:rPr sz="1000" spc="-55" dirty="0">
                          <a:latin typeface="Arial"/>
                          <a:cs typeface="Arial"/>
                        </a:rPr>
                        <a:t>But </a:t>
                      </a:r>
                      <a:r>
                        <a:rPr sz="1000" spc="-95" dirty="0">
                          <a:latin typeface="Arial"/>
                          <a:cs typeface="Arial"/>
                        </a:rPr>
                        <a:t>IT</a:t>
                      </a:r>
                      <a:r>
                        <a:rPr sz="1000" spc="-110" dirty="0">
                          <a:latin typeface="Arial"/>
                          <a:cs typeface="Arial"/>
                        </a:rPr>
                        <a:t> </a:t>
                      </a:r>
                      <a:r>
                        <a:rPr sz="1000" spc="-20" dirty="0">
                          <a:latin typeface="Arial"/>
                          <a:cs typeface="Arial"/>
                        </a:rPr>
                        <a:t>specialists </a:t>
                      </a:r>
                      <a:r>
                        <a:rPr sz="1000" spc="-110" dirty="0">
                          <a:latin typeface="Arial"/>
                          <a:cs typeface="Arial"/>
                        </a:rPr>
                        <a:t>also</a:t>
                      </a:r>
                      <a:r>
                        <a:rPr sz="1000" spc="-20" dirty="0">
                          <a:latin typeface="Arial"/>
                          <a:cs typeface="Arial"/>
                        </a:rPr>
                        <a:t> </a:t>
                      </a:r>
                      <a:r>
                        <a:rPr sz="1000" spc="-50" dirty="0">
                          <a:latin typeface="Arial"/>
                          <a:cs typeface="Arial"/>
                        </a:rPr>
                        <a:t>provide</a:t>
                      </a:r>
                      <a:r>
                        <a:rPr sz="1000" spc="-25" dirty="0">
                          <a:latin typeface="Arial"/>
                          <a:cs typeface="Arial"/>
                        </a:rPr>
                        <a:t> </a:t>
                      </a:r>
                      <a:r>
                        <a:rPr sz="1000" spc="-50" dirty="0">
                          <a:latin typeface="Arial"/>
                          <a:cs typeface="Arial"/>
                        </a:rPr>
                        <a:t>technical</a:t>
                      </a:r>
                      <a:r>
                        <a:rPr sz="1000" spc="60" dirty="0">
                          <a:latin typeface="Arial"/>
                          <a:cs typeface="Arial"/>
                        </a:rPr>
                        <a:t> </a:t>
                      </a:r>
                      <a:r>
                        <a:rPr sz="1000" spc="-10" dirty="0">
                          <a:latin typeface="Arial"/>
                          <a:cs typeface="Arial"/>
                        </a:rPr>
                        <a:t>support </a:t>
                      </a:r>
                      <a:r>
                        <a:rPr sz="1000" dirty="0">
                          <a:latin typeface="Arial"/>
                          <a:cs typeface="Arial"/>
                        </a:rPr>
                        <a:t>to</a:t>
                      </a:r>
                      <a:r>
                        <a:rPr sz="1000" spc="-114" dirty="0">
                          <a:latin typeface="Arial"/>
                          <a:cs typeface="Arial"/>
                        </a:rPr>
                        <a:t> </a:t>
                      </a:r>
                      <a:r>
                        <a:rPr sz="1000" spc="-80" dirty="0">
                          <a:latin typeface="Arial"/>
                          <a:cs typeface="Arial"/>
                        </a:rPr>
                        <a:t>users</a:t>
                      </a:r>
                      <a:r>
                        <a:rPr sz="1000" spc="-30" dirty="0">
                          <a:latin typeface="Arial"/>
                          <a:cs typeface="Arial"/>
                        </a:rPr>
                        <a:t> </a:t>
                      </a:r>
                      <a:r>
                        <a:rPr sz="1000" dirty="0">
                          <a:latin typeface="Arial"/>
                          <a:cs typeface="Arial"/>
                        </a:rPr>
                        <a:t>of</a:t>
                      </a:r>
                      <a:r>
                        <a:rPr sz="1000" spc="-140" dirty="0">
                          <a:latin typeface="Arial"/>
                          <a:cs typeface="Arial"/>
                        </a:rPr>
                        <a:t> </a:t>
                      </a:r>
                      <a:r>
                        <a:rPr sz="1000" dirty="0">
                          <a:latin typeface="Arial"/>
                          <a:cs typeface="Arial"/>
                        </a:rPr>
                        <a:t>the</a:t>
                      </a:r>
                      <a:r>
                        <a:rPr sz="1000" spc="-85" dirty="0">
                          <a:latin typeface="Arial"/>
                          <a:cs typeface="Arial"/>
                        </a:rPr>
                        <a:t> </a:t>
                      </a:r>
                      <a:r>
                        <a:rPr sz="1000" spc="-10" dirty="0">
                          <a:latin typeface="Arial"/>
                          <a:cs typeface="Arial"/>
                        </a:rPr>
                        <a:t>computing </a:t>
                      </a:r>
                      <a:r>
                        <a:rPr sz="1000" spc="-45" dirty="0">
                          <a:latin typeface="Arial"/>
                          <a:cs typeface="Arial"/>
                        </a:rPr>
                        <a:t>infrastructure,</a:t>
                      </a:r>
                      <a:r>
                        <a:rPr sz="1000" spc="135" dirty="0">
                          <a:latin typeface="Arial"/>
                          <a:cs typeface="Arial"/>
                        </a:rPr>
                        <a:t> </a:t>
                      </a:r>
                      <a:r>
                        <a:rPr sz="1000" spc="-10" dirty="0">
                          <a:latin typeface="Arial"/>
                          <a:cs typeface="Arial"/>
                        </a:rPr>
                        <a:t>in</a:t>
                      </a:r>
                      <a:r>
                        <a:rPr sz="1000" spc="-140" dirty="0">
                          <a:latin typeface="Arial"/>
                          <a:cs typeface="Arial"/>
                        </a:rPr>
                        <a:t> </a:t>
                      </a:r>
                      <a:r>
                        <a:rPr sz="1000" spc="-40" dirty="0">
                          <a:latin typeface="Arial"/>
                          <a:cs typeface="Arial"/>
                        </a:rPr>
                        <a:t>which</a:t>
                      </a:r>
                      <a:r>
                        <a:rPr sz="1000" spc="-15" dirty="0">
                          <a:latin typeface="Arial"/>
                          <a:cs typeface="Arial"/>
                        </a:rPr>
                        <a:t> </a:t>
                      </a:r>
                      <a:r>
                        <a:rPr sz="1000" spc="-20" dirty="0">
                          <a:latin typeface="Arial"/>
                          <a:cs typeface="Arial"/>
                        </a:rPr>
                        <a:t>case </a:t>
                      </a:r>
                      <a:r>
                        <a:rPr sz="1000" spc="-65" dirty="0">
                          <a:latin typeface="Arial"/>
                          <a:cs typeface="Arial"/>
                        </a:rPr>
                        <a:t>students</a:t>
                      </a:r>
                      <a:r>
                        <a:rPr sz="1000" spc="95" dirty="0">
                          <a:latin typeface="Arial"/>
                          <a:cs typeface="Arial"/>
                        </a:rPr>
                        <a:t> </a:t>
                      </a:r>
                      <a:r>
                        <a:rPr sz="1000" spc="-60" dirty="0">
                          <a:latin typeface="Arial"/>
                          <a:cs typeface="Arial"/>
                        </a:rPr>
                        <a:t>must</a:t>
                      </a:r>
                      <a:r>
                        <a:rPr sz="1000" spc="-25" dirty="0">
                          <a:latin typeface="Arial"/>
                          <a:cs typeface="Arial"/>
                        </a:rPr>
                        <a:t> </a:t>
                      </a:r>
                      <a:r>
                        <a:rPr sz="1000" spc="-70" dirty="0">
                          <a:latin typeface="Arial"/>
                          <a:cs typeface="Arial"/>
                        </a:rPr>
                        <a:t>also</a:t>
                      </a:r>
                      <a:r>
                        <a:rPr sz="1000" spc="-25" dirty="0">
                          <a:latin typeface="Arial"/>
                          <a:cs typeface="Arial"/>
                        </a:rPr>
                        <a:t> </a:t>
                      </a:r>
                      <a:r>
                        <a:rPr sz="1000" spc="-45" dirty="0">
                          <a:latin typeface="Arial"/>
                          <a:cs typeface="Arial"/>
                        </a:rPr>
                        <a:t>like</a:t>
                      </a:r>
                      <a:r>
                        <a:rPr sz="1000" spc="-120" dirty="0">
                          <a:latin typeface="Arial"/>
                          <a:cs typeface="Arial"/>
                        </a:rPr>
                        <a:t> </a:t>
                      </a:r>
                      <a:r>
                        <a:rPr sz="1000" spc="-25" dirty="0">
                          <a:latin typeface="Arial"/>
                          <a:cs typeface="Arial"/>
                        </a:rPr>
                        <a:t>to </a:t>
                      </a:r>
                      <a:r>
                        <a:rPr sz="1000" spc="-55" dirty="0">
                          <a:latin typeface="Arial"/>
                          <a:cs typeface="Arial"/>
                        </a:rPr>
                        <a:t>interact</a:t>
                      </a:r>
                      <a:r>
                        <a:rPr sz="1000" spc="-20" dirty="0">
                          <a:latin typeface="Arial"/>
                          <a:cs typeface="Arial"/>
                        </a:rPr>
                        <a:t> </a:t>
                      </a:r>
                      <a:r>
                        <a:rPr sz="1000" dirty="0">
                          <a:latin typeface="Arial"/>
                          <a:cs typeface="Arial"/>
                        </a:rPr>
                        <a:t>with</a:t>
                      </a:r>
                      <a:r>
                        <a:rPr sz="1000" spc="-10" dirty="0">
                          <a:latin typeface="Arial"/>
                          <a:cs typeface="Arial"/>
                        </a:rPr>
                        <a:t> </a:t>
                      </a:r>
                      <a:r>
                        <a:rPr sz="1000" spc="-55" dirty="0">
                          <a:latin typeface="Arial"/>
                          <a:cs typeface="Arial"/>
                        </a:rPr>
                        <a:t>people,</a:t>
                      </a:r>
                      <a:r>
                        <a:rPr sz="1000" spc="35" dirty="0">
                          <a:latin typeface="Arial"/>
                          <a:cs typeface="Arial"/>
                        </a:rPr>
                        <a:t> </a:t>
                      </a:r>
                      <a:r>
                        <a:rPr sz="1000" spc="-10" dirty="0">
                          <a:latin typeface="Arial"/>
                          <a:cs typeface="Arial"/>
                        </a:rPr>
                        <a:t>besides </a:t>
                      </a:r>
                      <a:r>
                        <a:rPr sz="1000" spc="-55" dirty="0">
                          <a:latin typeface="Arial"/>
                          <a:cs typeface="Arial"/>
                        </a:rPr>
                        <a:t>interacting</a:t>
                      </a:r>
                      <a:r>
                        <a:rPr sz="1000" spc="70" dirty="0">
                          <a:latin typeface="Arial"/>
                          <a:cs typeface="Arial"/>
                        </a:rPr>
                        <a:t> </a:t>
                      </a:r>
                      <a:r>
                        <a:rPr sz="1000" spc="-10" dirty="0">
                          <a:latin typeface="Arial"/>
                          <a:cs typeface="Arial"/>
                        </a:rPr>
                        <a:t>with</a:t>
                      </a:r>
                      <a:r>
                        <a:rPr sz="1000" spc="-60" dirty="0">
                          <a:latin typeface="Arial"/>
                          <a:cs typeface="Arial"/>
                        </a:rPr>
                        <a:t> </a:t>
                      </a:r>
                      <a:r>
                        <a:rPr sz="1000" spc="-10" dirty="0">
                          <a:latin typeface="Arial"/>
                          <a:cs typeface="Arial"/>
                        </a:rPr>
                        <a:t>technology.)</a:t>
                      </a:r>
                      <a:endParaRPr sz="1000" dirty="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16" name="object 16"/>
          <p:cNvPicPr/>
          <p:nvPr/>
        </p:nvPicPr>
        <p:blipFill>
          <a:blip r:embed="rId9" cstate="print"/>
          <a:stretch>
            <a:fillRect/>
          </a:stretch>
        </p:blipFill>
        <p:spPr>
          <a:xfrm>
            <a:off x="944096" y="1316130"/>
            <a:ext cx="11206" cy="22412"/>
          </a:xfrm>
          <a:prstGeom prst="rect">
            <a:avLst/>
          </a:prstGeom>
        </p:spPr>
      </p:pic>
      <p:pic>
        <p:nvPicPr>
          <p:cNvPr id="17" name="object 17"/>
          <p:cNvPicPr/>
          <p:nvPr/>
        </p:nvPicPr>
        <p:blipFill>
          <a:blip r:embed="rId9" cstate="print"/>
          <a:stretch>
            <a:fillRect/>
          </a:stretch>
        </p:blipFill>
        <p:spPr>
          <a:xfrm>
            <a:off x="1100978" y="1316130"/>
            <a:ext cx="11206" cy="22412"/>
          </a:xfrm>
          <a:prstGeom prst="rect">
            <a:avLst/>
          </a:prstGeom>
        </p:spPr>
      </p:pic>
      <p:pic>
        <p:nvPicPr>
          <p:cNvPr id="18" name="object 18"/>
          <p:cNvPicPr/>
          <p:nvPr/>
        </p:nvPicPr>
        <p:blipFill>
          <a:blip r:embed="rId9" cstate="print"/>
          <a:stretch>
            <a:fillRect/>
          </a:stretch>
        </p:blipFill>
        <p:spPr>
          <a:xfrm>
            <a:off x="4081182" y="1316130"/>
            <a:ext cx="11206" cy="22412"/>
          </a:xfrm>
          <a:prstGeom prst="rect">
            <a:avLst/>
          </a:prstGeom>
        </p:spPr>
      </p:pic>
      <p:pic>
        <p:nvPicPr>
          <p:cNvPr id="19" name="object 19"/>
          <p:cNvPicPr/>
          <p:nvPr/>
        </p:nvPicPr>
        <p:blipFill>
          <a:blip r:embed="rId9" cstate="print"/>
          <a:stretch>
            <a:fillRect/>
          </a:stretch>
        </p:blipFill>
        <p:spPr>
          <a:xfrm>
            <a:off x="5493684" y="1316130"/>
            <a:ext cx="11206" cy="22412"/>
          </a:xfrm>
          <a:prstGeom prst="rect">
            <a:avLst/>
          </a:prstGeom>
        </p:spPr>
      </p:pic>
      <p:pic>
        <p:nvPicPr>
          <p:cNvPr id="20" name="object 20"/>
          <p:cNvPicPr/>
          <p:nvPr/>
        </p:nvPicPr>
        <p:blipFill>
          <a:blip r:embed="rId9" cstate="print"/>
          <a:stretch>
            <a:fillRect/>
          </a:stretch>
        </p:blipFill>
        <p:spPr>
          <a:xfrm>
            <a:off x="6603067" y="1316130"/>
            <a:ext cx="11205" cy="22412"/>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object 2"/>
          <p:cNvGrpSpPr/>
          <p:nvPr/>
        </p:nvGrpSpPr>
        <p:grpSpPr>
          <a:xfrm>
            <a:off x="941294" y="851647"/>
            <a:ext cx="7373471" cy="475690"/>
            <a:chOff x="914400" y="965200"/>
            <a:chExt cx="8356600" cy="539115"/>
          </a:xfrm>
        </p:grpSpPr>
        <p:pic>
          <p:nvPicPr>
            <p:cNvPr id="3" name="object 3"/>
            <p:cNvPicPr/>
            <p:nvPr/>
          </p:nvPicPr>
          <p:blipFill>
            <a:blip r:embed="rId2" cstate="print"/>
            <a:stretch>
              <a:fillRect/>
            </a:stretch>
          </p:blipFill>
          <p:spPr>
            <a:xfrm>
              <a:off x="914400" y="965200"/>
              <a:ext cx="8356600" cy="520700"/>
            </a:xfrm>
            <a:prstGeom prst="rect">
              <a:avLst/>
            </a:prstGeom>
          </p:spPr>
        </p:pic>
        <p:pic>
          <p:nvPicPr>
            <p:cNvPr id="4" name="object 4"/>
            <p:cNvPicPr/>
            <p:nvPr/>
          </p:nvPicPr>
          <p:blipFill>
            <a:blip r:embed="rId3" cstate="print"/>
            <a:stretch>
              <a:fillRect/>
            </a:stretch>
          </p:blipFill>
          <p:spPr>
            <a:xfrm>
              <a:off x="1163954" y="1161414"/>
              <a:ext cx="1308100" cy="177799"/>
            </a:xfrm>
            <a:prstGeom prst="rect">
              <a:avLst/>
            </a:prstGeom>
          </p:spPr>
        </p:pic>
        <p:pic>
          <p:nvPicPr>
            <p:cNvPr id="5" name="object 5"/>
            <p:cNvPicPr/>
            <p:nvPr/>
          </p:nvPicPr>
          <p:blipFill>
            <a:blip r:embed="rId4" cstate="print"/>
            <a:stretch>
              <a:fillRect/>
            </a:stretch>
          </p:blipFill>
          <p:spPr>
            <a:xfrm>
              <a:off x="2593339" y="1161414"/>
              <a:ext cx="1816100" cy="177799"/>
            </a:xfrm>
            <a:prstGeom prst="rect">
              <a:avLst/>
            </a:prstGeom>
          </p:spPr>
        </p:pic>
        <p:pic>
          <p:nvPicPr>
            <p:cNvPr id="6" name="object 6"/>
            <p:cNvPicPr/>
            <p:nvPr/>
          </p:nvPicPr>
          <p:blipFill>
            <a:blip r:embed="rId5" cstate="print"/>
            <a:stretch>
              <a:fillRect/>
            </a:stretch>
          </p:blipFill>
          <p:spPr>
            <a:xfrm>
              <a:off x="4537075" y="1161414"/>
              <a:ext cx="1473200" cy="342899"/>
            </a:xfrm>
            <a:prstGeom prst="rect">
              <a:avLst/>
            </a:prstGeom>
          </p:spPr>
        </p:pic>
        <p:pic>
          <p:nvPicPr>
            <p:cNvPr id="7" name="object 7"/>
            <p:cNvPicPr/>
            <p:nvPr/>
          </p:nvPicPr>
          <p:blipFill>
            <a:blip r:embed="rId6" cstate="print"/>
            <a:stretch>
              <a:fillRect/>
            </a:stretch>
          </p:blipFill>
          <p:spPr>
            <a:xfrm>
              <a:off x="6137275" y="1161414"/>
              <a:ext cx="1130300" cy="177799"/>
            </a:xfrm>
            <a:prstGeom prst="rect">
              <a:avLst/>
            </a:prstGeom>
          </p:spPr>
        </p:pic>
        <p:pic>
          <p:nvPicPr>
            <p:cNvPr id="8" name="object 8"/>
            <p:cNvPicPr/>
            <p:nvPr/>
          </p:nvPicPr>
          <p:blipFill>
            <a:blip r:embed="rId7" cstate="print"/>
            <a:stretch>
              <a:fillRect/>
            </a:stretch>
          </p:blipFill>
          <p:spPr>
            <a:xfrm>
              <a:off x="7394575" y="1161414"/>
              <a:ext cx="1816100" cy="342899"/>
            </a:xfrm>
            <a:prstGeom prst="rect">
              <a:avLst/>
            </a:prstGeom>
          </p:spPr>
        </p:pic>
      </p:grpSp>
      <p:sp>
        <p:nvSpPr>
          <p:cNvPr id="9" name="object 9"/>
          <p:cNvSpPr txBox="1"/>
          <p:nvPr/>
        </p:nvSpPr>
        <p:spPr>
          <a:xfrm>
            <a:off x="8087733" y="393550"/>
            <a:ext cx="74519" cy="160715"/>
          </a:xfrm>
          <a:prstGeom prst="rect">
            <a:avLst/>
          </a:prstGeom>
        </p:spPr>
        <p:txBody>
          <a:bodyPr vert="horz" wrap="square" lIns="0" tIns="11206" rIns="0" bIns="0" rtlCol="0">
            <a:spAutoFit/>
          </a:bodyPr>
          <a:lstStyle/>
          <a:p>
            <a:pPr marL="11206" defTabSz="806867">
              <a:spcBef>
                <a:spcPts val="88"/>
              </a:spcBef>
            </a:pPr>
            <a:r>
              <a:rPr sz="971" spc="-93" dirty="0">
                <a:latin typeface="Arial"/>
                <a:cs typeface="Arial"/>
              </a:rPr>
              <a:t>6</a:t>
            </a:r>
            <a:endParaRPr sz="971">
              <a:latin typeface="Arial"/>
              <a:cs typeface="Arial"/>
            </a:endParaRPr>
          </a:p>
        </p:txBody>
      </p:sp>
      <p:grpSp>
        <p:nvGrpSpPr>
          <p:cNvPr id="10" name="object 10"/>
          <p:cNvGrpSpPr/>
          <p:nvPr/>
        </p:nvGrpSpPr>
        <p:grpSpPr>
          <a:xfrm>
            <a:off x="2360518" y="1014693"/>
            <a:ext cx="5968253" cy="323850"/>
            <a:chOff x="2522854" y="1149985"/>
            <a:chExt cx="6764020" cy="367030"/>
          </a:xfrm>
        </p:grpSpPr>
        <p:pic>
          <p:nvPicPr>
            <p:cNvPr id="11" name="object 11"/>
            <p:cNvPicPr/>
            <p:nvPr/>
          </p:nvPicPr>
          <p:blipFill>
            <a:blip r:embed="rId8" cstate="print"/>
            <a:stretch>
              <a:fillRect/>
            </a:stretch>
          </p:blipFill>
          <p:spPr>
            <a:xfrm>
              <a:off x="6073775" y="1149985"/>
              <a:ext cx="25400" cy="12699"/>
            </a:xfrm>
            <a:prstGeom prst="rect">
              <a:avLst/>
            </a:prstGeom>
          </p:spPr>
        </p:pic>
        <p:pic>
          <p:nvPicPr>
            <p:cNvPr id="12" name="object 12"/>
            <p:cNvPicPr/>
            <p:nvPr/>
          </p:nvPicPr>
          <p:blipFill>
            <a:blip r:embed="rId8" cstate="print"/>
            <a:stretch>
              <a:fillRect/>
            </a:stretch>
          </p:blipFill>
          <p:spPr>
            <a:xfrm>
              <a:off x="7331075" y="1149985"/>
              <a:ext cx="25400" cy="12699"/>
            </a:xfrm>
            <a:prstGeom prst="rect">
              <a:avLst/>
            </a:prstGeom>
          </p:spPr>
        </p:pic>
        <p:pic>
          <p:nvPicPr>
            <p:cNvPr id="13" name="object 13"/>
            <p:cNvPicPr/>
            <p:nvPr/>
          </p:nvPicPr>
          <p:blipFill>
            <a:blip r:embed="rId9" cstate="print"/>
            <a:stretch>
              <a:fillRect/>
            </a:stretch>
          </p:blipFill>
          <p:spPr>
            <a:xfrm>
              <a:off x="2522854" y="1491615"/>
              <a:ext cx="12700" cy="25400"/>
            </a:xfrm>
            <a:prstGeom prst="rect">
              <a:avLst/>
            </a:prstGeom>
          </p:spPr>
        </p:pic>
        <p:pic>
          <p:nvPicPr>
            <p:cNvPr id="14" name="object 14"/>
            <p:cNvPicPr/>
            <p:nvPr/>
          </p:nvPicPr>
          <p:blipFill>
            <a:blip r:embed="rId10" cstate="print"/>
            <a:stretch>
              <a:fillRect/>
            </a:stretch>
          </p:blipFill>
          <p:spPr>
            <a:xfrm>
              <a:off x="9274174" y="1504315"/>
              <a:ext cx="12699" cy="12700"/>
            </a:xfrm>
            <a:prstGeom prst="rect">
              <a:avLst/>
            </a:prstGeom>
          </p:spPr>
        </p:pic>
      </p:grpSp>
      <p:graphicFrame>
        <p:nvGraphicFramePr>
          <p:cNvPr id="15" name="object 15"/>
          <p:cNvGraphicFramePr>
            <a:graphicFrameLocks noGrp="1"/>
          </p:cNvGraphicFramePr>
          <p:nvPr>
            <p:extLst>
              <p:ext uri="{D42A27DB-BD31-4B8C-83A1-F6EECF244321}">
                <p14:modId xmlns:p14="http://schemas.microsoft.com/office/powerpoint/2010/main" val="3357686338"/>
              </p:ext>
            </p:extLst>
          </p:nvPr>
        </p:nvGraphicFramePr>
        <p:xfrm>
          <a:off x="933225" y="858147"/>
          <a:ext cx="7374591" cy="4756628"/>
        </p:xfrm>
        <a:graphic>
          <a:graphicData uri="http://schemas.openxmlformats.org/drawingml/2006/table">
            <a:tbl>
              <a:tblPr firstRow="1" bandRow="1">
                <a:tableStyleId>{2D5ABB26-0587-4C30-8999-92F81FD0307C}</a:tableStyleId>
              </a:tblPr>
              <a:tblGrid>
                <a:gridCol w="161365">
                  <a:extLst>
                    <a:ext uri="{9D8B030D-6E8A-4147-A177-3AD203B41FA5}">
                      <a16:colId xmlns:a16="http://schemas.microsoft.com/office/drawing/2014/main" val="20000"/>
                    </a:ext>
                  </a:extLst>
                </a:gridCol>
                <a:gridCol w="1261222">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gridCol w="1411941">
                  <a:extLst>
                    <a:ext uri="{9D8B030D-6E8A-4147-A177-3AD203B41FA5}">
                      <a16:colId xmlns:a16="http://schemas.microsoft.com/office/drawing/2014/main" val="20003"/>
                    </a:ext>
                  </a:extLst>
                </a:gridCol>
                <a:gridCol w="1109382">
                  <a:extLst>
                    <a:ext uri="{9D8B030D-6E8A-4147-A177-3AD203B41FA5}">
                      <a16:colId xmlns:a16="http://schemas.microsoft.com/office/drawing/2014/main" val="20004"/>
                    </a:ext>
                  </a:extLst>
                </a:gridCol>
                <a:gridCol w="1716181">
                  <a:extLst>
                    <a:ext uri="{9D8B030D-6E8A-4147-A177-3AD203B41FA5}">
                      <a16:colId xmlns:a16="http://schemas.microsoft.com/office/drawing/2014/main" val="20005"/>
                    </a:ext>
                  </a:extLst>
                </a:gridCol>
              </a:tblGrid>
              <a:tr h="155762">
                <a:tc gridSpan="6">
                  <a:txBody>
                    <a:bodyPr/>
                    <a:lstStyle/>
                    <a:p>
                      <a:pPr marL="80645">
                        <a:lnSpc>
                          <a:spcPts val="1215"/>
                        </a:lnSpc>
                        <a:spcBef>
                          <a:spcPts val="75"/>
                        </a:spcBef>
                      </a:pPr>
                      <a:r>
                        <a:rPr sz="1000" b="1" spc="-125" dirty="0">
                          <a:latin typeface="Arial"/>
                          <a:cs typeface="Arial"/>
                        </a:rPr>
                        <a:t>Comparison</a:t>
                      </a:r>
                      <a:r>
                        <a:rPr sz="1000" b="1" spc="90" dirty="0">
                          <a:latin typeface="Arial"/>
                          <a:cs typeface="Arial"/>
                        </a:rPr>
                        <a:t> </a:t>
                      </a:r>
                      <a:r>
                        <a:rPr sz="1000" b="1" spc="-85" dirty="0">
                          <a:latin typeface="Arial"/>
                          <a:cs typeface="Arial"/>
                        </a:rPr>
                        <a:t>between</a:t>
                      </a:r>
                      <a:r>
                        <a:rPr sz="1000" b="1" spc="15" dirty="0">
                          <a:latin typeface="Arial"/>
                          <a:cs typeface="Arial"/>
                        </a:rPr>
                        <a:t> </a:t>
                      </a:r>
                      <a:r>
                        <a:rPr sz="1000" b="1" spc="-40" dirty="0">
                          <a:latin typeface="Arial"/>
                          <a:cs typeface="Arial"/>
                        </a:rPr>
                        <a:t>the</a:t>
                      </a:r>
                      <a:r>
                        <a:rPr sz="1000" b="1" spc="-50" dirty="0">
                          <a:latin typeface="Arial"/>
                          <a:cs typeface="Arial"/>
                        </a:rPr>
                        <a:t> </a:t>
                      </a:r>
                      <a:r>
                        <a:rPr sz="1000" b="1" spc="-85" dirty="0">
                          <a:latin typeface="Arial"/>
                          <a:cs typeface="Arial"/>
                        </a:rPr>
                        <a:t>main</a:t>
                      </a:r>
                      <a:r>
                        <a:rPr sz="1000" b="1" spc="-40" dirty="0">
                          <a:latin typeface="Arial"/>
                          <a:cs typeface="Arial"/>
                        </a:rPr>
                        <a:t> </a:t>
                      </a:r>
                      <a:r>
                        <a:rPr sz="1000" b="1" spc="-100" dirty="0">
                          <a:latin typeface="Arial"/>
                          <a:cs typeface="Arial"/>
                        </a:rPr>
                        <a:t>computing</a:t>
                      </a:r>
                      <a:r>
                        <a:rPr sz="1000" b="1" spc="85" dirty="0">
                          <a:latin typeface="Arial"/>
                          <a:cs typeface="Arial"/>
                        </a:rPr>
                        <a:t> </a:t>
                      </a:r>
                      <a:r>
                        <a:rPr sz="1000" b="1" spc="-20" dirty="0">
                          <a:latin typeface="Arial"/>
                          <a:cs typeface="Arial"/>
                        </a:rPr>
                        <a:t>disciplines:</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306481">
                <a:tc>
                  <a:txBody>
                    <a:bodyPr/>
                    <a:lstStyle/>
                    <a:p>
                      <a:pPr marL="31115" algn="ctr">
                        <a:lnSpc>
                          <a:spcPts val="1310"/>
                        </a:lnSpc>
                      </a:pPr>
                      <a:r>
                        <a:rPr sz="1000" b="1" strike="sngStrike" spc="-50" dirty="0">
                          <a:latin typeface="Arial"/>
                          <a:cs typeface="Arial"/>
                        </a:rPr>
                        <a:t>#</a:t>
                      </a:r>
                      <a:endParaRPr sz="1000">
                        <a:latin typeface="Arial"/>
                        <a:cs typeface="Arial"/>
                      </a:endParaRPr>
                    </a:p>
                  </a:txBody>
                  <a:tcPr marL="0" marR="0" marT="0" marB="0">
                    <a:lnL w="12700">
                      <a:solidFill>
                        <a:srgbClr val="000000"/>
                      </a:solidFill>
                      <a:prstDash val="solid"/>
                    </a:lnL>
                    <a:lnR w="12700">
                      <a:solidFill>
                        <a:srgbClr val="000000"/>
                      </a:solidFill>
                      <a:prstDash val="solid"/>
                    </a:lnR>
                    <a:lnT w="19050"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3820">
                        <a:lnSpc>
                          <a:spcPct val="100000"/>
                        </a:lnSpc>
                        <a:spcBef>
                          <a:spcPts val="75"/>
                        </a:spcBef>
                      </a:pPr>
                      <a:r>
                        <a:rPr sz="1000" b="1" spc="-30" dirty="0">
                          <a:latin typeface="Arial"/>
                          <a:cs typeface="Arial"/>
                        </a:rPr>
                        <a:t>Discipline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114" dirty="0">
                          <a:latin typeface="Arial"/>
                          <a:cs typeface="Arial"/>
                        </a:rPr>
                        <a:t>Brief</a:t>
                      </a:r>
                      <a:r>
                        <a:rPr sz="1000" b="1" spc="-30" dirty="0">
                          <a:latin typeface="Arial"/>
                          <a:cs typeface="Arial"/>
                        </a:rPr>
                        <a:t> </a:t>
                      </a:r>
                      <a:r>
                        <a:rPr sz="1000" b="1" spc="-10" dirty="0">
                          <a:latin typeface="Arial"/>
                          <a:cs typeface="Arial"/>
                        </a:rPr>
                        <a:t>description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468630">
                        <a:lnSpc>
                          <a:spcPts val="1210"/>
                        </a:lnSpc>
                        <a:spcBef>
                          <a:spcPts val="215"/>
                        </a:spcBef>
                      </a:pPr>
                      <a:r>
                        <a:rPr sz="1000" b="1" spc="-160" dirty="0">
                          <a:latin typeface="Arial"/>
                          <a:cs typeface="Arial"/>
                        </a:rPr>
                        <a:t>Examples</a:t>
                      </a:r>
                      <a:r>
                        <a:rPr sz="1000" b="1" spc="145" dirty="0">
                          <a:latin typeface="Arial"/>
                          <a:cs typeface="Arial"/>
                        </a:rPr>
                        <a:t> </a:t>
                      </a:r>
                      <a:r>
                        <a:rPr sz="1000" b="1" spc="-20" dirty="0">
                          <a:latin typeface="Arial"/>
                          <a:cs typeface="Arial"/>
                        </a:rPr>
                        <a:t>of</a:t>
                      </a:r>
                      <a:r>
                        <a:rPr sz="1000" b="1" spc="-140" dirty="0">
                          <a:latin typeface="Arial"/>
                          <a:cs typeface="Arial"/>
                        </a:rPr>
                        <a:t> </a:t>
                      </a:r>
                      <a:r>
                        <a:rPr sz="1000" b="1" spc="-95" dirty="0">
                          <a:latin typeface="Arial"/>
                          <a:cs typeface="Arial"/>
                        </a:rPr>
                        <a:t>topics </a:t>
                      </a:r>
                      <a:r>
                        <a:rPr sz="1000" b="1" spc="-35" dirty="0">
                          <a:latin typeface="Arial"/>
                          <a:cs typeface="Arial"/>
                        </a:rPr>
                        <a:t>emphasized</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3820">
                        <a:lnSpc>
                          <a:spcPct val="100000"/>
                        </a:lnSpc>
                        <a:spcBef>
                          <a:spcPts val="75"/>
                        </a:spcBef>
                      </a:pPr>
                      <a:r>
                        <a:rPr sz="1000" b="1" spc="-20" dirty="0">
                          <a:latin typeface="Arial"/>
                          <a:cs typeface="Arial"/>
                        </a:rPr>
                        <a:t>Location</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8740" marR="581660" indent="-1905">
                        <a:lnSpc>
                          <a:spcPts val="1210"/>
                        </a:lnSpc>
                        <a:spcBef>
                          <a:spcPts val="215"/>
                        </a:spcBef>
                      </a:pPr>
                      <a:r>
                        <a:rPr sz="1000" b="1" spc="-130" dirty="0">
                          <a:latin typeface="Arial"/>
                          <a:cs typeface="Arial"/>
                        </a:rPr>
                        <a:t>Who</a:t>
                      </a:r>
                      <a:r>
                        <a:rPr sz="1000" b="1" spc="-10" dirty="0">
                          <a:latin typeface="Arial"/>
                          <a:cs typeface="Arial"/>
                        </a:rPr>
                        <a:t> </a:t>
                      </a:r>
                      <a:r>
                        <a:rPr sz="1000" b="1" spc="-114" dirty="0">
                          <a:latin typeface="Arial"/>
                          <a:cs typeface="Arial"/>
                        </a:rPr>
                        <a:t>should</a:t>
                      </a:r>
                      <a:r>
                        <a:rPr sz="1000" b="1" spc="65" dirty="0">
                          <a:latin typeface="Arial"/>
                          <a:cs typeface="Arial"/>
                        </a:rPr>
                        <a:t> </a:t>
                      </a:r>
                      <a:r>
                        <a:rPr sz="1000" b="1" spc="-110" dirty="0">
                          <a:latin typeface="Arial"/>
                          <a:cs typeface="Arial"/>
                        </a:rPr>
                        <a:t>study</a:t>
                      </a:r>
                      <a:r>
                        <a:rPr sz="1000" b="1" spc="10" dirty="0">
                          <a:latin typeface="Arial"/>
                          <a:cs typeface="Arial"/>
                        </a:rPr>
                        <a:t> </a:t>
                      </a:r>
                      <a:r>
                        <a:rPr sz="1000" b="1" spc="-55" dirty="0">
                          <a:latin typeface="Arial"/>
                          <a:cs typeface="Arial"/>
                        </a:rPr>
                        <a:t>this </a:t>
                      </a:r>
                      <a:r>
                        <a:rPr sz="1000" b="1" spc="-25" dirty="0">
                          <a:latin typeface="Arial"/>
                          <a:cs typeface="Arial"/>
                        </a:rPr>
                        <a:t>discipline</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1"/>
                  </a:ext>
                </a:extLst>
              </a:tr>
              <a:tr h="0">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56845">
                        <a:lnSpc>
                          <a:spcPct val="99500"/>
                        </a:lnSpc>
                        <a:spcBef>
                          <a:spcPts val="235"/>
                        </a:spcBef>
                      </a:pPr>
                      <a:endParaRPr sz="1000" dirty="0">
                        <a:latin typeface="Arial"/>
                        <a:cs typeface="Arial"/>
                      </a:endParaRPr>
                    </a:p>
                  </a:txBody>
                  <a:tcPr marL="0" marR="0" marT="263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102235">
                        <a:lnSpc>
                          <a:spcPct val="99800"/>
                        </a:lnSpc>
                        <a:spcBef>
                          <a:spcPts val="234"/>
                        </a:spcBef>
                      </a:pPr>
                      <a:endParaRPr sz="1000" dirty="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16624">
                <a:tc>
                  <a:txBody>
                    <a:bodyPr/>
                    <a:lstStyle/>
                    <a:p>
                      <a:pPr marL="40005" algn="ctr">
                        <a:lnSpc>
                          <a:spcPct val="100000"/>
                        </a:lnSpc>
                        <a:spcBef>
                          <a:spcPts val="85"/>
                        </a:spcBef>
                      </a:pPr>
                      <a:r>
                        <a:rPr sz="1000" spc="-50" dirty="0">
                          <a:latin typeface="Arial"/>
                          <a:cs typeface="Arial"/>
                        </a:rPr>
                        <a:t>5</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6360">
                        <a:lnSpc>
                          <a:spcPct val="100000"/>
                        </a:lnSpc>
                        <a:spcBef>
                          <a:spcPts val="85"/>
                        </a:spcBef>
                      </a:pPr>
                      <a:r>
                        <a:rPr sz="1000" spc="-50" dirty="0">
                          <a:latin typeface="Arial"/>
                          <a:cs typeface="Arial"/>
                        </a:rPr>
                        <a:t>Information</a:t>
                      </a:r>
                      <a:r>
                        <a:rPr sz="1000" spc="60" dirty="0">
                          <a:latin typeface="Arial"/>
                          <a:cs typeface="Arial"/>
                        </a:rPr>
                        <a:t> </a:t>
                      </a:r>
                      <a:r>
                        <a:rPr sz="1000" spc="-10" dirty="0">
                          <a:latin typeface="Arial"/>
                          <a:cs typeface="Arial"/>
                        </a:rPr>
                        <a:t>Systems</a:t>
                      </a:r>
                      <a:endParaRPr sz="1000" dirty="0">
                        <a:latin typeface="Arial"/>
                        <a:cs typeface="Arial"/>
                      </a:endParaRPr>
                    </a:p>
                    <a:p>
                      <a:pPr>
                        <a:lnSpc>
                          <a:spcPct val="100000"/>
                        </a:lnSpc>
                        <a:spcBef>
                          <a:spcPts val="265"/>
                        </a:spcBef>
                      </a:pPr>
                      <a:endParaRPr sz="1000" dirty="0">
                        <a:latin typeface="Times New Roman"/>
                        <a:cs typeface="Times New Roman"/>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0645" marR="244475">
                        <a:lnSpc>
                          <a:spcPct val="98600"/>
                        </a:lnSpc>
                        <a:spcBef>
                          <a:spcPts val="235"/>
                        </a:spcBef>
                      </a:pPr>
                      <a:r>
                        <a:rPr sz="1000" spc="-50" dirty="0">
                          <a:latin typeface="Arial"/>
                          <a:cs typeface="Arial"/>
                        </a:rPr>
                        <a:t>Information</a:t>
                      </a:r>
                      <a:r>
                        <a:rPr sz="1000" spc="65" dirty="0">
                          <a:latin typeface="Arial"/>
                          <a:cs typeface="Arial"/>
                        </a:rPr>
                        <a:t> </a:t>
                      </a:r>
                      <a:r>
                        <a:rPr sz="1000" spc="-10" dirty="0">
                          <a:latin typeface="Arial"/>
                          <a:cs typeface="Arial"/>
                        </a:rPr>
                        <a:t>Systems </a:t>
                      </a:r>
                      <a:r>
                        <a:rPr sz="1000" spc="-100" dirty="0">
                          <a:latin typeface="Arial"/>
                          <a:cs typeface="Arial"/>
                        </a:rPr>
                        <a:t>emphasizes</a:t>
                      </a:r>
                      <a:r>
                        <a:rPr sz="1000" spc="40" dirty="0">
                          <a:latin typeface="Arial"/>
                          <a:cs typeface="Arial"/>
                        </a:rPr>
                        <a:t> </a:t>
                      </a:r>
                      <a:r>
                        <a:rPr sz="1000" dirty="0">
                          <a:latin typeface="Arial"/>
                          <a:cs typeface="Arial"/>
                        </a:rPr>
                        <a:t>the</a:t>
                      </a:r>
                      <a:r>
                        <a:rPr sz="1000" spc="-95" dirty="0">
                          <a:latin typeface="Arial"/>
                          <a:cs typeface="Arial"/>
                        </a:rPr>
                        <a:t> </a:t>
                      </a:r>
                      <a:r>
                        <a:rPr sz="1000" spc="-10" dirty="0">
                          <a:latin typeface="Arial"/>
                          <a:cs typeface="Arial"/>
                        </a:rPr>
                        <a:t>deployment </a:t>
                      </a:r>
                      <a:r>
                        <a:rPr sz="1000" spc="-105" dirty="0">
                          <a:latin typeface="Arial"/>
                          <a:cs typeface="Arial"/>
                        </a:rPr>
                        <a:t>and</a:t>
                      </a:r>
                      <a:r>
                        <a:rPr sz="1000" spc="-60" dirty="0">
                          <a:latin typeface="Arial"/>
                          <a:cs typeface="Arial"/>
                        </a:rPr>
                        <a:t> </a:t>
                      </a:r>
                      <a:r>
                        <a:rPr sz="1000" spc="-40" dirty="0">
                          <a:latin typeface="Arial"/>
                          <a:cs typeface="Arial"/>
                        </a:rPr>
                        <a:t>support</a:t>
                      </a:r>
                      <a:r>
                        <a:rPr sz="1000" spc="30" dirty="0">
                          <a:latin typeface="Arial"/>
                          <a:cs typeface="Arial"/>
                        </a:rPr>
                        <a:t> </a:t>
                      </a:r>
                      <a:r>
                        <a:rPr sz="1000" dirty="0">
                          <a:latin typeface="Arial"/>
                          <a:cs typeface="Arial"/>
                        </a:rPr>
                        <a:t>of</a:t>
                      </a:r>
                      <a:r>
                        <a:rPr sz="1000" spc="-114" dirty="0">
                          <a:latin typeface="Arial"/>
                          <a:cs typeface="Arial"/>
                        </a:rPr>
                        <a:t> </a:t>
                      </a:r>
                      <a:r>
                        <a:rPr sz="1000" spc="-10" dirty="0">
                          <a:latin typeface="Arial"/>
                          <a:cs typeface="Arial"/>
                        </a:rPr>
                        <a:t>computing </a:t>
                      </a:r>
                      <a:r>
                        <a:rPr sz="1000" spc="-70" dirty="0">
                          <a:latin typeface="Arial"/>
                          <a:cs typeface="Arial"/>
                        </a:rPr>
                        <a:t>applications</a:t>
                      </a:r>
                      <a:r>
                        <a:rPr sz="1000" spc="80" dirty="0">
                          <a:latin typeface="Arial"/>
                          <a:cs typeface="Arial"/>
                        </a:rPr>
                        <a:t> </a:t>
                      </a:r>
                      <a:r>
                        <a:rPr sz="1000" dirty="0">
                          <a:latin typeface="Arial"/>
                          <a:cs typeface="Arial"/>
                        </a:rPr>
                        <a:t>to</a:t>
                      </a:r>
                      <a:r>
                        <a:rPr sz="1000" spc="-30" dirty="0">
                          <a:latin typeface="Arial"/>
                          <a:cs typeface="Arial"/>
                        </a:rPr>
                        <a:t> </a:t>
                      </a:r>
                      <a:r>
                        <a:rPr sz="1000" spc="-10" dirty="0">
                          <a:latin typeface="Arial"/>
                          <a:cs typeface="Arial"/>
                        </a:rPr>
                        <a:t>enable </a:t>
                      </a:r>
                      <a:r>
                        <a:rPr sz="1000" spc="-65" dirty="0">
                          <a:latin typeface="Arial"/>
                          <a:cs typeface="Arial"/>
                        </a:rPr>
                        <a:t>organizational</a:t>
                      </a:r>
                      <a:r>
                        <a:rPr sz="1000" spc="110" dirty="0">
                          <a:latin typeface="Arial"/>
                          <a:cs typeface="Arial"/>
                        </a:rPr>
                        <a:t> </a:t>
                      </a:r>
                      <a:r>
                        <a:rPr sz="1000" spc="-85" dirty="0">
                          <a:latin typeface="Arial"/>
                          <a:cs typeface="Arial"/>
                        </a:rPr>
                        <a:t>processes</a:t>
                      </a:r>
                      <a:r>
                        <a:rPr sz="1000" spc="15" dirty="0">
                          <a:latin typeface="Arial"/>
                          <a:cs typeface="Arial"/>
                        </a:rPr>
                        <a:t> </a:t>
                      </a:r>
                      <a:r>
                        <a:rPr sz="1000" spc="-35" dirty="0">
                          <a:latin typeface="Arial"/>
                          <a:cs typeface="Arial"/>
                        </a:rPr>
                        <a:t>in </a:t>
                      </a:r>
                      <a:r>
                        <a:rPr sz="1000" spc="-65" dirty="0">
                          <a:latin typeface="Arial"/>
                          <a:cs typeface="Arial"/>
                        </a:rPr>
                        <a:t>order</a:t>
                      </a:r>
                      <a:r>
                        <a:rPr sz="1000" spc="-55" dirty="0">
                          <a:latin typeface="Arial"/>
                          <a:cs typeface="Arial"/>
                        </a:rPr>
                        <a:t> </a:t>
                      </a:r>
                      <a:r>
                        <a:rPr sz="1000" dirty="0">
                          <a:latin typeface="Arial"/>
                          <a:cs typeface="Arial"/>
                        </a:rPr>
                        <a:t>to</a:t>
                      </a:r>
                      <a:r>
                        <a:rPr sz="1000" spc="45" dirty="0">
                          <a:latin typeface="Arial"/>
                          <a:cs typeface="Arial"/>
                        </a:rPr>
                        <a:t> </a:t>
                      </a:r>
                      <a:r>
                        <a:rPr sz="1000" spc="-85" dirty="0">
                          <a:latin typeface="Arial"/>
                          <a:cs typeface="Arial"/>
                        </a:rPr>
                        <a:t>make</a:t>
                      </a:r>
                      <a:r>
                        <a:rPr sz="1000" spc="-10" dirty="0">
                          <a:latin typeface="Arial"/>
                          <a:cs typeface="Arial"/>
                        </a:rPr>
                        <a:t> </a:t>
                      </a:r>
                      <a:r>
                        <a:rPr sz="1000" spc="-30" dirty="0">
                          <a:latin typeface="Arial"/>
                          <a:cs typeface="Arial"/>
                        </a:rPr>
                        <a:t>organizations </a:t>
                      </a:r>
                      <a:r>
                        <a:rPr sz="1000" spc="-95" dirty="0">
                          <a:latin typeface="Arial"/>
                          <a:cs typeface="Arial"/>
                        </a:rPr>
                        <a:t>more</a:t>
                      </a:r>
                      <a:r>
                        <a:rPr sz="1000" spc="-35" dirty="0">
                          <a:latin typeface="Arial"/>
                          <a:cs typeface="Arial"/>
                        </a:rPr>
                        <a:t> effective,</a:t>
                      </a:r>
                      <a:r>
                        <a:rPr sz="1000" spc="-15" dirty="0">
                          <a:latin typeface="Arial"/>
                          <a:cs typeface="Arial"/>
                        </a:rPr>
                        <a:t> </a:t>
                      </a:r>
                      <a:r>
                        <a:rPr sz="1000" spc="-25" dirty="0">
                          <a:latin typeface="Arial"/>
                          <a:cs typeface="Arial"/>
                        </a:rPr>
                        <a:t>efficient,</a:t>
                      </a:r>
                      <a:r>
                        <a:rPr sz="1000" spc="20" dirty="0">
                          <a:latin typeface="Arial"/>
                          <a:cs typeface="Arial"/>
                        </a:rPr>
                        <a:t> </a:t>
                      </a:r>
                      <a:r>
                        <a:rPr sz="1000" spc="-30" dirty="0">
                          <a:latin typeface="Arial"/>
                          <a:cs typeface="Arial"/>
                        </a:rPr>
                        <a:t>and </a:t>
                      </a:r>
                      <a:r>
                        <a:rPr sz="1000" spc="-10" dirty="0">
                          <a:latin typeface="Arial"/>
                          <a:cs typeface="Arial"/>
                        </a:rPr>
                        <a:t>competitive.</a:t>
                      </a:r>
                      <a:endParaRPr sz="1000">
                        <a:latin typeface="Arial"/>
                        <a:cs typeface="Arial"/>
                      </a:endParaRPr>
                    </a:p>
                    <a:p>
                      <a:pPr marL="77470" marR="100330">
                        <a:lnSpc>
                          <a:spcPct val="99900"/>
                        </a:lnSpc>
                        <a:spcBef>
                          <a:spcPts val="305"/>
                        </a:spcBef>
                      </a:pPr>
                      <a:r>
                        <a:rPr sz="1000" spc="-210" dirty="0">
                          <a:latin typeface="Arial"/>
                          <a:cs typeface="Arial"/>
                        </a:rPr>
                        <a:t>IS</a:t>
                      </a:r>
                      <a:r>
                        <a:rPr sz="1000" spc="-110" dirty="0">
                          <a:latin typeface="Arial"/>
                          <a:cs typeface="Arial"/>
                        </a:rPr>
                        <a:t> </a:t>
                      </a:r>
                      <a:r>
                        <a:rPr sz="1000" spc="-65" dirty="0">
                          <a:latin typeface="Arial"/>
                          <a:cs typeface="Arial"/>
                        </a:rPr>
                        <a:t>specialists</a:t>
                      </a:r>
                      <a:r>
                        <a:rPr sz="1000" spc="105" dirty="0">
                          <a:latin typeface="Arial"/>
                          <a:cs typeface="Arial"/>
                        </a:rPr>
                        <a:t> </a:t>
                      </a:r>
                      <a:r>
                        <a:rPr sz="1000" spc="-65" dirty="0">
                          <a:latin typeface="Arial"/>
                          <a:cs typeface="Arial"/>
                        </a:rPr>
                        <a:t>select</a:t>
                      </a:r>
                      <a:r>
                        <a:rPr sz="1000" spc="-15" dirty="0">
                          <a:latin typeface="Arial"/>
                          <a:cs typeface="Arial"/>
                        </a:rPr>
                        <a:t> </a:t>
                      </a:r>
                      <a:r>
                        <a:rPr sz="1000" spc="-70" dirty="0">
                          <a:latin typeface="Arial"/>
                          <a:cs typeface="Arial"/>
                        </a:rPr>
                        <a:t>and</a:t>
                      </a:r>
                      <a:r>
                        <a:rPr sz="1000" spc="-55" dirty="0">
                          <a:latin typeface="Arial"/>
                          <a:cs typeface="Arial"/>
                        </a:rPr>
                        <a:t> </a:t>
                      </a:r>
                      <a:r>
                        <a:rPr sz="1000" spc="-50" dirty="0">
                          <a:latin typeface="Arial"/>
                          <a:cs typeface="Arial"/>
                        </a:rPr>
                        <a:t>acquire, </a:t>
                      </a:r>
                      <a:r>
                        <a:rPr sz="1000" spc="-30" dirty="0">
                          <a:latin typeface="Arial"/>
                          <a:cs typeface="Arial"/>
                        </a:rPr>
                        <a:t>the</a:t>
                      </a:r>
                      <a:r>
                        <a:rPr sz="1000" spc="-165" dirty="0">
                          <a:latin typeface="Arial"/>
                          <a:cs typeface="Arial"/>
                        </a:rPr>
                        <a:t> </a:t>
                      </a:r>
                      <a:r>
                        <a:rPr sz="1000" spc="-40" dirty="0">
                          <a:latin typeface="Arial"/>
                          <a:cs typeface="Arial"/>
                        </a:rPr>
                        <a:t>software</a:t>
                      </a:r>
                      <a:r>
                        <a:rPr sz="1000" spc="40" dirty="0">
                          <a:latin typeface="Arial"/>
                          <a:cs typeface="Arial"/>
                        </a:rPr>
                        <a:t> </a:t>
                      </a:r>
                      <a:r>
                        <a:rPr sz="1000" spc="-10" dirty="0">
                          <a:latin typeface="Arial"/>
                          <a:cs typeface="Arial"/>
                        </a:rPr>
                        <a:t>products </a:t>
                      </a:r>
                      <a:r>
                        <a:rPr sz="1000" spc="-75" dirty="0">
                          <a:latin typeface="Arial"/>
                          <a:cs typeface="Arial"/>
                        </a:rPr>
                        <a:t>developed</a:t>
                      </a:r>
                      <a:r>
                        <a:rPr sz="1000" spc="40" dirty="0">
                          <a:latin typeface="Arial"/>
                          <a:cs typeface="Arial"/>
                        </a:rPr>
                        <a:t> </a:t>
                      </a:r>
                      <a:r>
                        <a:rPr sz="1000" spc="-50" dirty="0">
                          <a:latin typeface="Arial"/>
                          <a:cs typeface="Arial"/>
                        </a:rPr>
                        <a:t>by</a:t>
                      </a:r>
                      <a:r>
                        <a:rPr sz="1000" spc="-100" dirty="0">
                          <a:latin typeface="Arial"/>
                          <a:cs typeface="Arial"/>
                        </a:rPr>
                        <a:t> </a:t>
                      </a:r>
                      <a:r>
                        <a:rPr sz="1000" spc="-10" dirty="0">
                          <a:latin typeface="Arial"/>
                          <a:cs typeface="Arial"/>
                        </a:rPr>
                        <a:t>Computer </a:t>
                      </a:r>
                      <a:r>
                        <a:rPr sz="1000" spc="-75" dirty="0">
                          <a:latin typeface="Arial"/>
                          <a:cs typeface="Arial"/>
                        </a:rPr>
                        <a:t>Scientists,</a:t>
                      </a:r>
                      <a:r>
                        <a:rPr sz="1000" spc="45" dirty="0">
                          <a:latin typeface="Arial"/>
                          <a:cs typeface="Arial"/>
                        </a:rPr>
                        <a:t> </a:t>
                      </a:r>
                      <a:r>
                        <a:rPr sz="1000" spc="-70" dirty="0">
                          <a:latin typeface="Arial"/>
                          <a:cs typeface="Arial"/>
                        </a:rPr>
                        <a:t>and</a:t>
                      </a:r>
                      <a:r>
                        <a:rPr sz="1000" spc="-95" dirty="0">
                          <a:latin typeface="Arial"/>
                          <a:cs typeface="Arial"/>
                        </a:rPr>
                        <a:t> </a:t>
                      </a:r>
                      <a:r>
                        <a:rPr sz="1000" spc="-25" dirty="0">
                          <a:latin typeface="Arial"/>
                          <a:cs typeface="Arial"/>
                        </a:rPr>
                        <a:t>the </a:t>
                      </a:r>
                      <a:r>
                        <a:rPr sz="1000" spc="-80" dirty="0">
                          <a:latin typeface="Arial"/>
                          <a:cs typeface="Arial"/>
                        </a:rPr>
                        <a:t>comprehensive</a:t>
                      </a:r>
                      <a:r>
                        <a:rPr sz="1000" spc="130" dirty="0">
                          <a:latin typeface="Arial"/>
                          <a:cs typeface="Arial"/>
                        </a:rPr>
                        <a:t> </a:t>
                      </a:r>
                      <a:r>
                        <a:rPr sz="1000" spc="-10" dirty="0">
                          <a:latin typeface="Arial"/>
                          <a:cs typeface="Arial"/>
                        </a:rPr>
                        <a:t>applications </a:t>
                      </a:r>
                      <a:r>
                        <a:rPr sz="1000" spc="-75" dirty="0">
                          <a:latin typeface="Arial"/>
                          <a:cs typeface="Arial"/>
                        </a:rPr>
                        <a:t>developed</a:t>
                      </a:r>
                      <a:r>
                        <a:rPr sz="1000" spc="40" dirty="0">
                          <a:latin typeface="Arial"/>
                          <a:cs typeface="Arial"/>
                        </a:rPr>
                        <a:t> </a:t>
                      </a:r>
                      <a:r>
                        <a:rPr sz="1000" spc="-50" dirty="0">
                          <a:latin typeface="Arial"/>
                          <a:cs typeface="Arial"/>
                        </a:rPr>
                        <a:t>by</a:t>
                      </a:r>
                      <a:r>
                        <a:rPr sz="1000" spc="-110" dirty="0">
                          <a:latin typeface="Arial"/>
                          <a:cs typeface="Arial"/>
                        </a:rPr>
                        <a:t> </a:t>
                      </a:r>
                      <a:r>
                        <a:rPr sz="1000" spc="-10" dirty="0">
                          <a:latin typeface="Arial"/>
                          <a:cs typeface="Arial"/>
                        </a:rPr>
                        <a:t>Software </a:t>
                      </a:r>
                      <a:r>
                        <a:rPr sz="1000" spc="-100" dirty="0">
                          <a:latin typeface="Arial"/>
                          <a:cs typeface="Arial"/>
                        </a:rPr>
                        <a:t>Engineers,</a:t>
                      </a:r>
                      <a:r>
                        <a:rPr sz="1000" spc="120" dirty="0">
                          <a:latin typeface="Arial"/>
                          <a:cs typeface="Arial"/>
                        </a:rPr>
                        <a:t> </a:t>
                      </a:r>
                      <a:r>
                        <a:rPr sz="1000" spc="-65" dirty="0">
                          <a:latin typeface="Arial"/>
                          <a:cs typeface="Arial"/>
                        </a:rPr>
                        <a:t>deploy</a:t>
                      </a:r>
                      <a:r>
                        <a:rPr sz="1000" spc="-15" dirty="0">
                          <a:latin typeface="Arial"/>
                          <a:cs typeface="Arial"/>
                        </a:rPr>
                        <a:t> </a:t>
                      </a:r>
                      <a:r>
                        <a:rPr sz="1000" spc="-10" dirty="0">
                          <a:latin typeface="Arial"/>
                          <a:cs typeface="Arial"/>
                        </a:rPr>
                        <a:t>them</a:t>
                      </a:r>
                      <a:r>
                        <a:rPr sz="1000" spc="-120" dirty="0">
                          <a:latin typeface="Arial"/>
                          <a:cs typeface="Arial"/>
                        </a:rPr>
                        <a:t> </a:t>
                      </a:r>
                      <a:r>
                        <a:rPr sz="1000" spc="-40" dirty="0">
                          <a:latin typeface="Arial"/>
                          <a:cs typeface="Arial"/>
                        </a:rPr>
                        <a:t>on</a:t>
                      </a:r>
                      <a:r>
                        <a:rPr sz="1000" spc="-114" dirty="0">
                          <a:latin typeface="Arial"/>
                          <a:cs typeface="Arial"/>
                        </a:rPr>
                        <a:t> </a:t>
                      </a:r>
                      <a:r>
                        <a:rPr sz="1000" spc="-25" dirty="0">
                          <a:latin typeface="Arial"/>
                          <a:cs typeface="Arial"/>
                        </a:rPr>
                        <a:t>top </a:t>
                      </a:r>
                      <a:r>
                        <a:rPr sz="1000" spc="-60" dirty="0">
                          <a:latin typeface="Arial"/>
                          <a:cs typeface="Arial"/>
                        </a:rPr>
                        <a:t>of</a:t>
                      </a:r>
                      <a:r>
                        <a:rPr sz="1000" spc="-145" dirty="0">
                          <a:latin typeface="Arial"/>
                          <a:cs typeface="Arial"/>
                        </a:rPr>
                        <a:t> </a:t>
                      </a:r>
                      <a:r>
                        <a:rPr sz="1000" dirty="0">
                          <a:latin typeface="Arial"/>
                          <a:cs typeface="Arial"/>
                        </a:rPr>
                        <a:t>the</a:t>
                      </a:r>
                      <a:r>
                        <a:rPr sz="1000" spc="-75" dirty="0">
                          <a:latin typeface="Arial"/>
                          <a:cs typeface="Arial"/>
                        </a:rPr>
                        <a:t> </a:t>
                      </a:r>
                      <a:r>
                        <a:rPr sz="1000" spc="-35" dirty="0">
                          <a:latin typeface="Arial"/>
                          <a:cs typeface="Arial"/>
                        </a:rPr>
                        <a:t>infrastructure</a:t>
                      </a:r>
                      <a:r>
                        <a:rPr sz="1000" spc="105" dirty="0">
                          <a:latin typeface="Arial"/>
                          <a:cs typeface="Arial"/>
                        </a:rPr>
                        <a:t> </a:t>
                      </a:r>
                      <a:r>
                        <a:rPr sz="1000" spc="-10" dirty="0">
                          <a:latin typeface="Arial"/>
                          <a:cs typeface="Arial"/>
                        </a:rPr>
                        <a:t>deployed </a:t>
                      </a:r>
                      <a:r>
                        <a:rPr sz="1000" spc="-120" dirty="0">
                          <a:latin typeface="Arial"/>
                          <a:cs typeface="Arial"/>
                        </a:rPr>
                        <a:t>by</a:t>
                      </a:r>
                      <a:r>
                        <a:rPr sz="1000" spc="-80" dirty="0">
                          <a:latin typeface="Arial"/>
                          <a:cs typeface="Arial"/>
                        </a:rPr>
                        <a:t> </a:t>
                      </a:r>
                      <a:r>
                        <a:rPr sz="1000" spc="-35" dirty="0">
                          <a:latin typeface="Arial"/>
                          <a:cs typeface="Arial"/>
                        </a:rPr>
                        <a:t>Information</a:t>
                      </a:r>
                      <a:r>
                        <a:rPr sz="1000" spc="30" dirty="0">
                          <a:latin typeface="Arial"/>
                          <a:cs typeface="Arial"/>
                        </a:rPr>
                        <a:t> </a:t>
                      </a:r>
                      <a:r>
                        <a:rPr sz="1000" spc="-10" dirty="0">
                          <a:latin typeface="Arial"/>
                          <a:cs typeface="Arial"/>
                        </a:rPr>
                        <a:t>Technology </a:t>
                      </a:r>
                      <a:r>
                        <a:rPr sz="1000" spc="-70" dirty="0">
                          <a:latin typeface="Arial"/>
                          <a:cs typeface="Arial"/>
                        </a:rPr>
                        <a:t>specialists,</a:t>
                      </a:r>
                      <a:r>
                        <a:rPr sz="1000" spc="20" dirty="0">
                          <a:latin typeface="Arial"/>
                          <a:cs typeface="Arial"/>
                        </a:rPr>
                        <a:t> </a:t>
                      </a:r>
                      <a:r>
                        <a:rPr sz="1000" spc="-70" dirty="0">
                          <a:latin typeface="Arial"/>
                          <a:cs typeface="Arial"/>
                        </a:rPr>
                        <a:t>and</a:t>
                      </a:r>
                      <a:r>
                        <a:rPr sz="1000" spc="-35" dirty="0">
                          <a:latin typeface="Arial"/>
                          <a:cs typeface="Arial"/>
                        </a:rPr>
                        <a:t> </a:t>
                      </a:r>
                      <a:r>
                        <a:rPr sz="1000" spc="-40" dirty="0">
                          <a:latin typeface="Arial"/>
                          <a:cs typeface="Arial"/>
                        </a:rPr>
                        <a:t>integrate</a:t>
                      </a:r>
                      <a:r>
                        <a:rPr sz="1000" spc="-5" dirty="0">
                          <a:latin typeface="Arial"/>
                          <a:cs typeface="Arial"/>
                        </a:rPr>
                        <a:t> </a:t>
                      </a:r>
                      <a:r>
                        <a:rPr sz="1000" spc="-10" dirty="0">
                          <a:latin typeface="Arial"/>
                          <a:cs typeface="Arial"/>
                        </a:rPr>
                        <a:t>these </a:t>
                      </a:r>
                      <a:r>
                        <a:rPr sz="1000" spc="-70" dirty="0">
                          <a:latin typeface="Arial"/>
                          <a:cs typeface="Arial"/>
                        </a:rPr>
                        <a:t>products</a:t>
                      </a:r>
                      <a:r>
                        <a:rPr sz="1000" spc="40" dirty="0">
                          <a:latin typeface="Arial"/>
                          <a:cs typeface="Arial"/>
                        </a:rPr>
                        <a:t> </a:t>
                      </a:r>
                      <a:r>
                        <a:rPr sz="1000" spc="-20" dirty="0">
                          <a:latin typeface="Arial"/>
                          <a:cs typeface="Arial"/>
                        </a:rPr>
                        <a:t>into</a:t>
                      </a:r>
                      <a:r>
                        <a:rPr sz="1000" spc="-65" dirty="0">
                          <a:latin typeface="Arial"/>
                          <a:cs typeface="Arial"/>
                        </a:rPr>
                        <a:t> </a:t>
                      </a:r>
                      <a:r>
                        <a:rPr sz="1000" spc="-10" dirty="0">
                          <a:latin typeface="Arial"/>
                          <a:cs typeface="Arial"/>
                        </a:rPr>
                        <a:t>afunctional </a:t>
                      </a:r>
                      <a:r>
                        <a:rPr sz="1000" spc="-40" dirty="0">
                          <a:latin typeface="Arial"/>
                          <a:cs typeface="Arial"/>
                        </a:rPr>
                        <a:t>solution.</a:t>
                      </a:r>
                      <a:r>
                        <a:rPr sz="1000" spc="200" dirty="0">
                          <a:latin typeface="Arial"/>
                          <a:cs typeface="Arial"/>
                        </a:rPr>
                        <a:t> </a:t>
                      </a:r>
                      <a:r>
                        <a:rPr sz="1000" spc="-80" dirty="0">
                          <a:latin typeface="Arial"/>
                          <a:cs typeface="Arial"/>
                        </a:rPr>
                        <a:t>They</a:t>
                      </a:r>
                      <a:r>
                        <a:rPr sz="1000" spc="-5" dirty="0">
                          <a:latin typeface="Arial"/>
                          <a:cs typeface="Arial"/>
                        </a:rPr>
                        <a:t> </a:t>
                      </a:r>
                      <a:r>
                        <a:rPr sz="1000" spc="-85" dirty="0">
                          <a:latin typeface="Arial"/>
                          <a:cs typeface="Arial"/>
                        </a:rPr>
                        <a:t>make</a:t>
                      </a:r>
                      <a:r>
                        <a:rPr sz="1000" spc="-20" dirty="0">
                          <a:latin typeface="Arial"/>
                          <a:cs typeface="Arial"/>
                        </a:rPr>
                        <a:t> </a:t>
                      </a:r>
                      <a:r>
                        <a:rPr sz="1000" spc="-70" dirty="0">
                          <a:latin typeface="Arial"/>
                          <a:cs typeface="Arial"/>
                        </a:rPr>
                        <a:t>sure</a:t>
                      </a:r>
                      <a:r>
                        <a:rPr sz="1000" spc="-90" dirty="0">
                          <a:latin typeface="Arial"/>
                          <a:cs typeface="Arial"/>
                        </a:rPr>
                        <a:t> </a:t>
                      </a:r>
                      <a:r>
                        <a:rPr sz="1000" spc="-20" dirty="0">
                          <a:latin typeface="Arial"/>
                          <a:cs typeface="Arial"/>
                        </a:rPr>
                        <a:t>that</a:t>
                      </a:r>
                      <a:endParaRPr sz="1000">
                        <a:latin typeface="Arial"/>
                        <a:cs typeface="Arial"/>
                      </a:endParaRPr>
                    </a:p>
                  </a:txBody>
                  <a:tcPr marL="0" marR="0" marT="2633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123825">
                        <a:lnSpc>
                          <a:spcPct val="100600"/>
                        </a:lnSpc>
                        <a:spcBef>
                          <a:spcPts val="225"/>
                        </a:spcBef>
                      </a:pPr>
                      <a:r>
                        <a:rPr sz="1000" spc="-130" dirty="0">
                          <a:latin typeface="Arial"/>
                          <a:cs typeface="Arial"/>
                        </a:rPr>
                        <a:t>Business</a:t>
                      </a:r>
                      <a:r>
                        <a:rPr sz="1000" spc="60" dirty="0">
                          <a:latin typeface="Arial"/>
                          <a:cs typeface="Arial"/>
                        </a:rPr>
                        <a:t> </a:t>
                      </a:r>
                      <a:r>
                        <a:rPr sz="1000" spc="-80" dirty="0">
                          <a:latin typeface="Arial"/>
                          <a:cs typeface="Arial"/>
                        </a:rPr>
                        <a:t>process</a:t>
                      </a:r>
                      <a:r>
                        <a:rPr sz="1000" spc="55" dirty="0">
                          <a:latin typeface="Arial"/>
                          <a:cs typeface="Arial"/>
                        </a:rPr>
                        <a:t> </a:t>
                      </a:r>
                      <a:r>
                        <a:rPr sz="1000" spc="-70" dirty="0">
                          <a:latin typeface="Arial"/>
                          <a:cs typeface="Arial"/>
                        </a:rPr>
                        <a:t>analysis </a:t>
                      </a:r>
                      <a:r>
                        <a:rPr sz="1000" spc="-110" dirty="0">
                          <a:latin typeface="Arial"/>
                          <a:cs typeface="Arial"/>
                        </a:rPr>
                        <a:t>and</a:t>
                      </a:r>
                      <a:r>
                        <a:rPr sz="1000" spc="-10" dirty="0">
                          <a:latin typeface="Arial"/>
                          <a:cs typeface="Arial"/>
                        </a:rPr>
                        <a:t> reengineering, </a:t>
                      </a:r>
                      <a:r>
                        <a:rPr sz="1000" spc="-60" dirty="0">
                          <a:latin typeface="Arial"/>
                          <a:cs typeface="Arial"/>
                        </a:rPr>
                        <a:t>Application</a:t>
                      </a:r>
                      <a:r>
                        <a:rPr sz="1000" spc="100" dirty="0">
                          <a:latin typeface="Arial"/>
                          <a:cs typeface="Arial"/>
                        </a:rPr>
                        <a:t> </a:t>
                      </a:r>
                      <a:r>
                        <a:rPr sz="1000" spc="-60" dirty="0">
                          <a:latin typeface="Arial"/>
                          <a:cs typeface="Arial"/>
                        </a:rPr>
                        <a:t>requirements </a:t>
                      </a:r>
                      <a:r>
                        <a:rPr sz="1000" spc="-30" dirty="0">
                          <a:latin typeface="Arial"/>
                          <a:cs typeface="Arial"/>
                        </a:rPr>
                        <a:t>definition,</a:t>
                      </a:r>
                      <a:r>
                        <a:rPr sz="1000" spc="-114" dirty="0">
                          <a:latin typeface="Arial"/>
                          <a:cs typeface="Arial"/>
                        </a:rPr>
                        <a:t> </a:t>
                      </a:r>
                      <a:r>
                        <a:rPr sz="1000" spc="-10" dirty="0">
                          <a:latin typeface="Arial"/>
                          <a:cs typeface="Arial"/>
                        </a:rPr>
                        <a:t>Applications procurement, </a:t>
                      </a:r>
                      <a:r>
                        <a:rPr sz="1000" spc="-60" dirty="0">
                          <a:latin typeface="Arial"/>
                          <a:cs typeface="Arial"/>
                        </a:rPr>
                        <a:t>deployment,</a:t>
                      </a:r>
                      <a:r>
                        <a:rPr sz="1000" spc="35" dirty="0">
                          <a:latin typeface="Arial"/>
                          <a:cs typeface="Arial"/>
                        </a:rPr>
                        <a:t> </a:t>
                      </a:r>
                      <a:r>
                        <a:rPr sz="1000" spc="-10" dirty="0">
                          <a:latin typeface="Arial"/>
                          <a:cs typeface="Arial"/>
                        </a:rPr>
                        <a:t>training, </a:t>
                      </a:r>
                      <a:r>
                        <a:rPr sz="1000" spc="-105" dirty="0">
                          <a:latin typeface="Arial"/>
                          <a:cs typeface="Arial"/>
                        </a:rPr>
                        <a:t>and</a:t>
                      </a:r>
                      <a:r>
                        <a:rPr sz="1000" spc="-60" dirty="0">
                          <a:latin typeface="Arial"/>
                          <a:cs typeface="Arial"/>
                        </a:rPr>
                        <a:t> </a:t>
                      </a:r>
                      <a:r>
                        <a:rPr sz="1000" spc="-35" dirty="0">
                          <a:latin typeface="Arial"/>
                          <a:cs typeface="Arial"/>
                        </a:rPr>
                        <a:t>support,</a:t>
                      </a:r>
                      <a:r>
                        <a:rPr sz="1000" spc="15" dirty="0">
                          <a:latin typeface="Arial"/>
                          <a:cs typeface="Arial"/>
                        </a:rPr>
                        <a:t> </a:t>
                      </a:r>
                      <a:r>
                        <a:rPr sz="1000" spc="-120" dirty="0">
                          <a:latin typeface="Arial"/>
                          <a:cs typeface="Arial"/>
                        </a:rPr>
                        <a:t>E-</a:t>
                      </a:r>
                      <a:r>
                        <a:rPr sz="1000" spc="-30" dirty="0">
                          <a:latin typeface="Arial"/>
                          <a:cs typeface="Arial"/>
                        </a:rPr>
                        <a:t>Business </a:t>
                      </a:r>
                      <a:r>
                        <a:rPr sz="1000" spc="-65" dirty="0">
                          <a:latin typeface="Arial"/>
                          <a:cs typeface="Arial"/>
                        </a:rPr>
                        <a:t>applications,</a:t>
                      </a:r>
                      <a:r>
                        <a:rPr sz="1000" spc="120" dirty="0">
                          <a:latin typeface="Arial"/>
                          <a:cs typeface="Arial"/>
                        </a:rPr>
                        <a:t> </a:t>
                      </a:r>
                      <a:r>
                        <a:rPr sz="1000" spc="-10" dirty="0">
                          <a:latin typeface="Arial"/>
                          <a:cs typeface="Arial"/>
                        </a:rPr>
                        <a:t>Project </a:t>
                      </a:r>
                      <a:r>
                        <a:rPr sz="1000" spc="-80" dirty="0">
                          <a:latin typeface="Arial"/>
                          <a:cs typeface="Arial"/>
                        </a:rPr>
                        <a:t>management,</a:t>
                      </a:r>
                      <a:r>
                        <a:rPr sz="1000" spc="105" dirty="0">
                          <a:latin typeface="Arial"/>
                          <a:cs typeface="Arial"/>
                        </a:rPr>
                        <a:t> </a:t>
                      </a:r>
                      <a:r>
                        <a:rPr sz="1000" spc="-10" dirty="0">
                          <a:latin typeface="Arial"/>
                          <a:cs typeface="Arial"/>
                        </a:rPr>
                        <a:t>Business </a:t>
                      </a:r>
                      <a:r>
                        <a:rPr sz="1000" spc="-65" dirty="0">
                          <a:latin typeface="Arial"/>
                          <a:cs typeface="Arial"/>
                        </a:rPr>
                        <a:t>intelligence</a:t>
                      </a:r>
                      <a:r>
                        <a:rPr sz="1000" spc="120" dirty="0">
                          <a:latin typeface="Arial"/>
                          <a:cs typeface="Arial"/>
                        </a:rPr>
                        <a:t> </a:t>
                      </a:r>
                      <a:r>
                        <a:rPr sz="1000" spc="-65" dirty="0">
                          <a:latin typeface="Arial"/>
                          <a:cs typeface="Arial"/>
                        </a:rPr>
                        <a:t>and</a:t>
                      </a:r>
                      <a:r>
                        <a:rPr sz="1000" spc="-70" dirty="0">
                          <a:latin typeface="Arial"/>
                          <a:cs typeface="Arial"/>
                        </a:rPr>
                        <a:t> </a:t>
                      </a:r>
                      <a:r>
                        <a:rPr sz="1000" spc="-20" dirty="0">
                          <a:latin typeface="Arial"/>
                          <a:cs typeface="Arial"/>
                        </a:rPr>
                        <a:t>data </a:t>
                      </a:r>
                      <a:r>
                        <a:rPr sz="1000" spc="-65" dirty="0">
                          <a:latin typeface="Arial"/>
                          <a:cs typeface="Arial"/>
                        </a:rPr>
                        <a:t>mining,</a:t>
                      </a:r>
                      <a:r>
                        <a:rPr sz="1000" spc="-10" dirty="0">
                          <a:latin typeface="Arial"/>
                          <a:cs typeface="Arial"/>
                        </a:rPr>
                        <a:t> </a:t>
                      </a:r>
                      <a:r>
                        <a:rPr sz="1000" spc="-75" dirty="0">
                          <a:latin typeface="Arial"/>
                          <a:cs typeface="Arial"/>
                        </a:rPr>
                        <a:t>Managing</a:t>
                      </a:r>
                      <a:r>
                        <a:rPr sz="1000" spc="15" dirty="0">
                          <a:latin typeface="Arial"/>
                          <a:cs typeface="Arial"/>
                        </a:rPr>
                        <a:t> </a:t>
                      </a:r>
                      <a:r>
                        <a:rPr sz="1000" spc="-20" dirty="0">
                          <a:latin typeface="Arial"/>
                          <a:cs typeface="Arial"/>
                        </a:rPr>
                        <a:t>data </a:t>
                      </a:r>
                      <a:r>
                        <a:rPr sz="1000" spc="-70" dirty="0">
                          <a:latin typeface="Arial"/>
                          <a:cs typeface="Arial"/>
                        </a:rPr>
                        <a:t>centers,</a:t>
                      </a:r>
                      <a:r>
                        <a:rPr sz="1000" spc="10" dirty="0">
                          <a:latin typeface="Arial"/>
                          <a:cs typeface="Arial"/>
                        </a:rPr>
                        <a:t> </a:t>
                      </a:r>
                      <a:r>
                        <a:rPr sz="1000" spc="-65" dirty="0">
                          <a:latin typeface="Arial"/>
                          <a:cs typeface="Arial"/>
                        </a:rPr>
                        <a:t>and</a:t>
                      </a:r>
                      <a:r>
                        <a:rPr sz="1000" spc="-20" dirty="0">
                          <a:latin typeface="Arial"/>
                          <a:cs typeface="Arial"/>
                        </a:rPr>
                        <a:t> Data </a:t>
                      </a:r>
                      <a:r>
                        <a:rPr sz="1000" spc="-65" dirty="0">
                          <a:latin typeface="Arial"/>
                          <a:cs typeface="Arial"/>
                        </a:rPr>
                        <a:t>security</a:t>
                      </a:r>
                      <a:r>
                        <a:rPr sz="1000" spc="10" dirty="0">
                          <a:latin typeface="Arial"/>
                          <a:cs typeface="Arial"/>
                        </a:rPr>
                        <a:t> </a:t>
                      </a:r>
                      <a:r>
                        <a:rPr sz="1000" spc="-65" dirty="0">
                          <a:latin typeface="Arial"/>
                          <a:cs typeface="Arial"/>
                        </a:rPr>
                        <a:t>and</a:t>
                      </a:r>
                      <a:r>
                        <a:rPr sz="1000" spc="-60" dirty="0">
                          <a:latin typeface="Arial"/>
                          <a:cs typeface="Arial"/>
                        </a:rPr>
                        <a:t> </a:t>
                      </a:r>
                      <a:r>
                        <a:rPr sz="1000" spc="-10" dirty="0">
                          <a:latin typeface="Arial"/>
                          <a:cs typeface="Arial"/>
                        </a:rPr>
                        <a:t>control.</a:t>
                      </a:r>
                      <a:endParaRPr sz="1000">
                        <a:latin typeface="Arial"/>
                        <a:cs typeface="Arial"/>
                      </a:endParaRPr>
                    </a:p>
                    <a:p>
                      <a:pPr marL="77470" marR="147320">
                        <a:lnSpc>
                          <a:spcPts val="1330"/>
                        </a:lnSpc>
                        <a:spcBef>
                          <a:spcPts val="35"/>
                        </a:spcBef>
                      </a:pPr>
                      <a:r>
                        <a:rPr sz="1000" spc="-90" dirty="0">
                          <a:latin typeface="Arial"/>
                          <a:cs typeface="Arial"/>
                        </a:rPr>
                        <a:t>Programming</a:t>
                      </a:r>
                      <a:r>
                        <a:rPr sz="1000" spc="120" dirty="0">
                          <a:latin typeface="Arial"/>
                          <a:cs typeface="Arial"/>
                        </a:rPr>
                        <a:t> </a:t>
                      </a:r>
                      <a:r>
                        <a:rPr sz="1000" spc="-25" dirty="0">
                          <a:latin typeface="Arial"/>
                          <a:cs typeface="Arial"/>
                        </a:rPr>
                        <a:t>and </a:t>
                      </a:r>
                      <a:r>
                        <a:rPr sz="1000" spc="-65" dirty="0">
                          <a:latin typeface="Arial"/>
                          <a:cs typeface="Arial"/>
                        </a:rPr>
                        <a:t>computing</a:t>
                      </a:r>
                      <a:r>
                        <a:rPr sz="1000" spc="50" dirty="0">
                          <a:latin typeface="Arial"/>
                          <a:cs typeface="Arial"/>
                        </a:rPr>
                        <a:t> </a:t>
                      </a:r>
                      <a:r>
                        <a:rPr sz="1000" spc="-45" dirty="0">
                          <a:latin typeface="Arial"/>
                          <a:cs typeface="Arial"/>
                        </a:rPr>
                        <a:t>infrastructure</a:t>
                      </a:r>
                      <a:endParaRPr sz="1000">
                        <a:latin typeface="Arial"/>
                        <a:cs typeface="Arial"/>
                      </a:endParaRPr>
                    </a:p>
                    <a:p>
                      <a:pPr marL="77470" marR="226060">
                        <a:lnSpc>
                          <a:spcPts val="1320"/>
                        </a:lnSpc>
                        <a:spcBef>
                          <a:spcPts val="10"/>
                        </a:spcBef>
                      </a:pPr>
                      <a:r>
                        <a:rPr sz="1000" spc="-95" dirty="0">
                          <a:latin typeface="Arial"/>
                          <a:cs typeface="Arial"/>
                        </a:rPr>
                        <a:t>are</a:t>
                      </a:r>
                      <a:r>
                        <a:rPr sz="1000" spc="-75" dirty="0">
                          <a:latin typeface="Arial"/>
                          <a:cs typeface="Arial"/>
                        </a:rPr>
                        <a:t> </a:t>
                      </a:r>
                      <a:r>
                        <a:rPr sz="1000" spc="-80" dirty="0">
                          <a:latin typeface="Arial"/>
                          <a:cs typeface="Arial"/>
                        </a:rPr>
                        <a:t>emphasized</a:t>
                      </a:r>
                      <a:r>
                        <a:rPr sz="1000" spc="105" dirty="0">
                          <a:latin typeface="Arial"/>
                          <a:cs typeface="Arial"/>
                        </a:rPr>
                        <a:t> </a:t>
                      </a:r>
                      <a:r>
                        <a:rPr sz="1000" spc="-45" dirty="0">
                          <a:latin typeface="Arial"/>
                          <a:cs typeface="Arial"/>
                        </a:rPr>
                        <a:t>only</a:t>
                      </a:r>
                      <a:r>
                        <a:rPr sz="1000" spc="-95" dirty="0">
                          <a:latin typeface="Arial"/>
                          <a:cs typeface="Arial"/>
                        </a:rPr>
                        <a:t> </a:t>
                      </a:r>
                      <a:r>
                        <a:rPr sz="1000" spc="-25" dirty="0">
                          <a:latin typeface="Arial"/>
                          <a:cs typeface="Arial"/>
                        </a:rPr>
                        <a:t>to </a:t>
                      </a:r>
                      <a:r>
                        <a:rPr sz="1000" spc="-95" dirty="0">
                          <a:latin typeface="Arial"/>
                          <a:cs typeface="Arial"/>
                        </a:rPr>
                        <a:t>ensure</a:t>
                      </a:r>
                      <a:r>
                        <a:rPr sz="1000" spc="30" dirty="0">
                          <a:latin typeface="Arial"/>
                          <a:cs typeface="Arial"/>
                        </a:rPr>
                        <a:t> </a:t>
                      </a:r>
                      <a:r>
                        <a:rPr sz="1000" spc="-10" dirty="0">
                          <a:latin typeface="Arial"/>
                          <a:cs typeface="Arial"/>
                        </a:rPr>
                        <a:t>students</a:t>
                      </a:r>
                      <a:endParaRPr sz="1000">
                        <a:latin typeface="Arial"/>
                        <a:cs typeface="Arial"/>
                      </a:endParaRPr>
                    </a:p>
                    <a:p>
                      <a:pPr marL="77470">
                        <a:lnSpc>
                          <a:spcPts val="1290"/>
                        </a:lnSpc>
                      </a:pPr>
                      <a:r>
                        <a:rPr sz="1000" spc="-75" dirty="0">
                          <a:latin typeface="Arial"/>
                          <a:cs typeface="Arial"/>
                        </a:rPr>
                        <a:t>understand</a:t>
                      </a:r>
                      <a:r>
                        <a:rPr sz="1000" spc="125" dirty="0">
                          <a:latin typeface="Arial"/>
                          <a:cs typeface="Arial"/>
                        </a:rPr>
                        <a:t> </a:t>
                      </a:r>
                      <a:r>
                        <a:rPr sz="1000" spc="-60" dirty="0">
                          <a:latin typeface="Arial"/>
                          <a:cs typeface="Arial"/>
                        </a:rPr>
                        <a:t>how</a:t>
                      </a:r>
                      <a:r>
                        <a:rPr sz="1000" spc="-95" dirty="0">
                          <a:latin typeface="Arial"/>
                          <a:cs typeface="Arial"/>
                        </a:rPr>
                        <a:t> </a:t>
                      </a:r>
                      <a:r>
                        <a:rPr sz="1000" spc="-20" dirty="0">
                          <a:latin typeface="Arial"/>
                          <a:cs typeface="Arial"/>
                        </a:rPr>
                        <a:t>these</a:t>
                      </a:r>
                      <a:endParaRPr sz="1000">
                        <a:latin typeface="Arial"/>
                        <a:cs typeface="Arial"/>
                      </a:endParaRPr>
                    </a:p>
                    <a:p>
                      <a:pPr marL="77470" marR="133350">
                        <a:lnSpc>
                          <a:spcPct val="100000"/>
                        </a:lnSpc>
                        <a:spcBef>
                          <a:spcPts val="10"/>
                        </a:spcBef>
                      </a:pPr>
                      <a:r>
                        <a:rPr sz="1000" spc="-80" dirty="0">
                          <a:latin typeface="Arial"/>
                          <a:cs typeface="Arial"/>
                        </a:rPr>
                        <a:t>components</a:t>
                      </a:r>
                      <a:r>
                        <a:rPr sz="1000" spc="120" dirty="0">
                          <a:latin typeface="Arial"/>
                          <a:cs typeface="Arial"/>
                        </a:rPr>
                        <a:t> </a:t>
                      </a:r>
                      <a:r>
                        <a:rPr sz="1000" spc="-10" dirty="0">
                          <a:latin typeface="Arial"/>
                          <a:cs typeface="Arial"/>
                        </a:rPr>
                        <a:t>work</a:t>
                      </a:r>
                      <a:r>
                        <a:rPr sz="1000" spc="-100" dirty="0">
                          <a:latin typeface="Arial"/>
                          <a:cs typeface="Arial"/>
                        </a:rPr>
                        <a:t> </a:t>
                      </a:r>
                      <a:r>
                        <a:rPr sz="1000" spc="-70" dirty="0">
                          <a:latin typeface="Arial"/>
                          <a:cs typeface="Arial"/>
                        </a:rPr>
                        <a:t>and</a:t>
                      </a:r>
                      <a:r>
                        <a:rPr sz="1000" spc="-120" dirty="0">
                          <a:latin typeface="Arial"/>
                          <a:cs typeface="Arial"/>
                        </a:rPr>
                        <a:t> </a:t>
                      </a:r>
                      <a:r>
                        <a:rPr sz="1000" spc="-25" dirty="0">
                          <a:latin typeface="Arial"/>
                          <a:cs typeface="Arial"/>
                        </a:rPr>
                        <a:t>fit </a:t>
                      </a:r>
                      <a:r>
                        <a:rPr sz="1000" spc="-45" dirty="0">
                          <a:latin typeface="Arial"/>
                          <a:cs typeface="Arial"/>
                        </a:rPr>
                        <a:t>together,</a:t>
                      </a:r>
                      <a:r>
                        <a:rPr sz="1000" spc="-10" dirty="0">
                          <a:latin typeface="Arial"/>
                          <a:cs typeface="Arial"/>
                        </a:rPr>
                        <a:t> </a:t>
                      </a:r>
                      <a:r>
                        <a:rPr sz="1000" spc="-45" dirty="0">
                          <a:latin typeface="Arial"/>
                          <a:cs typeface="Arial"/>
                        </a:rPr>
                        <a:t>although</a:t>
                      </a:r>
                      <a:r>
                        <a:rPr sz="1000" spc="-5" dirty="0">
                          <a:latin typeface="Arial"/>
                          <a:cs typeface="Arial"/>
                        </a:rPr>
                        <a:t> </a:t>
                      </a:r>
                      <a:r>
                        <a:rPr sz="1000" spc="-60" dirty="0">
                          <a:latin typeface="Arial"/>
                          <a:cs typeface="Arial"/>
                        </a:rPr>
                        <a:t>some</a:t>
                      </a:r>
                      <a:endParaRPr sz="100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99060">
                        <a:lnSpc>
                          <a:spcPct val="99800"/>
                        </a:lnSpc>
                        <a:spcBef>
                          <a:spcPts val="234"/>
                        </a:spcBef>
                      </a:pPr>
                      <a:r>
                        <a:rPr sz="1000" spc="-210" dirty="0">
                          <a:latin typeface="Arial"/>
                          <a:cs typeface="Arial"/>
                        </a:rPr>
                        <a:t>IS</a:t>
                      </a:r>
                      <a:r>
                        <a:rPr sz="1000" spc="-85" dirty="0">
                          <a:latin typeface="Arial"/>
                          <a:cs typeface="Arial"/>
                        </a:rPr>
                        <a:t> </a:t>
                      </a:r>
                      <a:r>
                        <a:rPr sz="1000" spc="-65" dirty="0">
                          <a:latin typeface="Arial"/>
                          <a:cs typeface="Arial"/>
                        </a:rPr>
                        <a:t>programs</a:t>
                      </a:r>
                      <a:r>
                        <a:rPr sz="1000" spc="35" dirty="0">
                          <a:latin typeface="Arial"/>
                          <a:cs typeface="Arial"/>
                        </a:rPr>
                        <a:t> </a:t>
                      </a:r>
                      <a:r>
                        <a:rPr sz="1000" spc="-25" dirty="0">
                          <a:latin typeface="Arial"/>
                          <a:cs typeface="Arial"/>
                        </a:rPr>
                        <a:t>are </a:t>
                      </a:r>
                      <a:r>
                        <a:rPr sz="1000" spc="-85" dirty="0">
                          <a:latin typeface="Arial"/>
                          <a:cs typeface="Arial"/>
                        </a:rPr>
                        <a:t>usually</a:t>
                      </a:r>
                      <a:r>
                        <a:rPr sz="1000" spc="10" dirty="0">
                          <a:latin typeface="Arial"/>
                          <a:cs typeface="Arial"/>
                        </a:rPr>
                        <a:t> </a:t>
                      </a:r>
                      <a:r>
                        <a:rPr sz="1000" spc="-50" dirty="0">
                          <a:latin typeface="Arial"/>
                          <a:cs typeface="Arial"/>
                        </a:rPr>
                        <a:t>located</a:t>
                      </a:r>
                      <a:r>
                        <a:rPr sz="1000" spc="25" dirty="0">
                          <a:latin typeface="Arial"/>
                          <a:cs typeface="Arial"/>
                        </a:rPr>
                        <a:t> </a:t>
                      </a:r>
                      <a:r>
                        <a:rPr sz="1000" spc="-25" dirty="0">
                          <a:latin typeface="Arial"/>
                          <a:cs typeface="Arial"/>
                        </a:rPr>
                        <a:t>in </a:t>
                      </a:r>
                      <a:r>
                        <a:rPr sz="1000" spc="-30" dirty="0">
                          <a:latin typeface="Arial"/>
                          <a:cs typeface="Arial"/>
                        </a:rPr>
                        <a:t>the</a:t>
                      </a:r>
                      <a:r>
                        <a:rPr sz="1000" spc="-170" dirty="0">
                          <a:latin typeface="Arial"/>
                          <a:cs typeface="Arial"/>
                        </a:rPr>
                        <a:t> </a:t>
                      </a:r>
                      <a:r>
                        <a:rPr sz="1000" spc="-90" dirty="0">
                          <a:latin typeface="Arial"/>
                          <a:cs typeface="Arial"/>
                        </a:rPr>
                        <a:t>School</a:t>
                      </a:r>
                      <a:r>
                        <a:rPr sz="1000" spc="35" dirty="0">
                          <a:latin typeface="Arial"/>
                          <a:cs typeface="Arial"/>
                        </a:rPr>
                        <a:t> </a:t>
                      </a:r>
                      <a:r>
                        <a:rPr sz="1000" spc="-35" dirty="0">
                          <a:latin typeface="Arial"/>
                          <a:cs typeface="Arial"/>
                        </a:rPr>
                        <a:t>of </a:t>
                      </a:r>
                      <a:r>
                        <a:rPr sz="1000" spc="-120" dirty="0">
                          <a:latin typeface="Arial"/>
                          <a:cs typeface="Arial"/>
                        </a:rPr>
                        <a:t>Business,</a:t>
                      </a:r>
                      <a:r>
                        <a:rPr sz="1000" spc="80" dirty="0">
                          <a:latin typeface="Arial"/>
                          <a:cs typeface="Arial"/>
                        </a:rPr>
                        <a:t> </a:t>
                      </a:r>
                      <a:r>
                        <a:rPr sz="1000" spc="-10" dirty="0">
                          <a:latin typeface="Arial"/>
                          <a:cs typeface="Arial"/>
                        </a:rPr>
                        <a:t>although </a:t>
                      </a:r>
                      <a:r>
                        <a:rPr sz="1000" spc="-75" dirty="0">
                          <a:latin typeface="Arial"/>
                          <a:cs typeface="Arial"/>
                        </a:rPr>
                        <a:t>recent</a:t>
                      </a:r>
                      <a:r>
                        <a:rPr sz="1000" spc="-50" dirty="0">
                          <a:latin typeface="Arial"/>
                          <a:cs typeface="Arial"/>
                        </a:rPr>
                        <a:t> </a:t>
                      </a:r>
                      <a:r>
                        <a:rPr sz="1000" spc="-30" dirty="0">
                          <a:latin typeface="Arial"/>
                          <a:cs typeface="Arial"/>
                        </a:rPr>
                        <a:t>trends</a:t>
                      </a:r>
                      <a:r>
                        <a:rPr sz="1000" spc="-15" dirty="0">
                          <a:latin typeface="Arial"/>
                          <a:cs typeface="Arial"/>
                        </a:rPr>
                        <a:t> </a:t>
                      </a:r>
                      <a:r>
                        <a:rPr sz="1000" spc="-20" dirty="0">
                          <a:latin typeface="Arial"/>
                          <a:cs typeface="Arial"/>
                        </a:rPr>
                        <a:t>have </a:t>
                      </a:r>
                      <a:r>
                        <a:rPr sz="1000" spc="-110" dirty="0">
                          <a:latin typeface="Arial"/>
                          <a:cs typeface="Arial"/>
                        </a:rPr>
                        <a:t>also</a:t>
                      </a:r>
                      <a:r>
                        <a:rPr sz="1000" spc="-10" dirty="0">
                          <a:latin typeface="Arial"/>
                          <a:cs typeface="Arial"/>
                        </a:rPr>
                        <a:t> </a:t>
                      </a:r>
                      <a:r>
                        <a:rPr sz="1000" spc="-60" dirty="0">
                          <a:latin typeface="Arial"/>
                          <a:cs typeface="Arial"/>
                        </a:rPr>
                        <a:t>located</a:t>
                      </a:r>
                      <a:r>
                        <a:rPr sz="1000" spc="10" dirty="0">
                          <a:latin typeface="Arial"/>
                          <a:cs typeface="Arial"/>
                        </a:rPr>
                        <a:t> </a:t>
                      </a:r>
                      <a:r>
                        <a:rPr sz="1000" spc="-20" dirty="0">
                          <a:latin typeface="Arial"/>
                          <a:cs typeface="Arial"/>
                        </a:rPr>
                        <a:t>them</a:t>
                      </a:r>
                      <a:r>
                        <a:rPr sz="1000" spc="500" dirty="0">
                          <a:latin typeface="Arial"/>
                          <a:cs typeface="Arial"/>
                        </a:rPr>
                        <a:t> </a:t>
                      </a:r>
                      <a:r>
                        <a:rPr sz="1000" spc="-85" dirty="0">
                          <a:latin typeface="Arial"/>
                          <a:cs typeface="Arial"/>
                        </a:rPr>
                        <a:t>in</a:t>
                      </a:r>
                      <a:r>
                        <a:rPr sz="1000" spc="-114" dirty="0">
                          <a:latin typeface="Arial"/>
                          <a:cs typeface="Arial"/>
                        </a:rPr>
                        <a:t> </a:t>
                      </a:r>
                      <a:r>
                        <a:rPr sz="1000" dirty="0">
                          <a:latin typeface="Arial"/>
                          <a:cs typeface="Arial"/>
                        </a:rPr>
                        <a:t>other</a:t>
                      </a:r>
                      <a:r>
                        <a:rPr sz="1000" spc="-180" dirty="0">
                          <a:latin typeface="Arial"/>
                          <a:cs typeface="Arial"/>
                        </a:rPr>
                        <a:t> </a:t>
                      </a:r>
                      <a:r>
                        <a:rPr sz="1000" spc="-10" dirty="0">
                          <a:latin typeface="Arial"/>
                          <a:cs typeface="Arial"/>
                        </a:rPr>
                        <a:t>functional </a:t>
                      </a:r>
                      <a:r>
                        <a:rPr sz="1000" spc="-114" dirty="0">
                          <a:latin typeface="Arial"/>
                          <a:cs typeface="Arial"/>
                        </a:rPr>
                        <a:t>areas</a:t>
                      </a:r>
                      <a:r>
                        <a:rPr sz="1000" spc="30" dirty="0">
                          <a:latin typeface="Arial"/>
                          <a:cs typeface="Arial"/>
                        </a:rPr>
                        <a:t> </a:t>
                      </a:r>
                      <a:r>
                        <a:rPr sz="1000" spc="-45" dirty="0">
                          <a:latin typeface="Arial"/>
                          <a:cs typeface="Arial"/>
                        </a:rPr>
                        <a:t>like</a:t>
                      </a:r>
                      <a:r>
                        <a:rPr sz="1000" dirty="0">
                          <a:latin typeface="Arial"/>
                          <a:cs typeface="Arial"/>
                        </a:rPr>
                        <a:t> </a:t>
                      </a:r>
                      <a:r>
                        <a:rPr sz="1000" spc="-10" dirty="0">
                          <a:latin typeface="Arial"/>
                          <a:cs typeface="Arial"/>
                        </a:rPr>
                        <a:t>Public </a:t>
                      </a:r>
                      <a:r>
                        <a:rPr sz="1000" spc="-50" dirty="0">
                          <a:latin typeface="Arial"/>
                          <a:cs typeface="Arial"/>
                        </a:rPr>
                        <a:t>Administration</a:t>
                      </a:r>
                      <a:r>
                        <a:rPr sz="1000" spc="110" dirty="0">
                          <a:latin typeface="Arial"/>
                          <a:cs typeface="Arial"/>
                        </a:rPr>
                        <a:t> </a:t>
                      </a:r>
                      <a:r>
                        <a:rPr sz="1000" spc="-45" dirty="0">
                          <a:latin typeface="Arial"/>
                          <a:cs typeface="Arial"/>
                        </a:rPr>
                        <a:t>and </a:t>
                      </a:r>
                      <a:r>
                        <a:rPr sz="1000" spc="-10" dirty="0">
                          <a:latin typeface="Arial"/>
                          <a:cs typeface="Arial"/>
                        </a:rPr>
                        <a:t>Health Administration.</a:t>
                      </a:r>
                      <a:endParaRPr sz="1000">
                        <a:latin typeface="Arial"/>
                        <a:cs typeface="Arial"/>
                      </a:endParaRPr>
                    </a:p>
                  </a:txBody>
                  <a:tcPr marL="0" marR="0" marT="2633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7470" marR="91440">
                        <a:lnSpc>
                          <a:spcPct val="100600"/>
                        </a:lnSpc>
                        <a:spcBef>
                          <a:spcPts val="225"/>
                        </a:spcBef>
                      </a:pPr>
                      <a:r>
                        <a:rPr sz="1000" spc="-85" dirty="0">
                          <a:latin typeface="Arial"/>
                          <a:cs typeface="Arial"/>
                        </a:rPr>
                        <a:t>Suitable</a:t>
                      </a:r>
                      <a:r>
                        <a:rPr sz="1000" spc="-20" dirty="0">
                          <a:latin typeface="Arial"/>
                          <a:cs typeface="Arial"/>
                        </a:rPr>
                        <a:t> </a:t>
                      </a:r>
                      <a:r>
                        <a:rPr sz="1000" dirty="0">
                          <a:latin typeface="Arial"/>
                          <a:cs typeface="Arial"/>
                        </a:rPr>
                        <a:t>for</a:t>
                      </a:r>
                      <a:r>
                        <a:rPr sz="1000" spc="-50" dirty="0">
                          <a:latin typeface="Arial"/>
                          <a:cs typeface="Arial"/>
                        </a:rPr>
                        <a:t> students</a:t>
                      </a:r>
                      <a:r>
                        <a:rPr sz="1000" spc="45" dirty="0">
                          <a:latin typeface="Arial"/>
                          <a:cs typeface="Arial"/>
                        </a:rPr>
                        <a:t> </a:t>
                      </a:r>
                      <a:r>
                        <a:rPr sz="1000" spc="-35" dirty="0">
                          <a:latin typeface="Arial"/>
                          <a:cs typeface="Arial"/>
                        </a:rPr>
                        <a:t>who</a:t>
                      </a:r>
                      <a:r>
                        <a:rPr sz="1000" spc="-50" dirty="0">
                          <a:latin typeface="Arial"/>
                          <a:cs typeface="Arial"/>
                        </a:rPr>
                        <a:t> </a:t>
                      </a:r>
                      <a:r>
                        <a:rPr sz="1000" spc="-25" dirty="0">
                          <a:latin typeface="Arial"/>
                          <a:cs typeface="Arial"/>
                        </a:rPr>
                        <a:t>are </a:t>
                      </a:r>
                      <a:r>
                        <a:rPr sz="1000" spc="-50" dirty="0">
                          <a:latin typeface="Arial"/>
                          <a:cs typeface="Arial"/>
                        </a:rPr>
                        <a:t>interested</a:t>
                      </a:r>
                      <a:r>
                        <a:rPr sz="1000" spc="25" dirty="0">
                          <a:latin typeface="Arial"/>
                          <a:cs typeface="Arial"/>
                        </a:rPr>
                        <a:t> </a:t>
                      </a:r>
                      <a:r>
                        <a:rPr sz="1000" spc="-10" dirty="0">
                          <a:latin typeface="Arial"/>
                          <a:cs typeface="Arial"/>
                        </a:rPr>
                        <a:t>in</a:t>
                      </a:r>
                      <a:r>
                        <a:rPr sz="1000" spc="-95" dirty="0">
                          <a:latin typeface="Arial"/>
                          <a:cs typeface="Arial"/>
                        </a:rPr>
                        <a:t> </a:t>
                      </a:r>
                      <a:r>
                        <a:rPr sz="1000" spc="-10" dirty="0">
                          <a:latin typeface="Arial"/>
                          <a:cs typeface="Arial"/>
                        </a:rPr>
                        <a:t>procuring, </a:t>
                      </a:r>
                      <a:r>
                        <a:rPr sz="1000" spc="-60" dirty="0">
                          <a:latin typeface="Arial"/>
                          <a:cs typeface="Arial"/>
                        </a:rPr>
                        <a:t>implementing</a:t>
                      </a:r>
                      <a:r>
                        <a:rPr sz="1000" spc="120" dirty="0">
                          <a:latin typeface="Arial"/>
                          <a:cs typeface="Arial"/>
                        </a:rPr>
                        <a:t> </a:t>
                      </a:r>
                      <a:r>
                        <a:rPr sz="1000" spc="-65" dirty="0">
                          <a:latin typeface="Arial"/>
                          <a:cs typeface="Arial"/>
                        </a:rPr>
                        <a:t>and</a:t>
                      </a:r>
                      <a:r>
                        <a:rPr sz="1000" spc="-70" dirty="0">
                          <a:latin typeface="Arial"/>
                          <a:cs typeface="Arial"/>
                        </a:rPr>
                        <a:t> </a:t>
                      </a:r>
                      <a:r>
                        <a:rPr sz="1000" spc="-10" dirty="0">
                          <a:latin typeface="Arial"/>
                          <a:cs typeface="Arial"/>
                        </a:rPr>
                        <a:t>supporting </a:t>
                      </a:r>
                      <a:r>
                        <a:rPr sz="1000" spc="-65" dirty="0">
                          <a:latin typeface="Arial"/>
                          <a:cs typeface="Arial"/>
                        </a:rPr>
                        <a:t>computing</a:t>
                      </a:r>
                      <a:r>
                        <a:rPr sz="1000" spc="30" dirty="0">
                          <a:latin typeface="Arial"/>
                          <a:cs typeface="Arial"/>
                        </a:rPr>
                        <a:t> </a:t>
                      </a:r>
                      <a:r>
                        <a:rPr sz="1000" spc="-55" dirty="0">
                          <a:latin typeface="Arial"/>
                          <a:cs typeface="Arial"/>
                        </a:rPr>
                        <a:t>applications</a:t>
                      </a:r>
                      <a:r>
                        <a:rPr sz="1000" spc="65" dirty="0">
                          <a:latin typeface="Arial"/>
                          <a:cs typeface="Arial"/>
                        </a:rPr>
                        <a:t> </a:t>
                      </a:r>
                      <a:r>
                        <a:rPr sz="1000" spc="-10" dirty="0">
                          <a:latin typeface="Arial"/>
                          <a:cs typeface="Arial"/>
                        </a:rPr>
                        <a:t>within </a:t>
                      </a:r>
                      <a:r>
                        <a:rPr sz="1000" spc="-120" dirty="0">
                          <a:latin typeface="Arial"/>
                          <a:cs typeface="Arial"/>
                        </a:rPr>
                        <a:t>an</a:t>
                      </a:r>
                      <a:r>
                        <a:rPr sz="1000" spc="-105" dirty="0">
                          <a:latin typeface="Arial"/>
                          <a:cs typeface="Arial"/>
                        </a:rPr>
                        <a:t> </a:t>
                      </a:r>
                      <a:r>
                        <a:rPr sz="1000" spc="-60" dirty="0">
                          <a:latin typeface="Arial"/>
                          <a:cs typeface="Arial"/>
                        </a:rPr>
                        <a:t>organizational</a:t>
                      </a:r>
                      <a:r>
                        <a:rPr sz="1000" spc="50" dirty="0">
                          <a:latin typeface="Arial"/>
                          <a:cs typeface="Arial"/>
                        </a:rPr>
                        <a:t> </a:t>
                      </a:r>
                      <a:r>
                        <a:rPr sz="1000" spc="-20" dirty="0">
                          <a:latin typeface="Arial"/>
                          <a:cs typeface="Arial"/>
                        </a:rPr>
                        <a:t>context.</a:t>
                      </a:r>
                      <a:r>
                        <a:rPr sz="1000" spc="220" dirty="0">
                          <a:latin typeface="Arial"/>
                          <a:cs typeface="Arial"/>
                        </a:rPr>
                        <a:t> </a:t>
                      </a:r>
                      <a:r>
                        <a:rPr sz="1000" spc="-25" dirty="0">
                          <a:latin typeface="Arial"/>
                          <a:cs typeface="Arial"/>
                        </a:rPr>
                        <a:t>In </a:t>
                      </a:r>
                      <a:r>
                        <a:rPr sz="1000" spc="-65" dirty="0">
                          <a:latin typeface="Arial"/>
                          <a:cs typeface="Arial"/>
                        </a:rPr>
                        <a:t>order </a:t>
                      </a:r>
                      <a:r>
                        <a:rPr sz="1000" dirty="0">
                          <a:latin typeface="Arial"/>
                          <a:cs typeface="Arial"/>
                        </a:rPr>
                        <a:t>to</a:t>
                      </a:r>
                      <a:r>
                        <a:rPr sz="1000" spc="-35" dirty="0">
                          <a:latin typeface="Arial"/>
                          <a:cs typeface="Arial"/>
                        </a:rPr>
                        <a:t> </a:t>
                      </a:r>
                      <a:r>
                        <a:rPr sz="1000" spc="-30" dirty="0">
                          <a:latin typeface="Arial"/>
                          <a:cs typeface="Arial"/>
                        </a:rPr>
                        <a:t>do</a:t>
                      </a:r>
                      <a:r>
                        <a:rPr sz="1000" spc="-100" dirty="0">
                          <a:latin typeface="Arial"/>
                          <a:cs typeface="Arial"/>
                        </a:rPr>
                        <a:t> </a:t>
                      </a:r>
                      <a:r>
                        <a:rPr sz="1000" spc="-60" dirty="0">
                          <a:latin typeface="Arial"/>
                          <a:cs typeface="Arial"/>
                        </a:rPr>
                        <a:t>so,</a:t>
                      </a:r>
                      <a:r>
                        <a:rPr sz="1000" spc="-110" dirty="0">
                          <a:latin typeface="Arial"/>
                          <a:cs typeface="Arial"/>
                        </a:rPr>
                        <a:t> </a:t>
                      </a:r>
                      <a:r>
                        <a:rPr sz="1000" spc="-45" dirty="0">
                          <a:latin typeface="Arial"/>
                          <a:cs typeface="Arial"/>
                        </a:rPr>
                        <a:t>students</a:t>
                      </a:r>
                      <a:r>
                        <a:rPr sz="1000" spc="95" dirty="0">
                          <a:latin typeface="Arial"/>
                          <a:cs typeface="Arial"/>
                        </a:rPr>
                        <a:t> </a:t>
                      </a:r>
                      <a:r>
                        <a:rPr sz="1000" spc="-20" dirty="0">
                          <a:latin typeface="Arial"/>
                          <a:cs typeface="Arial"/>
                        </a:rPr>
                        <a:t>must </a:t>
                      </a:r>
                      <a:r>
                        <a:rPr sz="1000" spc="-130" dirty="0">
                          <a:latin typeface="Arial"/>
                          <a:cs typeface="Arial"/>
                        </a:rPr>
                        <a:t>be</a:t>
                      </a:r>
                      <a:r>
                        <a:rPr sz="1000" spc="-65" dirty="0">
                          <a:latin typeface="Arial"/>
                          <a:cs typeface="Arial"/>
                        </a:rPr>
                        <a:t> </a:t>
                      </a:r>
                      <a:r>
                        <a:rPr sz="1000" spc="-40" dirty="0">
                          <a:latin typeface="Arial"/>
                          <a:cs typeface="Arial"/>
                        </a:rPr>
                        <a:t>interested</a:t>
                      </a:r>
                      <a:r>
                        <a:rPr sz="1000" spc="10" dirty="0">
                          <a:latin typeface="Arial"/>
                          <a:cs typeface="Arial"/>
                        </a:rPr>
                        <a:t> </a:t>
                      </a:r>
                      <a:r>
                        <a:rPr sz="1000" spc="-10" dirty="0">
                          <a:latin typeface="Arial"/>
                          <a:cs typeface="Arial"/>
                        </a:rPr>
                        <a:t>in</a:t>
                      </a:r>
                      <a:r>
                        <a:rPr sz="1000" spc="-130" dirty="0">
                          <a:latin typeface="Arial"/>
                          <a:cs typeface="Arial"/>
                        </a:rPr>
                        <a:t> </a:t>
                      </a:r>
                      <a:r>
                        <a:rPr sz="1000" spc="-45" dirty="0">
                          <a:latin typeface="Arial"/>
                          <a:cs typeface="Arial"/>
                        </a:rPr>
                        <a:t>obtaining</a:t>
                      </a:r>
                      <a:r>
                        <a:rPr sz="1000" spc="35" dirty="0">
                          <a:latin typeface="Arial"/>
                          <a:cs typeface="Arial"/>
                        </a:rPr>
                        <a:t> </a:t>
                      </a:r>
                      <a:r>
                        <a:rPr sz="1000" spc="-50" dirty="0">
                          <a:latin typeface="Arial"/>
                          <a:cs typeface="Arial"/>
                        </a:rPr>
                        <a:t>a </a:t>
                      </a:r>
                      <a:r>
                        <a:rPr sz="1000" spc="-60" dirty="0">
                          <a:latin typeface="Arial"/>
                          <a:cs typeface="Arial"/>
                        </a:rPr>
                        <a:t>combination</a:t>
                      </a:r>
                      <a:r>
                        <a:rPr sz="1000" spc="125" dirty="0">
                          <a:latin typeface="Arial"/>
                          <a:cs typeface="Arial"/>
                        </a:rPr>
                        <a:t> </a:t>
                      </a:r>
                      <a:r>
                        <a:rPr sz="1000" dirty="0">
                          <a:latin typeface="Arial"/>
                          <a:cs typeface="Arial"/>
                        </a:rPr>
                        <a:t>of</a:t>
                      </a:r>
                      <a:r>
                        <a:rPr sz="1000" spc="-80" dirty="0">
                          <a:latin typeface="Arial"/>
                          <a:cs typeface="Arial"/>
                        </a:rPr>
                        <a:t> </a:t>
                      </a:r>
                      <a:r>
                        <a:rPr sz="1000" spc="-45" dirty="0">
                          <a:latin typeface="Arial"/>
                          <a:cs typeface="Arial"/>
                        </a:rPr>
                        <a:t>both</a:t>
                      </a:r>
                      <a:r>
                        <a:rPr sz="1000" spc="-70" dirty="0">
                          <a:latin typeface="Arial"/>
                          <a:cs typeface="Arial"/>
                        </a:rPr>
                        <a:t> </a:t>
                      </a:r>
                      <a:r>
                        <a:rPr sz="1000" spc="-10" dirty="0">
                          <a:latin typeface="Arial"/>
                          <a:cs typeface="Arial"/>
                        </a:rPr>
                        <a:t>technical </a:t>
                      </a:r>
                      <a:r>
                        <a:rPr sz="1000" spc="-110" dirty="0">
                          <a:latin typeface="Arial"/>
                          <a:cs typeface="Arial"/>
                        </a:rPr>
                        <a:t>and</a:t>
                      </a:r>
                      <a:r>
                        <a:rPr sz="1000" spc="-95" dirty="0">
                          <a:latin typeface="Arial"/>
                          <a:cs typeface="Arial"/>
                        </a:rPr>
                        <a:t> </a:t>
                      </a:r>
                      <a:r>
                        <a:rPr sz="1000" spc="-35" dirty="0">
                          <a:latin typeface="Arial"/>
                          <a:cs typeface="Arial"/>
                        </a:rPr>
                        <a:t>functional</a:t>
                      </a:r>
                      <a:r>
                        <a:rPr sz="1000" spc="70" dirty="0">
                          <a:latin typeface="Arial"/>
                          <a:cs typeface="Arial"/>
                        </a:rPr>
                        <a:t> </a:t>
                      </a:r>
                      <a:r>
                        <a:rPr sz="1000" spc="-10" dirty="0">
                          <a:latin typeface="Arial"/>
                          <a:cs typeface="Arial"/>
                        </a:rPr>
                        <a:t>(Accounting, </a:t>
                      </a:r>
                      <a:r>
                        <a:rPr sz="1000" spc="-60" dirty="0">
                          <a:latin typeface="Arial"/>
                          <a:cs typeface="Arial"/>
                        </a:rPr>
                        <a:t>Marketing,</a:t>
                      </a:r>
                      <a:r>
                        <a:rPr sz="1000" spc="55" dirty="0">
                          <a:latin typeface="Arial"/>
                          <a:cs typeface="Arial"/>
                        </a:rPr>
                        <a:t> </a:t>
                      </a:r>
                      <a:r>
                        <a:rPr sz="1000" spc="-10" dirty="0">
                          <a:latin typeface="Arial"/>
                          <a:cs typeface="Arial"/>
                        </a:rPr>
                        <a:t>Strategic </a:t>
                      </a:r>
                      <a:r>
                        <a:rPr sz="1000" spc="-80" dirty="0">
                          <a:latin typeface="Arial"/>
                          <a:cs typeface="Arial"/>
                        </a:rPr>
                        <a:t>management,</a:t>
                      </a:r>
                      <a:r>
                        <a:rPr sz="1000" spc="65" dirty="0">
                          <a:latin typeface="Arial"/>
                          <a:cs typeface="Arial"/>
                        </a:rPr>
                        <a:t> </a:t>
                      </a:r>
                      <a:r>
                        <a:rPr sz="1000" spc="-30" dirty="0">
                          <a:latin typeface="Arial"/>
                          <a:cs typeface="Arial"/>
                        </a:rPr>
                        <a:t>etc.)</a:t>
                      </a:r>
                      <a:r>
                        <a:rPr sz="1000" spc="-45" dirty="0">
                          <a:latin typeface="Arial"/>
                          <a:cs typeface="Arial"/>
                        </a:rPr>
                        <a:t> </a:t>
                      </a:r>
                      <a:r>
                        <a:rPr sz="1000" spc="-20" dirty="0">
                          <a:latin typeface="Arial"/>
                          <a:cs typeface="Arial"/>
                        </a:rPr>
                        <a:t>knowledge, </a:t>
                      </a:r>
                      <a:r>
                        <a:rPr sz="1000" spc="-80" dirty="0">
                          <a:latin typeface="Arial"/>
                          <a:cs typeface="Arial"/>
                        </a:rPr>
                        <a:t>which</a:t>
                      </a:r>
                      <a:r>
                        <a:rPr sz="1000" spc="15" dirty="0">
                          <a:latin typeface="Arial"/>
                          <a:cs typeface="Arial"/>
                        </a:rPr>
                        <a:t> </a:t>
                      </a:r>
                      <a:r>
                        <a:rPr sz="1000" spc="-20" dirty="0">
                          <a:latin typeface="Arial"/>
                          <a:cs typeface="Arial"/>
                        </a:rPr>
                        <a:t>would</a:t>
                      </a:r>
                      <a:r>
                        <a:rPr sz="1000" spc="-125" dirty="0">
                          <a:latin typeface="Arial"/>
                          <a:cs typeface="Arial"/>
                        </a:rPr>
                        <a:t> </a:t>
                      </a:r>
                      <a:r>
                        <a:rPr sz="1000" spc="-75" dirty="0">
                          <a:latin typeface="Arial"/>
                          <a:cs typeface="Arial"/>
                        </a:rPr>
                        <a:t>enable</a:t>
                      </a:r>
                      <a:r>
                        <a:rPr sz="1000" spc="30" dirty="0">
                          <a:latin typeface="Arial"/>
                          <a:cs typeface="Arial"/>
                        </a:rPr>
                        <a:t> </a:t>
                      </a:r>
                      <a:r>
                        <a:rPr sz="1000" spc="-10" dirty="0">
                          <a:latin typeface="Arial"/>
                          <a:cs typeface="Arial"/>
                        </a:rPr>
                        <a:t>them</a:t>
                      </a:r>
                      <a:r>
                        <a:rPr sz="1000" spc="-110" dirty="0">
                          <a:latin typeface="Arial"/>
                          <a:cs typeface="Arial"/>
                        </a:rPr>
                        <a:t> </a:t>
                      </a:r>
                      <a:r>
                        <a:rPr sz="1000" spc="-25" dirty="0">
                          <a:latin typeface="Arial"/>
                          <a:cs typeface="Arial"/>
                        </a:rPr>
                        <a:t>to</a:t>
                      </a:r>
                      <a:r>
                        <a:rPr sz="1000" spc="500" dirty="0">
                          <a:latin typeface="Arial"/>
                          <a:cs typeface="Arial"/>
                        </a:rPr>
                        <a:t> </a:t>
                      </a:r>
                      <a:r>
                        <a:rPr sz="1000" spc="-85" dirty="0">
                          <a:latin typeface="Arial"/>
                          <a:cs typeface="Arial"/>
                        </a:rPr>
                        <a:t>act</a:t>
                      </a:r>
                      <a:r>
                        <a:rPr sz="1000" spc="-90" dirty="0">
                          <a:latin typeface="Arial"/>
                          <a:cs typeface="Arial"/>
                        </a:rPr>
                        <a:t> </a:t>
                      </a:r>
                      <a:r>
                        <a:rPr sz="1000" spc="-95" dirty="0">
                          <a:latin typeface="Arial"/>
                          <a:cs typeface="Arial"/>
                        </a:rPr>
                        <a:t>as</a:t>
                      </a:r>
                      <a:r>
                        <a:rPr sz="1000" spc="-80" dirty="0">
                          <a:latin typeface="Arial"/>
                          <a:cs typeface="Arial"/>
                        </a:rPr>
                        <a:t> </a:t>
                      </a:r>
                      <a:r>
                        <a:rPr sz="1000" spc="-40" dirty="0">
                          <a:latin typeface="Arial"/>
                          <a:cs typeface="Arial"/>
                        </a:rPr>
                        <a:t>a</a:t>
                      </a:r>
                      <a:r>
                        <a:rPr sz="1000" spc="-125" dirty="0">
                          <a:latin typeface="Arial"/>
                          <a:cs typeface="Arial"/>
                        </a:rPr>
                        <a:t> </a:t>
                      </a:r>
                      <a:r>
                        <a:rPr sz="1000" spc="-55" dirty="0">
                          <a:latin typeface="Arial"/>
                          <a:cs typeface="Arial"/>
                        </a:rPr>
                        <a:t>bridge</a:t>
                      </a:r>
                      <a:r>
                        <a:rPr sz="1000" spc="35" dirty="0">
                          <a:latin typeface="Arial"/>
                          <a:cs typeface="Arial"/>
                        </a:rPr>
                        <a:t> </a:t>
                      </a:r>
                      <a:r>
                        <a:rPr sz="1000" spc="-60" dirty="0">
                          <a:latin typeface="Arial"/>
                          <a:cs typeface="Arial"/>
                        </a:rPr>
                        <a:t>between</a:t>
                      </a:r>
                      <a:r>
                        <a:rPr sz="1000" spc="25" dirty="0">
                          <a:latin typeface="Arial"/>
                          <a:cs typeface="Arial"/>
                        </a:rPr>
                        <a:t> </a:t>
                      </a:r>
                      <a:r>
                        <a:rPr sz="1000" spc="-25" dirty="0">
                          <a:latin typeface="Arial"/>
                          <a:cs typeface="Arial"/>
                        </a:rPr>
                        <a:t>the </a:t>
                      </a:r>
                      <a:r>
                        <a:rPr sz="1000" spc="-90" dirty="0">
                          <a:latin typeface="Arial"/>
                          <a:cs typeface="Arial"/>
                        </a:rPr>
                        <a:t>more</a:t>
                      </a:r>
                      <a:r>
                        <a:rPr sz="1000" spc="-45" dirty="0">
                          <a:latin typeface="Arial"/>
                          <a:cs typeface="Arial"/>
                        </a:rPr>
                        <a:t> technical</a:t>
                      </a:r>
                      <a:r>
                        <a:rPr sz="1000" spc="25" dirty="0">
                          <a:latin typeface="Arial"/>
                          <a:cs typeface="Arial"/>
                        </a:rPr>
                        <a:t> </a:t>
                      </a:r>
                      <a:r>
                        <a:rPr sz="1000" spc="-65" dirty="0">
                          <a:latin typeface="Arial"/>
                          <a:cs typeface="Arial"/>
                        </a:rPr>
                        <a:t>and</a:t>
                      </a:r>
                      <a:r>
                        <a:rPr sz="1000" spc="-105" dirty="0">
                          <a:latin typeface="Arial"/>
                          <a:cs typeface="Arial"/>
                        </a:rPr>
                        <a:t> </a:t>
                      </a:r>
                      <a:r>
                        <a:rPr sz="1000" spc="-25" dirty="0">
                          <a:latin typeface="Arial"/>
                          <a:cs typeface="Arial"/>
                        </a:rPr>
                        <a:t>the </a:t>
                      </a:r>
                      <a:r>
                        <a:rPr sz="1000" spc="-45" dirty="0">
                          <a:latin typeface="Arial"/>
                          <a:cs typeface="Arial"/>
                        </a:rPr>
                        <a:t>functional</a:t>
                      </a:r>
                      <a:r>
                        <a:rPr sz="1000" spc="40" dirty="0">
                          <a:latin typeface="Arial"/>
                          <a:cs typeface="Arial"/>
                        </a:rPr>
                        <a:t> </a:t>
                      </a:r>
                      <a:r>
                        <a:rPr sz="1000" spc="-25" dirty="0">
                          <a:latin typeface="Arial"/>
                          <a:cs typeface="Arial"/>
                        </a:rPr>
                        <a:t>staff</a:t>
                      </a:r>
                      <a:r>
                        <a:rPr sz="1000" spc="-50" dirty="0">
                          <a:latin typeface="Arial"/>
                          <a:cs typeface="Arial"/>
                        </a:rPr>
                        <a:t> </a:t>
                      </a:r>
                      <a:r>
                        <a:rPr sz="1000" spc="-25" dirty="0">
                          <a:latin typeface="Arial"/>
                          <a:cs typeface="Arial"/>
                        </a:rPr>
                        <a:t>in</a:t>
                      </a:r>
                      <a:r>
                        <a:rPr sz="1000" spc="500" dirty="0">
                          <a:latin typeface="Arial"/>
                          <a:cs typeface="Arial"/>
                        </a:rPr>
                        <a:t> </a:t>
                      </a:r>
                      <a:r>
                        <a:rPr sz="1000" spc="-65" dirty="0">
                          <a:latin typeface="Arial"/>
                          <a:cs typeface="Arial"/>
                        </a:rPr>
                        <a:t>organizations.</a:t>
                      </a:r>
                      <a:r>
                        <a:rPr sz="1000" spc="305" dirty="0">
                          <a:latin typeface="Arial"/>
                          <a:cs typeface="Arial"/>
                        </a:rPr>
                        <a:t> </a:t>
                      </a:r>
                      <a:r>
                        <a:rPr sz="1000" spc="-130" dirty="0">
                          <a:latin typeface="Arial"/>
                          <a:cs typeface="Arial"/>
                        </a:rPr>
                        <a:t>IS</a:t>
                      </a:r>
                      <a:r>
                        <a:rPr sz="1000" spc="-110" dirty="0">
                          <a:latin typeface="Arial"/>
                          <a:cs typeface="Arial"/>
                        </a:rPr>
                        <a:t> </a:t>
                      </a:r>
                      <a:r>
                        <a:rPr sz="1000" spc="-50" dirty="0">
                          <a:latin typeface="Arial"/>
                          <a:cs typeface="Arial"/>
                        </a:rPr>
                        <a:t>students</a:t>
                      </a:r>
                      <a:r>
                        <a:rPr sz="1000" spc="30" dirty="0">
                          <a:latin typeface="Arial"/>
                          <a:cs typeface="Arial"/>
                        </a:rPr>
                        <a:t> </a:t>
                      </a:r>
                      <a:r>
                        <a:rPr sz="1000" spc="-30" dirty="0">
                          <a:latin typeface="Arial"/>
                          <a:cs typeface="Arial"/>
                        </a:rPr>
                        <a:t>must </a:t>
                      </a:r>
                      <a:r>
                        <a:rPr sz="1000" spc="-110" dirty="0">
                          <a:latin typeface="Arial"/>
                          <a:cs typeface="Arial"/>
                        </a:rPr>
                        <a:t>also</a:t>
                      </a:r>
                      <a:r>
                        <a:rPr sz="1000" dirty="0">
                          <a:latin typeface="Arial"/>
                          <a:cs typeface="Arial"/>
                        </a:rPr>
                        <a:t> </a:t>
                      </a:r>
                      <a:r>
                        <a:rPr sz="1000" spc="-45" dirty="0">
                          <a:latin typeface="Arial"/>
                          <a:cs typeface="Arial"/>
                        </a:rPr>
                        <a:t>like</a:t>
                      </a:r>
                      <a:r>
                        <a:rPr sz="1000" spc="-105" dirty="0">
                          <a:latin typeface="Arial"/>
                          <a:cs typeface="Arial"/>
                        </a:rPr>
                        <a:t> </a:t>
                      </a:r>
                      <a:r>
                        <a:rPr sz="1000" dirty="0">
                          <a:latin typeface="Arial"/>
                          <a:cs typeface="Arial"/>
                        </a:rPr>
                        <a:t>to</a:t>
                      </a:r>
                      <a:r>
                        <a:rPr sz="1000" spc="5" dirty="0">
                          <a:latin typeface="Arial"/>
                          <a:cs typeface="Arial"/>
                        </a:rPr>
                        <a:t> </a:t>
                      </a:r>
                      <a:r>
                        <a:rPr sz="1000" spc="-35" dirty="0">
                          <a:latin typeface="Arial"/>
                          <a:cs typeface="Arial"/>
                        </a:rPr>
                        <a:t>interact</a:t>
                      </a:r>
                      <a:r>
                        <a:rPr sz="1000" spc="20" dirty="0">
                          <a:latin typeface="Arial"/>
                          <a:cs typeface="Arial"/>
                        </a:rPr>
                        <a:t> </a:t>
                      </a:r>
                      <a:r>
                        <a:rPr sz="1000" spc="-20" dirty="0">
                          <a:latin typeface="Arial"/>
                          <a:cs typeface="Arial"/>
                        </a:rPr>
                        <a:t>with</a:t>
                      </a:r>
                      <a:endParaRPr sz="1000" dirty="0">
                        <a:latin typeface="Arial"/>
                        <a:cs typeface="Arial"/>
                      </a:endParaRPr>
                    </a:p>
                    <a:p>
                      <a:pPr marL="77470" marR="382270">
                        <a:lnSpc>
                          <a:spcPct val="100899"/>
                        </a:lnSpc>
                      </a:pPr>
                      <a:r>
                        <a:rPr sz="1000" spc="-75" dirty="0">
                          <a:latin typeface="Arial"/>
                          <a:cs typeface="Arial"/>
                        </a:rPr>
                        <a:t>people,</a:t>
                      </a:r>
                      <a:r>
                        <a:rPr sz="1000" spc="15" dirty="0">
                          <a:latin typeface="Arial"/>
                          <a:cs typeface="Arial"/>
                        </a:rPr>
                        <a:t> </a:t>
                      </a:r>
                      <a:r>
                        <a:rPr sz="1000" spc="-85" dirty="0">
                          <a:latin typeface="Arial"/>
                          <a:cs typeface="Arial"/>
                        </a:rPr>
                        <a:t>besides</a:t>
                      </a:r>
                      <a:r>
                        <a:rPr sz="1000" spc="40" dirty="0">
                          <a:latin typeface="Arial"/>
                          <a:cs typeface="Arial"/>
                        </a:rPr>
                        <a:t> </a:t>
                      </a:r>
                      <a:r>
                        <a:rPr sz="1000" spc="-45" dirty="0">
                          <a:latin typeface="Arial"/>
                          <a:cs typeface="Arial"/>
                        </a:rPr>
                        <a:t>interacting </a:t>
                      </a:r>
                      <a:r>
                        <a:rPr sz="1000" spc="-35" dirty="0">
                          <a:latin typeface="Arial"/>
                          <a:cs typeface="Arial"/>
                        </a:rPr>
                        <a:t>with</a:t>
                      </a:r>
                      <a:r>
                        <a:rPr sz="1000" spc="-80" dirty="0">
                          <a:latin typeface="Arial"/>
                          <a:cs typeface="Arial"/>
                        </a:rPr>
                        <a:t> </a:t>
                      </a:r>
                      <a:r>
                        <a:rPr sz="1000" spc="-10" dirty="0">
                          <a:latin typeface="Arial"/>
                          <a:cs typeface="Arial"/>
                        </a:rPr>
                        <a:t>technology.</a:t>
                      </a:r>
                      <a:endParaRPr sz="1000" dirty="0">
                        <a:latin typeface="Arial"/>
                        <a:cs typeface="Arial"/>
                      </a:endParaRPr>
                    </a:p>
                  </a:txBody>
                  <a:tcPr marL="0" marR="0" marT="2521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3"/>
                  </a:ext>
                </a:extLst>
              </a:tr>
            </a:tbl>
          </a:graphicData>
        </a:graphic>
      </p:graphicFrame>
      <p:pic>
        <p:nvPicPr>
          <p:cNvPr id="16" name="object 16"/>
          <p:cNvPicPr/>
          <p:nvPr/>
        </p:nvPicPr>
        <p:blipFill>
          <a:blip r:embed="rId9" cstate="print"/>
          <a:stretch>
            <a:fillRect/>
          </a:stretch>
        </p:blipFill>
        <p:spPr>
          <a:xfrm>
            <a:off x="944096" y="1316130"/>
            <a:ext cx="11206" cy="22412"/>
          </a:xfrm>
          <a:prstGeom prst="rect">
            <a:avLst/>
          </a:prstGeom>
        </p:spPr>
      </p:pic>
      <p:pic>
        <p:nvPicPr>
          <p:cNvPr id="17" name="object 17"/>
          <p:cNvPicPr/>
          <p:nvPr/>
        </p:nvPicPr>
        <p:blipFill>
          <a:blip r:embed="rId9" cstate="print"/>
          <a:stretch>
            <a:fillRect/>
          </a:stretch>
        </p:blipFill>
        <p:spPr>
          <a:xfrm>
            <a:off x="1100978" y="1316130"/>
            <a:ext cx="11206" cy="22412"/>
          </a:xfrm>
          <a:prstGeom prst="rect">
            <a:avLst/>
          </a:prstGeom>
        </p:spPr>
      </p:pic>
      <p:pic>
        <p:nvPicPr>
          <p:cNvPr id="18" name="object 18"/>
          <p:cNvPicPr/>
          <p:nvPr/>
        </p:nvPicPr>
        <p:blipFill>
          <a:blip r:embed="rId9" cstate="print"/>
          <a:stretch>
            <a:fillRect/>
          </a:stretch>
        </p:blipFill>
        <p:spPr>
          <a:xfrm>
            <a:off x="4081182" y="1316130"/>
            <a:ext cx="11206" cy="22412"/>
          </a:xfrm>
          <a:prstGeom prst="rect">
            <a:avLst/>
          </a:prstGeom>
        </p:spPr>
      </p:pic>
      <p:pic>
        <p:nvPicPr>
          <p:cNvPr id="19" name="object 19"/>
          <p:cNvPicPr/>
          <p:nvPr/>
        </p:nvPicPr>
        <p:blipFill>
          <a:blip r:embed="rId9" cstate="print"/>
          <a:stretch>
            <a:fillRect/>
          </a:stretch>
        </p:blipFill>
        <p:spPr>
          <a:xfrm>
            <a:off x="5493684" y="1316130"/>
            <a:ext cx="11206" cy="22412"/>
          </a:xfrm>
          <a:prstGeom prst="rect">
            <a:avLst/>
          </a:prstGeom>
        </p:spPr>
      </p:pic>
      <p:pic>
        <p:nvPicPr>
          <p:cNvPr id="20" name="object 20"/>
          <p:cNvPicPr/>
          <p:nvPr/>
        </p:nvPicPr>
        <p:blipFill>
          <a:blip r:embed="rId9" cstate="print"/>
          <a:stretch>
            <a:fillRect/>
          </a:stretch>
        </p:blipFill>
        <p:spPr>
          <a:xfrm>
            <a:off x="6603067" y="1316130"/>
            <a:ext cx="11205" cy="22412"/>
          </a:xfrm>
          <a:prstGeom prst="rect">
            <a:avLst/>
          </a:prstGeom>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72250" y="274544"/>
            <a:ext cx="1664074" cy="302559"/>
          </a:xfrm>
          <a:prstGeom prst="rect">
            <a:avLst/>
          </a:prstGeom>
        </p:spPr>
      </p:pic>
      <p:pic>
        <p:nvPicPr>
          <p:cNvPr id="4" name="object 4"/>
          <p:cNvPicPr/>
          <p:nvPr/>
        </p:nvPicPr>
        <p:blipFill>
          <a:blip r:embed="rId3" cstate="print"/>
          <a:stretch>
            <a:fillRect/>
          </a:stretch>
        </p:blipFill>
        <p:spPr>
          <a:xfrm>
            <a:off x="862853" y="3146052"/>
            <a:ext cx="7429500" cy="2445684"/>
          </a:xfrm>
          <a:prstGeom prst="rect">
            <a:avLst/>
          </a:prstGeom>
        </p:spPr>
      </p:pic>
      <p:pic>
        <p:nvPicPr>
          <p:cNvPr id="5" name="object 5"/>
          <p:cNvPicPr/>
          <p:nvPr/>
        </p:nvPicPr>
        <p:blipFill>
          <a:blip r:embed="rId4" cstate="print"/>
          <a:stretch>
            <a:fillRect/>
          </a:stretch>
        </p:blipFill>
        <p:spPr>
          <a:xfrm>
            <a:off x="1155326" y="1024778"/>
            <a:ext cx="1154206" cy="156881"/>
          </a:xfrm>
          <a:prstGeom prst="rect">
            <a:avLst/>
          </a:prstGeom>
        </p:spPr>
      </p:pic>
      <p:pic>
        <p:nvPicPr>
          <p:cNvPr id="7" name="object 7"/>
          <p:cNvPicPr/>
          <p:nvPr/>
        </p:nvPicPr>
        <p:blipFill>
          <a:blip r:embed="rId5" cstate="print"/>
          <a:stretch>
            <a:fillRect/>
          </a:stretch>
        </p:blipFill>
        <p:spPr>
          <a:xfrm>
            <a:off x="4131609" y="1024777"/>
            <a:ext cx="1299882" cy="302558"/>
          </a:xfrm>
          <a:prstGeom prst="rect">
            <a:avLst/>
          </a:prstGeom>
        </p:spPr>
      </p:pic>
      <p:pic>
        <p:nvPicPr>
          <p:cNvPr id="8" name="object 8"/>
          <p:cNvPicPr/>
          <p:nvPr/>
        </p:nvPicPr>
        <p:blipFill>
          <a:blip r:embed="rId6" cstate="print"/>
          <a:stretch>
            <a:fillRect/>
          </a:stretch>
        </p:blipFill>
        <p:spPr>
          <a:xfrm>
            <a:off x="5543550" y="1024778"/>
            <a:ext cx="997324" cy="156881"/>
          </a:xfrm>
          <a:prstGeom prst="rect">
            <a:avLst/>
          </a:prstGeom>
        </p:spPr>
      </p:pic>
      <p:pic>
        <p:nvPicPr>
          <p:cNvPr id="9" name="object 9"/>
          <p:cNvPicPr/>
          <p:nvPr/>
        </p:nvPicPr>
        <p:blipFill>
          <a:blip r:embed="rId7" cstate="print"/>
          <a:stretch>
            <a:fillRect/>
          </a:stretch>
        </p:blipFill>
        <p:spPr>
          <a:xfrm>
            <a:off x="6652932" y="1024777"/>
            <a:ext cx="1602441" cy="302558"/>
          </a:xfrm>
          <a:prstGeom prst="rect">
            <a:avLst/>
          </a:prstGeom>
        </p:spPr>
      </p:pic>
      <p:grpSp>
        <p:nvGrpSpPr>
          <p:cNvPr id="10" name="object 10"/>
          <p:cNvGrpSpPr/>
          <p:nvPr/>
        </p:nvGrpSpPr>
        <p:grpSpPr>
          <a:xfrm>
            <a:off x="910478" y="3315260"/>
            <a:ext cx="694765" cy="313765"/>
            <a:chOff x="879475" y="3757295"/>
            <a:chExt cx="787400" cy="355600"/>
          </a:xfrm>
        </p:grpSpPr>
        <p:pic>
          <p:nvPicPr>
            <p:cNvPr id="11" name="object 11"/>
            <p:cNvPicPr/>
            <p:nvPr/>
          </p:nvPicPr>
          <p:blipFill>
            <a:blip r:embed="rId8" cstate="print"/>
            <a:stretch>
              <a:fillRect/>
            </a:stretch>
          </p:blipFill>
          <p:spPr>
            <a:xfrm>
              <a:off x="879475" y="3757295"/>
              <a:ext cx="787400" cy="177800"/>
            </a:xfrm>
            <a:prstGeom prst="rect">
              <a:avLst/>
            </a:prstGeom>
          </p:spPr>
        </p:pic>
        <p:pic>
          <p:nvPicPr>
            <p:cNvPr id="12" name="object 12"/>
            <p:cNvPicPr/>
            <p:nvPr/>
          </p:nvPicPr>
          <p:blipFill>
            <a:blip r:embed="rId9" cstate="print"/>
            <a:stretch>
              <a:fillRect/>
            </a:stretch>
          </p:blipFill>
          <p:spPr>
            <a:xfrm>
              <a:off x="879475" y="3935095"/>
              <a:ext cx="711200" cy="177800"/>
            </a:xfrm>
            <a:prstGeom prst="rect">
              <a:avLst/>
            </a:prstGeom>
          </p:spPr>
        </p:pic>
      </p:grpSp>
      <p:pic>
        <p:nvPicPr>
          <p:cNvPr id="13" name="object 13"/>
          <p:cNvPicPr/>
          <p:nvPr/>
        </p:nvPicPr>
        <p:blipFill>
          <a:blip r:embed="rId10" cstate="print"/>
          <a:stretch>
            <a:fillRect/>
          </a:stretch>
        </p:blipFill>
        <p:spPr>
          <a:xfrm>
            <a:off x="1647825" y="3471582"/>
            <a:ext cx="649941" cy="156882"/>
          </a:xfrm>
          <a:prstGeom prst="rect">
            <a:avLst/>
          </a:prstGeom>
        </p:spPr>
      </p:pic>
      <p:pic>
        <p:nvPicPr>
          <p:cNvPr id="14" name="object 14"/>
          <p:cNvPicPr/>
          <p:nvPr/>
        </p:nvPicPr>
        <p:blipFill>
          <a:blip r:embed="rId11" cstate="print"/>
          <a:stretch>
            <a:fillRect/>
          </a:stretch>
        </p:blipFill>
        <p:spPr>
          <a:xfrm>
            <a:off x="2408703" y="3471582"/>
            <a:ext cx="593912" cy="459441"/>
          </a:xfrm>
          <a:prstGeom prst="rect">
            <a:avLst/>
          </a:prstGeom>
        </p:spPr>
      </p:pic>
      <p:pic>
        <p:nvPicPr>
          <p:cNvPr id="15" name="object 15"/>
          <p:cNvPicPr/>
          <p:nvPr/>
        </p:nvPicPr>
        <p:blipFill>
          <a:blip r:embed="rId12" cstate="print"/>
          <a:stretch>
            <a:fillRect/>
          </a:stretch>
        </p:blipFill>
        <p:spPr>
          <a:xfrm>
            <a:off x="3117476" y="3471581"/>
            <a:ext cx="784412" cy="605118"/>
          </a:xfrm>
          <a:prstGeom prst="rect">
            <a:avLst/>
          </a:prstGeom>
        </p:spPr>
      </p:pic>
      <p:pic>
        <p:nvPicPr>
          <p:cNvPr id="16" name="object 16"/>
          <p:cNvPicPr/>
          <p:nvPr/>
        </p:nvPicPr>
        <p:blipFill>
          <a:blip r:embed="rId13" cstate="print"/>
          <a:stretch>
            <a:fillRect/>
          </a:stretch>
        </p:blipFill>
        <p:spPr>
          <a:xfrm>
            <a:off x="4027393" y="3471581"/>
            <a:ext cx="717176" cy="605118"/>
          </a:xfrm>
          <a:prstGeom prst="rect">
            <a:avLst/>
          </a:prstGeom>
        </p:spPr>
      </p:pic>
      <p:pic>
        <p:nvPicPr>
          <p:cNvPr id="17" name="object 17"/>
          <p:cNvPicPr/>
          <p:nvPr/>
        </p:nvPicPr>
        <p:blipFill>
          <a:blip r:embed="rId14" cstate="print"/>
          <a:stretch>
            <a:fillRect/>
          </a:stretch>
        </p:blipFill>
        <p:spPr>
          <a:xfrm>
            <a:off x="4853268" y="3471581"/>
            <a:ext cx="717176" cy="302559"/>
          </a:xfrm>
          <a:prstGeom prst="rect">
            <a:avLst/>
          </a:prstGeom>
        </p:spPr>
      </p:pic>
      <p:pic>
        <p:nvPicPr>
          <p:cNvPr id="18" name="object 18"/>
          <p:cNvPicPr/>
          <p:nvPr/>
        </p:nvPicPr>
        <p:blipFill>
          <a:blip r:embed="rId15" cstate="print"/>
          <a:stretch>
            <a:fillRect/>
          </a:stretch>
        </p:blipFill>
        <p:spPr>
          <a:xfrm>
            <a:off x="5684744" y="3471581"/>
            <a:ext cx="795617" cy="302559"/>
          </a:xfrm>
          <a:prstGeom prst="rect">
            <a:avLst/>
          </a:prstGeom>
        </p:spPr>
      </p:pic>
      <p:pic>
        <p:nvPicPr>
          <p:cNvPr id="19" name="object 19"/>
          <p:cNvPicPr/>
          <p:nvPr/>
        </p:nvPicPr>
        <p:blipFill>
          <a:blip r:embed="rId13" cstate="print"/>
          <a:stretch>
            <a:fillRect/>
          </a:stretch>
        </p:blipFill>
        <p:spPr>
          <a:xfrm>
            <a:off x="6593541" y="3471581"/>
            <a:ext cx="717176" cy="605118"/>
          </a:xfrm>
          <a:prstGeom prst="rect">
            <a:avLst/>
          </a:prstGeom>
        </p:spPr>
      </p:pic>
      <p:pic>
        <p:nvPicPr>
          <p:cNvPr id="20" name="object 20"/>
          <p:cNvPicPr/>
          <p:nvPr/>
        </p:nvPicPr>
        <p:blipFill>
          <a:blip r:embed="rId16" cstate="print"/>
          <a:stretch>
            <a:fillRect/>
          </a:stretch>
        </p:blipFill>
        <p:spPr>
          <a:xfrm>
            <a:off x="7425017" y="3471581"/>
            <a:ext cx="795618" cy="302559"/>
          </a:xfrm>
          <a:prstGeom prst="rect">
            <a:avLst/>
          </a:prstGeom>
        </p:spPr>
      </p:pic>
      <p:pic>
        <p:nvPicPr>
          <p:cNvPr id="21" name="object 21"/>
          <p:cNvPicPr/>
          <p:nvPr/>
        </p:nvPicPr>
        <p:blipFill>
          <a:blip r:embed="rId17" cstate="print"/>
          <a:stretch>
            <a:fillRect/>
          </a:stretch>
        </p:blipFill>
        <p:spPr>
          <a:xfrm>
            <a:off x="1647825" y="4079501"/>
            <a:ext cx="649941" cy="156882"/>
          </a:xfrm>
          <a:prstGeom prst="rect">
            <a:avLst/>
          </a:prstGeom>
        </p:spPr>
      </p:pic>
      <p:pic>
        <p:nvPicPr>
          <p:cNvPr id="22" name="object 22"/>
          <p:cNvPicPr/>
          <p:nvPr/>
        </p:nvPicPr>
        <p:blipFill>
          <a:blip r:embed="rId18" cstate="print"/>
          <a:stretch>
            <a:fillRect/>
          </a:stretch>
        </p:blipFill>
        <p:spPr>
          <a:xfrm>
            <a:off x="2408703" y="4079501"/>
            <a:ext cx="593912" cy="156882"/>
          </a:xfrm>
          <a:prstGeom prst="rect">
            <a:avLst/>
          </a:prstGeom>
        </p:spPr>
      </p:pic>
      <p:pic>
        <p:nvPicPr>
          <p:cNvPr id="23" name="object 23"/>
          <p:cNvPicPr/>
          <p:nvPr/>
        </p:nvPicPr>
        <p:blipFill>
          <a:blip r:embed="rId19" cstate="print"/>
          <a:stretch>
            <a:fillRect/>
          </a:stretch>
        </p:blipFill>
        <p:spPr>
          <a:xfrm>
            <a:off x="3117476" y="4079501"/>
            <a:ext cx="806824" cy="156882"/>
          </a:xfrm>
          <a:prstGeom prst="rect">
            <a:avLst/>
          </a:prstGeom>
        </p:spPr>
      </p:pic>
      <p:pic>
        <p:nvPicPr>
          <p:cNvPr id="24" name="object 24"/>
          <p:cNvPicPr/>
          <p:nvPr/>
        </p:nvPicPr>
        <p:blipFill>
          <a:blip r:embed="rId20" cstate="print"/>
          <a:stretch>
            <a:fillRect/>
          </a:stretch>
        </p:blipFill>
        <p:spPr>
          <a:xfrm>
            <a:off x="4038599" y="4079500"/>
            <a:ext cx="1535206" cy="313765"/>
          </a:xfrm>
          <a:prstGeom prst="rect">
            <a:avLst/>
          </a:prstGeom>
        </p:spPr>
      </p:pic>
      <p:pic>
        <p:nvPicPr>
          <p:cNvPr id="25" name="object 25"/>
          <p:cNvPicPr/>
          <p:nvPr/>
        </p:nvPicPr>
        <p:blipFill>
          <a:blip r:embed="rId21" cstate="print"/>
          <a:stretch>
            <a:fillRect/>
          </a:stretch>
        </p:blipFill>
        <p:spPr>
          <a:xfrm>
            <a:off x="5684743" y="4079501"/>
            <a:ext cx="2532529" cy="156882"/>
          </a:xfrm>
          <a:prstGeom prst="rect">
            <a:avLst/>
          </a:prstGeom>
        </p:spPr>
      </p:pic>
      <p:pic>
        <p:nvPicPr>
          <p:cNvPr id="26" name="object 26"/>
          <p:cNvPicPr/>
          <p:nvPr/>
        </p:nvPicPr>
        <p:blipFill>
          <a:blip r:embed="rId22" cstate="print"/>
          <a:stretch>
            <a:fillRect/>
          </a:stretch>
        </p:blipFill>
        <p:spPr>
          <a:xfrm>
            <a:off x="1647825" y="4385981"/>
            <a:ext cx="1355912" cy="302559"/>
          </a:xfrm>
          <a:prstGeom prst="rect">
            <a:avLst/>
          </a:prstGeom>
        </p:spPr>
      </p:pic>
      <p:pic>
        <p:nvPicPr>
          <p:cNvPr id="27" name="object 27"/>
          <p:cNvPicPr/>
          <p:nvPr/>
        </p:nvPicPr>
        <p:blipFill>
          <a:blip r:embed="rId23" cstate="print"/>
          <a:stretch>
            <a:fillRect/>
          </a:stretch>
        </p:blipFill>
        <p:spPr>
          <a:xfrm>
            <a:off x="3117476" y="4385982"/>
            <a:ext cx="784412" cy="156882"/>
          </a:xfrm>
          <a:prstGeom prst="rect">
            <a:avLst/>
          </a:prstGeom>
        </p:spPr>
      </p:pic>
      <p:pic>
        <p:nvPicPr>
          <p:cNvPr id="28" name="object 28"/>
          <p:cNvPicPr/>
          <p:nvPr/>
        </p:nvPicPr>
        <p:blipFill>
          <a:blip r:embed="rId24" cstate="print"/>
          <a:stretch>
            <a:fillRect/>
          </a:stretch>
        </p:blipFill>
        <p:spPr>
          <a:xfrm>
            <a:off x="4027393" y="4385982"/>
            <a:ext cx="717176" cy="156882"/>
          </a:xfrm>
          <a:prstGeom prst="rect">
            <a:avLst/>
          </a:prstGeom>
        </p:spPr>
      </p:pic>
      <p:pic>
        <p:nvPicPr>
          <p:cNvPr id="29" name="object 29"/>
          <p:cNvPicPr/>
          <p:nvPr/>
        </p:nvPicPr>
        <p:blipFill>
          <a:blip r:embed="rId25" cstate="print"/>
          <a:stretch>
            <a:fillRect/>
          </a:stretch>
        </p:blipFill>
        <p:spPr>
          <a:xfrm>
            <a:off x="4853268" y="4385982"/>
            <a:ext cx="717176" cy="156882"/>
          </a:xfrm>
          <a:prstGeom prst="rect">
            <a:avLst/>
          </a:prstGeom>
        </p:spPr>
      </p:pic>
      <p:pic>
        <p:nvPicPr>
          <p:cNvPr id="30" name="object 30"/>
          <p:cNvPicPr/>
          <p:nvPr/>
        </p:nvPicPr>
        <p:blipFill>
          <a:blip r:embed="rId26" cstate="print"/>
          <a:stretch>
            <a:fillRect/>
          </a:stretch>
        </p:blipFill>
        <p:spPr>
          <a:xfrm>
            <a:off x="5684743" y="4385982"/>
            <a:ext cx="2532529" cy="156882"/>
          </a:xfrm>
          <a:prstGeom prst="rect">
            <a:avLst/>
          </a:prstGeom>
        </p:spPr>
      </p:pic>
      <p:pic>
        <p:nvPicPr>
          <p:cNvPr id="31" name="object 31"/>
          <p:cNvPicPr/>
          <p:nvPr/>
        </p:nvPicPr>
        <p:blipFill>
          <a:blip r:embed="rId27" cstate="print"/>
          <a:stretch>
            <a:fillRect/>
          </a:stretch>
        </p:blipFill>
        <p:spPr>
          <a:xfrm>
            <a:off x="910478" y="4079500"/>
            <a:ext cx="627529" cy="1540248"/>
          </a:xfrm>
          <a:prstGeom prst="rect">
            <a:avLst/>
          </a:prstGeom>
        </p:spPr>
      </p:pic>
      <p:pic>
        <p:nvPicPr>
          <p:cNvPr id="32" name="object 32"/>
          <p:cNvPicPr/>
          <p:nvPr/>
        </p:nvPicPr>
        <p:blipFill>
          <a:blip r:embed="rId28" cstate="print"/>
          <a:stretch>
            <a:fillRect/>
          </a:stretch>
        </p:blipFill>
        <p:spPr>
          <a:xfrm>
            <a:off x="1647825" y="4692463"/>
            <a:ext cx="1355912" cy="313765"/>
          </a:xfrm>
          <a:prstGeom prst="rect">
            <a:avLst/>
          </a:prstGeom>
        </p:spPr>
      </p:pic>
      <p:pic>
        <p:nvPicPr>
          <p:cNvPr id="33" name="object 33"/>
          <p:cNvPicPr/>
          <p:nvPr/>
        </p:nvPicPr>
        <p:blipFill>
          <a:blip r:embed="rId29" cstate="print"/>
          <a:stretch>
            <a:fillRect/>
          </a:stretch>
        </p:blipFill>
        <p:spPr>
          <a:xfrm>
            <a:off x="3117476" y="4692463"/>
            <a:ext cx="784412" cy="156882"/>
          </a:xfrm>
          <a:prstGeom prst="rect">
            <a:avLst/>
          </a:prstGeom>
        </p:spPr>
      </p:pic>
      <p:pic>
        <p:nvPicPr>
          <p:cNvPr id="34" name="object 34"/>
          <p:cNvPicPr/>
          <p:nvPr/>
        </p:nvPicPr>
        <p:blipFill>
          <a:blip r:embed="rId30" cstate="print"/>
          <a:stretch>
            <a:fillRect/>
          </a:stretch>
        </p:blipFill>
        <p:spPr>
          <a:xfrm>
            <a:off x="4027393" y="4692463"/>
            <a:ext cx="717176" cy="156882"/>
          </a:xfrm>
          <a:prstGeom prst="rect">
            <a:avLst/>
          </a:prstGeom>
        </p:spPr>
      </p:pic>
      <p:pic>
        <p:nvPicPr>
          <p:cNvPr id="35" name="object 35"/>
          <p:cNvPicPr/>
          <p:nvPr/>
        </p:nvPicPr>
        <p:blipFill>
          <a:blip r:embed="rId31" cstate="print"/>
          <a:stretch>
            <a:fillRect/>
          </a:stretch>
        </p:blipFill>
        <p:spPr>
          <a:xfrm>
            <a:off x="4853268" y="4692463"/>
            <a:ext cx="717176" cy="156882"/>
          </a:xfrm>
          <a:prstGeom prst="rect">
            <a:avLst/>
          </a:prstGeom>
        </p:spPr>
      </p:pic>
      <p:pic>
        <p:nvPicPr>
          <p:cNvPr id="36" name="object 36"/>
          <p:cNvPicPr/>
          <p:nvPr/>
        </p:nvPicPr>
        <p:blipFill>
          <a:blip r:embed="rId32" cstate="print"/>
          <a:stretch>
            <a:fillRect/>
          </a:stretch>
        </p:blipFill>
        <p:spPr>
          <a:xfrm>
            <a:off x="5684744" y="4692463"/>
            <a:ext cx="795617" cy="156882"/>
          </a:xfrm>
          <a:prstGeom prst="rect">
            <a:avLst/>
          </a:prstGeom>
        </p:spPr>
      </p:pic>
      <p:pic>
        <p:nvPicPr>
          <p:cNvPr id="37" name="object 37"/>
          <p:cNvPicPr/>
          <p:nvPr/>
        </p:nvPicPr>
        <p:blipFill>
          <a:blip r:embed="rId30" cstate="print"/>
          <a:stretch>
            <a:fillRect/>
          </a:stretch>
        </p:blipFill>
        <p:spPr>
          <a:xfrm>
            <a:off x="6593541" y="4692463"/>
            <a:ext cx="717176" cy="156882"/>
          </a:xfrm>
          <a:prstGeom prst="rect">
            <a:avLst/>
          </a:prstGeom>
        </p:spPr>
      </p:pic>
      <p:pic>
        <p:nvPicPr>
          <p:cNvPr id="38" name="object 38"/>
          <p:cNvPicPr/>
          <p:nvPr/>
        </p:nvPicPr>
        <p:blipFill>
          <a:blip r:embed="rId33" cstate="print"/>
          <a:stretch>
            <a:fillRect/>
          </a:stretch>
        </p:blipFill>
        <p:spPr>
          <a:xfrm>
            <a:off x="7425017" y="4692463"/>
            <a:ext cx="795618" cy="156882"/>
          </a:xfrm>
          <a:prstGeom prst="rect">
            <a:avLst/>
          </a:prstGeom>
        </p:spPr>
      </p:pic>
      <p:pic>
        <p:nvPicPr>
          <p:cNvPr id="39" name="object 39"/>
          <p:cNvPicPr/>
          <p:nvPr/>
        </p:nvPicPr>
        <p:blipFill>
          <a:blip r:embed="rId34" cstate="print"/>
          <a:stretch>
            <a:fillRect/>
          </a:stretch>
        </p:blipFill>
        <p:spPr>
          <a:xfrm>
            <a:off x="1647825" y="4999504"/>
            <a:ext cx="3922059" cy="156882"/>
          </a:xfrm>
          <a:prstGeom prst="rect">
            <a:avLst/>
          </a:prstGeom>
        </p:spPr>
      </p:pic>
      <p:pic>
        <p:nvPicPr>
          <p:cNvPr id="40" name="object 40"/>
          <p:cNvPicPr/>
          <p:nvPr/>
        </p:nvPicPr>
        <p:blipFill>
          <a:blip r:embed="rId35" cstate="print"/>
          <a:stretch>
            <a:fillRect/>
          </a:stretch>
        </p:blipFill>
        <p:spPr>
          <a:xfrm>
            <a:off x="5684744" y="4999504"/>
            <a:ext cx="795617" cy="156882"/>
          </a:xfrm>
          <a:prstGeom prst="rect">
            <a:avLst/>
          </a:prstGeom>
        </p:spPr>
      </p:pic>
      <p:pic>
        <p:nvPicPr>
          <p:cNvPr id="41" name="object 41"/>
          <p:cNvPicPr/>
          <p:nvPr/>
        </p:nvPicPr>
        <p:blipFill>
          <a:blip r:embed="rId24" cstate="print"/>
          <a:stretch>
            <a:fillRect/>
          </a:stretch>
        </p:blipFill>
        <p:spPr>
          <a:xfrm>
            <a:off x="6593541" y="4999504"/>
            <a:ext cx="717176" cy="156882"/>
          </a:xfrm>
          <a:prstGeom prst="rect">
            <a:avLst/>
          </a:prstGeom>
        </p:spPr>
      </p:pic>
      <p:pic>
        <p:nvPicPr>
          <p:cNvPr id="42" name="object 42"/>
          <p:cNvPicPr/>
          <p:nvPr/>
        </p:nvPicPr>
        <p:blipFill>
          <a:blip r:embed="rId36" cstate="print"/>
          <a:stretch>
            <a:fillRect/>
          </a:stretch>
        </p:blipFill>
        <p:spPr>
          <a:xfrm>
            <a:off x="7425017" y="4999504"/>
            <a:ext cx="795618" cy="156882"/>
          </a:xfrm>
          <a:prstGeom prst="rect">
            <a:avLst/>
          </a:prstGeom>
        </p:spPr>
      </p:pic>
      <p:pic>
        <p:nvPicPr>
          <p:cNvPr id="43" name="object 43"/>
          <p:cNvPicPr/>
          <p:nvPr/>
        </p:nvPicPr>
        <p:blipFill>
          <a:blip r:embed="rId37" cstate="print"/>
          <a:stretch>
            <a:fillRect/>
          </a:stretch>
        </p:blipFill>
        <p:spPr>
          <a:xfrm>
            <a:off x="1647825" y="5305985"/>
            <a:ext cx="3922059" cy="156882"/>
          </a:xfrm>
          <a:prstGeom prst="rect">
            <a:avLst/>
          </a:prstGeom>
        </p:spPr>
      </p:pic>
      <p:pic>
        <p:nvPicPr>
          <p:cNvPr id="44" name="object 44"/>
          <p:cNvPicPr/>
          <p:nvPr/>
        </p:nvPicPr>
        <p:blipFill>
          <a:blip r:embed="rId38" cstate="print"/>
          <a:stretch>
            <a:fillRect/>
          </a:stretch>
        </p:blipFill>
        <p:spPr>
          <a:xfrm>
            <a:off x="5684744" y="5305985"/>
            <a:ext cx="795617" cy="156882"/>
          </a:xfrm>
          <a:prstGeom prst="rect">
            <a:avLst/>
          </a:prstGeom>
        </p:spPr>
      </p:pic>
      <p:pic>
        <p:nvPicPr>
          <p:cNvPr id="45" name="object 45"/>
          <p:cNvPicPr/>
          <p:nvPr/>
        </p:nvPicPr>
        <p:blipFill>
          <a:blip r:embed="rId30" cstate="print"/>
          <a:stretch>
            <a:fillRect/>
          </a:stretch>
        </p:blipFill>
        <p:spPr>
          <a:xfrm>
            <a:off x="6593541" y="5305985"/>
            <a:ext cx="717176" cy="156882"/>
          </a:xfrm>
          <a:prstGeom prst="rect">
            <a:avLst/>
          </a:prstGeom>
        </p:spPr>
      </p:pic>
      <p:pic>
        <p:nvPicPr>
          <p:cNvPr id="46" name="object 46"/>
          <p:cNvPicPr/>
          <p:nvPr/>
        </p:nvPicPr>
        <p:blipFill>
          <a:blip r:embed="rId39" cstate="print"/>
          <a:stretch>
            <a:fillRect/>
          </a:stretch>
        </p:blipFill>
        <p:spPr>
          <a:xfrm>
            <a:off x="7425017" y="5305985"/>
            <a:ext cx="795618" cy="156882"/>
          </a:xfrm>
          <a:prstGeom prst="rect">
            <a:avLst/>
          </a:prstGeom>
        </p:spPr>
      </p:pic>
      <p:sp>
        <p:nvSpPr>
          <p:cNvPr id="47" name="object 47"/>
          <p:cNvSpPr txBox="1"/>
          <p:nvPr/>
        </p:nvSpPr>
        <p:spPr>
          <a:xfrm>
            <a:off x="8081011" y="393550"/>
            <a:ext cx="74519" cy="160715"/>
          </a:xfrm>
          <a:prstGeom prst="rect">
            <a:avLst/>
          </a:prstGeom>
        </p:spPr>
        <p:txBody>
          <a:bodyPr vert="horz" wrap="square" lIns="0" tIns="11206" rIns="0" bIns="0" rtlCol="0">
            <a:spAutoFit/>
          </a:bodyPr>
          <a:lstStyle/>
          <a:p>
            <a:pPr marL="11206" defTabSz="806867">
              <a:spcBef>
                <a:spcPts val="88"/>
              </a:spcBef>
            </a:pPr>
            <a:r>
              <a:rPr sz="971" spc="-93" dirty="0">
                <a:latin typeface="Arial"/>
                <a:cs typeface="Arial"/>
              </a:rPr>
              <a:t>7</a:t>
            </a:r>
            <a:endParaRPr sz="971">
              <a:latin typeface="Arial"/>
              <a:cs typeface="Arial"/>
            </a:endParaRPr>
          </a:p>
        </p:txBody>
      </p:sp>
      <p:pic>
        <p:nvPicPr>
          <p:cNvPr id="48" name="object 48"/>
          <p:cNvPicPr/>
          <p:nvPr/>
        </p:nvPicPr>
        <p:blipFill>
          <a:blip r:embed="rId40" cstate="print"/>
          <a:stretch>
            <a:fillRect/>
          </a:stretch>
        </p:blipFill>
        <p:spPr>
          <a:xfrm>
            <a:off x="5487520" y="1014693"/>
            <a:ext cx="22412" cy="11205"/>
          </a:xfrm>
          <a:prstGeom prst="rect">
            <a:avLst/>
          </a:prstGeom>
        </p:spPr>
      </p:pic>
      <p:pic>
        <p:nvPicPr>
          <p:cNvPr id="49" name="object 49"/>
          <p:cNvPicPr/>
          <p:nvPr/>
        </p:nvPicPr>
        <p:blipFill>
          <a:blip r:embed="rId40" cstate="print"/>
          <a:stretch>
            <a:fillRect/>
          </a:stretch>
        </p:blipFill>
        <p:spPr>
          <a:xfrm>
            <a:off x="6596903" y="1014693"/>
            <a:ext cx="22412" cy="11205"/>
          </a:xfrm>
          <a:prstGeom prst="rect">
            <a:avLst/>
          </a:prstGeom>
        </p:spPr>
      </p:pic>
      <p:pic>
        <p:nvPicPr>
          <p:cNvPr id="51" name="object 51"/>
          <p:cNvPicPr/>
          <p:nvPr/>
        </p:nvPicPr>
        <p:blipFill>
          <a:blip r:embed="rId41" cstate="print"/>
          <a:stretch>
            <a:fillRect/>
          </a:stretch>
        </p:blipFill>
        <p:spPr>
          <a:xfrm>
            <a:off x="937932" y="1316130"/>
            <a:ext cx="11205" cy="22412"/>
          </a:xfrm>
          <a:prstGeom prst="rect">
            <a:avLst/>
          </a:prstGeom>
        </p:spPr>
      </p:pic>
      <p:pic>
        <p:nvPicPr>
          <p:cNvPr id="52" name="object 52"/>
          <p:cNvPicPr/>
          <p:nvPr/>
        </p:nvPicPr>
        <p:blipFill>
          <a:blip r:embed="rId41" cstate="print"/>
          <a:stretch>
            <a:fillRect/>
          </a:stretch>
        </p:blipFill>
        <p:spPr>
          <a:xfrm>
            <a:off x="1094814" y="1316130"/>
            <a:ext cx="11206" cy="22412"/>
          </a:xfrm>
          <a:prstGeom prst="rect">
            <a:avLst/>
          </a:prstGeom>
        </p:spPr>
      </p:pic>
      <p:pic>
        <p:nvPicPr>
          <p:cNvPr id="53" name="object 53"/>
          <p:cNvPicPr/>
          <p:nvPr/>
        </p:nvPicPr>
        <p:blipFill>
          <a:blip r:embed="rId41" cstate="print"/>
          <a:stretch>
            <a:fillRect/>
          </a:stretch>
        </p:blipFill>
        <p:spPr>
          <a:xfrm>
            <a:off x="2354356" y="1316130"/>
            <a:ext cx="11205" cy="22412"/>
          </a:xfrm>
          <a:prstGeom prst="rect">
            <a:avLst/>
          </a:prstGeom>
        </p:spPr>
      </p:pic>
      <p:pic>
        <p:nvPicPr>
          <p:cNvPr id="54" name="object 54"/>
          <p:cNvPicPr/>
          <p:nvPr/>
        </p:nvPicPr>
        <p:blipFill>
          <a:blip r:embed="rId41" cstate="print"/>
          <a:stretch>
            <a:fillRect/>
          </a:stretch>
        </p:blipFill>
        <p:spPr>
          <a:xfrm>
            <a:off x="4075019" y="1316130"/>
            <a:ext cx="11205" cy="22412"/>
          </a:xfrm>
          <a:prstGeom prst="rect">
            <a:avLst/>
          </a:prstGeom>
        </p:spPr>
      </p:pic>
      <p:pic>
        <p:nvPicPr>
          <p:cNvPr id="55" name="object 55"/>
          <p:cNvPicPr/>
          <p:nvPr/>
        </p:nvPicPr>
        <p:blipFill>
          <a:blip r:embed="rId41" cstate="print"/>
          <a:stretch>
            <a:fillRect/>
          </a:stretch>
        </p:blipFill>
        <p:spPr>
          <a:xfrm>
            <a:off x="5487521" y="1316130"/>
            <a:ext cx="11206" cy="22412"/>
          </a:xfrm>
          <a:prstGeom prst="rect">
            <a:avLst/>
          </a:prstGeom>
        </p:spPr>
      </p:pic>
      <p:pic>
        <p:nvPicPr>
          <p:cNvPr id="56" name="object 56"/>
          <p:cNvPicPr/>
          <p:nvPr/>
        </p:nvPicPr>
        <p:blipFill>
          <a:blip r:embed="rId41" cstate="print"/>
          <a:stretch>
            <a:fillRect/>
          </a:stretch>
        </p:blipFill>
        <p:spPr>
          <a:xfrm>
            <a:off x="6596903" y="1316130"/>
            <a:ext cx="11206" cy="22412"/>
          </a:xfrm>
          <a:prstGeom prst="rect">
            <a:avLst/>
          </a:prstGeom>
        </p:spPr>
      </p:pic>
      <p:pic>
        <p:nvPicPr>
          <p:cNvPr id="57" name="object 57"/>
          <p:cNvPicPr/>
          <p:nvPr/>
        </p:nvPicPr>
        <p:blipFill>
          <a:blip r:embed="rId42" cstate="print"/>
          <a:stretch>
            <a:fillRect/>
          </a:stretch>
        </p:blipFill>
        <p:spPr>
          <a:xfrm>
            <a:off x="8267027" y="5597338"/>
            <a:ext cx="20842" cy="22412"/>
          </a:xfrm>
          <a:prstGeom prst="rect">
            <a:avLst/>
          </a:prstGeom>
        </p:spPr>
      </p:pic>
      <p:pic>
        <p:nvPicPr>
          <p:cNvPr id="58" name="object 58"/>
          <p:cNvPicPr/>
          <p:nvPr/>
        </p:nvPicPr>
        <p:blipFill>
          <a:blip r:embed="rId43" cstate="print"/>
          <a:stretch>
            <a:fillRect/>
          </a:stretch>
        </p:blipFill>
        <p:spPr>
          <a:xfrm>
            <a:off x="1594037" y="3305175"/>
            <a:ext cx="22412" cy="11206"/>
          </a:xfrm>
          <a:prstGeom prst="rect">
            <a:avLst/>
          </a:prstGeom>
        </p:spPr>
      </p:pic>
      <p:pic>
        <p:nvPicPr>
          <p:cNvPr id="59" name="object 59"/>
          <p:cNvPicPr/>
          <p:nvPr/>
        </p:nvPicPr>
        <p:blipFill>
          <a:blip r:embed="rId43" cstate="print"/>
          <a:stretch>
            <a:fillRect/>
          </a:stretch>
        </p:blipFill>
        <p:spPr>
          <a:xfrm>
            <a:off x="1594037" y="4077261"/>
            <a:ext cx="22412" cy="11205"/>
          </a:xfrm>
          <a:prstGeom prst="rect">
            <a:avLst/>
          </a:prstGeom>
        </p:spPr>
      </p:pic>
      <p:pic>
        <p:nvPicPr>
          <p:cNvPr id="60" name="object 60"/>
          <p:cNvPicPr/>
          <p:nvPr/>
        </p:nvPicPr>
        <p:blipFill>
          <a:blip r:embed="rId43" cstate="print"/>
          <a:stretch>
            <a:fillRect/>
          </a:stretch>
        </p:blipFill>
        <p:spPr>
          <a:xfrm>
            <a:off x="3058645" y="4076699"/>
            <a:ext cx="22412" cy="11206"/>
          </a:xfrm>
          <a:prstGeom prst="rect">
            <a:avLst/>
          </a:prstGeom>
        </p:spPr>
      </p:pic>
      <p:pic>
        <p:nvPicPr>
          <p:cNvPr id="61" name="object 61"/>
          <p:cNvPicPr/>
          <p:nvPr/>
        </p:nvPicPr>
        <p:blipFill>
          <a:blip r:embed="rId44" cstate="print"/>
          <a:stretch>
            <a:fillRect/>
          </a:stretch>
        </p:blipFill>
        <p:spPr>
          <a:xfrm>
            <a:off x="3957918" y="4076699"/>
            <a:ext cx="22412" cy="11206"/>
          </a:xfrm>
          <a:prstGeom prst="rect">
            <a:avLst/>
          </a:prstGeom>
        </p:spPr>
      </p:pic>
      <p:pic>
        <p:nvPicPr>
          <p:cNvPr id="62" name="object 62"/>
          <p:cNvPicPr/>
          <p:nvPr/>
        </p:nvPicPr>
        <p:blipFill>
          <a:blip r:embed="rId43" cstate="print"/>
          <a:stretch>
            <a:fillRect/>
          </a:stretch>
        </p:blipFill>
        <p:spPr>
          <a:xfrm>
            <a:off x="1594037" y="4688542"/>
            <a:ext cx="22412" cy="11205"/>
          </a:xfrm>
          <a:prstGeom prst="rect">
            <a:avLst/>
          </a:prstGeom>
        </p:spPr>
      </p:pic>
      <p:pic>
        <p:nvPicPr>
          <p:cNvPr id="63" name="object 63"/>
          <p:cNvPicPr/>
          <p:nvPr/>
        </p:nvPicPr>
        <p:blipFill>
          <a:blip r:embed="rId43" cstate="print"/>
          <a:stretch>
            <a:fillRect/>
          </a:stretch>
        </p:blipFill>
        <p:spPr>
          <a:xfrm>
            <a:off x="3059765" y="4688542"/>
            <a:ext cx="22412" cy="11205"/>
          </a:xfrm>
          <a:prstGeom prst="rect">
            <a:avLst/>
          </a:prstGeom>
        </p:spPr>
      </p:pic>
      <p:pic>
        <p:nvPicPr>
          <p:cNvPr id="64" name="object 64"/>
          <p:cNvPicPr/>
          <p:nvPr/>
        </p:nvPicPr>
        <p:blipFill>
          <a:blip r:embed="rId43" cstate="print"/>
          <a:stretch>
            <a:fillRect/>
          </a:stretch>
        </p:blipFill>
        <p:spPr>
          <a:xfrm>
            <a:off x="1594037" y="5302064"/>
            <a:ext cx="22412" cy="11205"/>
          </a:xfrm>
          <a:prstGeom prst="rect">
            <a:avLst/>
          </a:prstGeom>
        </p:spPr>
      </p:pic>
      <p:graphicFrame>
        <p:nvGraphicFramePr>
          <p:cNvPr id="65" name="object 65"/>
          <p:cNvGraphicFramePr>
            <a:graphicFrameLocks noGrp="1"/>
          </p:cNvGraphicFramePr>
          <p:nvPr>
            <p:extLst>
              <p:ext uri="{D42A27DB-BD31-4B8C-83A1-F6EECF244321}">
                <p14:modId xmlns:p14="http://schemas.microsoft.com/office/powerpoint/2010/main" val="3272443796"/>
              </p:ext>
            </p:extLst>
          </p:nvPr>
        </p:nvGraphicFramePr>
        <p:xfrm>
          <a:off x="1030941" y="1667058"/>
          <a:ext cx="7427256" cy="4068487"/>
        </p:xfrm>
        <a:graphic>
          <a:graphicData uri="http://schemas.openxmlformats.org/drawingml/2006/table">
            <a:tbl>
              <a:tblPr firstRow="1" bandRow="1">
                <a:tableStyleId>{2D5ABB26-0587-4C30-8999-92F81FD0307C}</a:tableStyleId>
              </a:tblPr>
              <a:tblGrid>
                <a:gridCol w="737347">
                  <a:extLst>
                    <a:ext uri="{9D8B030D-6E8A-4147-A177-3AD203B41FA5}">
                      <a16:colId xmlns:a16="http://schemas.microsoft.com/office/drawing/2014/main" val="20000"/>
                    </a:ext>
                  </a:extLst>
                </a:gridCol>
                <a:gridCol w="761440">
                  <a:extLst>
                    <a:ext uri="{9D8B030D-6E8A-4147-A177-3AD203B41FA5}">
                      <a16:colId xmlns:a16="http://schemas.microsoft.com/office/drawing/2014/main" val="20001"/>
                    </a:ext>
                  </a:extLst>
                </a:gridCol>
                <a:gridCol w="709332">
                  <a:extLst>
                    <a:ext uri="{9D8B030D-6E8A-4147-A177-3AD203B41FA5}">
                      <a16:colId xmlns:a16="http://schemas.microsoft.com/office/drawing/2014/main" val="20002"/>
                    </a:ext>
                  </a:extLst>
                </a:gridCol>
                <a:gridCol w="921684">
                  <a:extLst>
                    <a:ext uri="{9D8B030D-6E8A-4147-A177-3AD203B41FA5}">
                      <a16:colId xmlns:a16="http://schemas.microsoft.com/office/drawing/2014/main" val="20003"/>
                    </a:ext>
                  </a:extLst>
                </a:gridCol>
                <a:gridCol w="815228">
                  <a:extLst>
                    <a:ext uri="{9D8B030D-6E8A-4147-A177-3AD203B41FA5}">
                      <a16:colId xmlns:a16="http://schemas.microsoft.com/office/drawing/2014/main" val="20004"/>
                    </a:ext>
                  </a:extLst>
                </a:gridCol>
                <a:gridCol w="831476">
                  <a:extLst>
                    <a:ext uri="{9D8B030D-6E8A-4147-A177-3AD203B41FA5}">
                      <a16:colId xmlns:a16="http://schemas.microsoft.com/office/drawing/2014/main" val="20005"/>
                    </a:ext>
                  </a:extLst>
                </a:gridCol>
                <a:gridCol w="909356">
                  <a:extLst>
                    <a:ext uri="{9D8B030D-6E8A-4147-A177-3AD203B41FA5}">
                      <a16:colId xmlns:a16="http://schemas.microsoft.com/office/drawing/2014/main" val="20006"/>
                    </a:ext>
                  </a:extLst>
                </a:gridCol>
                <a:gridCol w="833157">
                  <a:extLst>
                    <a:ext uri="{9D8B030D-6E8A-4147-A177-3AD203B41FA5}">
                      <a16:colId xmlns:a16="http://schemas.microsoft.com/office/drawing/2014/main" val="20007"/>
                    </a:ext>
                  </a:extLst>
                </a:gridCol>
                <a:gridCol w="908236">
                  <a:extLst>
                    <a:ext uri="{9D8B030D-6E8A-4147-A177-3AD203B41FA5}">
                      <a16:colId xmlns:a16="http://schemas.microsoft.com/office/drawing/2014/main" val="20008"/>
                    </a:ext>
                  </a:extLst>
                </a:gridCol>
              </a:tblGrid>
              <a:tr h="155762">
                <a:tc gridSpan="9">
                  <a:txBody>
                    <a:bodyPr/>
                    <a:lstStyle/>
                    <a:p>
                      <a:pPr marL="80645">
                        <a:lnSpc>
                          <a:spcPts val="1215"/>
                        </a:lnSpc>
                        <a:spcBef>
                          <a:spcPts val="75"/>
                        </a:spcBef>
                      </a:pPr>
                      <a:r>
                        <a:rPr sz="1000" b="1" spc="-80" dirty="0">
                          <a:latin typeface="Arial"/>
                          <a:cs typeface="Arial"/>
                        </a:rPr>
                        <a:t>Orientation</a:t>
                      </a:r>
                      <a:r>
                        <a:rPr sz="1000" b="1" spc="5" dirty="0">
                          <a:latin typeface="Arial"/>
                          <a:cs typeface="Arial"/>
                        </a:rPr>
                        <a:t> </a:t>
                      </a:r>
                      <a:r>
                        <a:rPr sz="1000" b="1" spc="-10" dirty="0">
                          <a:latin typeface="Arial"/>
                          <a:cs typeface="Arial"/>
                        </a:rPr>
                        <a:t>of</a:t>
                      </a:r>
                      <a:r>
                        <a:rPr sz="1000" b="1" spc="-165" dirty="0">
                          <a:latin typeface="Arial"/>
                          <a:cs typeface="Arial"/>
                        </a:rPr>
                        <a:t> </a:t>
                      </a:r>
                      <a:r>
                        <a:rPr sz="1000" b="1" spc="-35" dirty="0">
                          <a:latin typeface="Arial"/>
                          <a:cs typeface="Arial"/>
                        </a:rPr>
                        <a:t>the</a:t>
                      </a:r>
                      <a:r>
                        <a:rPr sz="1000" b="1" spc="-65" dirty="0">
                          <a:latin typeface="Arial"/>
                          <a:cs typeface="Arial"/>
                        </a:rPr>
                        <a:t> </a:t>
                      </a:r>
                      <a:r>
                        <a:rPr sz="1000" b="1" spc="-95" dirty="0">
                          <a:latin typeface="Arial"/>
                          <a:cs typeface="Arial"/>
                        </a:rPr>
                        <a:t>main</a:t>
                      </a:r>
                      <a:r>
                        <a:rPr sz="1000" b="1" spc="-25" dirty="0">
                          <a:latin typeface="Arial"/>
                          <a:cs typeface="Arial"/>
                        </a:rPr>
                        <a:t> </a:t>
                      </a:r>
                      <a:r>
                        <a:rPr sz="1000" b="1" spc="-100" dirty="0">
                          <a:latin typeface="Arial"/>
                          <a:cs typeface="Arial"/>
                        </a:rPr>
                        <a:t>computing</a:t>
                      </a:r>
                      <a:r>
                        <a:rPr sz="1000" b="1" spc="100" dirty="0">
                          <a:latin typeface="Arial"/>
                          <a:cs typeface="Arial"/>
                        </a:rPr>
                        <a:t> </a:t>
                      </a:r>
                      <a:r>
                        <a:rPr sz="1000" b="1" spc="-105" dirty="0">
                          <a:latin typeface="Arial"/>
                          <a:cs typeface="Arial"/>
                        </a:rPr>
                        <a:t>disciplines</a:t>
                      </a:r>
                      <a:r>
                        <a:rPr sz="1000" b="1" spc="80" dirty="0">
                          <a:latin typeface="Arial"/>
                          <a:cs typeface="Arial"/>
                        </a:rPr>
                        <a:t> </a:t>
                      </a:r>
                      <a:r>
                        <a:rPr sz="1000" b="1" spc="-85" dirty="0">
                          <a:latin typeface="Arial"/>
                          <a:cs typeface="Arial"/>
                        </a:rPr>
                        <a:t>towards</a:t>
                      </a:r>
                      <a:r>
                        <a:rPr sz="1000" b="1" spc="45" dirty="0">
                          <a:latin typeface="Arial"/>
                          <a:cs typeface="Arial"/>
                        </a:rPr>
                        <a:t> </a:t>
                      </a:r>
                      <a:r>
                        <a:rPr sz="1000" b="1" spc="-95" dirty="0">
                          <a:latin typeface="Arial"/>
                          <a:cs typeface="Arial"/>
                        </a:rPr>
                        <a:t>product</a:t>
                      </a:r>
                      <a:r>
                        <a:rPr sz="1000" b="1" spc="25" dirty="0">
                          <a:latin typeface="Arial"/>
                          <a:cs typeface="Arial"/>
                        </a:rPr>
                        <a:t> </a:t>
                      </a:r>
                      <a:r>
                        <a:rPr sz="1000" b="1" spc="-80" dirty="0">
                          <a:latin typeface="Arial"/>
                          <a:cs typeface="Arial"/>
                        </a:rPr>
                        <a:t>development,</a:t>
                      </a:r>
                      <a:r>
                        <a:rPr sz="1000" b="1" spc="195" dirty="0">
                          <a:latin typeface="Arial"/>
                          <a:cs typeface="Arial"/>
                        </a:rPr>
                        <a:t> </a:t>
                      </a:r>
                      <a:r>
                        <a:rPr sz="1000" b="1" spc="-90" dirty="0">
                          <a:latin typeface="Arial"/>
                          <a:cs typeface="Arial"/>
                        </a:rPr>
                        <a:t>product</a:t>
                      </a:r>
                      <a:r>
                        <a:rPr sz="1000" b="1" spc="25" dirty="0">
                          <a:latin typeface="Arial"/>
                          <a:cs typeface="Arial"/>
                        </a:rPr>
                        <a:t> </a:t>
                      </a:r>
                      <a:r>
                        <a:rPr sz="1000" b="1" spc="-85" dirty="0">
                          <a:latin typeface="Arial"/>
                          <a:cs typeface="Arial"/>
                        </a:rPr>
                        <a:t>deployment</a:t>
                      </a:r>
                      <a:r>
                        <a:rPr sz="1000" b="1" spc="140" dirty="0">
                          <a:latin typeface="Arial"/>
                          <a:cs typeface="Arial"/>
                        </a:rPr>
                        <a:t> </a:t>
                      </a:r>
                      <a:r>
                        <a:rPr sz="1000" b="1" spc="-95" dirty="0">
                          <a:latin typeface="Arial"/>
                          <a:cs typeface="Arial"/>
                        </a:rPr>
                        <a:t>and</a:t>
                      </a:r>
                      <a:r>
                        <a:rPr sz="1000" b="1" spc="-40" dirty="0">
                          <a:latin typeface="Arial"/>
                          <a:cs typeface="Arial"/>
                        </a:rPr>
                        <a:t> </a:t>
                      </a:r>
                      <a:r>
                        <a:rPr sz="1000" b="1" spc="-114" dirty="0">
                          <a:latin typeface="Arial"/>
                          <a:cs typeface="Arial"/>
                        </a:rPr>
                        <a:t>user</a:t>
                      </a:r>
                      <a:r>
                        <a:rPr sz="1000" b="1" spc="-60" dirty="0">
                          <a:latin typeface="Arial"/>
                          <a:cs typeface="Arial"/>
                        </a:rPr>
                        <a:t> </a:t>
                      </a:r>
                      <a:r>
                        <a:rPr sz="1000" b="1" spc="-10" dirty="0">
                          <a:latin typeface="Arial"/>
                          <a:cs typeface="Arial"/>
                        </a:rPr>
                        <a:t>support:</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905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55762">
                <a:tc rowSpan="2">
                  <a:txBody>
                    <a:bodyPr/>
                    <a:lstStyle/>
                    <a:p>
                      <a:pPr>
                        <a:lnSpc>
                          <a:spcPct val="100000"/>
                        </a:lnSpc>
                        <a:spcBef>
                          <a:spcPts val="155"/>
                        </a:spcBef>
                      </a:pPr>
                      <a:endParaRPr sz="1000">
                        <a:latin typeface="Times New Roman"/>
                        <a:cs typeface="Times New Roman"/>
                      </a:endParaRPr>
                    </a:p>
                    <a:p>
                      <a:pPr marL="83185">
                        <a:lnSpc>
                          <a:spcPct val="100000"/>
                        </a:lnSpc>
                      </a:pPr>
                      <a:r>
                        <a:rPr sz="1000" b="1" spc="-30" dirty="0">
                          <a:latin typeface="Arial"/>
                          <a:cs typeface="Arial"/>
                        </a:rPr>
                        <a:t>Discipline</a:t>
                      </a:r>
                      <a:endParaRPr sz="1000">
                        <a:latin typeface="Arial"/>
                        <a:cs typeface="Arial"/>
                      </a:endParaRPr>
                    </a:p>
                  </a:txBody>
                  <a:tcPr marL="0" marR="0" marT="17369" marB="0">
                    <a:lnL w="12700">
                      <a:solidFill>
                        <a:srgbClr val="000000"/>
                      </a:solidFill>
                      <a:prstDash val="solid"/>
                    </a:lnL>
                    <a:lnR w="12700">
                      <a:solidFill>
                        <a:srgbClr val="000000"/>
                      </a:solidFill>
                      <a:prstDash val="solid"/>
                    </a:lnR>
                    <a:lnT w="19050" cap="flat" cmpd="sng" algn="ctr">
                      <a:solidFill>
                        <a:srgbClr val="000000"/>
                      </a:solidFill>
                      <a:prstDash val="solid"/>
                      <a:round/>
                      <a:headEnd type="none" w="med" len="med"/>
                      <a:tailEnd type="none" w="med" len="med"/>
                    </a:lnT>
                    <a:lnB w="12700">
                      <a:solidFill>
                        <a:srgbClr val="000000"/>
                      </a:solidFill>
                      <a:prstDash val="solid"/>
                    </a:lnB>
                  </a:tcPr>
                </a:tc>
                <a:tc gridSpan="5">
                  <a:txBody>
                    <a:bodyPr/>
                    <a:lstStyle/>
                    <a:p>
                      <a:pPr marR="5715" algn="ctr">
                        <a:lnSpc>
                          <a:spcPts val="1215"/>
                        </a:lnSpc>
                        <a:spcBef>
                          <a:spcPts val="75"/>
                        </a:spcBef>
                      </a:pPr>
                      <a:r>
                        <a:rPr sz="1000" b="1" spc="-140" dirty="0">
                          <a:latin typeface="Arial"/>
                          <a:cs typeface="Arial"/>
                        </a:rPr>
                        <a:t>Products</a:t>
                      </a:r>
                      <a:r>
                        <a:rPr sz="1000" b="1" spc="85" dirty="0">
                          <a:latin typeface="Arial"/>
                          <a:cs typeface="Arial"/>
                        </a:rPr>
                        <a:t> </a:t>
                      </a:r>
                      <a:r>
                        <a:rPr sz="1000" b="1" spc="-10" dirty="0">
                          <a:latin typeface="Arial"/>
                          <a:cs typeface="Arial"/>
                        </a:rPr>
                        <a:t>developed</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gridSpan="3">
                  <a:txBody>
                    <a:bodyPr/>
                    <a:lstStyle/>
                    <a:p>
                      <a:pPr marL="525780">
                        <a:lnSpc>
                          <a:spcPts val="1215"/>
                        </a:lnSpc>
                        <a:spcBef>
                          <a:spcPts val="75"/>
                        </a:spcBef>
                      </a:pPr>
                      <a:r>
                        <a:rPr sz="1000" b="1" spc="-140" dirty="0">
                          <a:latin typeface="Arial"/>
                          <a:cs typeface="Arial"/>
                        </a:rPr>
                        <a:t>Products</a:t>
                      </a:r>
                      <a:r>
                        <a:rPr sz="1000" b="1" spc="65" dirty="0">
                          <a:latin typeface="Arial"/>
                          <a:cs typeface="Arial"/>
                        </a:rPr>
                        <a:t> </a:t>
                      </a:r>
                      <a:r>
                        <a:rPr sz="1000" b="1" spc="-85" dirty="0">
                          <a:latin typeface="Arial"/>
                          <a:cs typeface="Arial"/>
                        </a:rPr>
                        <a:t>deployed</a:t>
                      </a:r>
                      <a:r>
                        <a:rPr sz="1000" b="1" spc="50" dirty="0">
                          <a:latin typeface="Arial"/>
                          <a:cs typeface="Arial"/>
                        </a:rPr>
                        <a:t> </a:t>
                      </a:r>
                      <a:r>
                        <a:rPr sz="1000" b="1" spc="-10" dirty="0">
                          <a:latin typeface="Arial"/>
                          <a:cs typeface="Arial"/>
                        </a:rPr>
                        <a:t>(implemented)</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609040">
                <a:tc vMerge="1">
                  <a:txBody>
                    <a:bodyPr/>
                    <a:lstStyle/>
                    <a:p>
                      <a:endParaRPr/>
                    </a:p>
                  </a:txBody>
                  <a:tcPr marL="0" marR="0" marT="19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7620" algn="ctr">
                        <a:lnSpc>
                          <a:spcPct val="100000"/>
                        </a:lnSpc>
                        <a:spcBef>
                          <a:spcPts val="90"/>
                        </a:spcBef>
                      </a:pPr>
                      <a:r>
                        <a:rPr sz="1000" b="1" spc="-10" dirty="0">
                          <a:latin typeface="Arial"/>
                          <a:cs typeface="Arial"/>
                        </a:rPr>
                        <a:t>Hardware</a:t>
                      </a:r>
                      <a:endParaRPr sz="1000">
                        <a:latin typeface="Arial"/>
                        <a:cs typeface="Arial"/>
                      </a:endParaRPr>
                    </a:p>
                  </a:txBody>
                  <a:tcPr marL="0" marR="0" marT="10085" marB="0">
                    <a:lnL w="12700">
                      <a:solidFill>
                        <a:srgbClr val="000000"/>
                      </a:solidFill>
                      <a:prstDash val="solid"/>
                    </a:lnL>
                    <a:lnR w="12700">
                      <a:solidFill>
                        <a:srgbClr val="000000"/>
                      </a:solidFill>
                      <a:prstDash val="solid"/>
                    </a:lnR>
                    <a:lnT w="28575"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98425" marR="103505" indent="19685" algn="just">
                        <a:lnSpc>
                          <a:spcPct val="101800"/>
                        </a:lnSpc>
                        <a:spcBef>
                          <a:spcPts val="65"/>
                        </a:spcBef>
                      </a:pPr>
                      <a:r>
                        <a:rPr sz="1000" b="1" spc="-105" dirty="0">
                          <a:latin typeface="Arial"/>
                          <a:cs typeface="Arial"/>
                        </a:rPr>
                        <a:t>Hardware-</a:t>
                      </a:r>
                      <a:r>
                        <a:rPr sz="1000" b="1" spc="500" dirty="0">
                          <a:latin typeface="Arial"/>
                          <a:cs typeface="Arial"/>
                        </a:rPr>
                        <a:t> </a:t>
                      </a:r>
                      <a:r>
                        <a:rPr sz="1000" b="1" spc="-114" dirty="0">
                          <a:latin typeface="Arial"/>
                          <a:cs typeface="Arial"/>
                        </a:rPr>
                        <a:t>embedded</a:t>
                      </a:r>
                      <a:r>
                        <a:rPr sz="1000" b="1" spc="-10" dirty="0">
                          <a:latin typeface="Arial"/>
                          <a:cs typeface="Arial"/>
                        </a:rPr>
                        <a:t> software</a:t>
                      </a:r>
                      <a:endParaRPr sz="1000">
                        <a:latin typeface="Arial"/>
                        <a:cs typeface="Arial"/>
                      </a:endParaRPr>
                    </a:p>
                  </a:txBody>
                  <a:tcPr marL="0" marR="0" marT="728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01955" marR="293370" indent="-116205">
                        <a:lnSpc>
                          <a:spcPct val="92300"/>
                        </a:lnSpc>
                        <a:spcBef>
                          <a:spcPts val="190"/>
                        </a:spcBef>
                      </a:pPr>
                      <a:r>
                        <a:rPr sz="1000" b="1" spc="-120" dirty="0">
                          <a:latin typeface="Arial"/>
                          <a:cs typeface="Arial"/>
                        </a:rPr>
                        <a:t>Creation</a:t>
                      </a:r>
                      <a:r>
                        <a:rPr sz="1000" b="1" spc="-25" dirty="0">
                          <a:latin typeface="Arial"/>
                          <a:cs typeface="Arial"/>
                        </a:rPr>
                        <a:t> of new</a:t>
                      </a:r>
                      <a:endParaRPr sz="1000">
                        <a:latin typeface="Arial"/>
                        <a:cs typeface="Arial"/>
                      </a:endParaRPr>
                    </a:p>
                    <a:p>
                      <a:pPr marL="142875">
                        <a:lnSpc>
                          <a:spcPct val="100000"/>
                        </a:lnSpc>
                        <a:spcBef>
                          <a:spcPts val="35"/>
                        </a:spcBef>
                      </a:pPr>
                      <a:r>
                        <a:rPr sz="1000" b="1" spc="-120" dirty="0">
                          <a:latin typeface="Arial"/>
                          <a:cs typeface="Arial"/>
                        </a:rPr>
                        <a:t>knowledge</a:t>
                      </a:r>
                      <a:r>
                        <a:rPr sz="1000" b="1" spc="80" dirty="0">
                          <a:latin typeface="Arial"/>
                          <a:cs typeface="Arial"/>
                        </a:rPr>
                        <a:t> </a:t>
                      </a:r>
                      <a:r>
                        <a:rPr sz="1000" b="1" spc="-50" dirty="0">
                          <a:latin typeface="Arial"/>
                          <a:cs typeface="Arial"/>
                        </a:rPr>
                        <a:t>&amp;</a:t>
                      </a:r>
                      <a:endParaRPr sz="1000">
                        <a:latin typeface="Arial"/>
                        <a:cs typeface="Arial"/>
                      </a:endParaRPr>
                    </a:p>
                  </a:txBody>
                  <a:tcPr marL="0" marR="0" marT="21291"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64465" marR="85090" indent="-79375">
                        <a:lnSpc>
                          <a:spcPct val="101800"/>
                        </a:lnSpc>
                      </a:pPr>
                      <a:r>
                        <a:rPr sz="1000" b="1" spc="-100" dirty="0">
                          <a:latin typeface="Arial"/>
                          <a:cs typeface="Arial"/>
                        </a:rPr>
                        <a:t>Infrastructure</a:t>
                      </a:r>
                      <a:r>
                        <a:rPr sz="1000" b="1" spc="-10" dirty="0">
                          <a:latin typeface="Arial"/>
                          <a:cs typeface="Arial"/>
                        </a:rPr>
                        <a:t> software </a:t>
                      </a:r>
                      <a:r>
                        <a:rPr sz="1000" b="1" spc="-150" dirty="0">
                          <a:latin typeface="Arial"/>
                          <a:cs typeface="Arial"/>
                        </a:rPr>
                        <a:t>(OS,</a:t>
                      </a:r>
                      <a:r>
                        <a:rPr sz="1000" b="1" spc="-45" dirty="0">
                          <a:latin typeface="Arial"/>
                          <a:cs typeface="Arial"/>
                        </a:rPr>
                        <a:t> </a:t>
                      </a:r>
                      <a:r>
                        <a:rPr sz="1000" b="1" spc="-10" dirty="0">
                          <a:latin typeface="Arial"/>
                          <a:cs typeface="Arial"/>
                        </a:rPr>
                        <a:t>tools, </a:t>
                      </a:r>
                      <a:r>
                        <a:rPr sz="1000" b="1" spc="-25" dirty="0">
                          <a:latin typeface="Arial"/>
                          <a:cs typeface="Arial"/>
                        </a:rPr>
                        <a:t>platforms)</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25425" marR="161925" indent="-78105">
                        <a:lnSpc>
                          <a:spcPts val="1210"/>
                        </a:lnSpc>
                        <a:spcBef>
                          <a:spcPts val="305"/>
                        </a:spcBef>
                      </a:pPr>
                      <a:r>
                        <a:rPr sz="1000" b="1" spc="-110" dirty="0">
                          <a:latin typeface="Arial"/>
                          <a:cs typeface="Arial"/>
                        </a:rPr>
                        <a:t>Application</a:t>
                      </a:r>
                      <a:r>
                        <a:rPr sz="1000" b="1" spc="-40" dirty="0">
                          <a:latin typeface="Arial"/>
                          <a:cs typeface="Arial"/>
                        </a:rPr>
                        <a:t> software</a:t>
                      </a:r>
                      <a:endParaRPr sz="1000">
                        <a:latin typeface="Arial"/>
                        <a:cs typeface="Arial"/>
                      </a:endParaRPr>
                    </a:p>
                  </a:txBody>
                  <a:tcPr marL="0" marR="0" marT="341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635" marR="149225" indent="115570">
                        <a:lnSpc>
                          <a:spcPts val="1210"/>
                        </a:lnSpc>
                        <a:spcBef>
                          <a:spcPts val="305"/>
                        </a:spcBef>
                      </a:pPr>
                      <a:r>
                        <a:rPr sz="1000" b="1" spc="-20" dirty="0">
                          <a:latin typeface="Arial"/>
                          <a:cs typeface="Arial"/>
                        </a:rPr>
                        <a:t>Hardware </a:t>
                      </a:r>
                      <a:r>
                        <a:rPr sz="1000" b="1" spc="-100" dirty="0">
                          <a:latin typeface="Arial"/>
                          <a:cs typeface="Arial"/>
                        </a:rPr>
                        <a:t>infrastructure</a:t>
                      </a:r>
                      <a:endParaRPr sz="1000">
                        <a:latin typeface="Arial"/>
                        <a:cs typeface="Arial"/>
                      </a:endParaRPr>
                    </a:p>
                  </a:txBody>
                  <a:tcPr marL="0" marR="0" marT="341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82245" marR="86995" indent="-79375">
                        <a:lnSpc>
                          <a:spcPct val="101800"/>
                        </a:lnSpc>
                      </a:pPr>
                      <a:r>
                        <a:rPr sz="1000" b="1" spc="-100" dirty="0">
                          <a:latin typeface="Arial"/>
                          <a:cs typeface="Arial"/>
                        </a:rPr>
                        <a:t>Infrastructure</a:t>
                      </a:r>
                      <a:r>
                        <a:rPr sz="1000" b="1" spc="-10" dirty="0">
                          <a:latin typeface="Arial"/>
                          <a:cs typeface="Arial"/>
                        </a:rPr>
                        <a:t> software </a:t>
                      </a:r>
                      <a:r>
                        <a:rPr sz="1000" b="1" spc="-150" dirty="0">
                          <a:latin typeface="Arial"/>
                          <a:cs typeface="Arial"/>
                        </a:rPr>
                        <a:t>(OS,</a:t>
                      </a:r>
                      <a:r>
                        <a:rPr sz="1000" b="1" spc="-45" dirty="0">
                          <a:latin typeface="Arial"/>
                          <a:cs typeface="Arial"/>
                        </a:rPr>
                        <a:t> </a:t>
                      </a:r>
                      <a:r>
                        <a:rPr sz="1000" b="1" spc="-10" dirty="0">
                          <a:latin typeface="Arial"/>
                          <a:cs typeface="Arial"/>
                        </a:rPr>
                        <a:t>tools, </a:t>
                      </a:r>
                      <a:r>
                        <a:rPr sz="1000" b="1" spc="-20" dirty="0">
                          <a:latin typeface="Arial"/>
                          <a:cs typeface="Arial"/>
                        </a:rPr>
                        <a:t>platforms)</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66700" marR="189865" indent="-105410">
                        <a:lnSpc>
                          <a:spcPts val="1210"/>
                        </a:lnSpc>
                        <a:spcBef>
                          <a:spcPts val="305"/>
                        </a:spcBef>
                      </a:pPr>
                      <a:r>
                        <a:rPr sz="1000" b="1" spc="-120" dirty="0">
                          <a:latin typeface="Arial"/>
                          <a:cs typeface="Arial"/>
                        </a:rPr>
                        <a:t>Applications</a:t>
                      </a:r>
                      <a:r>
                        <a:rPr sz="1000" b="1" spc="-20" dirty="0">
                          <a:latin typeface="Arial"/>
                          <a:cs typeface="Arial"/>
                        </a:rPr>
                        <a:t> software</a:t>
                      </a:r>
                      <a:endParaRPr sz="1000" dirty="0">
                        <a:latin typeface="Arial"/>
                        <a:cs typeface="Arial"/>
                      </a:endParaRPr>
                    </a:p>
                  </a:txBody>
                  <a:tcPr marL="0" marR="0" marT="34178"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304800">
                <a:tc>
                  <a:txBody>
                    <a:bodyPr/>
                    <a:lstStyle/>
                    <a:p>
                      <a:pPr marL="83185" marR="115570" indent="-3175">
                        <a:lnSpc>
                          <a:spcPct val="101800"/>
                        </a:lnSpc>
                      </a:pPr>
                      <a:r>
                        <a:rPr sz="1000" b="1" spc="-40" dirty="0">
                          <a:latin typeface="Arial"/>
                          <a:cs typeface="Arial"/>
                        </a:rPr>
                        <a:t>Computer </a:t>
                      </a:r>
                      <a:r>
                        <a:rPr sz="1000" b="1" spc="-140" dirty="0">
                          <a:latin typeface="Arial"/>
                          <a:cs typeface="Arial"/>
                        </a:rPr>
                        <a:t>Engineering</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890"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3810"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545465" marR="247650" indent="-299085">
                        <a:lnSpc>
                          <a:spcPts val="1210"/>
                        </a:lnSpc>
                        <a:spcBef>
                          <a:spcPts val="200"/>
                        </a:spcBef>
                      </a:pPr>
                      <a:r>
                        <a:rPr sz="1000" spc="-110" dirty="0">
                          <a:latin typeface="Arial"/>
                          <a:cs typeface="Arial"/>
                        </a:rPr>
                        <a:t>(No</a:t>
                      </a:r>
                      <a:r>
                        <a:rPr sz="1000" spc="-85" dirty="0">
                          <a:latin typeface="Arial"/>
                          <a:cs typeface="Arial"/>
                        </a:rPr>
                        <a:t> </a:t>
                      </a:r>
                      <a:r>
                        <a:rPr sz="1000" spc="-65" dirty="0">
                          <a:latin typeface="Arial"/>
                          <a:cs typeface="Arial"/>
                        </a:rPr>
                        <a:t>standalone</a:t>
                      </a:r>
                      <a:r>
                        <a:rPr sz="1000" spc="100" dirty="0">
                          <a:latin typeface="Arial"/>
                          <a:cs typeface="Arial"/>
                        </a:rPr>
                        <a:t> </a:t>
                      </a:r>
                      <a:r>
                        <a:rPr sz="1000" spc="-40" dirty="0">
                          <a:latin typeface="Arial"/>
                          <a:cs typeface="Arial"/>
                        </a:rPr>
                        <a:t>software </a:t>
                      </a:r>
                      <a:r>
                        <a:rPr sz="1000" spc="-10" dirty="0">
                          <a:latin typeface="Arial"/>
                          <a:cs typeface="Arial"/>
                        </a:rPr>
                        <a:t>development)</a:t>
                      </a:r>
                      <a:endParaRPr sz="1000">
                        <a:latin typeface="Arial"/>
                        <a:cs typeface="Arial"/>
                      </a:endParaRPr>
                    </a:p>
                  </a:txBody>
                  <a:tcPr marL="0" marR="0" marT="22412"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hMerge="1">
                  <a:txBody>
                    <a:bodyPr/>
                    <a:lstStyle/>
                    <a:p>
                      <a:endParaRPr/>
                    </a:p>
                  </a:txBody>
                  <a:tcPr marL="0" marR="0" marT="0" marB="0"/>
                </a:tc>
                <a:tc gridSpan="3">
                  <a:txBody>
                    <a:bodyPr/>
                    <a:lstStyle/>
                    <a:p>
                      <a:pPr marL="610870">
                        <a:lnSpc>
                          <a:spcPct val="100000"/>
                        </a:lnSpc>
                        <a:spcBef>
                          <a:spcPts val="85"/>
                        </a:spcBef>
                      </a:pPr>
                      <a:r>
                        <a:rPr sz="1000" spc="-110" dirty="0">
                          <a:latin typeface="Arial"/>
                          <a:cs typeface="Arial"/>
                        </a:rPr>
                        <a:t>(No</a:t>
                      </a:r>
                      <a:r>
                        <a:rPr sz="1000" spc="-85" dirty="0">
                          <a:latin typeface="Arial"/>
                          <a:cs typeface="Arial"/>
                        </a:rPr>
                        <a:t> </a:t>
                      </a:r>
                      <a:r>
                        <a:rPr sz="1000" spc="-30" dirty="0">
                          <a:latin typeface="Arial"/>
                          <a:cs typeface="Arial"/>
                        </a:rPr>
                        <a:t>direct</a:t>
                      </a:r>
                      <a:r>
                        <a:rPr sz="1000" spc="-45" dirty="0">
                          <a:latin typeface="Arial"/>
                          <a:cs typeface="Arial"/>
                        </a:rPr>
                        <a:t> </a:t>
                      </a:r>
                      <a:r>
                        <a:rPr sz="1000" spc="-50" dirty="0">
                          <a:latin typeface="Arial"/>
                          <a:cs typeface="Arial"/>
                        </a:rPr>
                        <a:t>deployment</a:t>
                      </a:r>
                      <a:r>
                        <a:rPr sz="1000" spc="95" dirty="0">
                          <a:latin typeface="Arial"/>
                          <a:cs typeface="Arial"/>
                        </a:rPr>
                        <a:t> </a:t>
                      </a:r>
                      <a:r>
                        <a:rPr sz="1000" dirty="0">
                          <a:latin typeface="Arial"/>
                          <a:cs typeface="Arial"/>
                        </a:rPr>
                        <a:t>to</a:t>
                      </a:r>
                      <a:r>
                        <a:rPr sz="1000" spc="-10" dirty="0">
                          <a:latin typeface="Arial"/>
                          <a:cs typeface="Arial"/>
                        </a:rPr>
                        <a:t> users)</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306481">
                <a:tc>
                  <a:txBody>
                    <a:bodyPr/>
                    <a:lstStyle/>
                    <a:p>
                      <a:pPr marL="78740" marR="201295" indent="1270">
                        <a:lnSpc>
                          <a:spcPct val="101800"/>
                        </a:lnSpc>
                      </a:pPr>
                      <a:r>
                        <a:rPr sz="1000" b="1" spc="-125" dirty="0">
                          <a:latin typeface="Arial"/>
                          <a:cs typeface="Arial"/>
                        </a:rPr>
                        <a:t>Computer</a:t>
                      </a:r>
                      <a:r>
                        <a:rPr sz="1000" b="1" spc="-20" dirty="0">
                          <a:latin typeface="Arial"/>
                          <a:cs typeface="Arial"/>
                        </a:rPr>
                        <a:t> Science</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446405" marR="464820">
                        <a:lnSpc>
                          <a:spcPts val="1210"/>
                        </a:lnSpc>
                        <a:spcBef>
                          <a:spcPts val="215"/>
                        </a:spcBef>
                      </a:pPr>
                      <a:r>
                        <a:rPr sz="1000" spc="-110" dirty="0">
                          <a:latin typeface="Arial"/>
                          <a:cs typeface="Arial"/>
                        </a:rPr>
                        <a:t>(No</a:t>
                      </a:r>
                      <a:r>
                        <a:rPr sz="1000" spc="-25" dirty="0">
                          <a:latin typeface="Arial"/>
                          <a:cs typeface="Arial"/>
                        </a:rPr>
                        <a:t> </a:t>
                      </a:r>
                      <a:r>
                        <a:rPr sz="1000" spc="-65" dirty="0">
                          <a:latin typeface="Arial"/>
                          <a:cs typeface="Arial"/>
                        </a:rPr>
                        <a:t>hardware </a:t>
                      </a:r>
                      <a:r>
                        <a:rPr sz="1000" spc="-75" dirty="0">
                          <a:latin typeface="Arial"/>
                          <a:cs typeface="Arial"/>
                        </a:rPr>
                        <a:t>development)</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R="5715" algn="ctr">
                        <a:lnSpc>
                          <a:spcPct val="100000"/>
                        </a:lnSpc>
                        <a:spcBef>
                          <a:spcPts val="85"/>
                        </a:spcBef>
                      </a:pPr>
                      <a:r>
                        <a:rPr sz="1000" b="1" spc="-20" dirty="0">
                          <a:latin typeface="Arial"/>
                          <a:cs typeface="Arial"/>
                        </a:rPr>
                        <a:t>High</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4445" algn="ctr">
                        <a:lnSpc>
                          <a:spcPct val="100000"/>
                        </a:lnSpc>
                        <a:spcBef>
                          <a:spcPts val="85"/>
                        </a:spcBef>
                      </a:pPr>
                      <a:r>
                        <a:rPr sz="1000" b="1" spc="-20" dirty="0">
                          <a:latin typeface="Arial"/>
                          <a:cs typeface="Arial"/>
                        </a:rPr>
                        <a:t>High</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2700" algn="ctr">
                        <a:lnSpc>
                          <a:spcPct val="100000"/>
                        </a:lnSpc>
                        <a:spcBef>
                          <a:spcPts val="85"/>
                        </a:spcBef>
                      </a:pPr>
                      <a:r>
                        <a:rPr sz="1000" b="1" spc="-25" dirty="0">
                          <a:latin typeface="Arial"/>
                          <a:cs typeface="Arial"/>
                        </a:rPr>
                        <a:t>Low</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3">
                  <a:txBody>
                    <a:bodyPr/>
                    <a:lstStyle/>
                    <a:p>
                      <a:pPr marL="610870">
                        <a:lnSpc>
                          <a:spcPct val="100000"/>
                        </a:lnSpc>
                        <a:spcBef>
                          <a:spcPts val="100"/>
                        </a:spcBef>
                      </a:pPr>
                      <a:r>
                        <a:rPr sz="1000" spc="-110" dirty="0">
                          <a:latin typeface="Arial"/>
                          <a:cs typeface="Arial"/>
                        </a:rPr>
                        <a:t>(No</a:t>
                      </a:r>
                      <a:r>
                        <a:rPr sz="1000" spc="-85" dirty="0">
                          <a:latin typeface="Arial"/>
                          <a:cs typeface="Arial"/>
                        </a:rPr>
                        <a:t> </a:t>
                      </a:r>
                      <a:r>
                        <a:rPr sz="1000" spc="-30" dirty="0">
                          <a:latin typeface="Arial"/>
                          <a:cs typeface="Arial"/>
                        </a:rPr>
                        <a:t>direct</a:t>
                      </a:r>
                      <a:r>
                        <a:rPr sz="1000" spc="-45" dirty="0">
                          <a:latin typeface="Arial"/>
                          <a:cs typeface="Arial"/>
                        </a:rPr>
                        <a:t> </a:t>
                      </a:r>
                      <a:r>
                        <a:rPr sz="1000" spc="-50" dirty="0">
                          <a:latin typeface="Arial"/>
                          <a:cs typeface="Arial"/>
                        </a:rPr>
                        <a:t>deployment</a:t>
                      </a:r>
                      <a:r>
                        <a:rPr sz="1000" spc="95" dirty="0">
                          <a:latin typeface="Arial"/>
                          <a:cs typeface="Arial"/>
                        </a:rPr>
                        <a:t> </a:t>
                      </a:r>
                      <a:r>
                        <a:rPr sz="1000" dirty="0">
                          <a:latin typeface="Arial"/>
                          <a:cs typeface="Arial"/>
                        </a:rPr>
                        <a:t>to</a:t>
                      </a:r>
                      <a:r>
                        <a:rPr sz="1000" spc="-10" dirty="0">
                          <a:latin typeface="Arial"/>
                          <a:cs typeface="Arial"/>
                        </a:rPr>
                        <a:t> users)</a:t>
                      </a:r>
                      <a:endParaRPr sz="1000">
                        <a:latin typeface="Arial"/>
                        <a:cs typeface="Arial"/>
                      </a:endParaRPr>
                    </a:p>
                  </a:txBody>
                  <a:tcPr marL="0" marR="0" marT="11206" marB="0">
                    <a:lnL w="12700">
                      <a:solidFill>
                        <a:srgbClr val="000000"/>
                      </a:solidFill>
                      <a:prstDash val="solid"/>
                    </a:lnL>
                    <a:lnR w="12700">
                      <a:solidFill>
                        <a:srgbClr val="000000"/>
                      </a:solidFill>
                      <a:prstDash val="solid"/>
                    </a:lnR>
                    <a:lnT w="12700">
                      <a:solidFill>
                        <a:srgbClr val="000000"/>
                      </a:solidFill>
                      <a:prstDash val="solid"/>
                    </a:lnT>
                    <a:lnB w="28575">
                      <a:solidFill>
                        <a:srgbClr val="000000"/>
                      </a:solidFill>
                      <a:prstDash val="solid"/>
                    </a:lnB>
                  </a:tcPr>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308162">
                <a:tc>
                  <a:txBody>
                    <a:bodyPr/>
                    <a:lstStyle/>
                    <a:p>
                      <a:pPr marL="83185" marR="115570" indent="-5080">
                        <a:lnSpc>
                          <a:spcPct val="102000"/>
                        </a:lnSpc>
                      </a:pPr>
                      <a:r>
                        <a:rPr sz="1000" b="1" spc="-10" dirty="0">
                          <a:latin typeface="Arial"/>
                          <a:cs typeface="Arial"/>
                        </a:rPr>
                        <a:t>Software </a:t>
                      </a:r>
                      <a:r>
                        <a:rPr sz="1000" b="1" spc="-140" dirty="0">
                          <a:latin typeface="Arial"/>
                          <a:cs typeface="Arial"/>
                        </a:rPr>
                        <a:t>Engineering</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2">
                  <a:txBody>
                    <a:bodyPr/>
                    <a:lstStyle/>
                    <a:p>
                      <a:pPr marL="446405" marR="464820">
                        <a:lnSpc>
                          <a:spcPts val="1210"/>
                        </a:lnSpc>
                        <a:spcBef>
                          <a:spcPts val="229"/>
                        </a:spcBef>
                      </a:pPr>
                      <a:r>
                        <a:rPr sz="1000" spc="-110" dirty="0">
                          <a:latin typeface="Arial"/>
                          <a:cs typeface="Arial"/>
                        </a:rPr>
                        <a:t>(No</a:t>
                      </a:r>
                      <a:r>
                        <a:rPr sz="1000" spc="-25" dirty="0">
                          <a:latin typeface="Arial"/>
                          <a:cs typeface="Arial"/>
                        </a:rPr>
                        <a:t> </a:t>
                      </a:r>
                      <a:r>
                        <a:rPr sz="1000" spc="-65" dirty="0">
                          <a:latin typeface="Arial"/>
                          <a:cs typeface="Arial"/>
                        </a:rPr>
                        <a:t>hardware </a:t>
                      </a:r>
                      <a:r>
                        <a:rPr sz="1000" spc="-75" dirty="0">
                          <a:latin typeface="Arial"/>
                          <a:cs typeface="Arial"/>
                        </a:rPr>
                        <a:t>development)</a:t>
                      </a:r>
                      <a:endParaRPr sz="1000">
                        <a:latin typeface="Arial"/>
                        <a:cs typeface="Arial"/>
                      </a:endParaRPr>
                    </a:p>
                  </a:txBody>
                  <a:tcPr marL="0" marR="0" marT="2577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a:txBody>
                    <a:bodyPr/>
                    <a:lstStyle/>
                    <a:p>
                      <a:pPr marR="5080"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R="3175"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5715"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28575" cap="flat" cmpd="sng" algn="ctr">
                      <a:solidFill>
                        <a:srgbClr val="000000"/>
                      </a:solidFill>
                      <a:prstDash val="solid"/>
                      <a:round/>
                      <a:headEnd type="none" w="med" len="med"/>
                      <a:tailEnd type="none" w="med" len="med"/>
                    </a:lnT>
                    <a:lnB w="12700">
                      <a:solidFill>
                        <a:srgbClr val="000000"/>
                      </a:solidFill>
                      <a:prstDash val="solid"/>
                    </a:lnB>
                  </a:tcPr>
                </a:tc>
                <a:tc>
                  <a:txBody>
                    <a:bodyPr/>
                    <a:lstStyle/>
                    <a:p>
                      <a:pPr marL="8255"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255"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5"/>
                  </a:ext>
                </a:extLst>
              </a:tr>
              <a:tr h="306481">
                <a:tc>
                  <a:txBody>
                    <a:bodyPr/>
                    <a:lstStyle/>
                    <a:p>
                      <a:pPr marL="74295" marR="101600" indent="8890">
                        <a:lnSpc>
                          <a:spcPct val="101800"/>
                        </a:lnSpc>
                      </a:pPr>
                      <a:r>
                        <a:rPr sz="1000" b="1" spc="-100" dirty="0">
                          <a:latin typeface="Arial"/>
                          <a:cs typeface="Arial"/>
                        </a:rPr>
                        <a:t>Information</a:t>
                      </a:r>
                      <a:r>
                        <a:rPr sz="1000" b="1" spc="500" dirty="0">
                          <a:latin typeface="Arial"/>
                          <a:cs typeface="Arial"/>
                        </a:rPr>
                        <a:t> </a:t>
                      </a:r>
                      <a:r>
                        <a:rPr sz="1000" b="1" spc="-114" dirty="0">
                          <a:latin typeface="Arial"/>
                          <a:cs typeface="Arial"/>
                        </a:rPr>
                        <a:t>Technology</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5">
                  <a:txBody>
                    <a:bodyPr/>
                    <a:lstStyle/>
                    <a:p>
                      <a:pPr marL="1217295">
                        <a:lnSpc>
                          <a:spcPct val="100000"/>
                        </a:lnSpc>
                        <a:spcBef>
                          <a:spcPts val="85"/>
                        </a:spcBef>
                      </a:pPr>
                      <a:r>
                        <a:rPr sz="1000" spc="-105" dirty="0">
                          <a:latin typeface="Arial"/>
                          <a:cs typeface="Arial"/>
                        </a:rPr>
                        <a:t>(No</a:t>
                      </a:r>
                      <a:r>
                        <a:rPr sz="1000" spc="-60" dirty="0">
                          <a:latin typeface="Arial"/>
                          <a:cs typeface="Arial"/>
                        </a:rPr>
                        <a:t> </a:t>
                      </a:r>
                      <a:r>
                        <a:rPr sz="1000" spc="-50" dirty="0">
                          <a:latin typeface="Arial"/>
                          <a:cs typeface="Arial"/>
                        </a:rPr>
                        <a:t>hardware/software</a:t>
                      </a:r>
                      <a:r>
                        <a:rPr sz="1000" spc="280" dirty="0">
                          <a:latin typeface="Arial"/>
                          <a:cs typeface="Arial"/>
                        </a:rPr>
                        <a:t> </a:t>
                      </a:r>
                      <a:r>
                        <a:rPr sz="1000" spc="-10" dirty="0">
                          <a:latin typeface="Arial"/>
                          <a:cs typeface="Arial"/>
                        </a:rPr>
                        <a:t>development)</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5715"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7620" algn="ctr">
                        <a:lnSpc>
                          <a:spcPct val="100000"/>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255"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306481">
                <a:tc>
                  <a:txBody>
                    <a:bodyPr/>
                    <a:lstStyle/>
                    <a:p>
                      <a:pPr marL="78740" marR="101600" indent="4445">
                        <a:lnSpc>
                          <a:spcPct val="101800"/>
                        </a:lnSpc>
                      </a:pPr>
                      <a:r>
                        <a:rPr sz="1000" b="1" spc="-100" dirty="0">
                          <a:latin typeface="Arial"/>
                          <a:cs typeface="Arial"/>
                        </a:rPr>
                        <a:t>Information</a:t>
                      </a:r>
                      <a:r>
                        <a:rPr sz="1000" b="1" spc="-25" dirty="0">
                          <a:latin typeface="Arial"/>
                          <a:cs typeface="Arial"/>
                        </a:rPr>
                        <a:t> Systems</a:t>
                      </a:r>
                      <a:endParaRPr sz="1000">
                        <a:latin typeface="Arial"/>
                        <a:cs typeface="Arial"/>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5">
                  <a:txBody>
                    <a:bodyPr/>
                    <a:lstStyle/>
                    <a:p>
                      <a:pPr marL="1217295">
                        <a:lnSpc>
                          <a:spcPct val="100000"/>
                        </a:lnSpc>
                        <a:spcBef>
                          <a:spcPts val="85"/>
                        </a:spcBef>
                      </a:pPr>
                      <a:r>
                        <a:rPr sz="1000" spc="-110" dirty="0">
                          <a:latin typeface="Arial"/>
                          <a:cs typeface="Arial"/>
                        </a:rPr>
                        <a:t>(No</a:t>
                      </a:r>
                      <a:r>
                        <a:rPr sz="1000" spc="-50" dirty="0">
                          <a:latin typeface="Arial"/>
                          <a:cs typeface="Arial"/>
                        </a:rPr>
                        <a:t> hardware/software</a:t>
                      </a:r>
                      <a:r>
                        <a:rPr sz="1000" spc="285" dirty="0">
                          <a:latin typeface="Arial"/>
                          <a:cs typeface="Arial"/>
                        </a:rPr>
                        <a:t> </a:t>
                      </a:r>
                      <a:r>
                        <a:rPr sz="1000" spc="-10" dirty="0">
                          <a:latin typeface="Arial"/>
                          <a:cs typeface="Arial"/>
                        </a:rPr>
                        <a:t>development)</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a:txBody>
                    <a:bodyPr/>
                    <a:lstStyle/>
                    <a:p>
                      <a:pPr marL="6350"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8255" algn="ctr">
                        <a:lnSpc>
                          <a:spcPct val="100000"/>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4445" algn="ctr">
                        <a:lnSpc>
                          <a:spcPct val="100000"/>
                        </a:lnSpc>
                        <a:spcBef>
                          <a:spcPts val="75"/>
                        </a:spcBef>
                      </a:pPr>
                      <a:r>
                        <a:rPr sz="1000" b="1" spc="-20" dirty="0">
                          <a:latin typeface="Arial"/>
                          <a:cs typeface="Arial"/>
                        </a:rPr>
                        <a:t>High</a:t>
                      </a:r>
                      <a:endParaRPr sz="1000" dirty="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pic>
        <p:nvPicPr>
          <p:cNvPr id="66" name="object 66"/>
          <p:cNvPicPr/>
          <p:nvPr/>
        </p:nvPicPr>
        <p:blipFill>
          <a:blip r:embed="rId43" cstate="print"/>
          <a:stretch>
            <a:fillRect/>
          </a:stretch>
        </p:blipFill>
        <p:spPr>
          <a:xfrm>
            <a:off x="3059765" y="3472143"/>
            <a:ext cx="22412" cy="11205"/>
          </a:xfrm>
          <a:prstGeom prst="rect">
            <a:avLst/>
          </a:prstGeom>
        </p:spPr>
      </p:pic>
      <p:pic>
        <p:nvPicPr>
          <p:cNvPr id="67" name="object 67"/>
          <p:cNvPicPr/>
          <p:nvPr/>
        </p:nvPicPr>
        <p:blipFill>
          <a:blip r:embed="rId41" cstate="print"/>
          <a:stretch>
            <a:fillRect/>
          </a:stretch>
        </p:blipFill>
        <p:spPr>
          <a:xfrm>
            <a:off x="854449" y="4370853"/>
            <a:ext cx="11205" cy="22412"/>
          </a:xfrm>
          <a:prstGeom prst="rect">
            <a:avLst/>
          </a:prstGeom>
        </p:spPr>
      </p:pic>
      <p:pic>
        <p:nvPicPr>
          <p:cNvPr id="68" name="object 68"/>
          <p:cNvPicPr/>
          <p:nvPr/>
        </p:nvPicPr>
        <p:blipFill>
          <a:blip r:embed="rId45" cstate="print"/>
          <a:stretch>
            <a:fillRect/>
          </a:stretch>
        </p:blipFill>
        <p:spPr>
          <a:xfrm>
            <a:off x="1594037" y="4370853"/>
            <a:ext cx="22412" cy="22412"/>
          </a:xfrm>
          <a:prstGeom prst="rect">
            <a:avLst/>
          </a:prstGeom>
        </p:spPr>
      </p:pic>
      <p:pic>
        <p:nvPicPr>
          <p:cNvPr id="69" name="object 69"/>
          <p:cNvPicPr/>
          <p:nvPr/>
        </p:nvPicPr>
        <p:blipFill>
          <a:blip r:embed="rId41" cstate="print"/>
          <a:stretch>
            <a:fillRect/>
          </a:stretch>
        </p:blipFill>
        <p:spPr>
          <a:xfrm>
            <a:off x="2353796" y="4370853"/>
            <a:ext cx="11205" cy="22412"/>
          </a:xfrm>
          <a:prstGeom prst="rect">
            <a:avLst/>
          </a:prstGeom>
        </p:spPr>
      </p:pic>
      <p:pic>
        <p:nvPicPr>
          <p:cNvPr id="70" name="object 70"/>
          <p:cNvPicPr/>
          <p:nvPr/>
        </p:nvPicPr>
        <p:blipFill>
          <a:blip r:embed="rId45" cstate="print"/>
          <a:stretch>
            <a:fillRect/>
          </a:stretch>
        </p:blipFill>
        <p:spPr>
          <a:xfrm>
            <a:off x="3058645" y="4370853"/>
            <a:ext cx="22412" cy="22412"/>
          </a:xfrm>
          <a:prstGeom prst="rect">
            <a:avLst/>
          </a:prstGeom>
        </p:spPr>
      </p:pic>
      <p:pic>
        <p:nvPicPr>
          <p:cNvPr id="71" name="object 71"/>
          <p:cNvPicPr/>
          <p:nvPr/>
        </p:nvPicPr>
        <p:blipFill>
          <a:blip r:embed="rId46" cstate="print"/>
          <a:stretch>
            <a:fillRect/>
          </a:stretch>
        </p:blipFill>
        <p:spPr>
          <a:xfrm>
            <a:off x="3957917" y="4370853"/>
            <a:ext cx="33618" cy="22412"/>
          </a:xfrm>
          <a:prstGeom prst="rect">
            <a:avLst/>
          </a:prstGeom>
        </p:spPr>
      </p:pic>
      <p:pic>
        <p:nvPicPr>
          <p:cNvPr id="72" name="object 72"/>
          <p:cNvPicPr/>
          <p:nvPr/>
        </p:nvPicPr>
        <p:blipFill>
          <a:blip r:embed="rId41" cstate="print"/>
          <a:stretch>
            <a:fillRect/>
          </a:stretch>
        </p:blipFill>
        <p:spPr>
          <a:xfrm>
            <a:off x="5629835" y="4370853"/>
            <a:ext cx="11205" cy="22412"/>
          </a:xfrm>
          <a:prstGeom prst="rect">
            <a:avLst/>
          </a:prstGeom>
        </p:spPr>
      </p:pic>
      <p:pic>
        <p:nvPicPr>
          <p:cNvPr id="73" name="object 73"/>
          <p:cNvPicPr/>
          <p:nvPr/>
        </p:nvPicPr>
        <p:blipFill>
          <a:blip r:embed="rId41" cstate="print"/>
          <a:stretch>
            <a:fillRect/>
          </a:stretch>
        </p:blipFill>
        <p:spPr>
          <a:xfrm>
            <a:off x="8273302" y="4370853"/>
            <a:ext cx="11206" cy="22412"/>
          </a:xfrm>
          <a:prstGeom prst="rect">
            <a:avLst/>
          </a:prstGeom>
        </p:spPr>
      </p:pic>
      <p:pic>
        <p:nvPicPr>
          <p:cNvPr id="74" name="object 74"/>
          <p:cNvPicPr/>
          <p:nvPr/>
        </p:nvPicPr>
        <p:blipFill>
          <a:blip r:embed="rId41" cstate="print"/>
          <a:stretch>
            <a:fillRect/>
          </a:stretch>
        </p:blipFill>
        <p:spPr>
          <a:xfrm>
            <a:off x="854449" y="4983816"/>
            <a:ext cx="11205" cy="22412"/>
          </a:xfrm>
          <a:prstGeom prst="rect">
            <a:avLst/>
          </a:prstGeom>
        </p:spPr>
      </p:pic>
      <p:pic>
        <p:nvPicPr>
          <p:cNvPr id="75" name="object 75"/>
          <p:cNvPicPr/>
          <p:nvPr/>
        </p:nvPicPr>
        <p:blipFill>
          <a:blip r:embed="rId45" cstate="print"/>
          <a:stretch>
            <a:fillRect/>
          </a:stretch>
        </p:blipFill>
        <p:spPr>
          <a:xfrm>
            <a:off x="1594037" y="4983816"/>
            <a:ext cx="22412" cy="22412"/>
          </a:xfrm>
          <a:prstGeom prst="rect">
            <a:avLst/>
          </a:prstGeom>
        </p:spPr>
      </p:pic>
      <p:pic>
        <p:nvPicPr>
          <p:cNvPr id="76" name="object 76"/>
          <p:cNvPicPr/>
          <p:nvPr/>
        </p:nvPicPr>
        <p:blipFill>
          <a:blip r:embed="rId45" cstate="print"/>
          <a:stretch>
            <a:fillRect/>
          </a:stretch>
        </p:blipFill>
        <p:spPr>
          <a:xfrm>
            <a:off x="3059765" y="4983816"/>
            <a:ext cx="22412" cy="22412"/>
          </a:xfrm>
          <a:prstGeom prst="rect">
            <a:avLst/>
          </a:prstGeom>
        </p:spPr>
      </p:pic>
      <p:pic>
        <p:nvPicPr>
          <p:cNvPr id="77" name="object 77"/>
          <p:cNvPicPr/>
          <p:nvPr/>
        </p:nvPicPr>
        <p:blipFill>
          <a:blip r:embed="rId41" cstate="print"/>
          <a:stretch>
            <a:fillRect/>
          </a:stretch>
        </p:blipFill>
        <p:spPr>
          <a:xfrm>
            <a:off x="3957918" y="4983816"/>
            <a:ext cx="11205" cy="22412"/>
          </a:xfrm>
          <a:prstGeom prst="rect">
            <a:avLst/>
          </a:prstGeom>
        </p:spPr>
      </p:pic>
      <p:pic>
        <p:nvPicPr>
          <p:cNvPr id="78" name="object 78"/>
          <p:cNvPicPr/>
          <p:nvPr/>
        </p:nvPicPr>
        <p:blipFill>
          <a:blip r:embed="rId41" cstate="print"/>
          <a:stretch>
            <a:fillRect/>
          </a:stretch>
        </p:blipFill>
        <p:spPr>
          <a:xfrm>
            <a:off x="4789394" y="4983816"/>
            <a:ext cx="11205" cy="22412"/>
          </a:xfrm>
          <a:prstGeom prst="rect">
            <a:avLst/>
          </a:prstGeom>
        </p:spPr>
      </p:pic>
      <p:pic>
        <p:nvPicPr>
          <p:cNvPr id="79" name="object 79"/>
          <p:cNvPicPr/>
          <p:nvPr/>
        </p:nvPicPr>
        <p:blipFill>
          <a:blip r:embed="rId41" cstate="print"/>
          <a:stretch>
            <a:fillRect/>
          </a:stretch>
        </p:blipFill>
        <p:spPr>
          <a:xfrm>
            <a:off x="5626473" y="4983816"/>
            <a:ext cx="11206" cy="22412"/>
          </a:xfrm>
          <a:prstGeom prst="rect">
            <a:avLst/>
          </a:prstGeom>
        </p:spPr>
      </p:pic>
      <p:pic>
        <p:nvPicPr>
          <p:cNvPr id="80" name="object 80"/>
          <p:cNvPicPr/>
          <p:nvPr/>
        </p:nvPicPr>
        <p:blipFill>
          <a:blip r:embed="rId41" cstate="print"/>
          <a:stretch>
            <a:fillRect/>
          </a:stretch>
        </p:blipFill>
        <p:spPr>
          <a:xfrm>
            <a:off x="6536391" y="4983816"/>
            <a:ext cx="11205" cy="22412"/>
          </a:xfrm>
          <a:prstGeom prst="rect">
            <a:avLst/>
          </a:prstGeom>
        </p:spPr>
      </p:pic>
      <p:pic>
        <p:nvPicPr>
          <p:cNvPr id="81" name="object 81"/>
          <p:cNvPicPr/>
          <p:nvPr/>
        </p:nvPicPr>
        <p:blipFill>
          <a:blip r:embed="rId41" cstate="print"/>
          <a:stretch>
            <a:fillRect/>
          </a:stretch>
        </p:blipFill>
        <p:spPr>
          <a:xfrm>
            <a:off x="7366747" y="4983816"/>
            <a:ext cx="11206" cy="22412"/>
          </a:xfrm>
          <a:prstGeom prst="rect">
            <a:avLst/>
          </a:prstGeom>
        </p:spPr>
      </p:pic>
      <p:pic>
        <p:nvPicPr>
          <p:cNvPr id="82" name="object 82"/>
          <p:cNvPicPr/>
          <p:nvPr/>
        </p:nvPicPr>
        <p:blipFill>
          <a:blip r:embed="rId41" cstate="print"/>
          <a:stretch>
            <a:fillRect/>
          </a:stretch>
        </p:blipFill>
        <p:spPr>
          <a:xfrm>
            <a:off x="8276664" y="4983816"/>
            <a:ext cx="11205" cy="22412"/>
          </a:xfrm>
          <a:prstGeom prst="rect">
            <a:avLst/>
          </a:prstGeom>
        </p:spPr>
      </p:pic>
      <p:pic>
        <p:nvPicPr>
          <p:cNvPr id="83" name="object 83"/>
          <p:cNvPicPr/>
          <p:nvPr/>
        </p:nvPicPr>
        <p:blipFill>
          <a:blip r:embed="rId41" cstate="print"/>
          <a:stretch>
            <a:fillRect/>
          </a:stretch>
        </p:blipFill>
        <p:spPr>
          <a:xfrm>
            <a:off x="854449" y="5597338"/>
            <a:ext cx="11205" cy="22412"/>
          </a:xfrm>
          <a:prstGeom prst="rect">
            <a:avLst/>
          </a:prstGeom>
        </p:spPr>
      </p:pic>
      <p:pic>
        <p:nvPicPr>
          <p:cNvPr id="84" name="object 84"/>
          <p:cNvPicPr/>
          <p:nvPr/>
        </p:nvPicPr>
        <p:blipFill>
          <a:blip r:embed="rId45" cstate="print"/>
          <a:stretch>
            <a:fillRect/>
          </a:stretch>
        </p:blipFill>
        <p:spPr>
          <a:xfrm>
            <a:off x="1594037" y="5597338"/>
            <a:ext cx="22412" cy="22412"/>
          </a:xfrm>
          <a:prstGeom prst="rect">
            <a:avLst/>
          </a:prstGeom>
        </p:spPr>
      </p:pic>
      <p:pic>
        <p:nvPicPr>
          <p:cNvPr id="85" name="object 85"/>
          <p:cNvPicPr/>
          <p:nvPr/>
        </p:nvPicPr>
        <p:blipFill>
          <a:blip r:embed="rId41" cstate="print"/>
          <a:stretch>
            <a:fillRect/>
          </a:stretch>
        </p:blipFill>
        <p:spPr>
          <a:xfrm>
            <a:off x="5625913" y="5597338"/>
            <a:ext cx="11205" cy="22412"/>
          </a:xfrm>
          <a:prstGeom prst="rect">
            <a:avLst/>
          </a:prstGeom>
        </p:spPr>
      </p:pic>
      <p:pic>
        <p:nvPicPr>
          <p:cNvPr id="86" name="object 86"/>
          <p:cNvPicPr/>
          <p:nvPr/>
        </p:nvPicPr>
        <p:blipFill>
          <a:blip r:embed="rId41" cstate="print"/>
          <a:stretch>
            <a:fillRect/>
          </a:stretch>
        </p:blipFill>
        <p:spPr>
          <a:xfrm>
            <a:off x="6536391" y="5597338"/>
            <a:ext cx="11205" cy="22412"/>
          </a:xfrm>
          <a:prstGeom prst="rect">
            <a:avLst/>
          </a:prstGeom>
        </p:spPr>
      </p:pic>
      <p:pic>
        <p:nvPicPr>
          <p:cNvPr id="87" name="object 87"/>
          <p:cNvPicPr/>
          <p:nvPr/>
        </p:nvPicPr>
        <p:blipFill>
          <a:blip r:embed="rId41" cstate="print"/>
          <a:stretch>
            <a:fillRect/>
          </a:stretch>
        </p:blipFill>
        <p:spPr>
          <a:xfrm>
            <a:off x="7366747" y="5597338"/>
            <a:ext cx="11206" cy="22412"/>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6572250" y="274544"/>
            <a:ext cx="1664074" cy="302559"/>
          </a:xfrm>
          <a:prstGeom prst="rect">
            <a:avLst/>
          </a:prstGeom>
        </p:spPr>
      </p:pic>
      <p:pic>
        <p:nvPicPr>
          <p:cNvPr id="3" name="object 3"/>
          <p:cNvPicPr/>
          <p:nvPr/>
        </p:nvPicPr>
        <p:blipFill>
          <a:blip r:embed="rId3" cstate="print"/>
          <a:stretch>
            <a:fillRect/>
          </a:stretch>
        </p:blipFill>
        <p:spPr>
          <a:xfrm>
            <a:off x="871258" y="851647"/>
            <a:ext cx="7421096" cy="1392348"/>
          </a:xfrm>
          <a:prstGeom prst="rect">
            <a:avLst/>
          </a:prstGeom>
        </p:spPr>
      </p:pic>
      <p:grpSp>
        <p:nvGrpSpPr>
          <p:cNvPr id="4" name="object 4"/>
          <p:cNvGrpSpPr/>
          <p:nvPr/>
        </p:nvGrpSpPr>
        <p:grpSpPr>
          <a:xfrm>
            <a:off x="910478" y="1024777"/>
            <a:ext cx="1613647" cy="302559"/>
            <a:chOff x="879475" y="1161414"/>
            <a:chExt cx="1828800" cy="342900"/>
          </a:xfrm>
        </p:grpSpPr>
        <p:pic>
          <p:nvPicPr>
            <p:cNvPr id="5" name="object 5"/>
            <p:cNvPicPr/>
            <p:nvPr/>
          </p:nvPicPr>
          <p:blipFill>
            <a:blip r:embed="rId4" cstate="print"/>
            <a:stretch>
              <a:fillRect/>
            </a:stretch>
          </p:blipFill>
          <p:spPr>
            <a:xfrm>
              <a:off x="879475" y="1161414"/>
              <a:ext cx="1828800" cy="190499"/>
            </a:xfrm>
            <a:prstGeom prst="rect">
              <a:avLst/>
            </a:prstGeom>
          </p:spPr>
        </p:pic>
        <p:pic>
          <p:nvPicPr>
            <p:cNvPr id="6" name="object 6"/>
            <p:cNvPicPr/>
            <p:nvPr/>
          </p:nvPicPr>
          <p:blipFill>
            <a:blip r:embed="rId5" cstate="print"/>
            <a:stretch>
              <a:fillRect/>
            </a:stretch>
          </p:blipFill>
          <p:spPr>
            <a:xfrm>
              <a:off x="879475" y="1326514"/>
              <a:ext cx="1765300" cy="177800"/>
            </a:xfrm>
            <a:prstGeom prst="rect">
              <a:avLst/>
            </a:prstGeom>
          </p:spPr>
        </p:pic>
      </p:grpSp>
      <p:pic>
        <p:nvPicPr>
          <p:cNvPr id="7" name="object 7"/>
          <p:cNvPicPr/>
          <p:nvPr/>
        </p:nvPicPr>
        <p:blipFill>
          <a:blip r:embed="rId6" cstate="print"/>
          <a:stretch>
            <a:fillRect/>
          </a:stretch>
        </p:blipFill>
        <p:spPr>
          <a:xfrm>
            <a:off x="2576792" y="1181100"/>
            <a:ext cx="1322294" cy="302559"/>
          </a:xfrm>
          <a:prstGeom prst="rect">
            <a:avLst/>
          </a:prstGeom>
        </p:spPr>
      </p:pic>
      <p:pic>
        <p:nvPicPr>
          <p:cNvPr id="8" name="object 8"/>
          <p:cNvPicPr/>
          <p:nvPr/>
        </p:nvPicPr>
        <p:blipFill>
          <a:blip r:embed="rId6" cstate="print"/>
          <a:stretch>
            <a:fillRect/>
          </a:stretch>
        </p:blipFill>
        <p:spPr>
          <a:xfrm>
            <a:off x="4018429" y="1181100"/>
            <a:ext cx="1322294" cy="302559"/>
          </a:xfrm>
          <a:prstGeom prst="rect">
            <a:avLst/>
          </a:prstGeom>
        </p:spPr>
      </p:pic>
      <p:pic>
        <p:nvPicPr>
          <p:cNvPr id="9" name="object 9"/>
          <p:cNvPicPr/>
          <p:nvPr/>
        </p:nvPicPr>
        <p:blipFill>
          <a:blip r:embed="rId6" cstate="print"/>
          <a:stretch>
            <a:fillRect/>
          </a:stretch>
        </p:blipFill>
        <p:spPr>
          <a:xfrm>
            <a:off x="5461746" y="1181100"/>
            <a:ext cx="1322294" cy="302559"/>
          </a:xfrm>
          <a:prstGeom prst="rect">
            <a:avLst/>
          </a:prstGeom>
        </p:spPr>
      </p:pic>
      <p:pic>
        <p:nvPicPr>
          <p:cNvPr id="10" name="object 10"/>
          <p:cNvPicPr/>
          <p:nvPr/>
        </p:nvPicPr>
        <p:blipFill>
          <a:blip r:embed="rId7" cstate="print"/>
          <a:stretch>
            <a:fillRect/>
          </a:stretch>
        </p:blipFill>
        <p:spPr>
          <a:xfrm>
            <a:off x="6903383" y="1181100"/>
            <a:ext cx="1322294" cy="156882"/>
          </a:xfrm>
          <a:prstGeom prst="rect">
            <a:avLst/>
          </a:prstGeom>
        </p:spPr>
      </p:pic>
      <p:sp>
        <p:nvSpPr>
          <p:cNvPr id="11" name="object 11"/>
          <p:cNvSpPr txBox="1"/>
          <p:nvPr/>
        </p:nvSpPr>
        <p:spPr>
          <a:xfrm>
            <a:off x="8078321" y="393550"/>
            <a:ext cx="74519" cy="160715"/>
          </a:xfrm>
          <a:prstGeom prst="rect">
            <a:avLst/>
          </a:prstGeom>
        </p:spPr>
        <p:txBody>
          <a:bodyPr vert="horz" wrap="square" lIns="0" tIns="11206" rIns="0" bIns="0" rtlCol="0">
            <a:spAutoFit/>
          </a:bodyPr>
          <a:lstStyle/>
          <a:p>
            <a:pPr marL="11206" defTabSz="806867">
              <a:spcBef>
                <a:spcPts val="88"/>
              </a:spcBef>
            </a:pPr>
            <a:r>
              <a:rPr sz="971" spc="-93" dirty="0">
                <a:latin typeface="Arial"/>
                <a:cs typeface="Arial"/>
              </a:rPr>
              <a:t>8</a:t>
            </a:r>
            <a:endParaRPr sz="971">
              <a:latin typeface="Arial"/>
              <a:cs typeface="Arial"/>
            </a:endParaRPr>
          </a:p>
        </p:txBody>
      </p:sp>
      <p:pic>
        <p:nvPicPr>
          <p:cNvPr id="12" name="object 12"/>
          <p:cNvPicPr/>
          <p:nvPr/>
        </p:nvPicPr>
        <p:blipFill>
          <a:blip r:embed="rId8" cstate="print"/>
          <a:stretch>
            <a:fillRect/>
          </a:stretch>
        </p:blipFill>
        <p:spPr>
          <a:xfrm>
            <a:off x="2512919" y="1014693"/>
            <a:ext cx="22412" cy="11205"/>
          </a:xfrm>
          <a:prstGeom prst="rect">
            <a:avLst/>
          </a:prstGeom>
        </p:spPr>
      </p:pic>
      <p:pic>
        <p:nvPicPr>
          <p:cNvPr id="13" name="object 13"/>
          <p:cNvPicPr/>
          <p:nvPr/>
        </p:nvPicPr>
        <p:blipFill>
          <a:blip r:embed="rId9" cstate="print"/>
          <a:stretch>
            <a:fillRect/>
          </a:stretch>
        </p:blipFill>
        <p:spPr>
          <a:xfrm>
            <a:off x="8269381" y="1170453"/>
            <a:ext cx="11206" cy="22412"/>
          </a:xfrm>
          <a:prstGeom prst="rect">
            <a:avLst/>
          </a:prstGeom>
        </p:spPr>
      </p:pic>
      <p:pic>
        <p:nvPicPr>
          <p:cNvPr id="14" name="object 14"/>
          <p:cNvPicPr/>
          <p:nvPr/>
        </p:nvPicPr>
        <p:blipFill>
          <a:blip r:embed="rId10" cstate="print"/>
          <a:stretch>
            <a:fillRect/>
          </a:stretch>
        </p:blipFill>
        <p:spPr>
          <a:xfrm>
            <a:off x="5407959" y="1483659"/>
            <a:ext cx="22412" cy="11205"/>
          </a:xfrm>
          <a:prstGeom prst="rect">
            <a:avLst/>
          </a:prstGeom>
        </p:spPr>
      </p:pic>
      <p:pic>
        <p:nvPicPr>
          <p:cNvPr id="15" name="object 15"/>
          <p:cNvPicPr/>
          <p:nvPr/>
        </p:nvPicPr>
        <p:blipFill>
          <a:blip r:embed="rId9" cstate="print"/>
          <a:stretch>
            <a:fillRect/>
          </a:stretch>
        </p:blipFill>
        <p:spPr>
          <a:xfrm>
            <a:off x="2512919" y="1633257"/>
            <a:ext cx="11206" cy="22412"/>
          </a:xfrm>
          <a:prstGeom prst="rect">
            <a:avLst/>
          </a:prstGeom>
        </p:spPr>
      </p:pic>
      <p:pic>
        <p:nvPicPr>
          <p:cNvPr id="16" name="object 16"/>
          <p:cNvPicPr/>
          <p:nvPr/>
        </p:nvPicPr>
        <p:blipFill>
          <a:blip r:embed="rId9" cstate="print"/>
          <a:stretch>
            <a:fillRect/>
          </a:stretch>
        </p:blipFill>
        <p:spPr>
          <a:xfrm>
            <a:off x="8269381" y="1633257"/>
            <a:ext cx="11206" cy="22412"/>
          </a:xfrm>
          <a:prstGeom prst="rect">
            <a:avLst/>
          </a:prstGeom>
        </p:spPr>
      </p:pic>
      <p:pic>
        <p:nvPicPr>
          <p:cNvPr id="17" name="object 17"/>
          <p:cNvPicPr/>
          <p:nvPr/>
        </p:nvPicPr>
        <p:blipFill>
          <a:blip r:embed="rId10" cstate="print"/>
          <a:stretch>
            <a:fillRect/>
          </a:stretch>
        </p:blipFill>
        <p:spPr>
          <a:xfrm>
            <a:off x="5407959" y="2101103"/>
            <a:ext cx="22412" cy="11206"/>
          </a:xfrm>
          <a:prstGeom prst="rect">
            <a:avLst/>
          </a:prstGeom>
        </p:spPr>
      </p:pic>
      <p:graphicFrame>
        <p:nvGraphicFramePr>
          <p:cNvPr id="18" name="object 18"/>
          <p:cNvGraphicFramePr>
            <a:graphicFrameLocks noGrp="1"/>
          </p:cNvGraphicFramePr>
          <p:nvPr/>
        </p:nvGraphicFramePr>
        <p:xfrm>
          <a:off x="843131" y="858146"/>
          <a:ext cx="7421653" cy="1611405"/>
        </p:xfrm>
        <a:graphic>
          <a:graphicData uri="http://schemas.openxmlformats.org/drawingml/2006/table">
            <a:tbl>
              <a:tblPr firstRow="1" bandRow="1">
                <a:tableStyleId>{2D5ABB26-0587-4C30-8999-92F81FD0307C}</a:tableStyleId>
              </a:tblPr>
              <a:tblGrid>
                <a:gridCol w="1666314">
                  <a:extLst>
                    <a:ext uri="{9D8B030D-6E8A-4147-A177-3AD203B41FA5}">
                      <a16:colId xmlns:a16="http://schemas.microsoft.com/office/drawing/2014/main" val="20000"/>
                    </a:ext>
                  </a:extLst>
                </a:gridCol>
                <a:gridCol w="1441637">
                  <a:extLst>
                    <a:ext uri="{9D8B030D-6E8A-4147-A177-3AD203B41FA5}">
                      <a16:colId xmlns:a16="http://schemas.microsoft.com/office/drawing/2014/main" val="20001"/>
                    </a:ext>
                  </a:extLst>
                </a:gridCol>
                <a:gridCol w="1444437">
                  <a:extLst>
                    <a:ext uri="{9D8B030D-6E8A-4147-A177-3AD203B41FA5}">
                      <a16:colId xmlns:a16="http://schemas.microsoft.com/office/drawing/2014/main" val="20002"/>
                    </a:ext>
                  </a:extLst>
                </a:gridCol>
                <a:gridCol w="1441636">
                  <a:extLst>
                    <a:ext uri="{9D8B030D-6E8A-4147-A177-3AD203B41FA5}">
                      <a16:colId xmlns:a16="http://schemas.microsoft.com/office/drawing/2014/main" val="20003"/>
                    </a:ext>
                  </a:extLst>
                </a:gridCol>
                <a:gridCol w="1427629">
                  <a:extLst>
                    <a:ext uri="{9D8B030D-6E8A-4147-A177-3AD203B41FA5}">
                      <a16:colId xmlns:a16="http://schemas.microsoft.com/office/drawing/2014/main" val="20004"/>
                    </a:ext>
                  </a:extLst>
                </a:gridCol>
              </a:tblGrid>
              <a:tr h="155762">
                <a:tc gridSpan="5">
                  <a:txBody>
                    <a:bodyPr/>
                    <a:lstStyle/>
                    <a:p>
                      <a:pPr marL="80645">
                        <a:lnSpc>
                          <a:spcPts val="1215"/>
                        </a:lnSpc>
                        <a:spcBef>
                          <a:spcPts val="75"/>
                        </a:spcBef>
                      </a:pPr>
                      <a:r>
                        <a:rPr sz="1000" b="1" spc="-80" dirty="0">
                          <a:latin typeface="Arial"/>
                          <a:cs typeface="Arial"/>
                        </a:rPr>
                        <a:t>Orientation</a:t>
                      </a:r>
                      <a:r>
                        <a:rPr sz="1000" b="1" spc="5" dirty="0">
                          <a:latin typeface="Arial"/>
                          <a:cs typeface="Arial"/>
                        </a:rPr>
                        <a:t> </a:t>
                      </a:r>
                      <a:r>
                        <a:rPr sz="1000" b="1" spc="-20" dirty="0">
                          <a:latin typeface="Arial"/>
                          <a:cs typeface="Arial"/>
                        </a:rPr>
                        <a:t>of</a:t>
                      </a:r>
                      <a:r>
                        <a:rPr sz="1000" b="1" spc="-150" dirty="0">
                          <a:latin typeface="Arial"/>
                          <a:cs typeface="Arial"/>
                        </a:rPr>
                        <a:t> </a:t>
                      </a:r>
                      <a:r>
                        <a:rPr sz="1000" b="1" spc="-40" dirty="0">
                          <a:latin typeface="Arial"/>
                          <a:cs typeface="Arial"/>
                        </a:rPr>
                        <a:t>the</a:t>
                      </a:r>
                      <a:r>
                        <a:rPr sz="1000" b="1" spc="-75" dirty="0">
                          <a:latin typeface="Arial"/>
                          <a:cs typeface="Arial"/>
                        </a:rPr>
                        <a:t> </a:t>
                      </a:r>
                      <a:r>
                        <a:rPr sz="1000" b="1" spc="-95" dirty="0">
                          <a:latin typeface="Arial"/>
                          <a:cs typeface="Arial"/>
                        </a:rPr>
                        <a:t>main</a:t>
                      </a:r>
                      <a:r>
                        <a:rPr sz="1000" b="1" spc="-40" dirty="0">
                          <a:latin typeface="Arial"/>
                          <a:cs typeface="Arial"/>
                        </a:rPr>
                        <a:t> </a:t>
                      </a:r>
                      <a:r>
                        <a:rPr sz="1000" b="1" spc="-100" dirty="0">
                          <a:latin typeface="Arial"/>
                          <a:cs typeface="Arial"/>
                        </a:rPr>
                        <a:t>computing</a:t>
                      </a:r>
                      <a:r>
                        <a:rPr sz="1000" b="1" spc="55" dirty="0">
                          <a:latin typeface="Arial"/>
                          <a:cs typeface="Arial"/>
                        </a:rPr>
                        <a:t> </a:t>
                      </a:r>
                      <a:r>
                        <a:rPr sz="1000" b="1" spc="-105" dirty="0">
                          <a:latin typeface="Arial"/>
                          <a:cs typeface="Arial"/>
                        </a:rPr>
                        <a:t>disciplines</a:t>
                      </a:r>
                      <a:r>
                        <a:rPr sz="1000" b="1" spc="50" dirty="0">
                          <a:latin typeface="Arial"/>
                          <a:cs typeface="Arial"/>
                        </a:rPr>
                        <a:t> </a:t>
                      </a:r>
                      <a:r>
                        <a:rPr sz="1000" b="1" spc="-75" dirty="0">
                          <a:latin typeface="Arial"/>
                          <a:cs typeface="Arial"/>
                        </a:rPr>
                        <a:t>towards</a:t>
                      </a:r>
                      <a:r>
                        <a:rPr sz="1000" b="1" spc="35" dirty="0">
                          <a:latin typeface="Arial"/>
                          <a:cs typeface="Arial"/>
                        </a:rPr>
                        <a:t> </a:t>
                      </a:r>
                      <a:r>
                        <a:rPr sz="1000" b="1" spc="-95" dirty="0">
                          <a:latin typeface="Arial"/>
                          <a:cs typeface="Arial"/>
                        </a:rPr>
                        <a:t>product</a:t>
                      </a:r>
                      <a:r>
                        <a:rPr sz="1000" b="1" spc="20" dirty="0">
                          <a:latin typeface="Arial"/>
                          <a:cs typeface="Arial"/>
                        </a:rPr>
                        <a:t> </a:t>
                      </a:r>
                      <a:r>
                        <a:rPr sz="1000" b="1" spc="-80" dirty="0">
                          <a:latin typeface="Arial"/>
                          <a:cs typeface="Arial"/>
                        </a:rPr>
                        <a:t>development,</a:t>
                      </a:r>
                      <a:r>
                        <a:rPr sz="1000" b="1" spc="180" dirty="0">
                          <a:latin typeface="Arial"/>
                          <a:cs typeface="Arial"/>
                        </a:rPr>
                        <a:t> </a:t>
                      </a:r>
                      <a:r>
                        <a:rPr sz="1000" b="1" spc="-95" dirty="0">
                          <a:latin typeface="Arial"/>
                          <a:cs typeface="Arial"/>
                        </a:rPr>
                        <a:t>product</a:t>
                      </a:r>
                      <a:r>
                        <a:rPr sz="1000" b="1" spc="20" dirty="0">
                          <a:latin typeface="Arial"/>
                          <a:cs typeface="Arial"/>
                        </a:rPr>
                        <a:t> </a:t>
                      </a:r>
                      <a:r>
                        <a:rPr sz="1000" b="1" spc="-85" dirty="0">
                          <a:latin typeface="Arial"/>
                          <a:cs typeface="Arial"/>
                        </a:rPr>
                        <a:t>deployment</a:t>
                      </a:r>
                      <a:r>
                        <a:rPr sz="1000" b="1" spc="135" dirty="0">
                          <a:latin typeface="Arial"/>
                          <a:cs typeface="Arial"/>
                        </a:rPr>
                        <a:t> </a:t>
                      </a:r>
                      <a:r>
                        <a:rPr sz="1000" b="1" spc="-95" dirty="0">
                          <a:latin typeface="Arial"/>
                          <a:cs typeface="Arial"/>
                        </a:rPr>
                        <a:t>and</a:t>
                      </a:r>
                      <a:r>
                        <a:rPr sz="1000" b="1" spc="-40" dirty="0">
                          <a:latin typeface="Arial"/>
                          <a:cs typeface="Arial"/>
                        </a:rPr>
                        <a:t> </a:t>
                      </a:r>
                      <a:r>
                        <a:rPr sz="1000" b="1" spc="-114" dirty="0">
                          <a:latin typeface="Arial"/>
                          <a:cs typeface="Arial"/>
                        </a:rPr>
                        <a:t>user</a:t>
                      </a:r>
                      <a:r>
                        <a:rPr sz="1000" b="1" spc="-70" dirty="0">
                          <a:latin typeface="Arial"/>
                          <a:cs typeface="Arial"/>
                        </a:rPr>
                        <a:t> </a:t>
                      </a:r>
                      <a:r>
                        <a:rPr sz="1000" b="1" spc="-75" dirty="0">
                          <a:latin typeface="Arial"/>
                          <a:cs typeface="Arial"/>
                        </a:rPr>
                        <a:t>support</a:t>
                      </a:r>
                      <a:r>
                        <a:rPr sz="1000" b="1" spc="95" dirty="0">
                          <a:latin typeface="Arial"/>
                          <a:cs typeface="Arial"/>
                        </a:rPr>
                        <a:t> </a:t>
                      </a:r>
                      <a:r>
                        <a:rPr sz="1000" b="1" spc="-10" dirty="0">
                          <a:latin typeface="Arial"/>
                          <a:cs typeface="Arial"/>
                        </a:rPr>
                        <a:t>(continued):</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155762">
                <a:tc rowSpan="2">
                  <a:txBody>
                    <a:bodyPr/>
                    <a:lstStyle/>
                    <a:p>
                      <a:pPr>
                        <a:lnSpc>
                          <a:spcPct val="100000"/>
                        </a:lnSpc>
                        <a:spcBef>
                          <a:spcPts val="155"/>
                        </a:spcBef>
                      </a:pPr>
                      <a:endParaRPr sz="1000">
                        <a:latin typeface="Times New Roman"/>
                        <a:cs typeface="Times New Roman"/>
                      </a:endParaRPr>
                    </a:p>
                    <a:p>
                      <a:pPr marL="83185">
                        <a:lnSpc>
                          <a:spcPct val="100000"/>
                        </a:lnSpc>
                      </a:pPr>
                      <a:r>
                        <a:rPr sz="1000" b="1" spc="-30" dirty="0">
                          <a:latin typeface="Arial"/>
                          <a:cs typeface="Arial"/>
                        </a:rPr>
                        <a:t>Discipline</a:t>
                      </a:r>
                      <a:endParaRPr sz="1000">
                        <a:latin typeface="Arial"/>
                        <a:cs typeface="Arial"/>
                      </a:endParaRPr>
                    </a:p>
                  </a:txBody>
                  <a:tcPr marL="0" marR="0" marT="17369"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4">
                  <a:txBody>
                    <a:bodyPr/>
                    <a:lstStyle/>
                    <a:p>
                      <a:pPr marR="14604" algn="ctr">
                        <a:lnSpc>
                          <a:spcPts val="1215"/>
                        </a:lnSpc>
                        <a:spcBef>
                          <a:spcPts val="75"/>
                        </a:spcBef>
                      </a:pPr>
                      <a:r>
                        <a:rPr sz="1000" b="1" spc="-145" dirty="0">
                          <a:latin typeface="Arial"/>
                          <a:cs typeface="Arial"/>
                        </a:rPr>
                        <a:t>User</a:t>
                      </a:r>
                      <a:r>
                        <a:rPr sz="1000" b="1" spc="-55" dirty="0">
                          <a:latin typeface="Arial"/>
                          <a:cs typeface="Arial"/>
                        </a:rPr>
                        <a:t> </a:t>
                      </a:r>
                      <a:r>
                        <a:rPr sz="1000" b="1" spc="-90" dirty="0">
                          <a:latin typeface="Arial"/>
                          <a:cs typeface="Arial"/>
                        </a:rPr>
                        <a:t>support</a:t>
                      </a:r>
                      <a:r>
                        <a:rPr sz="1000" b="1" spc="100" dirty="0">
                          <a:latin typeface="Arial"/>
                          <a:cs typeface="Arial"/>
                        </a:rPr>
                        <a:t> </a:t>
                      </a:r>
                      <a:r>
                        <a:rPr sz="1000" b="1" spc="-95" dirty="0">
                          <a:latin typeface="Arial"/>
                          <a:cs typeface="Arial"/>
                        </a:rPr>
                        <a:t>provided</a:t>
                      </a:r>
                      <a:r>
                        <a:rPr sz="1000" b="1" spc="45" dirty="0">
                          <a:latin typeface="Arial"/>
                          <a:cs typeface="Arial"/>
                        </a:rPr>
                        <a:t> </a:t>
                      </a:r>
                      <a:r>
                        <a:rPr sz="1000" b="1" dirty="0">
                          <a:latin typeface="Arial"/>
                          <a:cs typeface="Arial"/>
                        </a:rPr>
                        <a:t>to</a:t>
                      </a:r>
                      <a:r>
                        <a:rPr sz="1000" b="1" spc="-100" dirty="0">
                          <a:latin typeface="Arial"/>
                          <a:cs typeface="Arial"/>
                        </a:rPr>
                        <a:t> </a:t>
                      </a:r>
                      <a:r>
                        <a:rPr sz="1000" b="1" spc="-114" dirty="0">
                          <a:latin typeface="Arial"/>
                          <a:cs typeface="Arial"/>
                        </a:rPr>
                        <a:t>products</a:t>
                      </a:r>
                      <a:r>
                        <a:rPr sz="1000" b="1" spc="100" dirty="0">
                          <a:latin typeface="Arial"/>
                          <a:cs typeface="Arial"/>
                        </a:rPr>
                        <a:t> </a:t>
                      </a:r>
                      <a:r>
                        <a:rPr sz="1000" b="1" spc="-90" dirty="0">
                          <a:latin typeface="Arial"/>
                          <a:cs typeface="Arial"/>
                        </a:rPr>
                        <a:t>already</a:t>
                      </a:r>
                      <a:r>
                        <a:rPr sz="1000" b="1" spc="40" dirty="0">
                          <a:latin typeface="Arial"/>
                          <a:cs typeface="Arial"/>
                        </a:rPr>
                        <a:t> </a:t>
                      </a:r>
                      <a:r>
                        <a:rPr sz="1000" b="1" spc="-10" dirty="0">
                          <a:latin typeface="Arial"/>
                          <a:cs typeface="Arial"/>
                        </a:rPr>
                        <a:t>deployed</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1"/>
                  </a:ext>
                </a:extLst>
              </a:tr>
              <a:tr h="306481">
                <a:tc vMerge="1">
                  <a:txBody>
                    <a:bodyPr/>
                    <a:lstStyle/>
                    <a:p>
                      <a:endParaRPr/>
                    </a:p>
                  </a:txBody>
                  <a:tcPr marL="0" marR="0" marT="1968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1980" marR="146050" indent="-474345">
                        <a:lnSpc>
                          <a:spcPts val="1210"/>
                        </a:lnSpc>
                        <a:spcBef>
                          <a:spcPts val="215"/>
                        </a:spcBef>
                      </a:pPr>
                      <a:r>
                        <a:rPr sz="1000" b="1" spc="-110" dirty="0">
                          <a:latin typeface="Arial"/>
                          <a:cs typeface="Arial"/>
                        </a:rPr>
                        <a:t>Hardware</a:t>
                      </a:r>
                      <a:r>
                        <a:rPr sz="1000" b="1" spc="100" dirty="0">
                          <a:latin typeface="Arial"/>
                          <a:cs typeface="Arial"/>
                        </a:rPr>
                        <a:t> </a:t>
                      </a:r>
                      <a:r>
                        <a:rPr sz="1000" b="1" spc="-85" dirty="0">
                          <a:latin typeface="Arial"/>
                          <a:cs typeface="Arial"/>
                        </a:rPr>
                        <a:t>infrastructure </a:t>
                      </a:r>
                      <a:r>
                        <a:rPr sz="1000" b="1" spc="-10" dirty="0">
                          <a:latin typeface="Arial"/>
                          <a:cs typeface="Arial"/>
                        </a:rPr>
                        <a:t>support</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1980" marR="161290" indent="-445134">
                        <a:lnSpc>
                          <a:spcPts val="1210"/>
                        </a:lnSpc>
                        <a:spcBef>
                          <a:spcPts val="215"/>
                        </a:spcBef>
                      </a:pPr>
                      <a:r>
                        <a:rPr sz="1000" b="1" spc="-90" dirty="0">
                          <a:latin typeface="Arial"/>
                          <a:cs typeface="Arial"/>
                        </a:rPr>
                        <a:t>Infrastructure</a:t>
                      </a:r>
                      <a:r>
                        <a:rPr sz="1000" b="1" spc="145" dirty="0">
                          <a:latin typeface="Arial"/>
                          <a:cs typeface="Arial"/>
                        </a:rPr>
                        <a:t> </a:t>
                      </a:r>
                      <a:r>
                        <a:rPr sz="1000" b="1" spc="-75" dirty="0">
                          <a:latin typeface="Arial"/>
                          <a:cs typeface="Arial"/>
                        </a:rPr>
                        <a:t>software </a:t>
                      </a:r>
                      <a:r>
                        <a:rPr sz="1000" b="1" spc="-10" dirty="0">
                          <a:latin typeface="Arial"/>
                          <a:cs typeface="Arial"/>
                        </a:rPr>
                        <a:t>support</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00075" marR="204470" indent="-410209">
                        <a:lnSpc>
                          <a:spcPts val="1210"/>
                        </a:lnSpc>
                        <a:spcBef>
                          <a:spcPts val="215"/>
                        </a:spcBef>
                      </a:pPr>
                      <a:r>
                        <a:rPr sz="1000" b="1" spc="-110" dirty="0">
                          <a:latin typeface="Arial"/>
                          <a:cs typeface="Arial"/>
                        </a:rPr>
                        <a:t>Applications</a:t>
                      </a:r>
                      <a:r>
                        <a:rPr sz="1000" b="1" spc="125" dirty="0">
                          <a:latin typeface="Arial"/>
                          <a:cs typeface="Arial"/>
                        </a:rPr>
                        <a:t> </a:t>
                      </a:r>
                      <a:r>
                        <a:rPr sz="1000" b="1" spc="-75" dirty="0">
                          <a:latin typeface="Arial"/>
                          <a:cs typeface="Arial"/>
                        </a:rPr>
                        <a:t>software </a:t>
                      </a:r>
                      <a:r>
                        <a:rPr sz="1000" b="1" spc="-10" dirty="0">
                          <a:latin typeface="Arial"/>
                          <a:cs typeface="Arial"/>
                        </a:rPr>
                        <a:t>support</a:t>
                      </a:r>
                      <a:endParaRPr sz="1000">
                        <a:latin typeface="Arial"/>
                        <a:cs typeface="Arial"/>
                      </a:endParaRPr>
                    </a:p>
                  </a:txBody>
                  <a:tcPr marL="0" marR="0" marT="24093"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gn="ctr">
                        <a:lnSpc>
                          <a:spcPct val="100000"/>
                        </a:lnSpc>
                        <a:spcBef>
                          <a:spcPts val="75"/>
                        </a:spcBef>
                      </a:pPr>
                      <a:r>
                        <a:rPr sz="1000" b="1" spc="-120" dirty="0">
                          <a:latin typeface="Arial"/>
                          <a:cs typeface="Arial"/>
                        </a:rPr>
                        <a:t>Functional</a:t>
                      </a:r>
                      <a:r>
                        <a:rPr sz="1000" b="1" spc="125" dirty="0">
                          <a:latin typeface="Arial"/>
                          <a:cs typeface="Arial"/>
                        </a:rPr>
                        <a:t> </a:t>
                      </a:r>
                      <a:r>
                        <a:rPr sz="1000" b="1" spc="-10" dirty="0">
                          <a:latin typeface="Arial"/>
                          <a:cs typeface="Arial"/>
                        </a:rPr>
                        <a:t>support</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2"/>
                  </a:ext>
                </a:extLst>
              </a:tr>
              <a:tr h="155762">
                <a:tc>
                  <a:txBody>
                    <a:bodyPr/>
                    <a:lstStyle/>
                    <a:p>
                      <a:pPr marL="80645">
                        <a:lnSpc>
                          <a:spcPts val="1215"/>
                        </a:lnSpc>
                        <a:spcBef>
                          <a:spcPts val="75"/>
                        </a:spcBef>
                      </a:pPr>
                      <a:r>
                        <a:rPr sz="1000" b="1" spc="-114" dirty="0">
                          <a:latin typeface="Arial"/>
                          <a:cs typeface="Arial"/>
                        </a:rPr>
                        <a:t>Computer</a:t>
                      </a:r>
                      <a:r>
                        <a:rPr sz="1000" b="1" spc="90" dirty="0">
                          <a:latin typeface="Arial"/>
                          <a:cs typeface="Arial"/>
                        </a:rPr>
                        <a:t> </a:t>
                      </a:r>
                      <a:r>
                        <a:rPr sz="1000" b="1" spc="-35" dirty="0">
                          <a:latin typeface="Arial"/>
                          <a:cs typeface="Arial"/>
                        </a:rPr>
                        <a:t>Engineering</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4">
                  <a:txBody>
                    <a:bodyPr/>
                    <a:lstStyle/>
                    <a:p>
                      <a:pPr algn="ctr">
                        <a:lnSpc>
                          <a:spcPts val="1205"/>
                        </a:lnSpc>
                        <a:spcBef>
                          <a:spcPts val="85"/>
                        </a:spcBef>
                      </a:pPr>
                      <a:r>
                        <a:rPr sz="1000" spc="-110" dirty="0">
                          <a:latin typeface="Arial"/>
                          <a:cs typeface="Arial"/>
                        </a:rPr>
                        <a:t>(No</a:t>
                      </a:r>
                      <a:r>
                        <a:rPr sz="1000" spc="-85" dirty="0">
                          <a:latin typeface="Arial"/>
                          <a:cs typeface="Arial"/>
                        </a:rPr>
                        <a:t> </a:t>
                      </a:r>
                      <a:r>
                        <a:rPr sz="1000" spc="-30" dirty="0">
                          <a:latin typeface="Arial"/>
                          <a:cs typeface="Arial"/>
                        </a:rPr>
                        <a:t>direct</a:t>
                      </a:r>
                      <a:r>
                        <a:rPr sz="1000" spc="-25" dirty="0">
                          <a:latin typeface="Arial"/>
                          <a:cs typeface="Arial"/>
                        </a:rPr>
                        <a:t> </a:t>
                      </a:r>
                      <a:r>
                        <a:rPr sz="1000" spc="-45" dirty="0">
                          <a:latin typeface="Arial"/>
                          <a:cs typeface="Arial"/>
                        </a:rPr>
                        <a:t>support</a:t>
                      </a:r>
                      <a:r>
                        <a:rPr sz="1000" spc="10" dirty="0">
                          <a:latin typeface="Arial"/>
                          <a:cs typeface="Arial"/>
                        </a:rPr>
                        <a:t> </a:t>
                      </a:r>
                      <a:r>
                        <a:rPr sz="1000" dirty="0">
                          <a:latin typeface="Arial"/>
                          <a:cs typeface="Arial"/>
                        </a:rPr>
                        <a:t>to </a:t>
                      </a:r>
                      <a:r>
                        <a:rPr sz="1000" spc="-10" dirty="0">
                          <a:latin typeface="Arial"/>
                          <a:cs typeface="Arial"/>
                        </a:rPr>
                        <a:t>users)</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cap="flat" cmpd="sng" algn="ctr">
                      <a:solidFill>
                        <a:srgbClr val="000000"/>
                      </a:solidFill>
                      <a:prstDash val="solid"/>
                      <a:round/>
                      <a:headEnd type="none" w="med" len="med"/>
                      <a:tailEnd type="none" w="med" len="me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3"/>
                  </a:ext>
                </a:extLst>
              </a:tr>
              <a:tr h="155762">
                <a:tc>
                  <a:txBody>
                    <a:bodyPr/>
                    <a:lstStyle/>
                    <a:p>
                      <a:pPr marL="80645">
                        <a:lnSpc>
                          <a:spcPts val="1215"/>
                        </a:lnSpc>
                        <a:spcBef>
                          <a:spcPts val="75"/>
                        </a:spcBef>
                      </a:pPr>
                      <a:r>
                        <a:rPr sz="1000" b="1" spc="-120" dirty="0">
                          <a:latin typeface="Arial"/>
                          <a:cs typeface="Arial"/>
                        </a:rPr>
                        <a:t>Computer</a:t>
                      </a:r>
                      <a:r>
                        <a:rPr sz="1000" b="1" spc="80" dirty="0">
                          <a:latin typeface="Arial"/>
                          <a:cs typeface="Arial"/>
                        </a:rPr>
                        <a:t> </a:t>
                      </a:r>
                      <a:r>
                        <a:rPr sz="1000" b="1" spc="-10" dirty="0">
                          <a:latin typeface="Arial"/>
                          <a:cs typeface="Arial"/>
                        </a:rPr>
                        <a:t>Science</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4">
                  <a:txBody>
                    <a:bodyPr/>
                    <a:lstStyle/>
                    <a:p>
                      <a:pPr algn="ctr">
                        <a:lnSpc>
                          <a:spcPts val="1205"/>
                        </a:lnSpc>
                        <a:spcBef>
                          <a:spcPts val="85"/>
                        </a:spcBef>
                      </a:pPr>
                      <a:r>
                        <a:rPr sz="1000" spc="-110" dirty="0">
                          <a:latin typeface="Arial"/>
                          <a:cs typeface="Arial"/>
                        </a:rPr>
                        <a:t>(No</a:t>
                      </a:r>
                      <a:r>
                        <a:rPr sz="1000" spc="-85" dirty="0">
                          <a:latin typeface="Arial"/>
                          <a:cs typeface="Arial"/>
                        </a:rPr>
                        <a:t> </a:t>
                      </a:r>
                      <a:r>
                        <a:rPr sz="1000" spc="-30" dirty="0">
                          <a:latin typeface="Arial"/>
                          <a:cs typeface="Arial"/>
                        </a:rPr>
                        <a:t>direct</a:t>
                      </a:r>
                      <a:r>
                        <a:rPr sz="1000" spc="-25" dirty="0">
                          <a:latin typeface="Arial"/>
                          <a:cs typeface="Arial"/>
                        </a:rPr>
                        <a:t> </a:t>
                      </a:r>
                      <a:r>
                        <a:rPr sz="1000" spc="-45" dirty="0">
                          <a:latin typeface="Arial"/>
                          <a:cs typeface="Arial"/>
                        </a:rPr>
                        <a:t>support</a:t>
                      </a:r>
                      <a:r>
                        <a:rPr sz="1000" spc="10" dirty="0">
                          <a:latin typeface="Arial"/>
                          <a:cs typeface="Arial"/>
                        </a:rPr>
                        <a:t> </a:t>
                      </a:r>
                      <a:r>
                        <a:rPr sz="1000" dirty="0">
                          <a:latin typeface="Arial"/>
                          <a:cs typeface="Arial"/>
                        </a:rPr>
                        <a:t>to </a:t>
                      </a:r>
                      <a:r>
                        <a:rPr sz="1000" spc="-10" dirty="0">
                          <a:latin typeface="Arial"/>
                          <a:cs typeface="Arial"/>
                        </a:rPr>
                        <a:t>users)</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4"/>
                  </a:ext>
                </a:extLst>
              </a:tr>
              <a:tr h="155762">
                <a:tc>
                  <a:txBody>
                    <a:bodyPr/>
                    <a:lstStyle/>
                    <a:p>
                      <a:pPr marL="78740">
                        <a:lnSpc>
                          <a:spcPts val="1215"/>
                        </a:lnSpc>
                        <a:spcBef>
                          <a:spcPts val="75"/>
                        </a:spcBef>
                      </a:pPr>
                      <a:r>
                        <a:rPr sz="1000" b="1" spc="-95" dirty="0">
                          <a:latin typeface="Arial"/>
                          <a:cs typeface="Arial"/>
                        </a:rPr>
                        <a:t>Software</a:t>
                      </a:r>
                      <a:r>
                        <a:rPr sz="1000" b="1" spc="50" dirty="0">
                          <a:latin typeface="Arial"/>
                          <a:cs typeface="Arial"/>
                        </a:rPr>
                        <a:t> </a:t>
                      </a:r>
                      <a:r>
                        <a:rPr sz="1000" b="1" spc="-35" dirty="0">
                          <a:latin typeface="Arial"/>
                          <a:cs typeface="Arial"/>
                        </a:rPr>
                        <a:t>Engineering</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gridSpan="4">
                  <a:txBody>
                    <a:bodyPr/>
                    <a:lstStyle/>
                    <a:p>
                      <a:pPr algn="ctr">
                        <a:lnSpc>
                          <a:spcPts val="1205"/>
                        </a:lnSpc>
                        <a:spcBef>
                          <a:spcPts val="85"/>
                        </a:spcBef>
                      </a:pPr>
                      <a:r>
                        <a:rPr sz="1000" spc="-110" dirty="0">
                          <a:latin typeface="Arial"/>
                          <a:cs typeface="Arial"/>
                        </a:rPr>
                        <a:t>(No</a:t>
                      </a:r>
                      <a:r>
                        <a:rPr sz="1000" spc="-85" dirty="0">
                          <a:latin typeface="Arial"/>
                          <a:cs typeface="Arial"/>
                        </a:rPr>
                        <a:t> </a:t>
                      </a:r>
                      <a:r>
                        <a:rPr sz="1000" spc="-30" dirty="0">
                          <a:latin typeface="Arial"/>
                          <a:cs typeface="Arial"/>
                        </a:rPr>
                        <a:t>direct </a:t>
                      </a:r>
                      <a:r>
                        <a:rPr sz="1000" spc="-45" dirty="0">
                          <a:latin typeface="Arial"/>
                          <a:cs typeface="Arial"/>
                        </a:rPr>
                        <a:t>support</a:t>
                      </a:r>
                      <a:r>
                        <a:rPr sz="1000" spc="10" dirty="0">
                          <a:latin typeface="Arial"/>
                          <a:cs typeface="Arial"/>
                        </a:rPr>
                        <a:t> </a:t>
                      </a:r>
                      <a:r>
                        <a:rPr sz="1000" dirty="0">
                          <a:latin typeface="Arial"/>
                          <a:cs typeface="Arial"/>
                        </a:rPr>
                        <a:t>to </a:t>
                      </a:r>
                      <a:r>
                        <a:rPr sz="1000" spc="-10" dirty="0">
                          <a:latin typeface="Arial"/>
                          <a:cs typeface="Arial"/>
                        </a:rPr>
                        <a:t>users)</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5"/>
                  </a:ext>
                </a:extLst>
              </a:tr>
              <a:tr h="156322">
                <a:tc>
                  <a:txBody>
                    <a:bodyPr/>
                    <a:lstStyle/>
                    <a:p>
                      <a:pPr marL="83185">
                        <a:lnSpc>
                          <a:spcPts val="1215"/>
                        </a:lnSpc>
                        <a:spcBef>
                          <a:spcPts val="75"/>
                        </a:spcBef>
                      </a:pPr>
                      <a:r>
                        <a:rPr sz="1000" b="1" spc="-85" dirty="0">
                          <a:latin typeface="Arial"/>
                          <a:cs typeface="Arial"/>
                        </a:rPr>
                        <a:t>Information</a:t>
                      </a:r>
                      <a:r>
                        <a:rPr sz="1000" b="1" spc="35" dirty="0">
                          <a:latin typeface="Arial"/>
                          <a:cs typeface="Arial"/>
                        </a:rPr>
                        <a:t> </a:t>
                      </a:r>
                      <a:r>
                        <a:rPr sz="1000" b="1" spc="-25" dirty="0">
                          <a:latin typeface="Arial"/>
                          <a:cs typeface="Arial"/>
                        </a:rPr>
                        <a:t>Technology</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ts val="1215"/>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ts val="1215"/>
                        </a:lnSpc>
                        <a:spcBef>
                          <a:spcPts val="75"/>
                        </a:spcBef>
                      </a:pPr>
                      <a:r>
                        <a:rPr sz="1000" b="1" spc="-20" dirty="0">
                          <a:latin typeface="Arial"/>
                          <a:cs typeface="Arial"/>
                        </a:rPr>
                        <a:t>High</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ts val="1215"/>
                        </a:lnSpc>
                        <a:spcBef>
                          <a:spcPts val="75"/>
                        </a:spcBef>
                      </a:pPr>
                      <a:r>
                        <a:rPr sz="1000" b="1" spc="-25" dirty="0">
                          <a:latin typeface="Arial"/>
                          <a:cs typeface="Arial"/>
                        </a:rPr>
                        <a:t>Low</a:t>
                      </a:r>
                      <a:endParaRPr sz="1000">
                        <a:latin typeface="Arial"/>
                        <a:cs typeface="Arial"/>
                      </a:endParaRPr>
                    </a:p>
                  </a:txBody>
                  <a:tcPr marL="0" marR="0" marT="8404"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a:lnSpc>
                          <a:spcPct val="100000"/>
                        </a:lnSpc>
                      </a:pPr>
                      <a:endParaRPr sz="800">
                        <a:latin typeface="Times New Roman"/>
                        <a:cs typeface="Times New Roman"/>
                      </a:endParaRPr>
                    </a:p>
                  </a:txBody>
                  <a:tcPr marL="0" marR="0" marT="0"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6"/>
                  </a:ext>
                </a:extLst>
              </a:tr>
              <a:tr h="156882">
                <a:tc>
                  <a:txBody>
                    <a:bodyPr/>
                    <a:lstStyle/>
                    <a:p>
                      <a:pPr marL="83185">
                        <a:lnSpc>
                          <a:spcPts val="1215"/>
                        </a:lnSpc>
                        <a:spcBef>
                          <a:spcPts val="85"/>
                        </a:spcBef>
                      </a:pPr>
                      <a:r>
                        <a:rPr sz="1000" b="1" spc="-85" dirty="0">
                          <a:latin typeface="Arial"/>
                          <a:cs typeface="Arial"/>
                        </a:rPr>
                        <a:t>Information</a:t>
                      </a:r>
                      <a:r>
                        <a:rPr sz="1000" b="1" spc="55" dirty="0">
                          <a:latin typeface="Arial"/>
                          <a:cs typeface="Arial"/>
                        </a:rPr>
                        <a:t> </a:t>
                      </a:r>
                      <a:r>
                        <a:rPr sz="1000" b="1" spc="-10" dirty="0">
                          <a:latin typeface="Arial"/>
                          <a:cs typeface="Arial"/>
                        </a:rPr>
                        <a:t>Systems</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13335" algn="ctr">
                        <a:lnSpc>
                          <a:spcPts val="1215"/>
                        </a:lnSpc>
                        <a:spcBef>
                          <a:spcPts val="85"/>
                        </a:spcBef>
                      </a:pPr>
                      <a:r>
                        <a:rPr sz="1000" b="1" spc="-25" dirty="0">
                          <a:latin typeface="Arial"/>
                          <a:cs typeface="Arial"/>
                        </a:rPr>
                        <a:t>Low</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6350" algn="ctr">
                        <a:lnSpc>
                          <a:spcPts val="1215"/>
                        </a:lnSpc>
                        <a:spcBef>
                          <a:spcPts val="85"/>
                        </a:spcBef>
                      </a:pPr>
                      <a:r>
                        <a:rPr sz="1000" b="1" spc="-25" dirty="0">
                          <a:latin typeface="Arial"/>
                          <a:cs typeface="Arial"/>
                        </a:rPr>
                        <a:t>Low</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ts val="1215"/>
                        </a:lnSpc>
                        <a:spcBef>
                          <a:spcPts val="85"/>
                        </a:spcBef>
                      </a:pPr>
                      <a:r>
                        <a:rPr sz="1000" b="1" spc="-20" dirty="0">
                          <a:latin typeface="Arial"/>
                          <a:cs typeface="Arial"/>
                        </a:rPr>
                        <a:t>High</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tc>
                  <a:txBody>
                    <a:bodyPr/>
                    <a:lstStyle/>
                    <a:p>
                      <a:pPr marL="2540" algn="ctr">
                        <a:lnSpc>
                          <a:spcPts val="1215"/>
                        </a:lnSpc>
                        <a:spcBef>
                          <a:spcPts val="85"/>
                        </a:spcBef>
                      </a:pPr>
                      <a:r>
                        <a:rPr sz="1000" b="1" spc="-20" dirty="0">
                          <a:latin typeface="Arial"/>
                          <a:cs typeface="Arial"/>
                        </a:rPr>
                        <a:t>High</a:t>
                      </a:r>
                      <a:endParaRPr sz="1000">
                        <a:latin typeface="Arial"/>
                        <a:cs typeface="Arial"/>
                      </a:endParaRPr>
                    </a:p>
                  </a:txBody>
                  <a:tcPr marL="0" marR="0" marT="9525" marB="0">
                    <a:lnL w="12700">
                      <a:solidFill>
                        <a:srgbClr val="000000"/>
                      </a:solidFill>
                      <a:prstDash val="solid"/>
                    </a:lnL>
                    <a:lnR w="12700">
                      <a:solidFill>
                        <a:srgbClr val="000000"/>
                      </a:solidFill>
                      <a:prstDash val="solid"/>
                    </a:lnR>
                    <a:lnT w="12700">
                      <a:solidFill>
                        <a:srgbClr val="000000"/>
                      </a:solidFill>
                      <a:prstDash val="solid"/>
                    </a:lnT>
                    <a:lnB w="12700">
                      <a:solidFill>
                        <a:srgbClr val="000000"/>
                      </a:solidFill>
                      <a:prstDash val="solid"/>
                    </a:lnB>
                  </a:tcPr>
                </a:tc>
                <a:extLst>
                  <a:ext uri="{0D108BD9-81ED-4DB2-BD59-A6C34878D82A}">
                    <a16:rowId xmlns:a16="http://schemas.microsoft.com/office/drawing/2014/main" val="10007"/>
                  </a:ext>
                </a:extLst>
              </a:tr>
            </a:tbl>
          </a:graphicData>
        </a:graphic>
      </p:graphicFrame>
      <p:pic>
        <p:nvPicPr>
          <p:cNvPr id="19" name="object 19"/>
          <p:cNvPicPr/>
          <p:nvPr/>
        </p:nvPicPr>
        <p:blipFill>
          <a:blip r:embed="rId9" cstate="print"/>
          <a:stretch>
            <a:fillRect/>
          </a:stretch>
        </p:blipFill>
        <p:spPr>
          <a:xfrm>
            <a:off x="3955116" y="1170453"/>
            <a:ext cx="11206" cy="22412"/>
          </a:xfrm>
          <a:prstGeom prst="rect">
            <a:avLst/>
          </a:prstGeom>
        </p:spPr>
      </p:pic>
      <p:pic>
        <p:nvPicPr>
          <p:cNvPr id="20" name="object 20"/>
          <p:cNvPicPr/>
          <p:nvPr/>
        </p:nvPicPr>
        <p:blipFill>
          <a:blip r:embed="rId11" cstate="print"/>
          <a:stretch>
            <a:fillRect/>
          </a:stretch>
        </p:blipFill>
        <p:spPr>
          <a:xfrm>
            <a:off x="5400675" y="1170453"/>
            <a:ext cx="22412" cy="22412"/>
          </a:xfrm>
          <a:prstGeom prst="rect">
            <a:avLst/>
          </a:prstGeom>
        </p:spPr>
      </p:pic>
      <p:pic>
        <p:nvPicPr>
          <p:cNvPr id="21" name="object 21"/>
          <p:cNvPicPr/>
          <p:nvPr/>
        </p:nvPicPr>
        <p:blipFill>
          <a:blip r:embed="rId9" cstate="print"/>
          <a:stretch>
            <a:fillRect/>
          </a:stretch>
        </p:blipFill>
        <p:spPr>
          <a:xfrm>
            <a:off x="6846234" y="1170453"/>
            <a:ext cx="11205" cy="22412"/>
          </a:xfrm>
          <a:prstGeom prst="rect">
            <a:avLst/>
          </a:prstGeom>
        </p:spPr>
      </p:pic>
      <p:pic>
        <p:nvPicPr>
          <p:cNvPr id="22" name="object 22"/>
          <p:cNvPicPr/>
          <p:nvPr/>
        </p:nvPicPr>
        <p:blipFill>
          <a:blip r:embed="rId9" cstate="print"/>
          <a:stretch>
            <a:fillRect/>
          </a:stretch>
        </p:blipFill>
        <p:spPr>
          <a:xfrm>
            <a:off x="854449" y="1633257"/>
            <a:ext cx="11205" cy="22412"/>
          </a:xfrm>
          <a:prstGeom prst="rect">
            <a:avLst/>
          </a:prstGeom>
        </p:spPr>
      </p:pic>
      <p:pic>
        <p:nvPicPr>
          <p:cNvPr id="23" name="object 23"/>
          <p:cNvPicPr/>
          <p:nvPr/>
        </p:nvPicPr>
        <p:blipFill>
          <a:blip r:embed="rId10" cstate="print"/>
          <a:stretch>
            <a:fillRect/>
          </a:stretch>
        </p:blipFill>
        <p:spPr>
          <a:xfrm>
            <a:off x="5400675" y="1956547"/>
            <a:ext cx="22412" cy="1120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2884074869"/>
              </p:ext>
            </p:extLst>
          </p:nvPr>
        </p:nvGraphicFramePr>
        <p:xfrm>
          <a:off x="276606" y="1133665"/>
          <a:ext cx="8585836" cy="4755293"/>
        </p:xfrm>
        <a:graphic>
          <a:graphicData uri="http://schemas.openxmlformats.org/drawingml/2006/table">
            <a:tbl>
              <a:tblPr firstRow="1" bandRow="1">
                <a:tableStyleId>{2D5ABB26-0587-4C30-8999-92F81FD0307C}</a:tableStyleId>
              </a:tblPr>
              <a:tblGrid>
                <a:gridCol w="521018">
                  <a:extLst>
                    <a:ext uri="{9D8B030D-6E8A-4147-A177-3AD203B41FA5}">
                      <a16:colId xmlns:a16="http://schemas.microsoft.com/office/drawing/2014/main" val="20000"/>
                    </a:ext>
                  </a:extLst>
                </a:gridCol>
                <a:gridCol w="3771900">
                  <a:extLst>
                    <a:ext uri="{9D8B030D-6E8A-4147-A177-3AD203B41FA5}">
                      <a16:colId xmlns:a16="http://schemas.microsoft.com/office/drawing/2014/main" val="20001"/>
                    </a:ext>
                  </a:extLst>
                </a:gridCol>
                <a:gridCol w="3771900">
                  <a:extLst>
                    <a:ext uri="{9D8B030D-6E8A-4147-A177-3AD203B41FA5}">
                      <a16:colId xmlns:a16="http://schemas.microsoft.com/office/drawing/2014/main" val="20002"/>
                    </a:ext>
                  </a:extLst>
                </a:gridCol>
                <a:gridCol w="521018">
                  <a:extLst>
                    <a:ext uri="{9D8B030D-6E8A-4147-A177-3AD203B41FA5}">
                      <a16:colId xmlns:a16="http://schemas.microsoft.com/office/drawing/2014/main" val="20003"/>
                    </a:ext>
                  </a:extLst>
                </a:gridCol>
              </a:tblGrid>
              <a:tr h="771335">
                <a:tc gridSpan="4">
                  <a:txBody>
                    <a:bodyPr/>
                    <a:lstStyle/>
                    <a:p>
                      <a:pPr>
                        <a:lnSpc>
                          <a:spcPct val="100000"/>
                        </a:lnSpc>
                        <a:spcBef>
                          <a:spcPts val="180"/>
                        </a:spcBef>
                      </a:pPr>
                      <a:endParaRPr sz="3000" dirty="0">
                        <a:latin typeface="Times New Roman"/>
                        <a:cs typeface="Times New Roman"/>
                      </a:endParaRPr>
                    </a:p>
                    <a:p>
                      <a:pPr marL="786130">
                        <a:lnSpc>
                          <a:spcPct val="100000"/>
                        </a:lnSpc>
                      </a:pPr>
                      <a:r>
                        <a:rPr sz="3000" dirty="0">
                          <a:solidFill>
                            <a:srgbClr val="252525"/>
                          </a:solidFill>
                          <a:latin typeface="Century Gothic"/>
                          <a:cs typeface="Century Gothic"/>
                        </a:rPr>
                        <a:t>Computing</a:t>
                      </a:r>
                      <a:r>
                        <a:rPr sz="3000" spc="-155" dirty="0">
                          <a:solidFill>
                            <a:srgbClr val="252525"/>
                          </a:solidFill>
                          <a:latin typeface="Century Gothic"/>
                          <a:cs typeface="Century Gothic"/>
                        </a:rPr>
                        <a:t> </a:t>
                      </a:r>
                      <a:r>
                        <a:rPr sz="3000" spc="-10" dirty="0">
                          <a:solidFill>
                            <a:srgbClr val="252525"/>
                          </a:solidFill>
                          <a:latin typeface="Century Gothic"/>
                          <a:cs typeface="Century Gothic"/>
                        </a:rPr>
                        <a:t>Fields</a:t>
                      </a:r>
                      <a:endParaRPr sz="3000" dirty="0">
                        <a:latin typeface="Century Gothic"/>
                        <a:cs typeface="Century Gothic"/>
                      </a:endParaRPr>
                    </a:p>
                  </a:txBody>
                  <a:tcPr marL="0" marR="0" marT="17145" marB="0">
                    <a:lnL w="6350">
                      <a:solidFill>
                        <a:srgbClr val="252525"/>
                      </a:solidFill>
                      <a:prstDash val="solid"/>
                    </a:lnL>
                    <a:lnR w="6350">
                      <a:solidFill>
                        <a:srgbClr val="252525"/>
                      </a:solidFill>
                      <a:prstDash val="solid"/>
                    </a:lnR>
                    <a:lnT w="6350">
                      <a:solidFill>
                        <a:srgbClr val="252525"/>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7654">
                <a:tc rowSpan="5">
                  <a:txBody>
                    <a:bodyPr/>
                    <a:lstStyle/>
                    <a:p>
                      <a:pPr>
                        <a:lnSpc>
                          <a:spcPct val="100000"/>
                        </a:lnSpc>
                      </a:pPr>
                      <a:endParaRPr sz="1400">
                        <a:latin typeface="Times New Roman"/>
                        <a:cs typeface="Times New Roman"/>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b="1" spc="-10" dirty="0">
                          <a:latin typeface="Century Gothic"/>
                          <a:cs typeface="Century Gothic"/>
                        </a:rPr>
                        <a:t>Field</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a:txBody>
                    <a:bodyPr/>
                    <a:lstStyle/>
                    <a:p>
                      <a:pPr marL="92075">
                        <a:lnSpc>
                          <a:spcPct val="100000"/>
                        </a:lnSpc>
                        <a:spcBef>
                          <a:spcPts val="325"/>
                        </a:spcBef>
                      </a:pPr>
                      <a:r>
                        <a:rPr sz="1400" b="1" spc="-10" dirty="0">
                          <a:latin typeface="Century Gothic"/>
                          <a:cs typeface="Century Gothic"/>
                        </a:rPr>
                        <a:t>Definition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rowSpan="5">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1"/>
                  </a:ext>
                </a:extLst>
              </a:tr>
              <a:tr h="880110">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Computer</a:t>
                      </a:r>
                      <a:r>
                        <a:rPr sz="1400" spc="-85" dirty="0">
                          <a:latin typeface="Century Gothic"/>
                          <a:cs typeface="Century Gothic"/>
                        </a:rPr>
                        <a:t> </a:t>
                      </a:r>
                      <a:r>
                        <a:rPr sz="1400" spc="-10" dirty="0">
                          <a:latin typeface="Century Gothic"/>
                          <a:cs typeface="Century Gothic"/>
                        </a:rPr>
                        <a:t>Engineering</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a:txBody>
                    <a:bodyPr/>
                    <a:lstStyle/>
                    <a:p>
                      <a:pPr marL="69215" algn="just">
                        <a:lnSpc>
                          <a:spcPts val="2095"/>
                        </a:lnSpc>
                      </a:pPr>
                      <a:r>
                        <a:rPr sz="1400" dirty="0">
                          <a:latin typeface="Century Gothic"/>
                          <a:cs typeface="Century Gothic"/>
                        </a:rPr>
                        <a:t>Combines</a:t>
                      </a:r>
                      <a:r>
                        <a:rPr sz="1400" spc="-55" dirty="0">
                          <a:latin typeface="Century Gothic"/>
                          <a:cs typeface="Century Gothic"/>
                        </a:rPr>
                        <a:t> </a:t>
                      </a:r>
                      <a:r>
                        <a:rPr sz="1400" dirty="0">
                          <a:latin typeface="Century Gothic"/>
                          <a:cs typeface="Century Gothic"/>
                        </a:rPr>
                        <a:t>the</a:t>
                      </a:r>
                      <a:r>
                        <a:rPr sz="1400" spc="-20" dirty="0">
                          <a:latin typeface="Century Gothic"/>
                          <a:cs typeface="Century Gothic"/>
                        </a:rPr>
                        <a:t> </a:t>
                      </a:r>
                      <a:r>
                        <a:rPr sz="1400" dirty="0">
                          <a:latin typeface="Century Gothic"/>
                          <a:cs typeface="Century Gothic"/>
                        </a:rPr>
                        <a:t>fields</a:t>
                      </a:r>
                      <a:r>
                        <a:rPr sz="1400" spc="-60" dirty="0">
                          <a:latin typeface="Century Gothic"/>
                          <a:cs typeface="Century Gothic"/>
                        </a:rPr>
                        <a:t> </a:t>
                      </a:r>
                      <a:r>
                        <a:rPr sz="1400" spc="-25" dirty="0">
                          <a:latin typeface="Century Gothic"/>
                          <a:cs typeface="Century Gothic"/>
                        </a:rPr>
                        <a:t>of</a:t>
                      </a:r>
                      <a:endParaRPr sz="1400">
                        <a:latin typeface="Century Gothic"/>
                        <a:cs typeface="Century Gothic"/>
                      </a:endParaRPr>
                    </a:p>
                    <a:p>
                      <a:pPr marL="69215" marR="184150" algn="just">
                        <a:lnSpc>
                          <a:spcPct val="106900"/>
                        </a:lnSpc>
                        <a:spcBef>
                          <a:spcPts val="5"/>
                        </a:spcBef>
                      </a:pPr>
                      <a:r>
                        <a:rPr sz="1400" dirty="0">
                          <a:latin typeface="Century Gothic"/>
                          <a:cs typeface="Century Gothic"/>
                        </a:rPr>
                        <a:t>electrical</a:t>
                      </a:r>
                      <a:r>
                        <a:rPr sz="1400" spc="-75" dirty="0">
                          <a:latin typeface="Century Gothic"/>
                          <a:cs typeface="Century Gothic"/>
                        </a:rPr>
                        <a:t> </a:t>
                      </a:r>
                      <a:r>
                        <a:rPr sz="1400" dirty="0">
                          <a:latin typeface="Century Gothic"/>
                          <a:cs typeface="Century Gothic"/>
                        </a:rPr>
                        <a:t>engineering</a:t>
                      </a:r>
                      <a:r>
                        <a:rPr sz="1400" spc="-60" dirty="0">
                          <a:latin typeface="Century Gothic"/>
                          <a:cs typeface="Century Gothic"/>
                        </a:rPr>
                        <a:t> </a:t>
                      </a:r>
                      <a:r>
                        <a:rPr sz="1400" dirty="0">
                          <a:latin typeface="Century Gothic"/>
                          <a:cs typeface="Century Gothic"/>
                        </a:rPr>
                        <a:t>and</a:t>
                      </a:r>
                      <a:r>
                        <a:rPr sz="1400" spc="-75" dirty="0">
                          <a:latin typeface="Century Gothic"/>
                          <a:cs typeface="Century Gothic"/>
                        </a:rPr>
                        <a:t> </a:t>
                      </a:r>
                      <a:r>
                        <a:rPr sz="1400" dirty="0">
                          <a:latin typeface="Century Gothic"/>
                          <a:cs typeface="Century Gothic"/>
                        </a:rPr>
                        <a:t>computer</a:t>
                      </a:r>
                      <a:r>
                        <a:rPr sz="1400" spc="-55" dirty="0">
                          <a:latin typeface="Century Gothic"/>
                          <a:cs typeface="Century Gothic"/>
                        </a:rPr>
                        <a:t> </a:t>
                      </a:r>
                      <a:r>
                        <a:rPr sz="1400" spc="-10" dirty="0">
                          <a:latin typeface="Century Gothic"/>
                          <a:cs typeface="Century Gothic"/>
                        </a:rPr>
                        <a:t>scien </a:t>
                      </a:r>
                      <a:r>
                        <a:rPr sz="1400" dirty="0">
                          <a:latin typeface="Century Gothic"/>
                          <a:cs typeface="Century Gothic"/>
                        </a:rPr>
                        <a:t>ce</a:t>
                      </a:r>
                      <a:r>
                        <a:rPr sz="1400" spc="-65" dirty="0">
                          <a:latin typeface="Century Gothic"/>
                          <a:cs typeface="Century Gothic"/>
                        </a:rPr>
                        <a:t> </a:t>
                      </a:r>
                      <a:r>
                        <a:rPr sz="1400" dirty="0">
                          <a:latin typeface="Century Gothic"/>
                          <a:cs typeface="Century Gothic"/>
                        </a:rPr>
                        <a:t>to</a:t>
                      </a:r>
                      <a:r>
                        <a:rPr sz="1400" spc="-45" dirty="0">
                          <a:latin typeface="Century Gothic"/>
                          <a:cs typeface="Century Gothic"/>
                        </a:rPr>
                        <a:t> </a:t>
                      </a:r>
                      <a:r>
                        <a:rPr sz="1400" dirty="0">
                          <a:latin typeface="Century Gothic"/>
                          <a:cs typeface="Century Gothic"/>
                        </a:rPr>
                        <a:t>create</a:t>
                      </a:r>
                      <a:r>
                        <a:rPr sz="1400" spc="-35" dirty="0">
                          <a:latin typeface="Century Gothic"/>
                          <a:cs typeface="Century Gothic"/>
                        </a:rPr>
                        <a:t> </a:t>
                      </a:r>
                      <a:r>
                        <a:rPr sz="1400" dirty="0">
                          <a:latin typeface="Century Gothic"/>
                          <a:cs typeface="Century Gothic"/>
                        </a:rPr>
                        <a:t>new</a:t>
                      </a:r>
                      <a:r>
                        <a:rPr sz="1400" spc="-20" dirty="0">
                          <a:latin typeface="Century Gothic"/>
                          <a:cs typeface="Century Gothic"/>
                        </a:rPr>
                        <a:t> </a:t>
                      </a:r>
                      <a:r>
                        <a:rPr sz="1400" dirty="0">
                          <a:latin typeface="Century Gothic"/>
                          <a:cs typeface="Century Gothic"/>
                        </a:rPr>
                        <a:t>computer</a:t>
                      </a:r>
                      <a:r>
                        <a:rPr sz="1400" spc="-40" dirty="0">
                          <a:latin typeface="Century Gothic"/>
                          <a:cs typeface="Century Gothic"/>
                        </a:rPr>
                        <a:t> </a:t>
                      </a:r>
                      <a:r>
                        <a:rPr sz="1400" dirty="0">
                          <a:latin typeface="Century Gothic"/>
                          <a:cs typeface="Century Gothic"/>
                        </a:rPr>
                        <a:t>hardware</a:t>
                      </a:r>
                      <a:r>
                        <a:rPr sz="1400" spc="-10" dirty="0">
                          <a:latin typeface="Century Gothic"/>
                          <a:cs typeface="Century Gothic"/>
                        </a:rPr>
                        <a:t> </a:t>
                      </a:r>
                      <a:r>
                        <a:rPr sz="1400" spc="-25" dirty="0">
                          <a:latin typeface="Century Gothic"/>
                          <a:cs typeface="Century Gothic"/>
                        </a:rPr>
                        <a:t>and </a:t>
                      </a:r>
                      <a:r>
                        <a:rPr sz="1400" spc="-10" dirty="0">
                          <a:latin typeface="Century Gothic"/>
                          <a:cs typeface="Century Gothic"/>
                        </a:rPr>
                        <a:t>software</a:t>
                      </a:r>
                      <a:endParaRPr sz="1400">
                        <a:latin typeface="Century Gothic"/>
                        <a:cs typeface="Century Gothic"/>
                      </a:endParaRPr>
                    </a:p>
                  </a:txBody>
                  <a:tcPr marL="0" marR="0" marT="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2"/>
                  </a:ext>
                </a:extLst>
              </a:tr>
              <a:tr h="660083">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dirty="0">
                          <a:latin typeface="Century Gothic"/>
                          <a:cs typeface="Century Gothic"/>
                        </a:rPr>
                        <a:t>Computer</a:t>
                      </a:r>
                      <a:r>
                        <a:rPr sz="1400" spc="-85" dirty="0">
                          <a:latin typeface="Century Gothic"/>
                          <a:cs typeface="Century Gothic"/>
                        </a:rPr>
                        <a:t> </a:t>
                      </a:r>
                      <a:r>
                        <a:rPr sz="1400" spc="-10" dirty="0">
                          <a:latin typeface="Century Gothic"/>
                          <a:cs typeface="Century Gothic"/>
                        </a:rPr>
                        <a:t>Science</a:t>
                      </a:r>
                      <a:endParaRPr sz="1400" dirty="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a:txBody>
                    <a:bodyPr/>
                    <a:lstStyle/>
                    <a:p>
                      <a:pPr marL="69215">
                        <a:lnSpc>
                          <a:spcPts val="2095"/>
                        </a:lnSpc>
                      </a:pPr>
                      <a:r>
                        <a:rPr sz="1400" dirty="0">
                          <a:latin typeface="Century Gothic"/>
                          <a:cs typeface="Century Gothic"/>
                        </a:rPr>
                        <a:t>This</a:t>
                      </a:r>
                      <a:r>
                        <a:rPr sz="1400" spc="-45" dirty="0">
                          <a:latin typeface="Century Gothic"/>
                          <a:cs typeface="Century Gothic"/>
                        </a:rPr>
                        <a:t> </a:t>
                      </a:r>
                      <a:r>
                        <a:rPr sz="1400" dirty="0">
                          <a:latin typeface="Century Gothic"/>
                          <a:cs typeface="Century Gothic"/>
                        </a:rPr>
                        <a:t>is</a:t>
                      </a:r>
                      <a:r>
                        <a:rPr sz="1400" spc="-40" dirty="0">
                          <a:latin typeface="Century Gothic"/>
                          <a:cs typeface="Century Gothic"/>
                        </a:rPr>
                        <a:t> </a:t>
                      </a:r>
                      <a:r>
                        <a:rPr sz="1400" dirty="0">
                          <a:latin typeface="Century Gothic"/>
                          <a:cs typeface="Century Gothic"/>
                        </a:rPr>
                        <a:t>the</a:t>
                      </a:r>
                      <a:r>
                        <a:rPr sz="1400" spc="-15" dirty="0">
                          <a:latin typeface="Century Gothic"/>
                          <a:cs typeface="Century Gothic"/>
                        </a:rPr>
                        <a:t> </a:t>
                      </a:r>
                      <a:r>
                        <a:rPr sz="1400" dirty="0">
                          <a:latin typeface="Century Gothic"/>
                          <a:cs typeface="Century Gothic"/>
                        </a:rPr>
                        <a:t>discipline</a:t>
                      </a:r>
                      <a:r>
                        <a:rPr sz="1400" spc="-55" dirty="0">
                          <a:latin typeface="Century Gothic"/>
                          <a:cs typeface="Century Gothic"/>
                        </a:rPr>
                        <a:t> </a:t>
                      </a:r>
                      <a:r>
                        <a:rPr sz="1400" dirty="0">
                          <a:latin typeface="Century Gothic"/>
                          <a:cs typeface="Century Gothic"/>
                        </a:rPr>
                        <a:t>of</a:t>
                      </a:r>
                      <a:r>
                        <a:rPr sz="1400" spc="-35" dirty="0">
                          <a:latin typeface="Century Gothic"/>
                          <a:cs typeface="Century Gothic"/>
                        </a:rPr>
                        <a:t> </a:t>
                      </a:r>
                      <a:r>
                        <a:rPr sz="1400" dirty="0">
                          <a:latin typeface="Century Gothic"/>
                          <a:cs typeface="Century Gothic"/>
                        </a:rPr>
                        <a:t>solving</a:t>
                      </a:r>
                      <a:r>
                        <a:rPr sz="1400" spc="-65" dirty="0">
                          <a:latin typeface="Century Gothic"/>
                          <a:cs typeface="Century Gothic"/>
                        </a:rPr>
                        <a:t> </a:t>
                      </a:r>
                      <a:r>
                        <a:rPr sz="1400" dirty="0">
                          <a:latin typeface="Century Gothic"/>
                          <a:cs typeface="Century Gothic"/>
                        </a:rPr>
                        <a:t>problems</a:t>
                      </a:r>
                      <a:r>
                        <a:rPr sz="1400" spc="-25" dirty="0">
                          <a:latin typeface="Century Gothic"/>
                          <a:cs typeface="Century Gothic"/>
                        </a:rPr>
                        <a:t> via</a:t>
                      </a:r>
                      <a:endParaRPr sz="1400">
                        <a:latin typeface="Century Gothic"/>
                        <a:cs typeface="Century Gothic"/>
                      </a:endParaRPr>
                    </a:p>
                    <a:p>
                      <a:pPr marL="69215">
                        <a:lnSpc>
                          <a:spcPct val="100000"/>
                        </a:lnSpc>
                        <a:spcBef>
                          <a:spcPts val="155"/>
                        </a:spcBef>
                      </a:pPr>
                      <a:r>
                        <a:rPr sz="1400" dirty="0">
                          <a:latin typeface="Century Gothic"/>
                          <a:cs typeface="Century Gothic"/>
                        </a:rPr>
                        <a:t>solutions</a:t>
                      </a:r>
                      <a:r>
                        <a:rPr sz="1400" spc="-60" dirty="0">
                          <a:latin typeface="Century Gothic"/>
                          <a:cs typeface="Century Gothic"/>
                        </a:rPr>
                        <a:t> </a:t>
                      </a:r>
                      <a:r>
                        <a:rPr sz="1400" dirty="0">
                          <a:latin typeface="Century Gothic"/>
                          <a:cs typeface="Century Gothic"/>
                        </a:rPr>
                        <a:t>that</a:t>
                      </a:r>
                      <a:r>
                        <a:rPr sz="1400" spc="-45" dirty="0">
                          <a:latin typeface="Century Gothic"/>
                          <a:cs typeface="Century Gothic"/>
                        </a:rPr>
                        <a:t> </a:t>
                      </a:r>
                      <a:r>
                        <a:rPr sz="1400" dirty="0">
                          <a:latin typeface="Century Gothic"/>
                          <a:cs typeface="Century Gothic"/>
                        </a:rPr>
                        <a:t>are</a:t>
                      </a:r>
                      <a:r>
                        <a:rPr sz="1400" spc="-60" dirty="0">
                          <a:latin typeface="Century Gothic"/>
                          <a:cs typeface="Century Gothic"/>
                        </a:rPr>
                        <a:t> </a:t>
                      </a:r>
                      <a:r>
                        <a:rPr sz="1400" dirty="0">
                          <a:latin typeface="Century Gothic"/>
                          <a:cs typeface="Century Gothic"/>
                        </a:rPr>
                        <a:t>implemented</a:t>
                      </a:r>
                      <a:r>
                        <a:rPr sz="1400" spc="-40" dirty="0">
                          <a:latin typeface="Century Gothic"/>
                          <a:cs typeface="Century Gothic"/>
                        </a:rPr>
                        <a:t> </a:t>
                      </a:r>
                      <a:r>
                        <a:rPr sz="1400" spc="-25" dirty="0">
                          <a:latin typeface="Century Gothic"/>
                          <a:cs typeface="Century Gothic"/>
                        </a:rPr>
                        <a:t>on</a:t>
                      </a:r>
                      <a:endParaRPr sz="1400">
                        <a:latin typeface="Century Gothic"/>
                        <a:cs typeface="Century Gothic"/>
                      </a:endParaRPr>
                    </a:p>
                    <a:p>
                      <a:pPr marL="69215">
                        <a:lnSpc>
                          <a:spcPct val="100000"/>
                        </a:lnSpc>
                        <a:spcBef>
                          <a:spcPts val="155"/>
                        </a:spcBef>
                      </a:pPr>
                      <a:r>
                        <a:rPr sz="1400" spc="-10" dirty="0">
                          <a:latin typeface="Century Gothic"/>
                          <a:cs typeface="Century Gothic"/>
                        </a:rPr>
                        <a:t>computer</a:t>
                      </a:r>
                      <a:endParaRPr sz="1400">
                        <a:latin typeface="Century Gothic"/>
                        <a:cs typeface="Century Gothic"/>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3"/>
                  </a:ext>
                </a:extLst>
              </a:tr>
              <a:tr h="660083">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dirty="0">
                          <a:latin typeface="Century Gothic"/>
                          <a:cs typeface="Century Gothic"/>
                        </a:rPr>
                        <a:t>Cyber</a:t>
                      </a:r>
                      <a:r>
                        <a:rPr sz="1400" spc="-30" dirty="0">
                          <a:latin typeface="Century Gothic"/>
                          <a:cs typeface="Century Gothic"/>
                        </a:rPr>
                        <a:t> </a:t>
                      </a:r>
                      <a:r>
                        <a:rPr sz="1400" spc="-10" dirty="0">
                          <a:latin typeface="Century Gothic"/>
                          <a:cs typeface="Century Gothic"/>
                        </a:rPr>
                        <a:t>security</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BCE"/>
                    </a:solidFill>
                  </a:tcPr>
                </a:tc>
                <a:tc>
                  <a:txBody>
                    <a:bodyPr/>
                    <a:lstStyle/>
                    <a:p>
                      <a:pPr marL="69215">
                        <a:lnSpc>
                          <a:spcPts val="2095"/>
                        </a:lnSpc>
                      </a:pPr>
                      <a:r>
                        <a:rPr sz="1400" dirty="0">
                          <a:latin typeface="Century Gothic"/>
                          <a:cs typeface="Century Gothic"/>
                        </a:rPr>
                        <a:t>The</a:t>
                      </a:r>
                      <a:r>
                        <a:rPr sz="1400" spc="-40" dirty="0">
                          <a:latin typeface="Century Gothic"/>
                          <a:cs typeface="Century Gothic"/>
                        </a:rPr>
                        <a:t> </a:t>
                      </a:r>
                      <a:r>
                        <a:rPr sz="1400" dirty="0">
                          <a:latin typeface="Century Gothic"/>
                          <a:cs typeface="Century Gothic"/>
                        </a:rPr>
                        <a:t>practice</a:t>
                      </a:r>
                      <a:r>
                        <a:rPr sz="1400" spc="-65" dirty="0">
                          <a:latin typeface="Century Gothic"/>
                          <a:cs typeface="Century Gothic"/>
                        </a:rPr>
                        <a:t> </a:t>
                      </a:r>
                      <a:r>
                        <a:rPr sz="1400" dirty="0">
                          <a:latin typeface="Century Gothic"/>
                          <a:cs typeface="Century Gothic"/>
                        </a:rPr>
                        <a:t>of</a:t>
                      </a:r>
                      <a:r>
                        <a:rPr sz="1400" spc="-55" dirty="0">
                          <a:latin typeface="Century Gothic"/>
                          <a:cs typeface="Century Gothic"/>
                        </a:rPr>
                        <a:t> </a:t>
                      </a:r>
                      <a:r>
                        <a:rPr sz="1400" dirty="0">
                          <a:latin typeface="Century Gothic"/>
                          <a:cs typeface="Century Gothic"/>
                        </a:rPr>
                        <a:t>defending</a:t>
                      </a:r>
                      <a:r>
                        <a:rPr sz="1400" spc="-40" dirty="0">
                          <a:latin typeface="Century Gothic"/>
                          <a:cs typeface="Century Gothic"/>
                        </a:rPr>
                        <a:t> </a:t>
                      </a:r>
                      <a:r>
                        <a:rPr sz="1400" spc="-10" dirty="0">
                          <a:latin typeface="Century Gothic"/>
                          <a:cs typeface="Century Gothic"/>
                        </a:rPr>
                        <a:t>computers,</a:t>
                      </a:r>
                      <a:endParaRPr sz="1400">
                        <a:latin typeface="Century Gothic"/>
                        <a:cs typeface="Century Gothic"/>
                      </a:endParaRPr>
                    </a:p>
                    <a:p>
                      <a:pPr marL="69215" marR="196850">
                        <a:lnSpc>
                          <a:spcPct val="107200"/>
                        </a:lnSpc>
                      </a:pPr>
                      <a:r>
                        <a:rPr sz="1400" dirty="0">
                          <a:latin typeface="Century Gothic"/>
                          <a:cs typeface="Century Gothic"/>
                        </a:rPr>
                        <a:t>servers,</a:t>
                      </a:r>
                      <a:r>
                        <a:rPr sz="1400" spc="-45" dirty="0">
                          <a:latin typeface="Century Gothic"/>
                          <a:cs typeface="Century Gothic"/>
                        </a:rPr>
                        <a:t> </a:t>
                      </a:r>
                      <a:r>
                        <a:rPr sz="1400" dirty="0">
                          <a:latin typeface="Century Gothic"/>
                          <a:cs typeface="Century Gothic"/>
                        </a:rPr>
                        <a:t>mobile</a:t>
                      </a:r>
                      <a:r>
                        <a:rPr sz="1400" spc="-85" dirty="0">
                          <a:latin typeface="Century Gothic"/>
                          <a:cs typeface="Century Gothic"/>
                        </a:rPr>
                        <a:t> </a:t>
                      </a:r>
                      <a:r>
                        <a:rPr sz="1400" dirty="0">
                          <a:latin typeface="Century Gothic"/>
                          <a:cs typeface="Century Gothic"/>
                        </a:rPr>
                        <a:t>devices,</a:t>
                      </a:r>
                      <a:r>
                        <a:rPr sz="1400" spc="-65" dirty="0">
                          <a:latin typeface="Century Gothic"/>
                          <a:cs typeface="Century Gothic"/>
                        </a:rPr>
                        <a:t> </a:t>
                      </a:r>
                      <a:r>
                        <a:rPr sz="1400" dirty="0">
                          <a:latin typeface="Century Gothic"/>
                          <a:cs typeface="Century Gothic"/>
                        </a:rPr>
                        <a:t>electronic</a:t>
                      </a:r>
                      <a:r>
                        <a:rPr sz="1400" spc="-35" dirty="0">
                          <a:latin typeface="Century Gothic"/>
                          <a:cs typeface="Century Gothic"/>
                        </a:rPr>
                        <a:t> </a:t>
                      </a:r>
                      <a:r>
                        <a:rPr sz="1400" spc="-10" dirty="0">
                          <a:latin typeface="Century Gothic"/>
                          <a:cs typeface="Century Gothic"/>
                        </a:rPr>
                        <a:t>systems, </a:t>
                      </a:r>
                      <a:r>
                        <a:rPr sz="1400" dirty="0">
                          <a:latin typeface="Century Gothic"/>
                          <a:cs typeface="Century Gothic"/>
                        </a:rPr>
                        <a:t>networks,</a:t>
                      </a:r>
                      <a:r>
                        <a:rPr sz="1400" spc="-15" dirty="0">
                          <a:latin typeface="Century Gothic"/>
                          <a:cs typeface="Century Gothic"/>
                        </a:rPr>
                        <a:t> </a:t>
                      </a:r>
                      <a:r>
                        <a:rPr sz="1400" dirty="0">
                          <a:latin typeface="Century Gothic"/>
                          <a:cs typeface="Century Gothic"/>
                        </a:rPr>
                        <a:t>and</a:t>
                      </a:r>
                      <a:r>
                        <a:rPr sz="1400" spc="-35" dirty="0">
                          <a:latin typeface="Century Gothic"/>
                          <a:cs typeface="Century Gothic"/>
                        </a:rPr>
                        <a:t> </a:t>
                      </a:r>
                      <a:r>
                        <a:rPr sz="1400" dirty="0">
                          <a:latin typeface="Century Gothic"/>
                          <a:cs typeface="Century Gothic"/>
                        </a:rPr>
                        <a:t>data</a:t>
                      </a:r>
                      <a:r>
                        <a:rPr sz="1400" spc="-45" dirty="0">
                          <a:latin typeface="Century Gothic"/>
                          <a:cs typeface="Century Gothic"/>
                        </a:rPr>
                        <a:t> </a:t>
                      </a:r>
                      <a:r>
                        <a:rPr sz="1400" dirty="0">
                          <a:latin typeface="Century Gothic"/>
                          <a:cs typeface="Century Gothic"/>
                        </a:rPr>
                        <a:t>from</a:t>
                      </a:r>
                      <a:r>
                        <a:rPr sz="1400" spc="-65" dirty="0">
                          <a:latin typeface="Century Gothic"/>
                          <a:cs typeface="Century Gothic"/>
                        </a:rPr>
                        <a:t> </a:t>
                      </a:r>
                      <a:r>
                        <a:rPr sz="1400" dirty="0">
                          <a:latin typeface="Century Gothic"/>
                          <a:cs typeface="Century Gothic"/>
                        </a:rPr>
                        <a:t>malicious</a:t>
                      </a:r>
                      <a:r>
                        <a:rPr sz="1400" spc="-80" dirty="0">
                          <a:latin typeface="Century Gothic"/>
                          <a:cs typeface="Century Gothic"/>
                        </a:rPr>
                        <a:t> </a:t>
                      </a:r>
                      <a:r>
                        <a:rPr sz="1400" spc="-10" dirty="0">
                          <a:latin typeface="Century Gothic"/>
                          <a:cs typeface="Century Gothic"/>
                        </a:rPr>
                        <a:t>attacks</a:t>
                      </a:r>
                      <a:endParaRPr sz="1400">
                        <a:latin typeface="Century Gothic"/>
                        <a:cs typeface="Century Gothic"/>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4"/>
                  </a:ext>
                </a:extLst>
              </a:tr>
              <a:tr h="877253">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dirty="0">
                          <a:latin typeface="Century Gothic"/>
                          <a:cs typeface="Century Gothic"/>
                        </a:rPr>
                        <a:t>Software</a:t>
                      </a:r>
                      <a:r>
                        <a:rPr sz="1400" spc="-50" dirty="0">
                          <a:latin typeface="Century Gothic"/>
                          <a:cs typeface="Century Gothic"/>
                        </a:rPr>
                        <a:t> </a:t>
                      </a:r>
                      <a:r>
                        <a:rPr sz="1400" spc="-10" dirty="0">
                          <a:latin typeface="Century Gothic"/>
                          <a:cs typeface="Century Gothic"/>
                        </a:rPr>
                        <a:t>Engineering</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a:txBody>
                    <a:bodyPr/>
                    <a:lstStyle/>
                    <a:p>
                      <a:pPr marL="69215">
                        <a:lnSpc>
                          <a:spcPts val="2095"/>
                        </a:lnSpc>
                      </a:pPr>
                      <a:r>
                        <a:rPr sz="1400" dirty="0">
                          <a:latin typeface="Century Gothic"/>
                          <a:cs typeface="Century Gothic"/>
                        </a:rPr>
                        <a:t>A</a:t>
                      </a:r>
                      <a:r>
                        <a:rPr sz="1400" spc="-45" dirty="0">
                          <a:latin typeface="Century Gothic"/>
                          <a:cs typeface="Century Gothic"/>
                        </a:rPr>
                        <a:t> </a:t>
                      </a:r>
                      <a:r>
                        <a:rPr sz="1400" dirty="0">
                          <a:latin typeface="Century Gothic"/>
                          <a:cs typeface="Century Gothic"/>
                        </a:rPr>
                        <a:t>branch</a:t>
                      </a:r>
                      <a:r>
                        <a:rPr sz="1400" spc="-45" dirty="0">
                          <a:latin typeface="Century Gothic"/>
                          <a:cs typeface="Century Gothic"/>
                        </a:rPr>
                        <a:t> </a:t>
                      </a:r>
                      <a:r>
                        <a:rPr sz="1400" dirty="0">
                          <a:latin typeface="Century Gothic"/>
                          <a:cs typeface="Century Gothic"/>
                        </a:rPr>
                        <a:t>of</a:t>
                      </a:r>
                      <a:r>
                        <a:rPr sz="1400" spc="-55" dirty="0">
                          <a:latin typeface="Century Gothic"/>
                          <a:cs typeface="Century Gothic"/>
                        </a:rPr>
                        <a:t> </a:t>
                      </a:r>
                      <a:r>
                        <a:rPr sz="1400" dirty="0">
                          <a:latin typeface="Century Gothic"/>
                          <a:cs typeface="Century Gothic"/>
                        </a:rPr>
                        <a:t>computer</a:t>
                      </a:r>
                      <a:r>
                        <a:rPr sz="1400" spc="-25" dirty="0">
                          <a:latin typeface="Century Gothic"/>
                          <a:cs typeface="Century Gothic"/>
                        </a:rPr>
                        <a:t> </a:t>
                      </a:r>
                      <a:r>
                        <a:rPr sz="1400" dirty="0">
                          <a:latin typeface="Century Gothic"/>
                          <a:cs typeface="Century Gothic"/>
                        </a:rPr>
                        <a:t>science</a:t>
                      </a:r>
                      <a:r>
                        <a:rPr sz="1400" spc="-50" dirty="0">
                          <a:latin typeface="Century Gothic"/>
                          <a:cs typeface="Century Gothic"/>
                        </a:rPr>
                        <a:t> </a:t>
                      </a:r>
                      <a:r>
                        <a:rPr sz="1400" spc="-10" dirty="0">
                          <a:latin typeface="Century Gothic"/>
                          <a:cs typeface="Century Gothic"/>
                        </a:rPr>
                        <a:t>which</a:t>
                      </a:r>
                      <a:endParaRPr sz="1400" dirty="0">
                        <a:latin typeface="Century Gothic"/>
                        <a:cs typeface="Century Gothic"/>
                      </a:endParaRPr>
                    </a:p>
                    <a:p>
                      <a:pPr marL="69215" marR="282575">
                        <a:lnSpc>
                          <a:spcPct val="107000"/>
                        </a:lnSpc>
                        <a:spcBef>
                          <a:spcPts val="5"/>
                        </a:spcBef>
                      </a:pPr>
                      <a:r>
                        <a:rPr sz="1400" dirty="0">
                          <a:latin typeface="Century Gothic"/>
                          <a:cs typeface="Century Gothic"/>
                        </a:rPr>
                        <a:t>includes</a:t>
                      </a:r>
                      <a:r>
                        <a:rPr sz="1400" spc="-75" dirty="0">
                          <a:latin typeface="Century Gothic"/>
                          <a:cs typeface="Century Gothic"/>
                        </a:rPr>
                        <a:t> </a:t>
                      </a:r>
                      <a:r>
                        <a:rPr sz="1400" dirty="0">
                          <a:latin typeface="Century Gothic"/>
                          <a:cs typeface="Century Gothic"/>
                        </a:rPr>
                        <a:t>the</a:t>
                      </a:r>
                      <a:r>
                        <a:rPr sz="1400" spc="-45" dirty="0">
                          <a:latin typeface="Century Gothic"/>
                          <a:cs typeface="Century Gothic"/>
                        </a:rPr>
                        <a:t> </a:t>
                      </a:r>
                      <a:r>
                        <a:rPr sz="1400" dirty="0">
                          <a:latin typeface="Century Gothic"/>
                          <a:cs typeface="Century Gothic"/>
                        </a:rPr>
                        <a:t>development</a:t>
                      </a:r>
                      <a:r>
                        <a:rPr sz="1400" spc="-65" dirty="0">
                          <a:latin typeface="Century Gothic"/>
                          <a:cs typeface="Century Gothic"/>
                        </a:rPr>
                        <a:t> </a:t>
                      </a:r>
                      <a:r>
                        <a:rPr sz="1400" dirty="0">
                          <a:latin typeface="Century Gothic"/>
                          <a:cs typeface="Century Gothic"/>
                        </a:rPr>
                        <a:t>and</a:t>
                      </a:r>
                      <a:r>
                        <a:rPr sz="1400" spc="-55" dirty="0">
                          <a:latin typeface="Century Gothic"/>
                          <a:cs typeface="Century Gothic"/>
                        </a:rPr>
                        <a:t> </a:t>
                      </a:r>
                      <a:r>
                        <a:rPr sz="1400" dirty="0">
                          <a:latin typeface="Century Gothic"/>
                          <a:cs typeface="Century Gothic"/>
                        </a:rPr>
                        <a:t>building</a:t>
                      </a:r>
                      <a:r>
                        <a:rPr sz="1400" spc="-80" dirty="0">
                          <a:latin typeface="Century Gothic"/>
                          <a:cs typeface="Century Gothic"/>
                        </a:rPr>
                        <a:t> </a:t>
                      </a:r>
                      <a:r>
                        <a:rPr sz="1400" spc="-25" dirty="0">
                          <a:latin typeface="Century Gothic"/>
                          <a:cs typeface="Century Gothic"/>
                        </a:rPr>
                        <a:t>of </a:t>
                      </a:r>
                      <a:r>
                        <a:rPr sz="1400" dirty="0">
                          <a:latin typeface="Century Gothic"/>
                          <a:cs typeface="Century Gothic"/>
                        </a:rPr>
                        <a:t>computer</a:t>
                      </a:r>
                      <a:r>
                        <a:rPr sz="1400" spc="-50" dirty="0">
                          <a:latin typeface="Century Gothic"/>
                          <a:cs typeface="Century Gothic"/>
                        </a:rPr>
                        <a:t> </a:t>
                      </a:r>
                      <a:r>
                        <a:rPr sz="1400" dirty="0">
                          <a:latin typeface="Century Gothic"/>
                          <a:cs typeface="Century Gothic"/>
                        </a:rPr>
                        <a:t>systems</a:t>
                      </a:r>
                      <a:r>
                        <a:rPr sz="1400" spc="-45" dirty="0">
                          <a:latin typeface="Century Gothic"/>
                          <a:cs typeface="Century Gothic"/>
                        </a:rPr>
                        <a:t> </a:t>
                      </a:r>
                      <a:r>
                        <a:rPr sz="1400" dirty="0">
                          <a:latin typeface="Century Gothic"/>
                          <a:cs typeface="Century Gothic"/>
                        </a:rPr>
                        <a:t>software</a:t>
                      </a:r>
                      <a:r>
                        <a:rPr sz="1400" spc="-25" dirty="0">
                          <a:latin typeface="Century Gothic"/>
                          <a:cs typeface="Century Gothic"/>
                        </a:rPr>
                        <a:t> and </a:t>
                      </a:r>
                      <a:r>
                        <a:rPr sz="1400" dirty="0">
                          <a:latin typeface="Century Gothic"/>
                          <a:cs typeface="Century Gothic"/>
                        </a:rPr>
                        <a:t>applications</a:t>
                      </a:r>
                      <a:r>
                        <a:rPr sz="1400" spc="-75" dirty="0">
                          <a:latin typeface="Century Gothic"/>
                          <a:cs typeface="Century Gothic"/>
                        </a:rPr>
                        <a:t> </a:t>
                      </a:r>
                      <a:r>
                        <a:rPr sz="1400" spc="-10" dirty="0">
                          <a:latin typeface="Century Gothic"/>
                          <a:cs typeface="Century Gothic"/>
                        </a:rPr>
                        <a:t>software.</a:t>
                      </a:r>
                      <a:endParaRPr sz="1400" dirty="0">
                        <a:latin typeface="Century Gothic"/>
                        <a:cs typeface="Century Gothic"/>
                      </a:endParaRPr>
                    </a:p>
                  </a:txBody>
                  <a:tcPr marL="0" marR="0" marT="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5"/>
                  </a:ext>
                </a:extLst>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extLst>
              <p:ext uri="{D42A27DB-BD31-4B8C-83A1-F6EECF244321}">
                <p14:modId xmlns:p14="http://schemas.microsoft.com/office/powerpoint/2010/main" val="4252243176"/>
              </p:ext>
            </p:extLst>
          </p:nvPr>
        </p:nvGraphicFramePr>
        <p:xfrm>
          <a:off x="276606" y="1133666"/>
          <a:ext cx="8586311" cy="6319871"/>
        </p:xfrm>
        <a:graphic>
          <a:graphicData uri="http://schemas.openxmlformats.org/drawingml/2006/table">
            <a:tbl>
              <a:tblPr firstRow="1" bandRow="1">
                <a:tableStyleId>{2D5ABB26-0587-4C30-8999-92F81FD0307C}</a:tableStyleId>
              </a:tblPr>
              <a:tblGrid>
                <a:gridCol w="339090">
                  <a:extLst>
                    <a:ext uri="{9D8B030D-6E8A-4147-A177-3AD203B41FA5}">
                      <a16:colId xmlns:a16="http://schemas.microsoft.com/office/drawing/2014/main" val="20000"/>
                    </a:ext>
                  </a:extLst>
                </a:gridCol>
                <a:gridCol w="4079081">
                  <a:extLst>
                    <a:ext uri="{9D8B030D-6E8A-4147-A177-3AD203B41FA5}">
                      <a16:colId xmlns:a16="http://schemas.microsoft.com/office/drawing/2014/main" val="20001"/>
                    </a:ext>
                  </a:extLst>
                </a:gridCol>
                <a:gridCol w="4079081">
                  <a:extLst>
                    <a:ext uri="{9D8B030D-6E8A-4147-A177-3AD203B41FA5}">
                      <a16:colId xmlns:a16="http://schemas.microsoft.com/office/drawing/2014/main" val="20002"/>
                    </a:ext>
                  </a:extLst>
                </a:gridCol>
                <a:gridCol w="89059">
                  <a:extLst>
                    <a:ext uri="{9D8B030D-6E8A-4147-A177-3AD203B41FA5}">
                      <a16:colId xmlns:a16="http://schemas.microsoft.com/office/drawing/2014/main" val="20003"/>
                    </a:ext>
                  </a:extLst>
                </a:gridCol>
              </a:tblGrid>
              <a:tr h="686815">
                <a:tc gridSpan="4">
                  <a:txBody>
                    <a:bodyPr/>
                    <a:lstStyle/>
                    <a:p>
                      <a:pPr>
                        <a:lnSpc>
                          <a:spcPct val="100000"/>
                        </a:lnSpc>
                        <a:spcBef>
                          <a:spcPts val="180"/>
                        </a:spcBef>
                      </a:pPr>
                      <a:endParaRPr sz="3000">
                        <a:latin typeface="Times New Roman"/>
                        <a:cs typeface="Times New Roman"/>
                      </a:endParaRPr>
                    </a:p>
                    <a:p>
                      <a:pPr marL="786130">
                        <a:lnSpc>
                          <a:spcPts val="4250"/>
                        </a:lnSpc>
                      </a:pPr>
                      <a:r>
                        <a:rPr sz="3000" dirty="0">
                          <a:solidFill>
                            <a:srgbClr val="252525"/>
                          </a:solidFill>
                          <a:latin typeface="Century Gothic"/>
                          <a:cs typeface="Century Gothic"/>
                        </a:rPr>
                        <a:t>Computing</a:t>
                      </a:r>
                      <a:r>
                        <a:rPr sz="3000" spc="-155" dirty="0">
                          <a:solidFill>
                            <a:srgbClr val="252525"/>
                          </a:solidFill>
                          <a:latin typeface="Century Gothic"/>
                          <a:cs typeface="Century Gothic"/>
                        </a:rPr>
                        <a:t> </a:t>
                      </a:r>
                      <a:r>
                        <a:rPr sz="3000" spc="-10" dirty="0">
                          <a:solidFill>
                            <a:srgbClr val="252525"/>
                          </a:solidFill>
                          <a:latin typeface="Century Gothic"/>
                          <a:cs typeface="Century Gothic"/>
                        </a:rPr>
                        <a:t>Fields…</a:t>
                      </a:r>
                      <a:endParaRPr sz="3000">
                        <a:latin typeface="Century Gothic"/>
                        <a:cs typeface="Century Gothic"/>
                      </a:endParaRPr>
                    </a:p>
                  </a:txBody>
                  <a:tcPr marL="0" marR="0" marT="17145" marB="0">
                    <a:lnL w="6350">
                      <a:solidFill>
                        <a:srgbClr val="252525"/>
                      </a:solidFill>
                      <a:prstDash val="solid"/>
                    </a:lnL>
                    <a:lnR w="6350">
                      <a:solidFill>
                        <a:srgbClr val="252525"/>
                      </a:solidFill>
                      <a:prstDash val="solid"/>
                    </a:lnR>
                    <a:lnT w="6350">
                      <a:solidFill>
                        <a:srgbClr val="252525"/>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8606">
                <a:tc rowSpan="3">
                  <a:txBody>
                    <a:bodyPr/>
                    <a:lstStyle/>
                    <a:p>
                      <a:pPr>
                        <a:lnSpc>
                          <a:spcPct val="100000"/>
                        </a:lnSpc>
                      </a:pPr>
                      <a:endParaRPr sz="1400">
                        <a:latin typeface="Times New Roman"/>
                        <a:cs typeface="Times New Roman"/>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b="1" spc="-10" dirty="0">
                          <a:latin typeface="Century Gothic"/>
                          <a:cs typeface="Century Gothic"/>
                        </a:rPr>
                        <a:t>Field</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a:txBody>
                    <a:bodyPr/>
                    <a:lstStyle/>
                    <a:p>
                      <a:pPr marL="92075">
                        <a:lnSpc>
                          <a:spcPct val="100000"/>
                        </a:lnSpc>
                        <a:spcBef>
                          <a:spcPts val="325"/>
                        </a:spcBef>
                      </a:pPr>
                      <a:r>
                        <a:rPr sz="1400" b="1" spc="-10" dirty="0">
                          <a:latin typeface="Century Gothic"/>
                          <a:cs typeface="Century Gothic"/>
                        </a:rPr>
                        <a:t>Definition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rowSpan="3">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1"/>
                  </a:ext>
                </a:extLst>
              </a:tr>
              <a:tr h="1864995">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Information</a:t>
                      </a:r>
                      <a:r>
                        <a:rPr sz="1400" spc="-45" dirty="0">
                          <a:latin typeface="Century Gothic"/>
                          <a:cs typeface="Century Gothic"/>
                        </a:rPr>
                        <a:t> </a:t>
                      </a:r>
                      <a:r>
                        <a:rPr sz="1400" spc="-10" dirty="0">
                          <a:latin typeface="Century Gothic"/>
                          <a:cs typeface="Century Gothic"/>
                        </a:rPr>
                        <a:t>system</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a:txBody>
                    <a:bodyPr/>
                    <a:lstStyle/>
                    <a:p>
                      <a:pPr marL="69215" marR="280035">
                        <a:lnSpc>
                          <a:spcPts val="2160"/>
                        </a:lnSpc>
                        <a:spcBef>
                          <a:spcPts val="40"/>
                        </a:spcBef>
                      </a:pPr>
                      <a:r>
                        <a:rPr sz="1400" dirty="0">
                          <a:latin typeface="Century Gothic"/>
                          <a:cs typeface="Century Gothic"/>
                        </a:rPr>
                        <a:t>Information</a:t>
                      </a:r>
                      <a:r>
                        <a:rPr sz="1400" spc="-65" dirty="0">
                          <a:latin typeface="Century Gothic"/>
                          <a:cs typeface="Century Gothic"/>
                        </a:rPr>
                        <a:t> </a:t>
                      </a:r>
                      <a:r>
                        <a:rPr sz="1400" dirty="0">
                          <a:latin typeface="Century Gothic"/>
                          <a:cs typeface="Century Gothic"/>
                        </a:rPr>
                        <a:t>system</a:t>
                      </a:r>
                      <a:r>
                        <a:rPr sz="1400" spc="-5" dirty="0">
                          <a:latin typeface="Century Gothic"/>
                          <a:cs typeface="Century Gothic"/>
                        </a:rPr>
                        <a:t> </a:t>
                      </a:r>
                      <a:r>
                        <a:rPr sz="1400" dirty="0">
                          <a:latin typeface="Century Gothic"/>
                          <a:cs typeface="Century Gothic"/>
                        </a:rPr>
                        <a:t>(IS)</a:t>
                      </a:r>
                      <a:r>
                        <a:rPr sz="1400" spc="-25" dirty="0">
                          <a:latin typeface="Century Gothic"/>
                          <a:cs typeface="Century Gothic"/>
                        </a:rPr>
                        <a:t> </a:t>
                      </a:r>
                      <a:r>
                        <a:rPr sz="1400" dirty="0">
                          <a:latin typeface="Century Gothic"/>
                          <a:cs typeface="Century Gothic"/>
                        </a:rPr>
                        <a:t>refers</a:t>
                      </a:r>
                      <a:r>
                        <a:rPr sz="1400" spc="-20" dirty="0">
                          <a:latin typeface="Century Gothic"/>
                          <a:cs typeface="Century Gothic"/>
                        </a:rPr>
                        <a:t> </a:t>
                      </a:r>
                      <a:r>
                        <a:rPr sz="1400" dirty="0">
                          <a:latin typeface="Century Gothic"/>
                          <a:cs typeface="Century Gothic"/>
                        </a:rPr>
                        <a:t>to</a:t>
                      </a:r>
                      <a:r>
                        <a:rPr sz="1400" spc="-35" dirty="0">
                          <a:latin typeface="Century Gothic"/>
                          <a:cs typeface="Century Gothic"/>
                        </a:rPr>
                        <a:t> </a:t>
                      </a:r>
                      <a:r>
                        <a:rPr sz="1400" dirty="0">
                          <a:latin typeface="Century Gothic"/>
                          <a:cs typeface="Century Gothic"/>
                        </a:rPr>
                        <a:t>a</a:t>
                      </a:r>
                      <a:r>
                        <a:rPr sz="1400" spc="-35" dirty="0">
                          <a:latin typeface="Century Gothic"/>
                          <a:cs typeface="Century Gothic"/>
                        </a:rPr>
                        <a:t> </a:t>
                      </a:r>
                      <a:r>
                        <a:rPr sz="1400" dirty="0">
                          <a:latin typeface="Century Gothic"/>
                          <a:cs typeface="Century Gothic"/>
                        </a:rPr>
                        <a:t>collection</a:t>
                      </a:r>
                      <a:r>
                        <a:rPr sz="1400" spc="-50" dirty="0">
                          <a:latin typeface="Century Gothic"/>
                          <a:cs typeface="Century Gothic"/>
                        </a:rPr>
                        <a:t> </a:t>
                      </a:r>
                      <a:r>
                        <a:rPr sz="1400" spc="-25" dirty="0">
                          <a:latin typeface="Century Gothic"/>
                          <a:cs typeface="Century Gothic"/>
                        </a:rPr>
                        <a:t>of </a:t>
                      </a:r>
                      <a:r>
                        <a:rPr sz="1400" dirty="0">
                          <a:latin typeface="Century Gothic"/>
                          <a:cs typeface="Century Gothic"/>
                        </a:rPr>
                        <a:t>multiple</a:t>
                      </a:r>
                      <a:r>
                        <a:rPr sz="1400" spc="-60" dirty="0">
                          <a:latin typeface="Century Gothic"/>
                          <a:cs typeface="Century Gothic"/>
                        </a:rPr>
                        <a:t> </a:t>
                      </a:r>
                      <a:r>
                        <a:rPr sz="1400" dirty="0">
                          <a:latin typeface="Century Gothic"/>
                          <a:cs typeface="Century Gothic"/>
                        </a:rPr>
                        <a:t>pieces</a:t>
                      </a:r>
                      <a:r>
                        <a:rPr sz="1400" spc="-55" dirty="0">
                          <a:latin typeface="Century Gothic"/>
                          <a:cs typeface="Century Gothic"/>
                        </a:rPr>
                        <a:t> </a:t>
                      </a:r>
                      <a:r>
                        <a:rPr sz="1400" dirty="0">
                          <a:latin typeface="Century Gothic"/>
                          <a:cs typeface="Century Gothic"/>
                        </a:rPr>
                        <a:t>of</a:t>
                      </a:r>
                      <a:r>
                        <a:rPr sz="1400" spc="-55" dirty="0">
                          <a:latin typeface="Century Gothic"/>
                          <a:cs typeface="Century Gothic"/>
                        </a:rPr>
                        <a:t> </a:t>
                      </a:r>
                      <a:r>
                        <a:rPr sz="1400" dirty="0">
                          <a:latin typeface="Century Gothic"/>
                          <a:cs typeface="Century Gothic"/>
                        </a:rPr>
                        <a:t>equipment</a:t>
                      </a:r>
                      <a:r>
                        <a:rPr sz="1400" spc="-30" dirty="0">
                          <a:latin typeface="Century Gothic"/>
                          <a:cs typeface="Century Gothic"/>
                        </a:rPr>
                        <a:t> </a:t>
                      </a:r>
                      <a:r>
                        <a:rPr sz="1400" dirty="0">
                          <a:latin typeface="Century Gothic"/>
                          <a:cs typeface="Century Gothic"/>
                        </a:rPr>
                        <a:t>involved</a:t>
                      </a:r>
                      <a:r>
                        <a:rPr sz="1400" spc="-75" dirty="0">
                          <a:latin typeface="Century Gothic"/>
                          <a:cs typeface="Century Gothic"/>
                        </a:rPr>
                        <a:t> </a:t>
                      </a:r>
                      <a:r>
                        <a:rPr sz="1400" dirty="0">
                          <a:latin typeface="Century Gothic"/>
                          <a:cs typeface="Century Gothic"/>
                        </a:rPr>
                        <a:t>in</a:t>
                      </a:r>
                      <a:r>
                        <a:rPr sz="1400" spc="-60" dirty="0">
                          <a:latin typeface="Century Gothic"/>
                          <a:cs typeface="Century Gothic"/>
                        </a:rPr>
                        <a:t> </a:t>
                      </a:r>
                      <a:r>
                        <a:rPr sz="1400" spc="-25" dirty="0">
                          <a:latin typeface="Century Gothic"/>
                          <a:cs typeface="Century Gothic"/>
                        </a:rPr>
                        <a:t>the </a:t>
                      </a:r>
                      <a:r>
                        <a:rPr sz="1400" dirty="0">
                          <a:latin typeface="Century Gothic"/>
                          <a:cs typeface="Century Gothic"/>
                        </a:rPr>
                        <a:t>collection,</a:t>
                      </a:r>
                      <a:r>
                        <a:rPr sz="1400" spc="-90" dirty="0">
                          <a:latin typeface="Century Gothic"/>
                          <a:cs typeface="Century Gothic"/>
                        </a:rPr>
                        <a:t> </a:t>
                      </a:r>
                      <a:r>
                        <a:rPr sz="1400" dirty="0">
                          <a:latin typeface="Century Gothic"/>
                          <a:cs typeface="Century Gothic"/>
                        </a:rPr>
                        <a:t>processing,</a:t>
                      </a:r>
                      <a:r>
                        <a:rPr sz="1400" spc="-60" dirty="0">
                          <a:latin typeface="Century Gothic"/>
                          <a:cs typeface="Century Gothic"/>
                        </a:rPr>
                        <a:t> </a:t>
                      </a:r>
                      <a:r>
                        <a:rPr sz="1400" dirty="0">
                          <a:latin typeface="Century Gothic"/>
                          <a:cs typeface="Century Gothic"/>
                        </a:rPr>
                        <a:t>storage,</a:t>
                      </a:r>
                      <a:r>
                        <a:rPr sz="1400" spc="-50" dirty="0">
                          <a:latin typeface="Century Gothic"/>
                          <a:cs typeface="Century Gothic"/>
                        </a:rPr>
                        <a:t> </a:t>
                      </a:r>
                      <a:r>
                        <a:rPr sz="1400" spc="-25" dirty="0">
                          <a:latin typeface="Century Gothic"/>
                          <a:cs typeface="Century Gothic"/>
                        </a:rPr>
                        <a:t>and </a:t>
                      </a:r>
                      <a:r>
                        <a:rPr sz="1400" dirty="0">
                          <a:latin typeface="Century Gothic"/>
                          <a:cs typeface="Century Gothic"/>
                        </a:rPr>
                        <a:t>dissemination</a:t>
                      </a:r>
                      <a:r>
                        <a:rPr sz="1400" spc="-75" dirty="0">
                          <a:latin typeface="Century Gothic"/>
                          <a:cs typeface="Century Gothic"/>
                        </a:rPr>
                        <a:t> </a:t>
                      </a:r>
                      <a:r>
                        <a:rPr sz="1400" dirty="0">
                          <a:latin typeface="Century Gothic"/>
                          <a:cs typeface="Century Gothic"/>
                        </a:rPr>
                        <a:t>of</a:t>
                      </a:r>
                      <a:r>
                        <a:rPr sz="1400" spc="-50" dirty="0">
                          <a:latin typeface="Century Gothic"/>
                          <a:cs typeface="Century Gothic"/>
                        </a:rPr>
                        <a:t> </a:t>
                      </a:r>
                      <a:r>
                        <a:rPr sz="1400" spc="-10" dirty="0">
                          <a:latin typeface="Century Gothic"/>
                          <a:cs typeface="Century Gothic"/>
                        </a:rPr>
                        <a:t>information.</a:t>
                      </a:r>
                      <a:endParaRPr sz="1400">
                        <a:latin typeface="Century Gothic"/>
                        <a:cs typeface="Century Gothic"/>
                      </a:endParaRPr>
                    </a:p>
                    <a:p>
                      <a:pPr>
                        <a:lnSpc>
                          <a:spcPct val="100000"/>
                        </a:lnSpc>
                        <a:spcBef>
                          <a:spcPts val="20"/>
                        </a:spcBef>
                      </a:pPr>
                      <a:endParaRPr sz="1400">
                        <a:latin typeface="Times New Roman"/>
                        <a:cs typeface="Times New Roman"/>
                      </a:endParaRPr>
                    </a:p>
                    <a:p>
                      <a:pPr marL="69215" marR="762000">
                        <a:lnSpc>
                          <a:spcPct val="100000"/>
                        </a:lnSpc>
                      </a:pPr>
                      <a:r>
                        <a:rPr sz="1400" dirty="0">
                          <a:latin typeface="Century Gothic"/>
                          <a:cs typeface="Century Gothic"/>
                        </a:rPr>
                        <a:t>Hardware,</a:t>
                      </a:r>
                      <a:r>
                        <a:rPr sz="1400" spc="-60" dirty="0">
                          <a:latin typeface="Century Gothic"/>
                          <a:cs typeface="Century Gothic"/>
                        </a:rPr>
                        <a:t> </a:t>
                      </a:r>
                      <a:r>
                        <a:rPr sz="1400" dirty="0">
                          <a:latin typeface="Century Gothic"/>
                          <a:cs typeface="Century Gothic"/>
                        </a:rPr>
                        <a:t>software,</a:t>
                      </a:r>
                      <a:r>
                        <a:rPr sz="1400" spc="-40" dirty="0">
                          <a:latin typeface="Century Gothic"/>
                          <a:cs typeface="Century Gothic"/>
                        </a:rPr>
                        <a:t> </a:t>
                      </a:r>
                      <a:r>
                        <a:rPr sz="1400" dirty="0">
                          <a:latin typeface="Century Gothic"/>
                          <a:cs typeface="Century Gothic"/>
                        </a:rPr>
                        <a:t>computer</a:t>
                      </a:r>
                      <a:r>
                        <a:rPr sz="1400" spc="-75" dirty="0">
                          <a:latin typeface="Century Gothic"/>
                          <a:cs typeface="Century Gothic"/>
                        </a:rPr>
                        <a:t> </a:t>
                      </a:r>
                      <a:r>
                        <a:rPr sz="1400" spc="-10" dirty="0">
                          <a:latin typeface="Century Gothic"/>
                          <a:cs typeface="Century Gothic"/>
                        </a:rPr>
                        <a:t>system </a:t>
                      </a:r>
                      <a:r>
                        <a:rPr sz="1400" dirty="0">
                          <a:latin typeface="Century Gothic"/>
                          <a:cs typeface="Century Gothic"/>
                        </a:rPr>
                        <a:t>connections</a:t>
                      </a:r>
                      <a:r>
                        <a:rPr sz="1400" spc="-30" dirty="0">
                          <a:latin typeface="Century Gothic"/>
                          <a:cs typeface="Century Gothic"/>
                        </a:rPr>
                        <a:t> </a:t>
                      </a:r>
                      <a:r>
                        <a:rPr sz="1400" dirty="0">
                          <a:latin typeface="Century Gothic"/>
                          <a:cs typeface="Century Gothic"/>
                        </a:rPr>
                        <a:t>and</a:t>
                      </a:r>
                      <a:r>
                        <a:rPr sz="1400" spc="-45" dirty="0">
                          <a:latin typeface="Century Gothic"/>
                          <a:cs typeface="Century Gothic"/>
                        </a:rPr>
                        <a:t> </a:t>
                      </a:r>
                      <a:r>
                        <a:rPr sz="1400" dirty="0">
                          <a:latin typeface="Century Gothic"/>
                          <a:cs typeface="Century Gothic"/>
                        </a:rPr>
                        <a:t>information,</a:t>
                      </a:r>
                      <a:r>
                        <a:rPr sz="1400" spc="-70" dirty="0">
                          <a:latin typeface="Century Gothic"/>
                          <a:cs typeface="Century Gothic"/>
                        </a:rPr>
                        <a:t> </a:t>
                      </a:r>
                      <a:r>
                        <a:rPr sz="1400" spc="-10" dirty="0">
                          <a:latin typeface="Century Gothic"/>
                          <a:cs typeface="Century Gothic"/>
                        </a:rPr>
                        <a:t>information</a:t>
                      </a:r>
                      <a:endParaRPr sz="1400">
                        <a:latin typeface="Century Gothic"/>
                        <a:cs typeface="Century Gothic"/>
                      </a:endParaRPr>
                    </a:p>
                    <a:p>
                      <a:pPr marL="69215">
                        <a:lnSpc>
                          <a:spcPct val="100000"/>
                        </a:lnSpc>
                      </a:pPr>
                      <a:r>
                        <a:rPr sz="1400" dirty="0">
                          <a:latin typeface="Century Gothic"/>
                          <a:cs typeface="Century Gothic"/>
                        </a:rPr>
                        <a:t>system</a:t>
                      </a:r>
                      <a:r>
                        <a:rPr sz="1400" spc="-35" dirty="0">
                          <a:latin typeface="Century Gothic"/>
                          <a:cs typeface="Century Gothic"/>
                        </a:rPr>
                        <a:t> </a:t>
                      </a:r>
                      <a:r>
                        <a:rPr sz="1400" dirty="0">
                          <a:latin typeface="Century Gothic"/>
                          <a:cs typeface="Century Gothic"/>
                        </a:rPr>
                        <a:t>users,</a:t>
                      </a:r>
                      <a:r>
                        <a:rPr sz="1400" spc="-45" dirty="0">
                          <a:latin typeface="Century Gothic"/>
                          <a:cs typeface="Century Gothic"/>
                        </a:rPr>
                        <a:t> </a:t>
                      </a:r>
                      <a:r>
                        <a:rPr sz="1400" dirty="0">
                          <a:latin typeface="Century Gothic"/>
                          <a:cs typeface="Century Gothic"/>
                        </a:rPr>
                        <a:t>and</a:t>
                      </a:r>
                      <a:r>
                        <a:rPr sz="1400" spc="-40" dirty="0">
                          <a:latin typeface="Century Gothic"/>
                          <a:cs typeface="Century Gothic"/>
                        </a:rPr>
                        <a:t> </a:t>
                      </a:r>
                      <a:r>
                        <a:rPr sz="1400" dirty="0">
                          <a:latin typeface="Century Gothic"/>
                          <a:cs typeface="Century Gothic"/>
                        </a:rPr>
                        <a:t>the</a:t>
                      </a:r>
                      <a:r>
                        <a:rPr sz="1400" spc="-40" dirty="0">
                          <a:latin typeface="Century Gothic"/>
                          <a:cs typeface="Century Gothic"/>
                        </a:rPr>
                        <a:t> </a:t>
                      </a:r>
                      <a:r>
                        <a:rPr sz="1400" dirty="0">
                          <a:latin typeface="Century Gothic"/>
                          <a:cs typeface="Century Gothic"/>
                        </a:rPr>
                        <a:t>system’s</a:t>
                      </a:r>
                      <a:r>
                        <a:rPr sz="1400" spc="-30" dirty="0">
                          <a:latin typeface="Century Gothic"/>
                          <a:cs typeface="Century Gothic"/>
                        </a:rPr>
                        <a:t> </a:t>
                      </a:r>
                      <a:r>
                        <a:rPr sz="1400" dirty="0">
                          <a:latin typeface="Century Gothic"/>
                          <a:cs typeface="Century Gothic"/>
                        </a:rPr>
                        <a:t>housing</a:t>
                      </a:r>
                      <a:r>
                        <a:rPr sz="1400" spc="-55" dirty="0">
                          <a:latin typeface="Century Gothic"/>
                          <a:cs typeface="Century Gothic"/>
                        </a:rPr>
                        <a:t> </a:t>
                      </a:r>
                      <a:r>
                        <a:rPr sz="1400" dirty="0">
                          <a:latin typeface="Century Gothic"/>
                          <a:cs typeface="Century Gothic"/>
                        </a:rPr>
                        <a:t>are</a:t>
                      </a:r>
                      <a:r>
                        <a:rPr sz="1400" spc="-55" dirty="0">
                          <a:latin typeface="Century Gothic"/>
                          <a:cs typeface="Century Gothic"/>
                        </a:rPr>
                        <a:t> </a:t>
                      </a:r>
                      <a:r>
                        <a:rPr sz="1400" spc="-25" dirty="0">
                          <a:latin typeface="Century Gothic"/>
                          <a:cs typeface="Century Gothic"/>
                        </a:rPr>
                        <a:t>all</a:t>
                      </a:r>
                      <a:endParaRPr sz="1400">
                        <a:latin typeface="Century Gothic"/>
                        <a:cs typeface="Century Gothic"/>
                      </a:endParaRPr>
                    </a:p>
                    <a:p>
                      <a:pPr marL="69215">
                        <a:lnSpc>
                          <a:spcPts val="2145"/>
                        </a:lnSpc>
                      </a:pPr>
                      <a:r>
                        <a:rPr sz="1400" dirty="0">
                          <a:latin typeface="Century Gothic"/>
                          <a:cs typeface="Century Gothic"/>
                        </a:rPr>
                        <a:t>part</a:t>
                      </a:r>
                      <a:r>
                        <a:rPr sz="1400" spc="-15" dirty="0">
                          <a:latin typeface="Century Gothic"/>
                          <a:cs typeface="Century Gothic"/>
                        </a:rPr>
                        <a:t> </a:t>
                      </a:r>
                      <a:r>
                        <a:rPr sz="1400" dirty="0">
                          <a:latin typeface="Century Gothic"/>
                          <a:cs typeface="Century Gothic"/>
                        </a:rPr>
                        <a:t>of</a:t>
                      </a:r>
                      <a:r>
                        <a:rPr sz="1400" spc="-30" dirty="0">
                          <a:latin typeface="Century Gothic"/>
                          <a:cs typeface="Century Gothic"/>
                        </a:rPr>
                        <a:t> </a:t>
                      </a:r>
                      <a:r>
                        <a:rPr sz="1400" dirty="0">
                          <a:latin typeface="Century Gothic"/>
                          <a:cs typeface="Century Gothic"/>
                        </a:rPr>
                        <a:t>an</a:t>
                      </a:r>
                      <a:r>
                        <a:rPr sz="1400" spc="-10" dirty="0">
                          <a:latin typeface="Century Gothic"/>
                          <a:cs typeface="Century Gothic"/>
                        </a:rPr>
                        <a:t> </a:t>
                      </a:r>
                      <a:r>
                        <a:rPr sz="1400" spc="-25" dirty="0">
                          <a:latin typeface="Century Gothic"/>
                          <a:cs typeface="Century Gothic"/>
                        </a:rPr>
                        <a:t>IS.</a:t>
                      </a:r>
                      <a:endParaRPr sz="1400">
                        <a:latin typeface="Century Gothic"/>
                        <a:cs typeface="Century Gothic"/>
                      </a:endParaRPr>
                    </a:p>
                  </a:txBody>
                  <a:tcPr marL="0" marR="0" marT="381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2"/>
                  </a:ext>
                </a:extLst>
              </a:tr>
              <a:tr h="1597772">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dirty="0">
                          <a:latin typeface="Century Gothic"/>
                          <a:cs typeface="Century Gothic"/>
                        </a:rPr>
                        <a:t>Information</a:t>
                      </a:r>
                      <a:r>
                        <a:rPr sz="1400" spc="-45" dirty="0">
                          <a:latin typeface="Century Gothic"/>
                          <a:cs typeface="Century Gothic"/>
                        </a:rPr>
                        <a:t> </a:t>
                      </a:r>
                      <a:r>
                        <a:rPr sz="1400" spc="-10" dirty="0">
                          <a:latin typeface="Century Gothic"/>
                          <a:cs typeface="Century Gothic"/>
                        </a:rPr>
                        <a:t>Technology</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EAEDE8"/>
                    </a:solidFill>
                  </a:tcPr>
                </a:tc>
                <a:tc>
                  <a:txBody>
                    <a:bodyPr/>
                    <a:lstStyle/>
                    <a:p>
                      <a:pPr marL="69215" marR="156210">
                        <a:lnSpc>
                          <a:spcPts val="2160"/>
                        </a:lnSpc>
                        <a:spcBef>
                          <a:spcPts val="40"/>
                        </a:spcBef>
                      </a:pPr>
                      <a:r>
                        <a:rPr sz="1400" dirty="0">
                          <a:latin typeface="Century Gothic"/>
                          <a:cs typeface="Century Gothic"/>
                        </a:rPr>
                        <a:t>Falls</a:t>
                      </a:r>
                      <a:r>
                        <a:rPr sz="1400" spc="-70" dirty="0">
                          <a:latin typeface="Century Gothic"/>
                          <a:cs typeface="Century Gothic"/>
                        </a:rPr>
                        <a:t> </a:t>
                      </a:r>
                      <a:r>
                        <a:rPr sz="1400" dirty="0">
                          <a:latin typeface="Century Gothic"/>
                          <a:cs typeface="Century Gothic"/>
                        </a:rPr>
                        <a:t>under</a:t>
                      </a:r>
                      <a:r>
                        <a:rPr sz="1400" spc="-20" dirty="0">
                          <a:latin typeface="Century Gothic"/>
                          <a:cs typeface="Century Gothic"/>
                        </a:rPr>
                        <a:t> </a:t>
                      </a:r>
                      <a:r>
                        <a:rPr sz="1400" dirty="0">
                          <a:latin typeface="Century Gothic"/>
                          <a:cs typeface="Century Gothic"/>
                        </a:rPr>
                        <a:t>the</a:t>
                      </a:r>
                      <a:r>
                        <a:rPr sz="1400" spc="-15" dirty="0">
                          <a:latin typeface="Century Gothic"/>
                          <a:cs typeface="Century Gothic"/>
                        </a:rPr>
                        <a:t> </a:t>
                      </a:r>
                      <a:r>
                        <a:rPr sz="1400" dirty="0">
                          <a:latin typeface="Century Gothic"/>
                          <a:cs typeface="Century Gothic"/>
                        </a:rPr>
                        <a:t>IS</a:t>
                      </a:r>
                      <a:r>
                        <a:rPr sz="1400" spc="-55" dirty="0">
                          <a:latin typeface="Century Gothic"/>
                          <a:cs typeface="Century Gothic"/>
                        </a:rPr>
                        <a:t> </a:t>
                      </a:r>
                      <a:r>
                        <a:rPr sz="1400" dirty="0">
                          <a:latin typeface="Century Gothic"/>
                          <a:cs typeface="Century Gothic"/>
                        </a:rPr>
                        <a:t>umbrella</a:t>
                      </a:r>
                      <a:r>
                        <a:rPr sz="1400" spc="-60" dirty="0">
                          <a:latin typeface="Century Gothic"/>
                          <a:cs typeface="Century Gothic"/>
                        </a:rPr>
                        <a:t> </a:t>
                      </a:r>
                      <a:r>
                        <a:rPr sz="1400" dirty="0">
                          <a:latin typeface="Century Gothic"/>
                          <a:cs typeface="Century Gothic"/>
                        </a:rPr>
                        <a:t>but</a:t>
                      </a:r>
                      <a:r>
                        <a:rPr sz="1400" spc="-35" dirty="0">
                          <a:latin typeface="Century Gothic"/>
                          <a:cs typeface="Century Gothic"/>
                        </a:rPr>
                        <a:t> </a:t>
                      </a:r>
                      <a:r>
                        <a:rPr sz="1400" dirty="0">
                          <a:latin typeface="Century Gothic"/>
                          <a:cs typeface="Century Gothic"/>
                        </a:rPr>
                        <a:t>deals</a:t>
                      </a:r>
                      <a:r>
                        <a:rPr sz="1400" spc="-35" dirty="0">
                          <a:latin typeface="Century Gothic"/>
                          <a:cs typeface="Century Gothic"/>
                        </a:rPr>
                        <a:t> </a:t>
                      </a:r>
                      <a:r>
                        <a:rPr sz="1400" dirty="0">
                          <a:latin typeface="Century Gothic"/>
                          <a:cs typeface="Century Gothic"/>
                        </a:rPr>
                        <a:t>with</a:t>
                      </a:r>
                      <a:r>
                        <a:rPr sz="1400" spc="-20" dirty="0">
                          <a:latin typeface="Century Gothic"/>
                          <a:cs typeface="Century Gothic"/>
                        </a:rPr>
                        <a:t> </a:t>
                      </a:r>
                      <a:r>
                        <a:rPr sz="1400" spc="-25" dirty="0">
                          <a:latin typeface="Century Gothic"/>
                          <a:cs typeface="Century Gothic"/>
                        </a:rPr>
                        <a:t>the </a:t>
                      </a:r>
                      <a:r>
                        <a:rPr sz="1400" dirty="0">
                          <a:latin typeface="Century Gothic"/>
                          <a:cs typeface="Century Gothic"/>
                        </a:rPr>
                        <a:t>technology</a:t>
                      </a:r>
                      <a:r>
                        <a:rPr sz="1400" spc="-50" dirty="0">
                          <a:latin typeface="Century Gothic"/>
                          <a:cs typeface="Century Gothic"/>
                        </a:rPr>
                        <a:t> </a:t>
                      </a:r>
                      <a:r>
                        <a:rPr sz="1400" dirty="0">
                          <a:latin typeface="Century Gothic"/>
                          <a:cs typeface="Century Gothic"/>
                        </a:rPr>
                        <a:t>involved</a:t>
                      </a:r>
                      <a:r>
                        <a:rPr sz="1400" spc="-80" dirty="0">
                          <a:latin typeface="Century Gothic"/>
                          <a:cs typeface="Century Gothic"/>
                        </a:rPr>
                        <a:t> </a:t>
                      </a:r>
                      <a:r>
                        <a:rPr sz="1400" dirty="0">
                          <a:latin typeface="Century Gothic"/>
                          <a:cs typeface="Century Gothic"/>
                        </a:rPr>
                        <a:t>in</a:t>
                      </a:r>
                      <a:r>
                        <a:rPr sz="1400" spc="-80" dirty="0">
                          <a:latin typeface="Century Gothic"/>
                          <a:cs typeface="Century Gothic"/>
                        </a:rPr>
                        <a:t> </a:t>
                      </a:r>
                      <a:r>
                        <a:rPr sz="1400" dirty="0">
                          <a:latin typeface="Century Gothic"/>
                          <a:cs typeface="Century Gothic"/>
                        </a:rPr>
                        <a:t>the</a:t>
                      </a:r>
                      <a:r>
                        <a:rPr sz="1400" spc="-45" dirty="0">
                          <a:latin typeface="Century Gothic"/>
                          <a:cs typeface="Century Gothic"/>
                        </a:rPr>
                        <a:t> </a:t>
                      </a:r>
                      <a:r>
                        <a:rPr sz="1400" dirty="0">
                          <a:latin typeface="Century Gothic"/>
                          <a:cs typeface="Century Gothic"/>
                        </a:rPr>
                        <a:t>systems</a:t>
                      </a:r>
                      <a:r>
                        <a:rPr sz="1400" spc="-25" dirty="0">
                          <a:latin typeface="Century Gothic"/>
                          <a:cs typeface="Century Gothic"/>
                        </a:rPr>
                        <a:t> </a:t>
                      </a:r>
                      <a:r>
                        <a:rPr sz="1400" spc="-10" dirty="0">
                          <a:latin typeface="Century Gothic"/>
                          <a:cs typeface="Century Gothic"/>
                        </a:rPr>
                        <a:t>themselves. </a:t>
                      </a:r>
                      <a:r>
                        <a:rPr sz="1400" dirty="0">
                          <a:latin typeface="Century Gothic"/>
                          <a:cs typeface="Century Gothic"/>
                        </a:rPr>
                        <a:t>Information</a:t>
                      </a:r>
                      <a:r>
                        <a:rPr sz="1400" spc="-75" dirty="0">
                          <a:latin typeface="Century Gothic"/>
                          <a:cs typeface="Century Gothic"/>
                        </a:rPr>
                        <a:t> </a:t>
                      </a:r>
                      <a:r>
                        <a:rPr sz="1400" dirty="0">
                          <a:latin typeface="Century Gothic"/>
                          <a:cs typeface="Century Gothic"/>
                        </a:rPr>
                        <a:t>technology</a:t>
                      </a:r>
                      <a:r>
                        <a:rPr sz="1400" spc="-35" dirty="0">
                          <a:latin typeface="Century Gothic"/>
                          <a:cs typeface="Century Gothic"/>
                        </a:rPr>
                        <a:t> </a:t>
                      </a:r>
                      <a:r>
                        <a:rPr sz="1400" dirty="0">
                          <a:latin typeface="Century Gothic"/>
                          <a:cs typeface="Century Gothic"/>
                        </a:rPr>
                        <a:t>can</a:t>
                      </a:r>
                      <a:r>
                        <a:rPr sz="1400" spc="-50" dirty="0">
                          <a:latin typeface="Century Gothic"/>
                          <a:cs typeface="Century Gothic"/>
                        </a:rPr>
                        <a:t> </a:t>
                      </a:r>
                      <a:r>
                        <a:rPr sz="1400" dirty="0">
                          <a:latin typeface="Century Gothic"/>
                          <a:cs typeface="Century Gothic"/>
                        </a:rPr>
                        <a:t>be</a:t>
                      </a:r>
                      <a:r>
                        <a:rPr sz="1400" spc="-35" dirty="0">
                          <a:latin typeface="Century Gothic"/>
                          <a:cs typeface="Century Gothic"/>
                        </a:rPr>
                        <a:t> </a:t>
                      </a:r>
                      <a:r>
                        <a:rPr sz="1400" dirty="0">
                          <a:latin typeface="Century Gothic"/>
                          <a:cs typeface="Century Gothic"/>
                        </a:rPr>
                        <a:t>defined</a:t>
                      </a:r>
                      <a:r>
                        <a:rPr sz="1400" spc="-40" dirty="0">
                          <a:latin typeface="Century Gothic"/>
                          <a:cs typeface="Century Gothic"/>
                        </a:rPr>
                        <a:t> </a:t>
                      </a:r>
                      <a:r>
                        <a:rPr sz="1400" dirty="0">
                          <a:latin typeface="Century Gothic"/>
                          <a:cs typeface="Century Gothic"/>
                        </a:rPr>
                        <a:t>as</a:t>
                      </a:r>
                      <a:r>
                        <a:rPr sz="1400" spc="-35" dirty="0">
                          <a:latin typeface="Century Gothic"/>
                          <a:cs typeface="Century Gothic"/>
                        </a:rPr>
                        <a:t> </a:t>
                      </a:r>
                      <a:r>
                        <a:rPr sz="1400" spc="-25" dirty="0">
                          <a:latin typeface="Century Gothic"/>
                          <a:cs typeface="Century Gothic"/>
                        </a:rPr>
                        <a:t>the </a:t>
                      </a:r>
                      <a:r>
                        <a:rPr sz="1400" dirty="0">
                          <a:latin typeface="Century Gothic"/>
                          <a:cs typeface="Century Gothic"/>
                        </a:rPr>
                        <a:t>study,</a:t>
                      </a:r>
                      <a:r>
                        <a:rPr sz="1400" spc="-65" dirty="0">
                          <a:latin typeface="Century Gothic"/>
                          <a:cs typeface="Century Gothic"/>
                        </a:rPr>
                        <a:t> </a:t>
                      </a:r>
                      <a:r>
                        <a:rPr sz="1400" dirty="0">
                          <a:latin typeface="Century Gothic"/>
                          <a:cs typeface="Century Gothic"/>
                        </a:rPr>
                        <a:t>design,</a:t>
                      </a:r>
                      <a:r>
                        <a:rPr sz="1400" spc="-90" dirty="0">
                          <a:latin typeface="Century Gothic"/>
                          <a:cs typeface="Century Gothic"/>
                        </a:rPr>
                        <a:t> </a:t>
                      </a:r>
                      <a:r>
                        <a:rPr sz="1400" dirty="0">
                          <a:latin typeface="Century Gothic"/>
                          <a:cs typeface="Century Gothic"/>
                        </a:rPr>
                        <a:t>implementation,</a:t>
                      </a:r>
                      <a:r>
                        <a:rPr sz="1400" spc="-80" dirty="0">
                          <a:latin typeface="Century Gothic"/>
                          <a:cs typeface="Century Gothic"/>
                        </a:rPr>
                        <a:t> </a:t>
                      </a:r>
                      <a:r>
                        <a:rPr sz="1400" dirty="0">
                          <a:latin typeface="Century Gothic"/>
                          <a:cs typeface="Century Gothic"/>
                        </a:rPr>
                        <a:t>support</a:t>
                      </a:r>
                      <a:r>
                        <a:rPr sz="1400" spc="-85" dirty="0">
                          <a:latin typeface="Century Gothic"/>
                          <a:cs typeface="Century Gothic"/>
                        </a:rPr>
                        <a:t> </a:t>
                      </a:r>
                      <a:r>
                        <a:rPr sz="1400" spc="-25" dirty="0">
                          <a:latin typeface="Century Gothic"/>
                          <a:cs typeface="Century Gothic"/>
                        </a:rPr>
                        <a:t>or</a:t>
                      </a:r>
                      <a:endParaRPr sz="1400">
                        <a:latin typeface="Century Gothic"/>
                        <a:cs typeface="Century Gothic"/>
                      </a:endParaRPr>
                    </a:p>
                    <a:p>
                      <a:pPr marL="69215" marR="255270">
                        <a:lnSpc>
                          <a:spcPts val="2160"/>
                        </a:lnSpc>
                        <a:spcBef>
                          <a:spcPts val="5"/>
                        </a:spcBef>
                      </a:pPr>
                      <a:r>
                        <a:rPr sz="1400" dirty="0">
                          <a:latin typeface="Century Gothic"/>
                          <a:cs typeface="Century Gothic"/>
                        </a:rPr>
                        <a:t>management</a:t>
                      </a:r>
                      <a:r>
                        <a:rPr sz="1400" spc="-15" dirty="0">
                          <a:latin typeface="Century Gothic"/>
                          <a:cs typeface="Century Gothic"/>
                        </a:rPr>
                        <a:t> </a:t>
                      </a:r>
                      <a:r>
                        <a:rPr sz="1400" dirty="0">
                          <a:latin typeface="Century Gothic"/>
                          <a:cs typeface="Century Gothic"/>
                        </a:rPr>
                        <a:t>of</a:t>
                      </a:r>
                      <a:r>
                        <a:rPr sz="1400" spc="-40" dirty="0">
                          <a:latin typeface="Century Gothic"/>
                          <a:cs typeface="Century Gothic"/>
                        </a:rPr>
                        <a:t> </a:t>
                      </a:r>
                      <a:r>
                        <a:rPr sz="1400" spc="-10" dirty="0">
                          <a:latin typeface="Century Gothic"/>
                          <a:cs typeface="Century Gothic"/>
                        </a:rPr>
                        <a:t>computer-</a:t>
                      </a:r>
                      <a:r>
                        <a:rPr sz="1400" dirty="0">
                          <a:latin typeface="Century Gothic"/>
                          <a:cs typeface="Century Gothic"/>
                        </a:rPr>
                        <a:t>based </a:t>
                      </a:r>
                      <a:r>
                        <a:rPr sz="1400" spc="-10" dirty="0">
                          <a:latin typeface="Century Gothic"/>
                          <a:cs typeface="Century Gothic"/>
                        </a:rPr>
                        <a:t>information systems.</a:t>
                      </a:r>
                      <a:endParaRPr sz="1400">
                        <a:latin typeface="Century Gothic"/>
                        <a:cs typeface="Century Gothic"/>
                      </a:endParaRPr>
                    </a:p>
                    <a:p>
                      <a:pPr>
                        <a:lnSpc>
                          <a:spcPct val="100000"/>
                        </a:lnSpc>
                        <a:spcBef>
                          <a:spcPts val="20"/>
                        </a:spcBef>
                      </a:pPr>
                      <a:endParaRPr sz="1400">
                        <a:latin typeface="Times New Roman"/>
                        <a:cs typeface="Times New Roman"/>
                      </a:endParaRPr>
                    </a:p>
                    <a:p>
                      <a:pPr marL="69215">
                        <a:lnSpc>
                          <a:spcPts val="1345"/>
                        </a:lnSpc>
                      </a:pPr>
                      <a:r>
                        <a:rPr sz="1400" dirty="0">
                          <a:latin typeface="Century Gothic"/>
                          <a:cs typeface="Century Gothic"/>
                        </a:rPr>
                        <a:t>Includes</a:t>
                      </a:r>
                      <a:r>
                        <a:rPr sz="1400" spc="-105" dirty="0">
                          <a:latin typeface="Century Gothic"/>
                          <a:cs typeface="Century Gothic"/>
                        </a:rPr>
                        <a:t> </a:t>
                      </a:r>
                      <a:r>
                        <a:rPr sz="1400" dirty="0">
                          <a:latin typeface="Century Gothic"/>
                          <a:cs typeface="Century Gothic"/>
                        </a:rPr>
                        <a:t>hardware,</a:t>
                      </a:r>
                      <a:r>
                        <a:rPr sz="1400" spc="-60" dirty="0">
                          <a:latin typeface="Century Gothic"/>
                          <a:cs typeface="Century Gothic"/>
                        </a:rPr>
                        <a:t> </a:t>
                      </a:r>
                      <a:r>
                        <a:rPr sz="1400" dirty="0">
                          <a:latin typeface="Century Gothic"/>
                          <a:cs typeface="Century Gothic"/>
                        </a:rPr>
                        <a:t>software,</a:t>
                      </a:r>
                      <a:r>
                        <a:rPr sz="1400" spc="-60" dirty="0">
                          <a:latin typeface="Century Gothic"/>
                          <a:cs typeface="Century Gothic"/>
                        </a:rPr>
                        <a:t> </a:t>
                      </a:r>
                      <a:r>
                        <a:rPr sz="1400" dirty="0">
                          <a:latin typeface="Century Gothic"/>
                          <a:cs typeface="Century Gothic"/>
                        </a:rPr>
                        <a:t>databases</a:t>
                      </a:r>
                      <a:r>
                        <a:rPr sz="1400" spc="-70" dirty="0">
                          <a:latin typeface="Century Gothic"/>
                          <a:cs typeface="Century Gothic"/>
                        </a:rPr>
                        <a:t> </a:t>
                      </a:r>
                      <a:r>
                        <a:rPr sz="1400" spc="-25" dirty="0">
                          <a:latin typeface="Century Gothic"/>
                          <a:cs typeface="Century Gothic"/>
                        </a:rPr>
                        <a:t>and</a:t>
                      </a:r>
                      <a:endParaRPr sz="1400">
                        <a:latin typeface="Century Gothic"/>
                        <a:cs typeface="Century Gothic"/>
                      </a:endParaRPr>
                    </a:p>
                  </a:txBody>
                  <a:tcPr marL="0" marR="0" marT="3810"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3"/>
                  </a:ext>
                </a:extLst>
              </a:tr>
              <a:tr h="280988">
                <a:tc>
                  <a:txBody>
                    <a:bodyPr/>
                    <a:lstStyle/>
                    <a:p>
                      <a:pPr>
                        <a:lnSpc>
                          <a:spcPct val="100000"/>
                        </a:lnSpc>
                      </a:pPr>
                      <a:endParaRPr sz="1400">
                        <a:latin typeface="Times New Roman"/>
                        <a:cs typeface="Times New Roman"/>
                      </a:endParaRPr>
                    </a:p>
                  </a:txBody>
                  <a:tcPr marL="0" marR="0" marT="0" marB="0">
                    <a:lnR w="12700">
                      <a:solidFill>
                        <a:srgbClr val="FFFFFF"/>
                      </a:solidFill>
                      <a:prstDash val="solid"/>
                    </a:lnR>
                    <a:lnT w="6350">
                      <a:solidFill>
                        <a:srgbClr val="252525"/>
                      </a:solidFill>
                      <a:prstDash val="solid"/>
                    </a:lnT>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6350">
                      <a:solidFill>
                        <a:srgbClr val="252525"/>
                      </a:solidFill>
                      <a:prstDash val="solid"/>
                    </a:lnT>
                    <a:lnB w="12700">
                      <a:solidFill>
                        <a:srgbClr val="FFFFFF"/>
                      </a:solidFill>
                      <a:prstDash val="solid"/>
                    </a:lnB>
                    <a:solidFill>
                      <a:srgbClr val="EAEDE8"/>
                    </a:solidFill>
                  </a:tcPr>
                </a:tc>
                <a:tc>
                  <a:txBody>
                    <a:bodyPr/>
                    <a:lstStyle/>
                    <a:p>
                      <a:pPr marL="69215">
                        <a:lnSpc>
                          <a:spcPts val="2140"/>
                        </a:lnSpc>
                        <a:spcBef>
                          <a:spcPts val="710"/>
                        </a:spcBef>
                      </a:pPr>
                      <a:r>
                        <a:rPr sz="1400" spc="-10" dirty="0">
                          <a:latin typeface="Century Gothic"/>
                          <a:cs typeface="Century Gothic"/>
                        </a:rPr>
                        <a:t>networks.</a:t>
                      </a:r>
                      <a:endParaRPr sz="1400">
                        <a:latin typeface="Century Gothic"/>
                        <a:cs typeface="Century Gothic"/>
                      </a:endParaRPr>
                    </a:p>
                  </a:txBody>
                  <a:tcPr marL="0" marR="0" marT="67628" marB="0">
                    <a:lnL w="12700">
                      <a:solidFill>
                        <a:srgbClr val="FFFFFF"/>
                      </a:solidFill>
                      <a:prstDash val="solid"/>
                    </a:lnL>
                    <a:lnR w="12700">
                      <a:solidFill>
                        <a:srgbClr val="FFFFFF"/>
                      </a:solidFill>
                      <a:prstDash val="solid"/>
                    </a:lnR>
                    <a:lnT w="6350">
                      <a:solidFill>
                        <a:srgbClr val="252525"/>
                      </a:solidFill>
                      <a:prstDash val="solid"/>
                    </a:lnT>
                    <a:lnB w="12700">
                      <a:solidFill>
                        <a:srgbClr val="FFFFFF"/>
                      </a:solidFill>
                      <a:prstDash val="solid"/>
                    </a:lnB>
                    <a:solidFill>
                      <a:srgbClr val="EAEDE8"/>
                    </a:solidFill>
                  </a:tcPr>
                </a:tc>
                <a:tc>
                  <a:txBody>
                    <a:bodyPr/>
                    <a:lstStyle/>
                    <a:p>
                      <a:pPr>
                        <a:lnSpc>
                          <a:spcPct val="100000"/>
                        </a:lnSpc>
                      </a:pPr>
                      <a:endParaRPr sz="1400" dirty="0">
                        <a:latin typeface="Times New Roman"/>
                        <a:cs typeface="Times New Roman"/>
                      </a:endParaRPr>
                    </a:p>
                  </a:txBody>
                  <a:tcPr marL="0" marR="0" marT="0" marB="0">
                    <a:lnL w="12700">
                      <a:solidFill>
                        <a:srgbClr val="FFFFFF"/>
                      </a:solidFill>
                      <a:prstDash val="solid"/>
                    </a:lnL>
                    <a:lnT w="6350">
                      <a:solidFill>
                        <a:srgbClr val="252525"/>
                      </a:solidFill>
                      <a:prstDash val="solid"/>
                    </a:lnT>
                  </a:tcPr>
                </a:tc>
                <a:extLst>
                  <a:ext uri="{0D108BD9-81ED-4DB2-BD59-A6C34878D82A}">
                    <a16:rowId xmlns:a16="http://schemas.microsoft.com/office/drawing/2014/main" val="10004"/>
                  </a:ext>
                </a:extLst>
              </a:tr>
            </a:tbl>
          </a:graphicData>
        </a:graphic>
      </p:graphicFrame>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76606" y="1136142"/>
          <a:ext cx="8585836" cy="5171630"/>
        </p:xfrm>
        <a:graphic>
          <a:graphicData uri="http://schemas.openxmlformats.org/drawingml/2006/table">
            <a:tbl>
              <a:tblPr firstRow="1" bandRow="1">
                <a:tableStyleId>{2D5ABB26-0587-4C30-8999-92F81FD0307C}</a:tableStyleId>
              </a:tblPr>
              <a:tblGrid>
                <a:gridCol w="521018">
                  <a:extLst>
                    <a:ext uri="{9D8B030D-6E8A-4147-A177-3AD203B41FA5}">
                      <a16:colId xmlns:a16="http://schemas.microsoft.com/office/drawing/2014/main" val="20000"/>
                    </a:ext>
                  </a:extLst>
                </a:gridCol>
                <a:gridCol w="3607594">
                  <a:extLst>
                    <a:ext uri="{9D8B030D-6E8A-4147-A177-3AD203B41FA5}">
                      <a16:colId xmlns:a16="http://schemas.microsoft.com/office/drawing/2014/main" val="20001"/>
                    </a:ext>
                  </a:extLst>
                </a:gridCol>
                <a:gridCol w="3607594">
                  <a:extLst>
                    <a:ext uri="{9D8B030D-6E8A-4147-A177-3AD203B41FA5}">
                      <a16:colId xmlns:a16="http://schemas.microsoft.com/office/drawing/2014/main" val="20002"/>
                    </a:ext>
                  </a:extLst>
                </a:gridCol>
                <a:gridCol w="849630">
                  <a:extLst>
                    <a:ext uri="{9D8B030D-6E8A-4147-A177-3AD203B41FA5}">
                      <a16:colId xmlns:a16="http://schemas.microsoft.com/office/drawing/2014/main" val="20003"/>
                    </a:ext>
                  </a:extLst>
                </a:gridCol>
              </a:tblGrid>
              <a:tr h="1090136">
                <a:tc gridSpan="4">
                  <a:txBody>
                    <a:bodyPr/>
                    <a:lstStyle/>
                    <a:p>
                      <a:pPr>
                        <a:lnSpc>
                          <a:spcPct val="100000"/>
                        </a:lnSpc>
                        <a:spcBef>
                          <a:spcPts val="180"/>
                        </a:spcBef>
                      </a:pPr>
                      <a:endParaRPr sz="3000">
                        <a:latin typeface="Times New Roman"/>
                        <a:cs typeface="Times New Roman"/>
                      </a:endParaRPr>
                    </a:p>
                    <a:p>
                      <a:pPr marL="786130">
                        <a:lnSpc>
                          <a:spcPct val="100000"/>
                        </a:lnSpc>
                      </a:pPr>
                      <a:r>
                        <a:rPr sz="3000" dirty="0">
                          <a:solidFill>
                            <a:srgbClr val="252525"/>
                          </a:solidFill>
                          <a:latin typeface="Century Gothic"/>
                          <a:cs typeface="Century Gothic"/>
                        </a:rPr>
                        <a:t>Bodies</a:t>
                      </a:r>
                      <a:r>
                        <a:rPr sz="3000" spc="-90" dirty="0">
                          <a:solidFill>
                            <a:srgbClr val="252525"/>
                          </a:solidFill>
                          <a:latin typeface="Century Gothic"/>
                          <a:cs typeface="Century Gothic"/>
                        </a:rPr>
                        <a:t> </a:t>
                      </a:r>
                      <a:r>
                        <a:rPr sz="3000" dirty="0">
                          <a:solidFill>
                            <a:srgbClr val="252525"/>
                          </a:solidFill>
                          <a:latin typeface="Century Gothic"/>
                          <a:cs typeface="Century Gothic"/>
                        </a:rPr>
                        <a:t>of</a:t>
                      </a:r>
                      <a:r>
                        <a:rPr sz="3000" spc="-90" dirty="0">
                          <a:solidFill>
                            <a:srgbClr val="252525"/>
                          </a:solidFill>
                          <a:latin typeface="Century Gothic"/>
                          <a:cs typeface="Century Gothic"/>
                        </a:rPr>
                        <a:t> </a:t>
                      </a:r>
                      <a:r>
                        <a:rPr sz="3000" spc="-10" dirty="0">
                          <a:solidFill>
                            <a:srgbClr val="252525"/>
                          </a:solidFill>
                          <a:latin typeface="Century Gothic"/>
                          <a:cs typeface="Century Gothic"/>
                        </a:rPr>
                        <a:t>Knowledge</a:t>
                      </a:r>
                      <a:endParaRPr sz="3000">
                        <a:latin typeface="Century Gothic"/>
                        <a:cs typeface="Century Gothic"/>
                      </a:endParaRPr>
                    </a:p>
                  </a:txBody>
                  <a:tcPr marL="0" marR="0" marT="17145" marB="0">
                    <a:lnL w="6350">
                      <a:solidFill>
                        <a:srgbClr val="252525"/>
                      </a:solidFill>
                      <a:prstDash val="solid"/>
                    </a:lnL>
                    <a:lnR w="6350">
                      <a:solidFill>
                        <a:srgbClr val="252525"/>
                      </a:solidFill>
                      <a:prstDash val="solid"/>
                    </a:lnR>
                    <a:lnT w="6350">
                      <a:solidFill>
                        <a:srgbClr val="252525"/>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4320">
                <a:tc rowSpan="4">
                  <a:txBody>
                    <a:bodyPr/>
                    <a:lstStyle/>
                    <a:p>
                      <a:pPr>
                        <a:lnSpc>
                          <a:spcPct val="100000"/>
                        </a:lnSpc>
                      </a:pPr>
                      <a:endParaRPr sz="1400">
                        <a:latin typeface="Times New Roman"/>
                        <a:cs typeface="Times New Roman"/>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b="1" dirty="0">
                          <a:solidFill>
                            <a:srgbClr val="FFFFFF"/>
                          </a:solidFill>
                          <a:latin typeface="Century Gothic"/>
                          <a:cs typeface="Century Gothic"/>
                        </a:rPr>
                        <a:t>Body</a:t>
                      </a:r>
                      <a:r>
                        <a:rPr sz="1400" b="1" spc="-40" dirty="0">
                          <a:solidFill>
                            <a:srgbClr val="FFFFFF"/>
                          </a:solidFill>
                          <a:latin typeface="Century Gothic"/>
                          <a:cs typeface="Century Gothic"/>
                        </a:rPr>
                        <a:t> </a:t>
                      </a:r>
                      <a:r>
                        <a:rPr sz="1400" b="1" dirty="0">
                          <a:solidFill>
                            <a:srgbClr val="FFFFFF"/>
                          </a:solidFill>
                          <a:latin typeface="Century Gothic"/>
                          <a:cs typeface="Century Gothic"/>
                        </a:rPr>
                        <a:t>of</a:t>
                      </a:r>
                      <a:r>
                        <a:rPr sz="1400" b="1" spc="-35" dirty="0">
                          <a:solidFill>
                            <a:srgbClr val="FFFFFF"/>
                          </a:solidFill>
                          <a:latin typeface="Century Gothic"/>
                          <a:cs typeface="Century Gothic"/>
                        </a:rPr>
                        <a:t> </a:t>
                      </a:r>
                      <a:r>
                        <a:rPr sz="1400" b="1" spc="-10" dirty="0">
                          <a:solidFill>
                            <a:srgbClr val="FFFFFF"/>
                          </a:solidFill>
                          <a:latin typeface="Century Gothic"/>
                          <a:cs typeface="Century Gothic"/>
                        </a:rPr>
                        <a:t>Knowledge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a:txBody>
                    <a:bodyPr/>
                    <a:lstStyle/>
                    <a:p>
                      <a:pPr marL="92075">
                        <a:lnSpc>
                          <a:spcPct val="100000"/>
                        </a:lnSpc>
                        <a:spcBef>
                          <a:spcPts val="325"/>
                        </a:spcBef>
                      </a:pPr>
                      <a:r>
                        <a:rPr sz="1400" b="1" spc="-10" dirty="0">
                          <a:solidFill>
                            <a:srgbClr val="FFFFFF"/>
                          </a:solidFill>
                          <a:latin typeface="Century Gothic"/>
                          <a:cs typeface="Century Gothic"/>
                        </a:rPr>
                        <a:t>Definition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rowSpan="4">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1"/>
                  </a:ext>
                </a:extLst>
              </a:tr>
              <a:tr h="685800">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Discrete</a:t>
                      </a:r>
                      <a:r>
                        <a:rPr sz="1400" spc="-90" dirty="0">
                          <a:latin typeface="Century Gothic"/>
                          <a:cs typeface="Century Gothic"/>
                        </a:rPr>
                        <a:t> </a:t>
                      </a:r>
                      <a:r>
                        <a:rPr sz="1400" spc="-10" dirty="0">
                          <a:latin typeface="Century Gothic"/>
                          <a:cs typeface="Century Gothic"/>
                        </a:rPr>
                        <a:t>Structures</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a:txBody>
                    <a:bodyPr/>
                    <a:lstStyle/>
                    <a:p>
                      <a:pPr marL="92075" marR="216535">
                        <a:lnSpc>
                          <a:spcPct val="100000"/>
                        </a:lnSpc>
                        <a:spcBef>
                          <a:spcPts val="325"/>
                        </a:spcBef>
                      </a:pPr>
                      <a:r>
                        <a:rPr sz="1400" dirty="0">
                          <a:latin typeface="Century Gothic"/>
                          <a:cs typeface="Century Gothic"/>
                        </a:rPr>
                        <a:t>The</a:t>
                      </a:r>
                      <a:r>
                        <a:rPr sz="1400" spc="-35" dirty="0">
                          <a:latin typeface="Century Gothic"/>
                          <a:cs typeface="Century Gothic"/>
                        </a:rPr>
                        <a:t> </a:t>
                      </a:r>
                      <a:r>
                        <a:rPr sz="1400" dirty="0">
                          <a:latin typeface="Century Gothic"/>
                          <a:cs typeface="Century Gothic"/>
                        </a:rPr>
                        <a:t>branch</a:t>
                      </a:r>
                      <a:r>
                        <a:rPr sz="1400" spc="-45" dirty="0">
                          <a:latin typeface="Century Gothic"/>
                          <a:cs typeface="Century Gothic"/>
                        </a:rPr>
                        <a:t> </a:t>
                      </a:r>
                      <a:r>
                        <a:rPr sz="1400" dirty="0">
                          <a:latin typeface="Century Gothic"/>
                          <a:cs typeface="Century Gothic"/>
                        </a:rPr>
                        <a:t>of</a:t>
                      </a:r>
                      <a:r>
                        <a:rPr sz="1400" spc="-65" dirty="0">
                          <a:latin typeface="Century Gothic"/>
                          <a:cs typeface="Century Gothic"/>
                        </a:rPr>
                        <a:t> </a:t>
                      </a:r>
                      <a:r>
                        <a:rPr sz="1400" dirty="0">
                          <a:latin typeface="Century Gothic"/>
                          <a:cs typeface="Century Gothic"/>
                        </a:rPr>
                        <a:t>mathematics</a:t>
                      </a:r>
                      <a:r>
                        <a:rPr sz="1400" spc="-40" dirty="0">
                          <a:latin typeface="Century Gothic"/>
                          <a:cs typeface="Century Gothic"/>
                        </a:rPr>
                        <a:t> </a:t>
                      </a:r>
                      <a:r>
                        <a:rPr sz="1400" dirty="0">
                          <a:latin typeface="Century Gothic"/>
                          <a:cs typeface="Century Gothic"/>
                        </a:rPr>
                        <a:t>dealing</a:t>
                      </a:r>
                      <a:r>
                        <a:rPr sz="1400" spc="-50" dirty="0">
                          <a:latin typeface="Century Gothic"/>
                          <a:cs typeface="Century Gothic"/>
                        </a:rPr>
                        <a:t> </a:t>
                      </a:r>
                      <a:r>
                        <a:rPr sz="1400" spc="-20" dirty="0">
                          <a:latin typeface="Century Gothic"/>
                          <a:cs typeface="Century Gothic"/>
                        </a:rPr>
                        <a:t>with </a:t>
                      </a:r>
                      <a:r>
                        <a:rPr sz="1400" dirty="0">
                          <a:latin typeface="Century Gothic"/>
                          <a:cs typeface="Century Gothic"/>
                        </a:rPr>
                        <a:t>objects</a:t>
                      </a:r>
                      <a:r>
                        <a:rPr sz="1400" spc="-30" dirty="0">
                          <a:latin typeface="Century Gothic"/>
                          <a:cs typeface="Century Gothic"/>
                        </a:rPr>
                        <a:t> </a:t>
                      </a:r>
                      <a:r>
                        <a:rPr sz="1400" dirty="0">
                          <a:latin typeface="Century Gothic"/>
                          <a:cs typeface="Century Gothic"/>
                        </a:rPr>
                        <a:t>that</a:t>
                      </a:r>
                      <a:r>
                        <a:rPr sz="1400" spc="-20" dirty="0">
                          <a:latin typeface="Century Gothic"/>
                          <a:cs typeface="Century Gothic"/>
                        </a:rPr>
                        <a:t> </a:t>
                      </a:r>
                      <a:r>
                        <a:rPr sz="1400" dirty="0">
                          <a:latin typeface="Century Gothic"/>
                          <a:cs typeface="Century Gothic"/>
                        </a:rPr>
                        <a:t>can</a:t>
                      </a:r>
                      <a:r>
                        <a:rPr sz="1400" spc="-45" dirty="0">
                          <a:latin typeface="Century Gothic"/>
                          <a:cs typeface="Century Gothic"/>
                        </a:rPr>
                        <a:t> </a:t>
                      </a:r>
                      <a:r>
                        <a:rPr sz="1400" dirty="0">
                          <a:latin typeface="Century Gothic"/>
                          <a:cs typeface="Century Gothic"/>
                        </a:rPr>
                        <a:t>consider</a:t>
                      </a:r>
                      <a:r>
                        <a:rPr sz="1400" spc="-50" dirty="0">
                          <a:latin typeface="Century Gothic"/>
                          <a:cs typeface="Century Gothic"/>
                        </a:rPr>
                        <a:t> </a:t>
                      </a:r>
                      <a:r>
                        <a:rPr sz="1400" dirty="0">
                          <a:latin typeface="Century Gothic"/>
                          <a:cs typeface="Century Gothic"/>
                        </a:rPr>
                        <a:t>only</a:t>
                      </a:r>
                      <a:r>
                        <a:rPr sz="1400" spc="-40" dirty="0">
                          <a:latin typeface="Century Gothic"/>
                          <a:cs typeface="Century Gothic"/>
                        </a:rPr>
                        <a:t> </a:t>
                      </a:r>
                      <a:r>
                        <a:rPr sz="1400" spc="-10" dirty="0">
                          <a:latin typeface="Century Gothic"/>
                          <a:cs typeface="Century Gothic"/>
                        </a:rPr>
                        <a:t>distinct, </a:t>
                      </a:r>
                      <a:r>
                        <a:rPr sz="1400" dirty="0">
                          <a:latin typeface="Century Gothic"/>
                          <a:cs typeface="Century Gothic"/>
                        </a:rPr>
                        <a:t>separated</a:t>
                      </a:r>
                      <a:r>
                        <a:rPr sz="1400" spc="-75" dirty="0">
                          <a:latin typeface="Century Gothic"/>
                          <a:cs typeface="Century Gothic"/>
                        </a:rPr>
                        <a:t> </a:t>
                      </a:r>
                      <a:r>
                        <a:rPr sz="1400" spc="-10" dirty="0">
                          <a:latin typeface="Century Gothic"/>
                          <a:cs typeface="Century Gothic"/>
                        </a:rPr>
                        <a:t>values.</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2"/>
                  </a:ext>
                </a:extLst>
              </a:tr>
              <a:tr h="1564004">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Programming</a:t>
                      </a:r>
                      <a:r>
                        <a:rPr sz="1400" spc="-85" dirty="0">
                          <a:latin typeface="Century Gothic"/>
                          <a:cs typeface="Century Gothic"/>
                        </a:rPr>
                        <a:t> </a:t>
                      </a:r>
                      <a:r>
                        <a:rPr sz="1400" spc="-10" dirty="0">
                          <a:latin typeface="Century Gothic"/>
                          <a:cs typeface="Century Gothic"/>
                        </a:rPr>
                        <a:t>Fundamentals</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a:txBody>
                    <a:bodyPr/>
                    <a:lstStyle/>
                    <a:p>
                      <a:pPr marL="92075" marR="719455">
                        <a:lnSpc>
                          <a:spcPct val="100000"/>
                        </a:lnSpc>
                        <a:spcBef>
                          <a:spcPts val="325"/>
                        </a:spcBef>
                      </a:pPr>
                      <a:r>
                        <a:rPr sz="1400" dirty="0">
                          <a:latin typeface="Century Gothic"/>
                          <a:cs typeface="Century Gothic"/>
                        </a:rPr>
                        <a:t>Analysis;</a:t>
                      </a:r>
                      <a:r>
                        <a:rPr sz="1400" spc="-85" dirty="0">
                          <a:latin typeface="Century Gothic"/>
                          <a:cs typeface="Century Gothic"/>
                        </a:rPr>
                        <a:t> </a:t>
                      </a:r>
                      <a:r>
                        <a:rPr sz="1400" dirty="0">
                          <a:latin typeface="Century Gothic"/>
                          <a:cs typeface="Century Gothic"/>
                        </a:rPr>
                        <a:t>developing</a:t>
                      </a:r>
                      <a:r>
                        <a:rPr sz="1400" spc="-70" dirty="0">
                          <a:latin typeface="Century Gothic"/>
                          <a:cs typeface="Century Gothic"/>
                        </a:rPr>
                        <a:t> </a:t>
                      </a:r>
                      <a:r>
                        <a:rPr sz="1400" spc="-10" dirty="0">
                          <a:latin typeface="Century Gothic"/>
                          <a:cs typeface="Century Gothic"/>
                        </a:rPr>
                        <a:t>understanding; </a:t>
                      </a:r>
                      <a:r>
                        <a:rPr sz="1400" dirty="0">
                          <a:latin typeface="Century Gothic"/>
                          <a:cs typeface="Century Gothic"/>
                        </a:rPr>
                        <a:t>generating</a:t>
                      </a:r>
                      <a:r>
                        <a:rPr sz="1400" spc="-50" dirty="0">
                          <a:latin typeface="Century Gothic"/>
                          <a:cs typeface="Century Gothic"/>
                        </a:rPr>
                        <a:t> </a:t>
                      </a:r>
                      <a:r>
                        <a:rPr sz="1400" dirty="0">
                          <a:latin typeface="Century Gothic"/>
                          <a:cs typeface="Century Gothic"/>
                        </a:rPr>
                        <a:t>algorithms;</a:t>
                      </a:r>
                      <a:r>
                        <a:rPr sz="1400" spc="-90" dirty="0">
                          <a:latin typeface="Century Gothic"/>
                          <a:cs typeface="Century Gothic"/>
                        </a:rPr>
                        <a:t> </a:t>
                      </a:r>
                      <a:r>
                        <a:rPr sz="1400" dirty="0">
                          <a:latin typeface="Century Gothic"/>
                          <a:cs typeface="Century Gothic"/>
                        </a:rPr>
                        <a:t>verifying</a:t>
                      </a:r>
                      <a:r>
                        <a:rPr sz="1400" spc="-95" dirty="0">
                          <a:latin typeface="Century Gothic"/>
                          <a:cs typeface="Century Gothic"/>
                        </a:rPr>
                        <a:t> </a:t>
                      </a:r>
                      <a:r>
                        <a:rPr sz="1400" spc="-25" dirty="0">
                          <a:latin typeface="Century Gothic"/>
                          <a:cs typeface="Century Gothic"/>
                        </a:rPr>
                        <a:t>the </a:t>
                      </a:r>
                      <a:r>
                        <a:rPr sz="1400" dirty="0">
                          <a:latin typeface="Century Gothic"/>
                          <a:cs typeface="Century Gothic"/>
                        </a:rPr>
                        <a:t>requirements</a:t>
                      </a:r>
                      <a:r>
                        <a:rPr sz="1400" spc="-45" dirty="0">
                          <a:latin typeface="Century Gothic"/>
                          <a:cs typeface="Century Gothic"/>
                        </a:rPr>
                        <a:t> </a:t>
                      </a:r>
                      <a:r>
                        <a:rPr sz="1400" dirty="0">
                          <a:latin typeface="Century Gothic"/>
                          <a:cs typeface="Century Gothic"/>
                        </a:rPr>
                        <a:t>of</a:t>
                      </a:r>
                      <a:r>
                        <a:rPr sz="1400" spc="-90" dirty="0">
                          <a:latin typeface="Century Gothic"/>
                          <a:cs typeface="Century Gothic"/>
                        </a:rPr>
                        <a:t> </a:t>
                      </a:r>
                      <a:r>
                        <a:rPr sz="1400" dirty="0">
                          <a:latin typeface="Century Gothic"/>
                          <a:cs typeface="Century Gothic"/>
                        </a:rPr>
                        <a:t>algorithms,</a:t>
                      </a:r>
                      <a:r>
                        <a:rPr sz="1400" spc="-90" dirty="0">
                          <a:latin typeface="Century Gothic"/>
                          <a:cs typeface="Century Gothic"/>
                        </a:rPr>
                        <a:t> </a:t>
                      </a:r>
                      <a:r>
                        <a:rPr sz="1400" spc="-25" dirty="0">
                          <a:latin typeface="Century Gothic"/>
                          <a:cs typeface="Century Gothic"/>
                        </a:rPr>
                        <a:t>and </a:t>
                      </a:r>
                      <a:r>
                        <a:rPr sz="1400" dirty="0">
                          <a:latin typeface="Century Gothic"/>
                          <a:cs typeface="Century Gothic"/>
                        </a:rPr>
                        <a:t>implementation</a:t>
                      </a:r>
                      <a:r>
                        <a:rPr sz="1400" spc="-40" dirty="0">
                          <a:latin typeface="Century Gothic"/>
                          <a:cs typeface="Century Gothic"/>
                        </a:rPr>
                        <a:t> </a:t>
                      </a:r>
                      <a:r>
                        <a:rPr sz="1400" dirty="0">
                          <a:latin typeface="Century Gothic"/>
                          <a:cs typeface="Century Gothic"/>
                        </a:rPr>
                        <a:t>of</a:t>
                      </a:r>
                      <a:r>
                        <a:rPr sz="1400" spc="-55" dirty="0">
                          <a:latin typeface="Century Gothic"/>
                          <a:cs typeface="Century Gothic"/>
                        </a:rPr>
                        <a:t> </a:t>
                      </a:r>
                      <a:r>
                        <a:rPr sz="1400" dirty="0">
                          <a:latin typeface="Century Gothic"/>
                          <a:cs typeface="Century Gothic"/>
                        </a:rPr>
                        <a:t>algorithms</a:t>
                      </a:r>
                      <a:r>
                        <a:rPr sz="1400" spc="-50" dirty="0">
                          <a:latin typeface="Century Gothic"/>
                          <a:cs typeface="Century Gothic"/>
                        </a:rPr>
                        <a:t> </a:t>
                      </a:r>
                      <a:r>
                        <a:rPr sz="1400" dirty="0">
                          <a:latin typeface="Century Gothic"/>
                          <a:cs typeface="Century Gothic"/>
                        </a:rPr>
                        <a:t>in</a:t>
                      </a:r>
                      <a:r>
                        <a:rPr sz="1400" spc="-65" dirty="0">
                          <a:latin typeface="Century Gothic"/>
                          <a:cs typeface="Century Gothic"/>
                        </a:rPr>
                        <a:t> </a:t>
                      </a:r>
                      <a:r>
                        <a:rPr sz="1400" spc="-50" dirty="0">
                          <a:latin typeface="Century Gothic"/>
                          <a:cs typeface="Century Gothic"/>
                        </a:rPr>
                        <a:t>a </a:t>
                      </a:r>
                      <a:r>
                        <a:rPr sz="1400" dirty="0">
                          <a:latin typeface="Century Gothic"/>
                          <a:cs typeface="Century Gothic"/>
                        </a:rPr>
                        <a:t>target</a:t>
                      </a:r>
                      <a:r>
                        <a:rPr sz="1400" spc="-35" dirty="0">
                          <a:latin typeface="Century Gothic"/>
                          <a:cs typeface="Century Gothic"/>
                        </a:rPr>
                        <a:t> </a:t>
                      </a:r>
                      <a:r>
                        <a:rPr sz="1400" dirty="0">
                          <a:latin typeface="Century Gothic"/>
                          <a:cs typeface="Century Gothic"/>
                        </a:rPr>
                        <a:t>programming</a:t>
                      </a:r>
                      <a:r>
                        <a:rPr sz="1400" spc="-80" dirty="0">
                          <a:latin typeface="Century Gothic"/>
                          <a:cs typeface="Century Gothic"/>
                        </a:rPr>
                        <a:t> </a:t>
                      </a:r>
                      <a:r>
                        <a:rPr sz="1400" spc="-10" dirty="0">
                          <a:latin typeface="Century Gothic"/>
                          <a:cs typeface="Century Gothic"/>
                        </a:rPr>
                        <a:t>language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3"/>
                  </a:ext>
                </a:extLst>
              </a:tr>
              <a:tr h="971359">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4"/>
                        </a:spcBef>
                      </a:pPr>
                      <a:r>
                        <a:rPr sz="1400" dirty="0">
                          <a:latin typeface="Century Gothic"/>
                          <a:cs typeface="Century Gothic"/>
                        </a:rPr>
                        <a:t>Architecture</a:t>
                      </a:r>
                      <a:r>
                        <a:rPr sz="1400" spc="-65" dirty="0">
                          <a:latin typeface="Century Gothic"/>
                          <a:cs typeface="Century Gothic"/>
                        </a:rPr>
                        <a:t> </a:t>
                      </a:r>
                      <a:r>
                        <a:rPr sz="1400" dirty="0">
                          <a:latin typeface="Century Gothic"/>
                          <a:cs typeface="Century Gothic"/>
                        </a:rPr>
                        <a:t>and</a:t>
                      </a:r>
                      <a:r>
                        <a:rPr sz="1400" spc="-60" dirty="0">
                          <a:latin typeface="Century Gothic"/>
                          <a:cs typeface="Century Gothic"/>
                        </a:rPr>
                        <a:t> </a:t>
                      </a:r>
                      <a:r>
                        <a:rPr sz="1400" spc="-10" dirty="0">
                          <a:latin typeface="Century Gothic"/>
                          <a:cs typeface="Century Gothic"/>
                        </a:rPr>
                        <a:t>Algorithms</a:t>
                      </a:r>
                      <a:endParaRPr sz="1400">
                        <a:latin typeface="Century Gothic"/>
                        <a:cs typeface="Century Gothic"/>
                      </a:endParaRPr>
                    </a:p>
                  </a:txBody>
                  <a:tcPr marL="0" marR="0" marT="31908"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D1DBCE"/>
                    </a:solidFill>
                  </a:tcPr>
                </a:tc>
                <a:tc>
                  <a:txBody>
                    <a:bodyPr/>
                    <a:lstStyle/>
                    <a:p>
                      <a:pPr marL="92075" marR="104139">
                        <a:lnSpc>
                          <a:spcPct val="100000"/>
                        </a:lnSpc>
                        <a:spcBef>
                          <a:spcPts val="334"/>
                        </a:spcBef>
                      </a:pPr>
                      <a:r>
                        <a:rPr sz="1400" dirty="0">
                          <a:latin typeface="Century Gothic"/>
                          <a:cs typeface="Century Gothic"/>
                        </a:rPr>
                        <a:t>The</a:t>
                      </a:r>
                      <a:r>
                        <a:rPr sz="1400" spc="-20" dirty="0">
                          <a:latin typeface="Century Gothic"/>
                          <a:cs typeface="Century Gothic"/>
                        </a:rPr>
                        <a:t> </a:t>
                      </a:r>
                      <a:r>
                        <a:rPr sz="1400" dirty="0">
                          <a:latin typeface="Century Gothic"/>
                          <a:cs typeface="Century Gothic"/>
                        </a:rPr>
                        <a:t>complexity</a:t>
                      </a:r>
                      <a:r>
                        <a:rPr sz="1400" spc="-55" dirty="0">
                          <a:latin typeface="Century Gothic"/>
                          <a:cs typeface="Century Gothic"/>
                        </a:rPr>
                        <a:t> </a:t>
                      </a:r>
                      <a:r>
                        <a:rPr sz="1400" dirty="0">
                          <a:latin typeface="Century Gothic"/>
                          <a:cs typeface="Century Gothic"/>
                        </a:rPr>
                        <a:t>of</a:t>
                      </a:r>
                      <a:r>
                        <a:rPr sz="1400" spc="-25" dirty="0">
                          <a:latin typeface="Century Gothic"/>
                          <a:cs typeface="Century Gothic"/>
                        </a:rPr>
                        <a:t> </a:t>
                      </a:r>
                      <a:r>
                        <a:rPr sz="1400" dirty="0">
                          <a:latin typeface="Century Gothic"/>
                          <a:cs typeface="Century Gothic"/>
                        </a:rPr>
                        <a:t>an</a:t>
                      </a:r>
                      <a:r>
                        <a:rPr sz="1400" spc="-45" dirty="0">
                          <a:latin typeface="Century Gothic"/>
                          <a:cs typeface="Century Gothic"/>
                        </a:rPr>
                        <a:t> </a:t>
                      </a:r>
                      <a:r>
                        <a:rPr sz="1400" dirty="0">
                          <a:latin typeface="Century Gothic"/>
                          <a:cs typeface="Century Gothic"/>
                        </a:rPr>
                        <a:t>algorithm</a:t>
                      </a:r>
                      <a:r>
                        <a:rPr sz="1400" spc="-25" dirty="0">
                          <a:latin typeface="Century Gothic"/>
                          <a:cs typeface="Century Gothic"/>
                        </a:rPr>
                        <a:t> </a:t>
                      </a:r>
                      <a:r>
                        <a:rPr sz="1400" spc="-10" dirty="0">
                          <a:latin typeface="Century Gothic"/>
                          <a:cs typeface="Century Gothic"/>
                        </a:rPr>
                        <a:t>computes </a:t>
                      </a:r>
                      <a:r>
                        <a:rPr sz="1400" dirty="0">
                          <a:latin typeface="Century Gothic"/>
                          <a:cs typeface="Century Gothic"/>
                        </a:rPr>
                        <a:t>the</a:t>
                      </a:r>
                      <a:r>
                        <a:rPr sz="1400" spc="-25" dirty="0">
                          <a:latin typeface="Century Gothic"/>
                          <a:cs typeface="Century Gothic"/>
                        </a:rPr>
                        <a:t> </a:t>
                      </a:r>
                      <a:r>
                        <a:rPr sz="1400" dirty="0">
                          <a:latin typeface="Century Gothic"/>
                          <a:cs typeface="Century Gothic"/>
                        </a:rPr>
                        <a:t>amount</a:t>
                      </a:r>
                      <a:r>
                        <a:rPr sz="1400" spc="-30" dirty="0">
                          <a:latin typeface="Century Gothic"/>
                          <a:cs typeface="Century Gothic"/>
                        </a:rPr>
                        <a:t> </a:t>
                      </a:r>
                      <a:r>
                        <a:rPr sz="1400" dirty="0">
                          <a:latin typeface="Century Gothic"/>
                          <a:cs typeface="Century Gothic"/>
                        </a:rPr>
                        <a:t>of</a:t>
                      </a:r>
                      <a:r>
                        <a:rPr sz="1400" spc="-55" dirty="0">
                          <a:latin typeface="Century Gothic"/>
                          <a:cs typeface="Century Gothic"/>
                        </a:rPr>
                        <a:t> </a:t>
                      </a:r>
                      <a:r>
                        <a:rPr sz="1400" dirty="0">
                          <a:latin typeface="Century Gothic"/>
                          <a:cs typeface="Century Gothic"/>
                        </a:rPr>
                        <a:t>time</a:t>
                      </a:r>
                      <a:r>
                        <a:rPr sz="1400" spc="-40" dirty="0">
                          <a:latin typeface="Century Gothic"/>
                          <a:cs typeface="Century Gothic"/>
                        </a:rPr>
                        <a:t> </a:t>
                      </a:r>
                      <a:r>
                        <a:rPr sz="1400" dirty="0">
                          <a:latin typeface="Century Gothic"/>
                          <a:cs typeface="Century Gothic"/>
                        </a:rPr>
                        <a:t>and</a:t>
                      </a:r>
                      <a:r>
                        <a:rPr sz="1400" spc="-35" dirty="0">
                          <a:latin typeface="Century Gothic"/>
                          <a:cs typeface="Century Gothic"/>
                        </a:rPr>
                        <a:t> </a:t>
                      </a:r>
                      <a:r>
                        <a:rPr sz="1400" dirty="0">
                          <a:latin typeface="Century Gothic"/>
                          <a:cs typeface="Century Gothic"/>
                        </a:rPr>
                        <a:t>spaces</a:t>
                      </a:r>
                      <a:r>
                        <a:rPr sz="1400" spc="-20" dirty="0">
                          <a:latin typeface="Century Gothic"/>
                          <a:cs typeface="Century Gothic"/>
                        </a:rPr>
                        <a:t> </a:t>
                      </a:r>
                      <a:r>
                        <a:rPr sz="1400" spc="-10" dirty="0">
                          <a:latin typeface="Century Gothic"/>
                          <a:cs typeface="Century Gothic"/>
                        </a:rPr>
                        <a:t>required </a:t>
                      </a:r>
                      <a:r>
                        <a:rPr sz="1400" dirty="0">
                          <a:latin typeface="Century Gothic"/>
                          <a:cs typeface="Century Gothic"/>
                        </a:rPr>
                        <a:t>by</a:t>
                      </a:r>
                      <a:r>
                        <a:rPr sz="1400" spc="-30" dirty="0">
                          <a:latin typeface="Century Gothic"/>
                          <a:cs typeface="Century Gothic"/>
                        </a:rPr>
                        <a:t> </a:t>
                      </a:r>
                      <a:r>
                        <a:rPr sz="1400" dirty="0">
                          <a:latin typeface="Century Gothic"/>
                          <a:cs typeface="Century Gothic"/>
                        </a:rPr>
                        <a:t>an</a:t>
                      </a:r>
                      <a:r>
                        <a:rPr sz="1400" spc="-20" dirty="0">
                          <a:latin typeface="Century Gothic"/>
                          <a:cs typeface="Century Gothic"/>
                        </a:rPr>
                        <a:t> </a:t>
                      </a:r>
                      <a:r>
                        <a:rPr sz="1400" dirty="0">
                          <a:latin typeface="Century Gothic"/>
                          <a:cs typeface="Century Gothic"/>
                        </a:rPr>
                        <a:t>algorithm</a:t>
                      </a:r>
                      <a:r>
                        <a:rPr sz="1400" spc="-15" dirty="0">
                          <a:latin typeface="Century Gothic"/>
                          <a:cs typeface="Century Gothic"/>
                        </a:rPr>
                        <a:t> </a:t>
                      </a:r>
                      <a:r>
                        <a:rPr sz="1400" dirty="0">
                          <a:latin typeface="Century Gothic"/>
                          <a:cs typeface="Century Gothic"/>
                        </a:rPr>
                        <a:t>for</a:t>
                      </a:r>
                      <a:r>
                        <a:rPr sz="1400" spc="-30" dirty="0">
                          <a:latin typeface="Century Gothic"/>
                          <a:cs typeface="Century Gothic"/>
                        </a:rPr>
                        <a:t> </a:t>
                      </a:r>
                      <a:r>
                        <a:rPr sz="1400" dirty="0">
                          <a:latin typeface="Century Gothic"/>
                          <a:cs typeface="Century Gothic"/>
                        </a:rPr>
                        <a:t>an</a:t>
                      </a:r>
                      <a:r>
                        <a:rPr sz="1400" spc="-20" dirty="0">
                          <a:latin typeface="Century Gothic"/>
                          <a:cs typeface="Century Gothic"/>
                        </a:rPr>
                        <a:t> </a:t>
                      </a:r>
                      <a:r>
                        <a:rPr sz="1400" dirty="0">
                          <a:latin typeface="Century Gothic"/>
                          <a:cs typeface="Century Gothic"/>
                        </a:rPr>
                        <a:t>input</a:t>
                      </a:r>
                      <a:r>
                        <a:rPr sz="1400" spc="-10" dirty="0">
                          <a:latin typeface="Century Gothic"/>
                          <a:cs typeface="Century Gothic"/>
                        </a:rPr>
                        <a:t> </a:t>
                      </a:r>
                      <a:r>
                        <a:rPr sz="1400" dirty="0">
                          <a:latin typeface="Century Gothic"/>
                          <a:cs typeface="Century Gothic"/>
                        </a:rPr>
                        <a:t>of</a:t>
                      </a:r>
                      <a:r>
                        <a:rPr sz="1400" spc="-35" dirty="0">
                          <a:latin typeface="Century Gothic"/>
                          <a:cs typeface="Century Gothic"/>
                        </a:rPr>
                        <a:t> </a:t>
                      </a:r>
                      <a:r>
                        <a:rPr sz="1400" dirty="0">
                          <a:latin typeface="Century Gothic"/>
                          <a:cs typeface="Century Gothic"/>
                        </a:rPr>
                        <a:t>size</a:t>
                      </a:r>
                      <a:r>
                        <a:rPr sz="1400" spc="-25" dirty="0">
                          <a:latin typeface="Century Gothic"/>
                          <a:cs typeface="Century Gothic"/>
                        </a:rPr>
                        <a:t> </a:t>
                      </a:r>
                      <a:r>
                        <a:rPr sz="1400" spc="-20" dirty="0">
                          <a:latin typeface="Century Gothic"/>
                          <a:cs typeface="Century Gothic"/>
                        </a:rPr>
                        <a:t>(n).</a:t>
                      </a:r>
                      <a:endParaRPr sz="1400">
                        <a:latin typeface="Century Gothic"/>
                        <a:cs typeface="Century Gothic"/>
                      </a:endParaRPr>
                    </a:p>
                    <a:p>
                      <a:pPr marL="92075">
                        <a:lnSpc>
                          <a:spcPct val="100000"/>
                        </a:lnSpc>
                      </a:pPr>
                      <a:r>
                        <a:rPr sz="1400" dirty="0">
                          <a:latin typeface="Century Gothic"/>
                          <a:cs typeface="Century Gothic"/>
                        </a:rPr>
                        <a:t>The</a:t>
                      </a:r>
                      <a:r>
                        <a:rPr sz="1400" spc="-10" dirty="0">
                          <a:latin typeface="Century Gothic"/>
                          <a:cs typeface="Century Gothic"/>
                        </a:rPr>
                        <a:t> </a:t>
                      </a:r>
                      <a:r>
                        <a:rPr sz="1400" dirty="0">
                          <a:latin typeface="Century Gothic"/>
                          <a:cs typeface="Century Gothic"/>
                        </a:rPr>
                        <a:t>complexity</a:t>
                      </a:r>
                      <a:r>
                        <a:rPr sz="1400" spc="-55" dirty="0">
                          <a:latin typeface="Century Gothic"/>
                          <a:cs typeface="Century Gothic"/>
                        </a:rPr>
                        <a:t> </a:t>
                      </a:r>
                      <a:r>
                        <a:rPr sz="1400" dirty="0">
                          <a:latin typeface="Century Gothic"/>
                          <a:cs typeface="Century Gothic"/>
                        </a:rPr>
                        <a:t>of</a:t>
                      </a:r>
                      <a:r>
                        <a:rPr sz="1400" spc="-25" dirty="0">
                          <a:latin typeface="Century Gothic"/>
                          <a:cs typeface="Century Gothic"/>
                        </a:rPr>
                        <a:t> </a:t>
                      </a:r>
                      <a:r>
                        <a:rPr sz="1400" dirty="0">
                          <a:latin typeface="Century Gothic"/>
                          <a:cs typeface="Century Gothic"/>
                        </a:rPr>
                        <a:t>an</a:t>
                      </a:r>
                      <a:r>
                        <a:rPr sz="1400" spc="-45" dirty="0">
                          <a:latin typeface="Century Gothic"/>
                          <a:cs typeface="Century Gothic"/>
                        </a:rPr>
                        <a:t> </a:t>
                      </a:r>
                      <a:r>
                        <a:rPr sz="1400" dirty="0">
                          <a:latin typeface="Century Gothic"/>
                          <a:cs typeface="Century Gothic"/>
                        </a:rPr>
                        <a:t>algorithm</a:t>
                      </a:r>
                      <a:r>
                        <a:rPr sz="1400" spc="-25" dirty="0">
                          <a:latin typeface="Century Gothic"/>
                          <a:cs typeface="Century Gothic"/>
                        </a:rPr>
                        <a:t> </a:t>
                      </a:r>
                      <a:r>
                        <a:rPr sz="1400" dirty="0">
                          <a:latin typeface="Century Gothic"/>
                          <a:cs typeface="Century Gothic"/>
                        </a:rPr>
                        <a:t>can</a:t>
                      </a:r>
                      <a:r>
                        <a:rPr sz="1400" spc="-35" dirty="0">
                          <a:latin typeface="Century Gothic"/>
                          <a:cs typeface="Century Gothic"/>
                        </a:rPr>
                        <a:t> </a:t>
                      </a:r>
                      <a:r>
                        <a:rPr sz="1400" spc="-25" dirty="0">
                          <a:latin typeface="Century Gothic"/>
                          <a:cs typeface="Century Gothic"/>
                        </a:rPr>
                        <a:t>be</a:t>
                      </a:r>
                      <a:endParaRPr sz="1400">
                        <a:latin typeface="Century Gothic"/>
                        <a:cs typeface="Century Gothic"/>
                      </a:endParaRPr>
                    </a:p>
                    <a:p>
                      <a:pPr marL="92075">
                        <a:lnSpc>
                          <a:spcPts val="1070"/>
                        </a:lnSpc>
                      </a:pPr>
                      <a:r>
                        <a:rPr sz="1400" dirty="0">
                          <a:latin typeface="Century Gothic"/>
                          <a:cs typeface="Century Gothic"/>
                        </a:rPr>
                        <a:t>divided</a:t>
                      </a:r>
                      <a:r>
                        <a:rPr sz="1400" spc="-70" dirty="0">
                          <a:latin typeface="Century Gothic"/>
                          <a:cs typeface="Century Gothic"/>
                        </a:rPr>
                        <a:t> </a:t>
                      </a:r>
                      <a:r>
                        <a:rPr sz="1400" dirty="0">
                          <a:latin typeface="Century Gothic"/>
                          <a:cs typeface="Century Gothic"/>
                        </a:rPr>
                        <a:t>into</a:t>
                      </a:r>
                      <a:r>
                        <a:rPr sz="1400" spc="-65" dirty="0">
                          <a:latin typeface="Century Gothic"/>
                          <a:cs typeface="Century Gothic"/>
                        </a:rPr>
                        <a:t> </a:t>
                      </a:r>
                      <a:r>
                        <a:rPr sz="1400" dirty="0">
                          <a:latin typeface="Century Gothic"/>
                          <a:cs typeface="Century Gothic"/>
                        </a:rPr>
                        <a:t>two</a:t>
                      </a:r>
                      <a:r>
                        <a:rPr sz="1400" spc="-5" dirty="0">
                          <a:latin typeface="Century Gothic"/>
                          <a:cs typeface="Century Gothic"/>
                        </a:rPr>
                        <a:t> </a:t>
                      </a:r>
                      <a:r>
                        <a:rPr sz="1400" dirty="0">
                          <a:latin typeface="Century Gothic"/>
                          <a:cs typeface="Century Gothic"/>
                        </a:rPr>
                        <a:t>types.</a:t>
                      </a:r>
                      <a:r>
                        <a:rPr sz="1400" spc="-30" dirty="0">
                          <a:latin typeface="Century Gothic"/>
                          <a:cs typeface="Century Gothic"/>
                        </a:rPr>
                        <a:t> </a:t>
                      </a:r>
                      <a:r>
                        <a:rPr sz="1400" dirty="0">
                          <a:latin typeface="Century Gothic"/>
                          <a:cs typeface="Century Gothic"/>
                        </a:rPr>
                        <a:t>The</a:t>
                      </a:r>
                      <a:r>
                        <a:rPr sz="1400" spc="-15" dirty="0">
                          <a:latin typeface="Century Gothic"/>
                          <a:cs typeface="Century Gothic"/>
                        </a:rPr>
                        <a:t> </a:t>
                      </a:r>
                      <a:r>
                        <a:rPr sz="1400" b="1" spc="-20" dirty="0">
                          <a:latin typeface="Century Gothic"/>
                          <a:cs typeface="Century Gothic"/>
                        </a:rPr>
                        <a:t>time</a:t>
                      </a:r>
                      <a:endParaRPr sz="1400">
                        <a:latin typeface="Century Gothic"/>
                        <a:cs typeface="Century Gothic"/>
                      </a:endParaRPr>
                    </a:p>
                  </a:txBody>
                  <a:tcPr marL="0" marR="0" marT="31908"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4"/>
                  </a:ext>
                </a:extLst>
              </a:tr>
              <a:tr h="280988">
                <a:tc>
                  <a:txBody>
                    <a:bodyPr/>
                    <a:lstStyle/>
                    <a:p>
                      <a:pPr>
                        <a:lnSpc>
                          <a:spcPct val="100000"/>
                        </a:lnSpc>
                      </a:pPr>
                      <a:endParaRPr sz="1400">
                        <a:latin typeface="Times New Roman"/>
                        <a:cs typeface="Times New Roman"/>
                      </a:endParaRPr>
                    </a:p>
                  </a:txBody>
                  <a:tcPr marL="0" marR="0" marT="0" marB="0">
                    <a:lnR w="12700">
                      <a:solidFill>
                        <a:srgbClr val="FFFFFF"/>
                      </a:solidFill>
                      <a:prstDash val="solid"/>
                    </a:lnR>
                    <a:lnT w="6350">
                      <a:solidFill>
                        <a:srgbClr val="252525"/>
                      </a:solidFill>
                      <a:prstDash val="solid"/>
                    </a:lnT>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12700">
                      <a:solidFill>
                        <a:srgbClr val="FFFFFF"/>
                      </a:solidFill>
                      <a:prstDash val="solid"/>
                    </a:lnR>
                    <a:lnT w="6350">
                      <a:solidFill>
                        <a:srgbClr val="252525"/>
                      </a:solidFill>
                      <a:prstDash val="solid"/>
                    </a:lnT>
                    <a:solidFill>
                      <a:srgbClr val="D1DBCE"/>
                    </a:solidFill>
                  </a:tcPr>
                </a:tc>
                <a:tc>
                  <a:txBody>
                    <a:bodyPr/>
                    <a:lstStyle/>
                    <a:p>
                      <a:pPr marL="92075">
                        <a:lnSpc>
                          <a:spcPts val="1860"/>
                        </a:lnSpc>
                        <a:spcBef>
                          <a:spcPts val="990"/>
                        </a:spcBef>
                      </a:pPr>
                      <a:r>
                        <a:rPr sz="1400" b="1" spc="-10" dirty="0">
                          <a:latin typeface="Century Gothic"/>
                          <a:cs typeface="Century Gothic"/>
                        </a:rPr>
                        <a:t>complexity</a:t>
                      </a:r>
                      <a:r>
                        <a:rPr sz="1400" b="1" spc="-40" dirty="0">
                          <a:latin typeface="Century Gothic"/>
                          <a:cs typeface="Century Gothic"/>
                        </a:rPr>
                        <a:t> </a:t>
                      </a:r>
                      <a:r>
                        <a:rPr sz="1400" dirty="0">
                          <a:latin typeface="Century Gothic"/>
                          <a:cs typeface="Century Gothic"/>
                        </a:rPr>
                        <a:t>and</a:t>
                      </a:r>
                      <a:r>
                        <a:rPr sz="1400" spc="-30" dirty="0">
                          <a:latin typeface="Century Gothic"/>
                          <a:cs typeface="Century Gothic"/>
                        </a:rPr>
                        <a:t> </a:t>
                      </a:r>
                      <a:r>
                        <a:rPr sz="1400" dirty="0">
                          <a:latin typeface="Century Gothic"/>
                          <a:cs typeface="Century Gothic"/>
                        </a:rPr>
                        <a:t>the</a:t>
                      </a:r>
                      <a:r>
                        <a:rPr sz="1400" spc="-15" dirty="0">
                          <a:latin typeface="Century Gothic"/>
                          <a:cs typeface="Century Gothic"/>
                        </a:rPr>
                        <a:t> </a:t>
                      </a:r>
                      <a:r>
                        <a:rPr sz="1400" b="1" dirty="0">
                          <a:latin typeface="Century Gothic"/>
                          <a:cs typeface="Century Gothic"/>
                        </a:rPr>
                        <a:t>space</a:t>
                      </a:r>
                      <a:r>
                        <a:rPr sz="1400" b="1" spc="-55" dirty="0">
                          <a:latin typeface="Century Gothic"/>
                          <a:cs typeface="Century Gothic"/>
                        </a:rPr>
                        <a:t> </a:t>
                      </a:r>
                      <a:r>
                        <a:rPr sz="1400" b="1" spc="-10" dirty="0">
                          <a:latin typeface="Century Gothic"/>
                          <a:cs typeface="Century Gothic"/>
                        </a:rPr>
                        <a:t>complexity.</a:t>
                      </a:r>
                      <a:endParaRPr sz="1400">
                        <a:latin typeface="Century Gothic"/>
                        <a:cs typeface="Century Gothic"/>
                      </a:endParaRPr>
                    </a:p>
                  </a:txBody>
                  <a:tcPr marL="0" marR="0" marT="94298" marB="0">
                    <a:lnL w="12700">
                      <a:solidFill>
                        <a:srgbClr val="FFFFFF"/>
                      </a:solidFill>
                      <a:prstDash val="solid"/>
                    </a:lnL>
                    <a:lnR w="12700">
                      <a:solidFill>
                        <a:srgbClr val="FFFFFF"/>
                      </a:solidFill>
                      <a:prstDash val="solid"/>
                    </a:lnR>
                    <a:lnT w="6350">
                      <a:solidFill>
                        <a:srgbClr val="252525"/>
                      </a:solidFill>
                      <a:prstDash val="solid"/>
                    </a:lnT>
                    <a:solidFill>
                      <a:srgbClr val="D1DBCE"/>
                    </a:solidFill>
                  </a:tcPr>
                </a:tc>
                <a:tc>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T w="6350">
                      <a:solidFill>
                        <a:srgbClr val="252525"/>
                      </a:solidFill>
                      <a:prstDash val="solid"/>
                    </a:lnT>
                  </a:tcPr>
                </a:tc>
                <a:extLst>
                  <a:ext uri="{0D108BD9-81ED-4DB2-BD59-A6C34878D82A}">
                    <a16:rowId xmlns:a16="http://schemas.microsoft.com/office/drawing/2014/main" val="10005"/>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76606" y="1133665"/>
          <a:ext cx="8585836" cy="4802409"/>
        </p:xfrm>
        <a:graphic>
          <a:graphicData uri="http://schemas.openxmlformats.org/drawingml/2006/table">
            <a:tbl>
              <a:tblPr firstRow="1" bandRow="1">
                <a:tableStyleId>{2D5ABB26-0587-4C30-8999-92F81FD0307C}</a:tableStyleId>
              </a:tblPr>
              <a:tblGrid>
                <a:gridCol w="521018">
                  <a:extLst>
                    <a:ext uri="{9D8B030D-6E8A-4147-A177-3AD203B41FA5}">
                      <a16:colId xmlns:a16="http://schemas.microsoft.com/office/drawing/2014/main" val="20000"/>
                    </a:ext>
                  </a:extLst>
                </a:gridCol>
                <a:gridCol w="3607594">
                  <a:extLst>
                    <a:ext uri="{9D8B030D-6E8A-4147-A177-3AD203B41FA5}">
                      <a16:colId xmlns:a16="http://schemas.microsoft.com/office/drawing/2014/main" val="20001"/>
                    </a:ext>
                  </a:extLst>
                </a:gridCol>
                <a:gridCol w="3607594">
                  <a:extLst>
                    <a:ext uri="{9D8B030D-6E8A-4147-A177-3AD203B41FA5}">
                      <a16:colId xmlns:a16="http://schemas.microsoft.com/office/drawing/2014/main" val="20002"/>
                    </a:ext>
                  </a:extLst>
                </a:gridCol>
                <a:gridCol w="849630">
                  <a:extLst>
                    <a:ext uri="{9D8B030D-6E8A-4147-A177-3AD203B41FA5}">
                      <a16:colId xmlns:a16="http://schemas.microsoft.com/office/drawing/2014/main" val="20003"/>
                    </a:ext>
                  </a:extLst>
                </a:gridCol>
              </a:tblGrid>
              <a:tr h="1090136">
                <a:tc gridSpan="4">
                  <a:txBody>
                    <a:bodyPr/>
                    <a:lstStyle/>
                    <a:p>
                      <a:pPr>
                        <a:lnSpc>
                          <a:spcPct val="100000"/>
                        </a:lnSpc>
                        <a:spcBef>
                          <a:spcPts val="180"/>
                        </a:spcBef>
                      </a:pPr>
                      <a:endParaRPr sz="3000">
                        <a:latin typeface="Times New Roman"/>
                        <a:cs typeface="Times New Roman"/>
                      </a:endParaRPr>
                    </a:p>
                    <a:p>
                      <a:pPr marL="786130">
                        <a:lnSpc>
                          <a:spcPct val="100000"/>
                        </a:lnSpc>
                      </a:pPr>
                      <a:r>
                        <a:rPr sz="3000" dirty="0">
                          <a:solidFill>
                            <a:srgbClr val="252525"/>
                          </a:solidFill>
                          <a:latin typeface="Century Gothic"/>
                          <a:cs typeface="Century Gothic"/>
                        </a:rPr>
                        <a:t>Bodies</a:t>
                      </a:r>
                      <a:r>
                        <a:rPr sz="3000" spc="-90" dirty="0">
                          <a:solidFill>
                            <a:srgbClr val="252525"/>
                          </a:solidFill>
                          <a:latin typeface="Century Gothic"/>
                          <a:cs typeface="Century Gothic"/>
                        </a:rPr>
                        <a:t> </a:t>
                      </a:r>
                      <a:r>
                        <a:rPr sz="3000" dirty="0">
                          <a:solidFill>
                            <a:srgbClr val="252525"/>
                          </a:solidFill>
                          <a:latin typeface="Century Gothic"/>
                          <a:cs typeface="Century Gothic"/>
                        </a:rPr>
                        <a:t>of</a:t>
                      </a:r>
                      <a:r>
                        <a:rPr sz="3000" spc="-90" dirty="0">
                          <a:solidFill>
                            <a:srgbClr val="252525"/>
                          </a:solidFill>
                          <a:latin typeface="Century Gothic"/>
                          <a:cs typeface="Century Gothic"/>
                        </a:rPr>
                        <a:t> </a:t>
                      </a:r>
                      <a:r>
                        <a:rPr sz="3000" spc="-10" dirty="0">
                          <a:solidFill>
                            <a:srgbClr val="252525"/>
                          </a:solidFill>
                          <a:latin typeface="Century Gothic"/>
                          <a:cs typeface="Century Gothic"/>
                        </a:rPr>
                        <a:t>Knowledge….</a:t>
                      </a:r>
                      <a:endParaRPr sz="3000">
                        <a:latin typeface="Century Gothic"/>
                        <a:cs typeface="Century Gothic"/>
                      </a:endParaRPr>
                    </a:p>
                  </a:txBody>
                  <a:tcPr marL="0" marR="0" marT="17145" marB="0">
                    <a:lnL w="6350">
                      <a:solidFill>
                        <a:srgbClr val="252525"/>
                      </a:solidFill>
                      <a:prstDash val="solid"/>
                    </a:lnL>
                    <a:lnR w="6350">
                      <a:solidFill>
                        <a:srgbClr val="252525"/>
                      </a:solidFill>
                      <a:prstDash val="solid"/>
                    </a:lnR>
                    <a:lnT w="6350">
                      <a:solidFill>
                        <a:srgbClr val="252525"/>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4320">
                <a:tc rowSpan="4">
                  <a:txBody>
                    <a:bodyPr/>
                    <a:lstStyle/>
                    <a:p>
                      <a:pPr>
                        <a:lnSpc>
                          <a:spcPct val="100000"/>
                        </a:lnSpc>
                      </a:pPr>
                      <a:endParaRPr sz="1400">
                        <a:latin typeface="Times New Roman"/>
                        <a:cs typeface="Times New Roman"/>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b="1" dirty="0">
                          <a:solidFill>
                            <a:srgbClr val="FFFFFF"/>
                          </a:solidFill>
                          <a:latin typeface="Century Gothic"/>
                          <a:cs typeface="Century Gothic"/>
                        </a:rPr>
                        <a:t>Body</a:t>
                      </a:r>
                      <a:r>
                        <a:rPr sz="1400" b="1" spc="-40" dirty="0">
                          <a:solidFill>
                            <a:srgbClr val="FFFFFF"/>
                          </a:solidFill>
                          <a:latin typeface="Century Gothic"/>
                          <a:cs typeface="Century Gothic"/>
                        </a:rPr>
                        <a:t> </a:t>
                      </a:r>
                      <a:r>
                        <a:rPr sz="1400" b="1" dirty="0">
                          <a:solidFill>
                            <a:srgbClr val="FFFFFF"/>
                          </a:solidFill>
                          <a:latin typeface="Century Gothic"/>
                          <a:cs typeface="Century Gothic"/>
                        </a:rPr>
                        <a:t>of</a:t>
                      </a:r>
                      <a:r>
                        <a:rPr sz="1400" b="1" spc="-35" dirty="0">
                          <a:solidFill>
                            <a:srgbClr val="FFFFFF"/>
                          </a:solidFill>
                          <a:latin typeface="Century Gothic"/>
                          <a:cs typeface="Century Gothic"/>
                        </a:rPr>
                        <a:t> </a:t>
                      </a:r>
                      <a:r>
                        <a:rPr sz="1400" b="1" spc="-10" dirty="0">
                          <a:solidFill>
                            <a:srgbClr val="FFFFFF"/>
                          </a:solidFill>
                          <a:latin typeface="Century Gothic"/>
                          <a:cs typeface="Century Gothic"/>
                        </a:rPr>
                        <a:t>Knowledge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a:txBody>
                    <a:bodyPr/>
                    <a:lstStyle/>
                    <a:p>
                      <a:pPr marL="92075">
                        <a:lnSpc>
                          <a:spcPct val="100000"/>
                        </a:lnSpc>
                        <a:spcBef>
                          <a:spcPts val="325"/>
                        </a:spcBef>
                      </a:pPr>
                      <a:r>
                        <a:rPr sz="1400" b="1" spc="-10" dirty="0">
                          <a:solidFill>
                            <a:srgbClr val="FFFFFF"/>
                          </a:solidFill>
                          <a:latin typeface="Century Gothic"/>
                          <a:cs typeface="Century Gothic"/>
                        </a:rPr>
                        <a:t>Definition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rowSpan="4">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1"/>
                  </a:ext>
                </a:extLst>
              </a:tr>
              <a:tr h="625316">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Operating</a:t>
                      </a:r>
                      <a:r>
                        <a:rPr sz="1400" spc="-75" dirty="0">
                          <a:latin typeface="Century Gothic"/>
                          <a:cs typeface="Century Gothic"/>
                        </a:rPr>
                        <a:t> </a:t>
                      </a:r>
                      <a:r>
                        <a:rPr sz="1400" spc="-10" dirty="0">
                          <a:latin typeface="Century Gothic"/>
                          <a:cs typeface="Century Gothic"/>
                        </a:rPr>
                        <a:t>System</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a:txBody>
                    <a:bodyPr/>
                    <a:lstStyle/>
                    <a:p>
                      <a:pPr marL="92075" marR="367665">
                        <a:lnSpc>
                          <a:spcPct val="100000"/>
                        </a:lnSpc>
                        <a:spcBef>
                          <a:spcPts val="325"/>
                        </a:spcBef>
                      </a:pPr>
                      <a:r>
                        <a:rPr sz="1400" dirty="0">
                          <a:latin typeface="Century Gothic"/>
                          <a:cs typeface="Century Gothic"/>
                        </a:rPr>
                        <a:t>An</a:t>
                      </a:r>
                      <a:r>
                        <a:rPr sz="1400" spc="-75" dirty="0">
                          <a:latin typeface="Century Gothic"/>
                          <a:cs typeface="Century Gothic"/>
                        </a:rPr>
                        <a:t> </a:t>
                      </a:r>
                      <a:r>
                        <a:rPr sz="1400" dirty="0">
                          <a:latin typeface="Century Gothic"/>
                          <a:cs typeface="Century Gothic"/>
                        </a:rPr>
                        <a:t>interface</a:t>
                      </a:r>
                      <a:r>
                        <a:rPr sz="1400" spc="-55" dirty="0">
                          <a:latin typeface="Century Gothic"/>
                          <a:cs typeface="Century Gothic"/>
                        </a:rPr>
                        <a:t> </a:t>
                      </a:r>
                      <a:r>
                        <a:rPr sz="1400" dirty="0">
                          <a:latin typeface="Century Gothic"/>
                          <a:cs typeface="Century Gothic"/>
                        </a:rPr>
                        <a:t>between</a:t>
                      </a:r>
                      <a:r>
                        <a:rPr sz="1400" spc="-15" dirty="0">
                          <a:latin typeface="Century Gothic"/>
                          <a:cs typeface="Century Gothic"/>
                        </a:rPr>
                        <a:t> </a:t>
                      </a:r>
                      <a:r>
                        <a:rPr sz="1400" dirty="0">
                          <a:latin typeface="Century Gothic"/>
                          <a:cs typeface="Century Gothic"/>
                        </a:rPr>
                        <a:t>a</a:t>
                      </a:r>
                      <a:r>
                        <a:rPr sz="1400" spc="-65" dirty="0">
                          <a:latin typeface="Century Gothic"/>
                          <a:cs typeface="Century Gothic"/>
                        </a:rPr>
                        <a:t> </a:t>
                      </a:r>
                      <a:r>
                        <a:rPr sz="1400" dirty="0">
                          <a:latin typeface="Century Gothic"/>
                          <a:cs typeface="Century Gothic"/>
                        </a:rPr>
                        <a:t>computer</a:t>
                      </a:r>
                      <a:r>
                        <a:rPr sz="1400" spc="-50" dirty="0">
                          <a:latin typeface="Century Gothic"/>
                          <a:cs typeface="Century Gothic"/>
                        </a:rPr>
                        <a:t> </a:t>
                      </a:r>
                      <a:r>
                        <a:rPr sz="1400" spc="-20" dirty="0">
                          <a:latin typeface="Century Gothic"/>
                          <a:cs typeface="Century Gothic"/>
                        </a:rPr>
                        <a:t>user </a:t>
                      </a:r>
                      <a:r>
                        <a:rPr sz="1400" dirty="0">
                          <a:latin typeface="Century Gothic"/>
                          <a:cs typeface="Century Gothic"/>
                        </a:rPr>
                        <a:t>and</a:t>
                      </a:r>
                      <a:r>
                        <a:rPr sz="1400" spc="-35" dirty="0">
                          <a:latin typeface="Century Gothic"/>
                          <a:cs typeface="Century Gothic"/>
                        </a:rPr>
                        <a:t> </a:t>
                      </a:r>
                      <a:r>
                        <a:rPr sz="1400" dirty="0">
                          <a:latin typeface="Century Gothic"/>
                          <a:cs typeface="Century Gothic"/>
                        </a:rPr>
                        <a:t>computer</a:t>
                      </a:r>
                      <a:r>
                        <a:rPr sz="1400" spc="-35" dirty="0">
                          <a:latin typeface="Century Gothic"/>
                          <a:cs typeface="Century Gothic"/>
                        </a:rPr>
                        <a:t> </a:t>
                      </a:r>
                      <a:r>
                        <a:rPr sz="1400" spc="-10" dirty="0">
                          <a:latin typeface="Century Gothic"/>
                          <a:cs typeface="Century Gothic"/>
                        </a:rPr>
                        <a:t>hardware.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2"/>
                  </a:ext>
                </a:extLst>
              </a:tr>
              <a:tr h="1564004">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Programming</a:t>
                      </a:r>
                      <a:r>
                        <a:rPr sz="1400" spc="-80" dirty="0">
                          <a:latin typeface="Century Gothic"/>
                          <a:cs typeface="Century Gothic"/>
                        </a:rPr>
                        <a:t> </a:t>
                      </a:r>
                      <a:r>
                        <a:rPr sz="1400" spc="-10" dirty="0">
                          <a:latin typeface="Century Gothic"/>
                          <a:cs typeface="Century Gothic"/>
                        </a:rPr>
                        <a:t>Languages</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a:txBody>
                    <a:bodyPr/>
                    <a:lstStyle/>
                    <a:p>
                      <a:pPr marL="92075" marR="496570">
                        <a:lnSpc>
                          <a:spcPct val="100000"/>
                        </a:lnSpc>
                        <a:spcBef>
                          <a:spcPts val="325"/>
                        </a:spcBef>
                      </a:pPr>
                      <a:r>
                        <a:rPr sz="1400" dirty="0">
                          <a:latin typeface="Century Gothic"/>
                          <a:cs typeface="Century Gothic"/>
                        </a:rPr>
                        <a:t>A</a:t>
                      </a:r>
                      <a:r>
                        <a:rPr sz="1400" spc="430" dirty="0">
                          <a:latin typeface="Century Gothic"/>
                          <a:cs typeface="Century Gothic"/>
                        </a:rPr>
                        <a:t> </a:t>
                      </a:r>
                      <a:r>
                        <a:rPr sz="1400" dirty="0">
                          <a:latin typeface="Century Gothic"/>
                          <a:cs typeface="Century Gothic"/>
                        </a:rPr>
                        <a:t>language</a:t>
                      </a:r>
                      <a:r>
                        <a:rPr sz="1400" spc="-20" dirty="0">
                          <a:latin typeface="Century Gothic"/>
                          <a:cs typeface="Century Gothic"/>
                        </a:rPr>
                        <a:t> </a:t>
                      </a:r>
                      <a:r>
                        <a:rPr sz="1400" dirty="0">
                          <a:latin typeface="Century Gothic"/>
                          <a:cs typeface="Century Gothic"/>
                        </a:rPr>
                        <a:t>programmers</a:t>
                      </a:r>
                      <a:r>
                        <a:rPr sz="1400" spc="-50" dirty="0">
                          <a:latin typeface="Century Gothic"/>
                          <a:cs typeface="Century Gothic"/>
                        </a:rPr>
                        <a:t> </a:t>
                      </a:r>
                      <a:r>
                        <a:rPr sz="1400" dirty="0">
                          <a:latin typeface="Century Gothic"/>
                          <a:cs typeface="Century Gothic"/>
                        </a:rPr>
                        <a:t>use</a:t>
                      </a:r>
                      <a:r>
                        <a:rPr sz="1400" spc="-30" dirty="0">
                          <a:latin typeface="Century Gothic"/>
                          <a:cs typeface="Century Gothic"/>
                        </a:rPr>
                        <a:t> </a:t>
                      </a:r>
                      <a:r>
                        <a:rPr sz="1400" spc="-25" dirty="0">
                          <a:latin typeface="Century Gothic"/>
                          <a:cs typeface="Century Gothic"/>
                        </a:rPr>
                        <a:t>to </a:t>
                      </a:r>
                      <a:r>
                        <a:rPr sz="1400" dirty="0">
                          <a:latin typeface="Century Gothic"/>
                          <a:cs typeface="Century Gothic"/>
                        </a:rPr>
                        <a:t>develop</a:t>
                      </a:r>
                      <a:r>
                        <a:rPr sz="1400" spc="-75" dirty="0">
                          <a:latin typeface="Century Gothic"/>
                          <a:cs typeface="Century Gothic"/>
                        </a:rPr>
                        <a:t> </a:t>
                      </a:r>
                      <a:r>
                        <a:rPr sz="1400" dirty="0">
                          <a:latin typeface="Century Gothic"/>
                          <a:cs typeface="Century Gothic"/>
                        </a:rPr>
                        <a:t>software</a:t>
                      </a:r>
                      <a:r>
                        <a:rPr sz="1400" spc="-5" dirty="0">
                          <a:latin typeface="Century Gothic"/>
                          <a:cs typeface="Century Gothic"/>
                        </a:rPr>
                        <a:t> </a:t>
                      </a:r>
                      <a:r>
                        <a:rPr sz="1400" dirty="0">
                          <a:latin typeface="Century Gothic"/>
                          <a:cs typeface="Century Gothic"/>
                        </a:rPr>
                        <a:t>programs,</a:t>
                      </a:r>
                      <a:r>
                        <a:rPr sz="1400" spc="-55" dirty="0">
                          <a:latin typeface="Century Gothic"/>
                          <a:cs typeface="Century Gothic"/>
                        </a:rPr>
                        <a:t> </a:t>
                      </a:r>
                      <a:r>
                        <a:rPr sz="1400" dirty="0">
                          <a:latin typeface="Century Gothic"/>
                          <a:cs typeface="Century Gothic"/>
                        </a:rPr>
                        <a:t>scripts,</a:t>
                      </a:r>
                      <a:r>
                        <a:rPr sz="1400" spc="-60" dirty="0">
                          <a:latin typeface="Century Gothic"/>
                          <a:cs typeface="Century Gothic"/>
                        </a:rPr>
                        <a:t> </a:t>
                      </a:r>
                      <a:r>
                        <a:rPr sz="1400" spc="-25" dirty="0">
                          <a:latin typeface="Century Gothic"/>
                          <a:cs typeface="Century Gothic"/>
                        </a:rPr>
                        <a:t>or </a:t>
                      </a:r>
                      <a:r>
                        <a:rPr sz="1400" dirty="0">
                          <a:latin typeface="Century Gothic"/>
                          <a:cs typeface="Century Gothic"/>
                        </a:rPr>
                        <a:t>other</a:t>
                      </a:r>
                      <a:r>
                        <a:rPr sz="1400" spc="-15" dirty="0">
                          <a:latin typeface="Century Gothic"/>
                          <a:cs typeface="Century Gothic"/>
                        </a:rPr>
                        <a:t> </a:t>
                      </a:r>
                      <a:r>
                        <a:rPr sz="1400" dirty="0">
                          <a:latin typeface="Century Gothic"/>
                          <a:cs typeface="Century Gothic"/>
                        </a:rPr>
                        <a:t>sets</a:t>
                      </a:r>
                      <a:r>
                        <a:rPr sz="1400" spc="-10" dirty="0">
                          <a:latin typeface="Century Gothic"/>
                          <a:cs typeface="Century Gothic"/>
                        </a:rPr>
                        <a:t> </a:t>
                      </a:r>
                      <a:r>
                        <a:rPr sz="1400" dirty="0">
                          <a:latin typeface="Century Gothic"/>
                          <a:cs typeface="Century Gothic"/>
                        </a:rPr>
                        <a:t>of</a:t>
                      </a:r>
                      <a:r>
                        <a:rPr sz="1400" spc="-30" dirty="0">
                          <a:latin typeface="Century Gothic"/>
                          <a:cs typeface="Century Gothic"/>
                        </a:rPr>
                        <a:t> </a:t>
                      </a:r>
                      <a:r>
                        <a:rPr sz="1400" dirty="0">
                          <a:latin typeface="Century Gothic"/>
                          <a:cs typeface="Century Gothic"/>
                        </a:rPr>
                        <a:t>instructions</a:t>
                      </a:r>
                      <a:r>
                        <a:rPr sz="1400" spc="-50" dirty="0">
                          <a:latin typeface="Century Gothic"/>
                          <a:cs typeface="Century Gothic"/>
                        </a:rPr>
                        <a:t> </a:t>
                      </a:r>
                      <a:r>
                        <a:rPr sz="1400" dirty="0">
                          <a:latin typeface="Century Gothic"/>
                          <a:cs typeface="Century Gothic"/>
                        </a:rPr>
                        <a:t>for</a:t>
                      </a:r>
                      <a:r>
                        <a:rPr sz="1400" spc="-50" dirty="0">
                          <a:latin typeface="Century Gothic"/>
                          <a:cs typeface="Century Gothic"/>
                        </a:rPr>
                        <a:t> </a:t>
                      </a:r>
                      <a:r>
                        <a:rPr sz="1400" spc="-10" dirty="0">
                          <a:latin typeface="Century Gothic"/>
                          <a:cs typeface="Century Gothic"/>
                        </a:rPr>
                        <a:t>computers </a:t>
                      </a:r>
                      <a:r>
                        <a:rPr sz="1400" dirty="0">
                          <a:latin typeface="Century Gothic"/>
                          <a:cs typeface="Century Gothic"/>
                        </a:rPr>
                        <a:t>to </a:t>
                      </a:r>
                      <a:r>
                        <a:rPr sz="1400" spc="-10" dirty="0">
                          <a:latin typeface="Century Gothic"/>
                          <a:cs typeface="Century Gothic"/>
                        </a:rPr>
                        <a:t>execute.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3"/>
                  </a:ext>
                </a:extLst>
              </a:tr>
              <a:tr h="1026319">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spc="-20" dirty="0">
                          <a:latin typeface="Century Gothic"/>
                          <a:cs typeface="Century Gothic"/>
                        </a:rPr>
                        <a:t>Human-</a:t>
                      </a:r>
                      <a:r>
                        <a:rPr sz="1400" dirty="0">
                          <a:latin typeface="Century Gothic"/>
                          <a:cs typeface="Century Gothic"/>
                        </a:rPr>
                        <a:t>Computer</a:t>
                      </a:r>
                      <a:r>
                        <a:rPr sz="1400" spc="-40" dirty="0">
                          <a:latin typeface="Century Gothic"/>
                          <a:cs typeface="Century Gothic"/>
                        </a:rPr>
                        <a:t> </a:t>
                      </a:r>
                      <a:r>
                        <a:rPr sz="1400" spc="-10" dirty="0">
                          <a:latin typeface="Century Gothic"/>
                          <a:cs typeface="Century Gothic"/>
                        </a:rPr>
                        <a:t>Interaction</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D1DBCE"/>
                    </a:solidFill>
                  </a:tcPr>
                </a:tc>
                <a:tc>
                  <a:txBody>
                    <a:bodyPr/>
                    <a:lstStyle/>
                    <a:p>
                      <a:pPr marL="92075" marR="494030">
                        <a:lnSpc>
                          <a:spcPct val="100000"/>
                        </a:lnSpc>
                        <a:spcBef>
                          <a:spcPts val="330"/>
                        </a:spcBef>
                      </a:pPr>
                      <a:r>
                        <a:rPr sz="1400" dirty="0">
                          <a:latin typeface="Century Gothic"/>
                          <a:cs typeface="Century Gothic"/>
                        </a:rPr>
                        <a:t>A</a:t>
                      </a:r>
                      <a:r>
                        <a:rPr sz="1400" spc="-30" dirty="0">
                          <a:latin typeface="Century Gothic"/>
                          <a:cs typeface="Century Gothic"/>
                        </a:rPr>
                        <a:t> </a:t>
                      </a:r>
                      <a:r>
                        <a:rPr sz="1400" dirty="0">
                          <a:latin typeface="Century Gothic"/>
                          <a:cs typeface="Century Gothic"/>
                        </a:rPr>
                        <a:t>field</a:t>
                      </a:r>
                      <a:r>
                        <a:rPr sz="1400" spc="-45" dirty="0">
                          <a:latin typeface="Century Gothic"/>
                          <a:cs typeface="Century Gothic"/>
                        </a:rPr>
                        <a:t> </a:t>
                      </a:r>
                      <a:r>
                        <a:rPr sz="1400" dirty="0">
                          <a:latin typeface="Century Gothic"/>
                          <a:cs typeface="Century Gothic"/>
                        </a:rPr>
                        <a:t>of</a:t>
                      </a:r>
                      <a:r>
                        <a:rPr sz="1400" spc="-25" dirty="0">
                          <a:latin typeface="Century Gothic"/>
                          <a:cs typeface="Century Gothic"/>
                        </a:rPr>
                        <a:t> </a:t>
                      </a:r>
                      <a:r>
                        <a:rPr sz="1400" dirty="0">
                          <a:latin typeface="Century Gothic"/>
                          <a:cs typeface="Century Gothic"/>
                        </a:rPr>
                        <a:t>study</a:t>
                      </a:r>
                      <a:r>
                        <a:rPr sz="1400" spc="-10" dirty="0">
                          <a:latin typeface="Century Gothic"/>
                          <a:cs typeface="Century Gothic"/>
                        </a:rPr>
                        <a:t> </a:t>
                      </a:r>
                      <a:r>
                        <a:rPr sz="1400" dirty="0">
                          <a:latin typeface="Century Gothic"/>
                          <a:cs typeface="Century Gothic"/>
                        </a:rPr>
                        <a:t>focusing</a:t>
                      </a:r>
                      <a:r>
                        <a:rPr sz="1400" spc="-30" dirty="0">
                          <a:latin typeface="Century Gothic"/>
                          <a:cs typeface="Century Gothic"/>
                        </a:rPr>
                        <a:t> </a:t>
                      </a:r>
                      <a:r>
                        <a:rPr sz="1400" dirty="0">
                          <a:latin typeface="Century Gothic"/>
                          <a:cs typeface="Century Gothic"/>
                        </a:rPr>
                        <a:t>on</a:t>
                      </a:r>
                      <a:r>
                        <a:rPr sz="1400" spc="-35" dirty="0">
                          <a:latin typeface="Century Gothic"/>
                          <a:cs typeface="Century Gothic"/>
                        </a:rPr>
                        <a:t> </a:t>
                      </a:r>
                      <a:r>
                        <a:rPr sz="1400" dirty="0">
                          <a:latin typeface="Century Gothic"/>
                          <a:cs typeface="Century Gothic"/>
                        </a:rPr>
                        <a:t>the</a:t>
                      </a:r>
                      <a:r>
                        <a:rPr sz="1400" spc="-5" dirty="0">
                          <a:latin typeface="Century Gothic"/>
                          <a:cs typeface="Century Gothic"/>
                        </a:rPr>
                        <a:t> </a:t>
                      </a:r>
                      <a:r>
                        <a:rPr sz="1400" spc="-10" dirty="0">
                          <a:latin typeface="Century Gothic"/>
                          <a:cs typeface="Century Gothic"/>
                        </a:rPr>
                        <a:t>design </a:t>
                      </a:r>
                      <a:r>
                        <a:rPr sz="1400" dirty="0">
                          <a:latin typeface="Century Gothic"/>
                          <a:cs typeface="Century Gothic"/>
                        </a:rPr>
                        <a:t>of</a:t>
                      </a:r>
                      <a:r>
                        <a:rPr sz="1400" spc="-50" dirty="0">
                          <a:latin typeface="Century Gothic"/>
                          <a:cs typeface="Century Gothic"/>
                        </a:rPr>
                        <a:t> </a:t>
                      </a:r>
                      <a:r>
                        <a:rPr sz="1400" dirty="0">
                          <a:latin typeface="Century Gothic"/>
                          <a:cs typeface="Century Gothic"/>
                        </a:rPr>
                        <a:t>computer</a:t>
                      </a:r>
                      <a:r>
                        <a:rPr sz="1400" spc="-20" dirty="0">
                          <a:latin typeface="Century Gothic"/>
                          <a:cs typeface="Century Gothic"/>
                        </a:rPr>
                        <a:t> </a:t>
                      </a:r>
                      <a:r>
                        <a:rPr sz="1400" dirty="0">
                          <a:latin typeface="Century Gothic"/>
                          <a:cs typeface="Century Gothic"/>
                        </a:rPr>
                        <a:t>technology</a:t>
                      </a:r>
                      <a:r>
                        <a:rPr sz="1400" spc="-20" dirty="0">
                          <a:latin typeface="Century Gothic"/>
                          <a:cs typeface="Century Gothic"/>
                        </a:rPr>
                        <a:t> </a:t>
                      </a:r>
                      <a:r>
                        <a:rPr sz="1400" dirty="0">
                          <a:latin typeface="Century Gothic"/>
                          <a:cs typeface="Century Gothic"/>
                        </a:rPr>
                        <a:t>and,</a:t>
                      </a:r>
                      <a:r>
                        <a:rPr sz="1400" spc="-35" dirty="0">
                          <a:latin typeface="Century Gothic"/>
                          <a:cs typeface="Century Gothic"/>
                        </a:rPr>
                        <a:t> </a:t>
                      </a:r>
                      <a:r>
                        <a:rPr sz="1400" spc="-25" dirty="0">
                          <a:latin typeface="Century Gothic"/>
                          <a:cs typeface="Century Gothic"/>
                        </a:rPr>
                        <a:t>in </a:t>
                      </a:r>
                      <a:r>
                        <a:rPr sz="1400" spc="-10" dirty="0">
                          <a:latin typeface="Century Gothic"/>
                          <a:cs typeface="Century Gothic"/>
                        </a:rPr>
                        <a:t>particular,</a:t>
                      </a:r>
                      <a:endParaRPr sz="1400">
                        <a:latin typeface="Century Gothic"/>
                        <a:cs typeface="Century Gothic"/>
                      </a:endParaRPr>
                    </a:p>
                    <a:p>
                      <a:pPr marL="92075">
                        <a:lnSpc>
                          <a:spcPct val="100000"/>
                        </a:lnSpc>
                      </a:pPr>
                      <a:r>
                        <a:rPr sz="1400" dirty="0">
                          <a:latin typeface="Century Gothic"/>
                          <a:cs typeface="Century Gothic"/>
                        </a:rPr>
                        <a:t>the</a:t>
                      </a:r>
                      <a:r>
                        <a:rPr sz="1400" spc="-60" dirty="0">
                          <a:latin typeface="Century Gothic"/>
                          <a:cs typeface="Century Gothic"/>
                        </a:rPr>
                        <a:t> </a:t>
                      </a:r>
                      <a:r>
                        <a:rPr sz="1400" dirty="0">
                          <a:latin typeface="Century Gothic"/>
                          <a:cs typeface="Century Gothic"/>
                        </a:rPr>
                        <a:t>interaction</a:t>
                      </a:r>
                      <a:r>
                        <a:rPr sz="1400" spc="-80" dirty="0">
                          <a:latin typeface="Century Gothic"/>
                          <a:cs typeface="Century Gothic"/>
                        </a:rPr>
                        <a:t> </a:t>
                      </a:r>
                      <a:r>
                        <a:rPr sz="1400" dirty="0">
                          <a:latin typeface="Century Gothic"/>
                          <a:cs typeface="Century Gothic"/>
                        </a:rPr>
                        <a:t>between</a:t>
                      </a:r>
                      <a:r>
                        <a:rPr sz="1400" spc="-25" dirty="0">
                          <a:latin typeface="Century Gothic"/>
                          <a:cs typeface="Century Gothic"/>
                        </a:rPr>
                        <a:t> </a:t>
                      </a:r>
                      <a:r>
                        <a:rPr sz="1400" dirty="0">
                          <a:latin typeface="Century Gothic"/>
                          <a:cs typeface="Century Gothic"/>
                        </a:rPr>
                        <a:t>humans</a:t>
                      </a:r>
                      <a:r>
                        <a:rPr sz="1400" spc="-65" dirty="0">
                          <a:latin typeface="Century Gothic"/>
                          <a:cs typeface="Century Gothic"/>
                        </a:rPr>
                        <a:t> </a:t>
                      </a:r>
                      <a:r>
                        <a:rPr sz="1400" dirty="0">
                          <a:latin typeface="Century Gothic"/>
                          <a:cs typeface="Century Gothic"/>
                        </a:rPr>
                        <a:t>and</a:t>
                      </a:r>
                      <a:r>
                        <a:rPr sz="1400" spc="-65" dirty="0">
                          <a:latin typeface="Century Gothic"/>
                          <a:cs typeface="Century Gothic"/>
                        </a:rPr>
                        <a:t> </a:t>
                      </a:r>
                      <a:r>
                        <a:rPr sz="1400" spc="-25" dirty="0">
                          <a:latin typeface="Century Gothic"/>
                          <a:cs typeface="Century Gothic"/>
                        </a:rPr>
                        <a:t>co</a:t>
                      </a:r>
                      <a:endParaRPr sz="1400">
                        <a:latin typeface="Century Gothic"/>
                        <a:cs typeface="Century Gothic"/>
                      </a:endParaRPr>
                    </a:p>
                    <a:p>
                      <a:pPr marL="92075">
                        <a:lnSpc>
                          <a:spcPts val="1700"/>
                        </a:lnSpc>
                      </a:pPr>
                      <a:r>
                        <a:rPr sz="1400" spc="-10" dirty="0">
                          <a:latin typeface="Century Gothic"/>
                          <a:cs typeface="Century Gothic"/>
                        </a:rPr>
                        <a:t>mputers.</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6350">
                      <a:solidFill>
                        <a:srgbClr val="252525"/>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4"/>
                  </a:ext>
                </a:extLst>
              </a:tr>
              <a:tr h="162401">
                <a:tc>
                  <a:txBody>
                    <a:bodyPr/>
                    <a:lstStyle/>
                    <a:p>
                      <a:pPr>
                        <a:lnSpc>
                          <a:spcPct val="100000"/>
                        </a:lnSpc>
                      </a:pPr>
                      <a:endParaRPr sz="1000">
                        <a:latin typeface="Times New Roman"/>
                        <a:cs typeface="Times New Roman"/>
                      </a:endParaRPr>
                    </a:p>
                  </a:txBody>
                  <a:tcPr marL="0" marR="0" marT="0" marB="0">
                    <a:lnR w="12700">
                      <a:solidFill>
                        <a:srgbClr val="FFFFFF"/>
                      </a:solidFill>
                      <a:prstDash val="solid"/>
                    </a:lnR>
                    <a:lnT w="6350">
                      <a:solidFill>
                        <a:srgbClr val="252525"/>
                      </a:solidFill>
                      <a:prstDash val="solid"/>
                    </a:lnT>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6350">
                      <a:solidFill>
                        <a:srgbClr val="252525"/>
                      </a:solidFill>
                      <a:prstDash val="solid"/>
                    </a:lnT>
                    <a:lnB w="12700">
                      <a:solidFill>
                        <a:srgbClr val="FFFFFF"/>
                      </a:solidFill>
                      <a:prstDash val="solid"/>
                    </a:lnB>
                    <a:solidFill>
                      <a:srgbClr val="D1DBCE"/>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R w="12700">
                      <a:solidFill>
                        <a:srgbClr val="FFFFFF"/>
                      </a:solidFill>
                      <a:prstDash val="solid"/>
                    </a:lnR>
                    <a:lnT w="6350">
                      <a:solidFill>
                        <a:srgbClr val="252525"/>
                      </a:solidFill>
                      <a:prstDash val="solid"/>
                    </a:lnT>
                    <a:lnB w="12700">
                      <a:solidFill>
                        <a:srgbClr val="FFFFFF"/>
                      </a:solidFill>
                      <a:prstDash val="solid"/>
                    </a:lnB>
                    <a:solidFill>
                      <a:srgbClr val="D1DBCE"/>
                    </a:solidFill>
                  </a:tcPr>
                </a:tc>
                <a:tc>
                  <a:txBody>
                    <a:bodyPr/>
                    <a:lstStyle/>
                    <a:p>
                      <a:pPr>
                        <a:lnSpc>
                          <a:spcPct val="100000"/>
                        </a:lnSpc>
                      </a:pPr>
                      <a:endParaRPr sz="1000">
                        <a:latin typeface="Times New Roman"/>
                        <a:cs typeface="Times New Roman"/>
                      </a:endParaRPr>
                    </a:p>
                  </a:txBody>
                  <a:tcPr marL="0" marR="0" marT="0" marB="0">
                    <a:lnL w="12700">
                      <a:solidFill>
                        <a:srgbClr val="FFFFFF"/>
                      </a:solidFill>
                      <a:prstDash val="solid"/>
                    </a:lnL>
                    <a:lnT w="6350">
                      <a:solidFill>
                        <a:srgbClr val="252525"/>
                      </a:solidFill>
                      <a:prstDash val="solid"/>
                    </a:lnT>
                  </a:tcPr>
                </a:tc>
                <a:extLst>
                  <a:ext uri="{0D108BD9-81ED-4DB2-BD59-A6C34878D82A}">
                    <a16:rowId xmlns:a16="http://schemas.microsoft.com/office/drawing/2014/main" val="10005"/>
                  </a:ext>
                </a:extLst>
              </a:tr>
            </a:tbl>
          </a:graphicData>
        </a:graphic>
      </p:graphicFrame>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object 2"/>
          <p:cNvGraphicFramePr>
            <a:graphicFrameLocks noGrp="1"/>
          </p:cNvGraphicFramePr>
          <p:nvPr/>
        </p:nvGraphicFramePr>
        <p:xfrm>
          <a:off x="276606" y="1131484"/>
          <a:ext cx="8585836" cy="4853305"/>
        </p:xfrm>
        <a:graphic>
          <a:graphicData uri="http://schemas.openxmlformats.org/drawingml/2006/table">
            <a:tbl>
              <a:tblPr firstRow="1" bandRow="1">
                <a:tableStyleId>{2D5ABB26-0587-4C30-8999-92F81FD0307C}</a:tableStyleId>
              </a:tblPr>
              <a:tblGrid>
                <a:gridCol w="521018">
                  <a:extLst>
                    <a:ext uri="{9D8B030D-6E8A-4147-A177-3AD203B41FA5}">
                      <a16:colId xmlns:a16="http://schemas.microsoft.com/office/drawing/2014/main" val="20000"/>
                    </a:ext>
                  </a:extLst>
                </a:gridCol>
                <a:gridCol w="3607594">
                  <a:extLst>
                    <a:ext uri="{9D8B030D-6E8A-4147-A177-3AD203B41FA5}">
                      <a16:colId xmlns:a16="http://schemas.microsoft.com/office/drawing/2014/main" val="20001"/>
                    </a:ext>
                  </a:extLst>
                </a:gridCol>
                <a:gridCol w="3607594">
                  <a:extLst>
                    <a:ext uri="{9D8B030D-6E8A-4147-A177-3AD203B41FA5}">
                      <a16:colId xmlns:a16="http://schemas.microsoft.com/office/drawing/2014/main" val="20002"/>
                    </a:ext>
                  </a:extLst>
                </a:gridCol>
                <a:gridCol w="849630">
                  <a:extLst>
                    <a:ext uri="{9D8B030D-6E8A-4147-A177-3AD203B41FA5}">
                      <a16:colId xmlns:a16="http://schemas.microsoft.com/office/drawing/2014/main" val="20003"/>
                    </a:ext>
                  </a:extLst>
                </a:gridCol>
              </a:tblGrid>
              <a:tr h="1090136">
                <a:tc gridSpan="4">
                  <a:txBody>
                    <a:bodyPr/>
                    <a:lstStyle/>
                    <a:p>
                      <a:pPr>
                        <a:lnSpc>
                          <a:spcPct val="100000"/>
                        </a:lnSpc>
                        <a:spcBef>
                          <a:spcPts val="180"/>
                        </a:spcBef>
                      </a:pPr>
                      <a:endParaRPr sz="3000">
                        <a:latin typeface="Times New Roman"/>
                        <a:cs typeface="Times New Roman"/>
                      </a:endParaRPr>
                    </a:p>
                    <a:p>
                      <a:pPr marL="786130">
                        <a:lnSpc>
                          <a:spcPct val="100000"/>
                        </a:lnSpc>
                      </a:pPr>
                      <a:r>
                        <a:rPr sz="3000" dirty="0">
                          <a:solidFill>
                            <a:srgbClr val="252525"/>
                          </a:solidFill>
                          <a:latin typeface="Century Gothic"/>
                          <a:cs typeface="Century Gothic"/>
                        </a:rPr>
                        <a:t>Bodies</a:t>
                      </a:r>
                      <a:r>
                        <a:rPr sz="3000" spc="-90" dirty="0">
                          <a:solidFill>
                            <a:srgbClr val="252525"/>
                          </a:solidFill>
                          <a:latin typeface="Century Gothic"/>
                          <a:cs typeface="Century Gothic"/>
                        </a:rPr>
                        <a:t> </a:t>
                      </a:r>
                      <a:r>
                        <a:rPr sz="3000" dirty="0">
                          <a:solidFill>
                            <a:srgbClr val="252525"/>
                          </a:solidFill>
                          <a:latin typeface="Century Gothic"/>
                          <a:cs typeface="Century Gothic"/>
                        </a:rPr>
                        <a:t>of</a:t>
                      </a:r>
                      <a:r>
                        <a:rPr sz="3000" spc="-90" dirty="0">
                          <a:solidFill>
                            <a:srgbClr val="252525"/>
                          </a:solidFill>
                          <a:latin typeface="Century Gothic"/>
                          <a:cs typeface="Century Gothic"/>
                        </a:rPr>
                        <a:t> </a:t>
                      </a:r>
                      <a:r>
                        <a:rPr sz="3000" spc="-10" dirty="0">
                          <a:solidFill>
                            <a:srgbClr val="252525"/>
                          </a:solidFill>
                          <a:latin typeface="Century Gothic"/>
                          <a:cs typeface="Century Gothic"/>
                        </a:rPr>
                        <a:t>Knowledge</a:t>
                      </a:r>
                      <a:endParaRPr sz="3000">
                        <a:latin typeface="Century Gothic"/>
                        <a:cs typeface="Century Gothic"/>
                      </a:endParaRPr>
                    </a:p>
                  </a:txBody>
                  <a:tcPr marL="0" marR="0" marT="17145" marB="0">
                    <a:lnL w="6350">
                      <a:solidFill>
                        <a:srgbClr val="252525"/>
                      </a:solidFill>
                      <a:prstDash val="solid"/>
                    </a:lnL>
                    <a:lnR w="6350">
                      <a:solidFill>
                        <a:srgbClr val="252525"/>
                      </a:solidFill>
                      <a:prstDash val="solid"/>
                    </a:lnR>
                    <a:lnT w="6350">
                      <a:solidFill>
                        <a:srgbClr val="252525"/>
                      </a:solidFill>
                      <a:prstDash val="solid"/>
                    </a:lnT>
                  </a:tcPr>
                </a:tc>
                <a:tc hMerge="1">
                  <a:txBody>
                    <a:bodyPr/>
                    <a:lstStyle/>
                    <a:p>
                      <a:endParaRPr/>
                    </a:p>
                  </a:txBody>
                  <a:tcPr marL="0" marR="0" marT="0" marB="0"/>
                </a:tc>
                <a:tc hMerge="1">
                  <a:txBody>
                    <a:bodyPr/>
                    <a:lstStyle/>
                    <a:p>
                      <a:endParaRPr/>
                    </a:p>
                  </a:txBody>
                  <a:tcPr marL="0" marR="0" marT="0" marB="0"/>
                </a:tc>
                <a:tc hMerge="1">
                  <a:txBody>
                    <a:bodyPr/>
                    <a:lstStyle/>
                    <a:p>
                      <a:endParaRPr/>
                    </a:p>
                  </a:txBody>
                  <a:tcPr marL="0" marR="0" marT="0" marB="0"/>
                </a:tc>
                <a:extLst>
                  <a:ext uri="{0D108BD9-81ED-4DB2-BD59-A6C34878D82A}">
                    <a16:rowId xmlns:a16="http://schemas.microsoft.com/office/drawing/2014/main" val="10000"/>
                  </a:ext>
                </a:extLst>
              </a:tr>
              <a:tr h="274320">
                <a:tc rowSpan="3">
                  <a:txBody>
                    <a:bodyPr/>
                    <a:lstStyle/>
                    <a:p>
                      <a:pPr>
                        <a:lnSpc>
                          <a:spcPct val="100000"/>
                        </a:lnSpc>
                      </a:pPr>
                      <a:endParaRPr sz="1400">
                        <a:latin typeface="Times New Roman"/>
                        <a:cs typeface="Times New Roman"/>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b="1" dirty="0">
                          <a:solidFill>
                            <a:srgbClr val="FFFFFF"/>
                          </a:solidFill>
                          <a:latin typeface="Century Gothic"/>
                          <a:cs typeface="Century Gothic"/>
                        </a:rPr>
                        <a:t>Body</a:t>
                      </a:r>
                      <a:r>
                        <a:rPr sz="1400" b="1" spc="-40" dirty="0">
                          <a:solidFill>
                            <a:srgbClr val="FFFFFF"/>
                          </a:solidFill>
                          <a:latin typeface="Century Gothic"/>
                          <a:cs typeface="Century Gothic"/>
                        </a:rPr>
                        <a:t> </a:t>
                      </a:r>
                      <a:r>
                        <a:rPr sz="1400" b="1" dirty="0">
                          <a:solidFill>
                            <a:srgbClr val="FFFFFF"/>
                          </a:solidFill>
                          <a:latin typeface="Century Gothic"/>
                          <a:cs typeface="Century Gothic"/>
                        </a:rPr>
                        <a:t>of</a:t>
                      </a:r>
                      <a:r>
                        <a:rPr sz="1400" b="1" spc="-35" dirty="0">
                          <a:solidFill>
                            <a:srgbClr val="FFFFFF"/>
                          </a:solidFill>
                          <a:latin typeface="Century Gothic"/>
                          <a:cs typeface="Century Gothic"/>
                        </a:rPr>
                        <a:t> </a:t>
                      </a:r>
                      <a:r>
                        <a:rPr sz="1400" b="1" spc="-10" dirty="0">
                          <a:solidFill>
                            <a:srgbClr val="FFFFFF"/>
                          </a:solidFill>
                          <a:latin typeface="Century Gothic"/>
                          <a:cs typeface="Century Gothic"/>
                        </a:rPr>
                        <a:t>Knowledge</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a:txBody>
                    <a:bodyPr/>
                    <a:lstStyle/>
                    <a:p>
                      <a:pPr marL="92075">
                        <a:lnSpc>
                          <a:spcPct val="100000"/>
                        </a:lnSpc>
                        <a:spcBef>
                          <a:spcPts val="325"/>
                        </a:spcBef>
                      </a:pPr>
                      <a:r>
                        <a:rPr sz="1400" b="1" spc="-10" dirty="0">
                          <a:solidFill>
                            <a:srgbClr val="FFFFFF"/>
                          </a:solidFill>
                          <a:latin typeface="Century Gothic"/>
                          <a:cs typeface="Century Gothic"/>
                        </a:rPr>
                        <a:t>Definition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56903E"/>
                    </a:solidFill>
                  </a:tcPr>
                </a:tc>
                <a:tc rowSpan="3">
                  <a:txBody>
                    <a:bodyPr/>
                    <a:lstStyle/>
                    <a:p>
                      <a:pPr>
                        <a:lnSpc>
                          <a:spcPct val="100000"/>
                        </a:lnSpc>
                      </a:pPr>
                      <a:endParaRPr sz="1400">
                        <a:latin typeface="Times New Roman"/>
                        <a:cs typeface="Times New Roman"/>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1"/>
                  </a:ext>
                </a:extLst>
              </a:tr>
              <a:tr h="1097280">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25"/>
                        </a:spcBef>
                      </a:pPr>
                      <a:r>
                        <a:rPr sz="1400" dirty="0">
                          <a:latin typeface="Century Gothic"/>
                          <a:cs typeface="Century Gothic"/>
                        </a:rPr>
                        <a:t>Graphics</a:t>
                      </a:r>
                      <a:r>
                        <a:rPr sz="1400" spc="-60" dirty="0">
                          <a:latin typeface="Century Gothic"/>
                          <a:cs typeface="Century Gothic"/>
                        </a:rPr>
                        <a:t> </a:t>
                      </a:r>
                      <a:r>
                        <a:rPr sz="1400" dirty="0">
                          <a:latin typeface="Century Gothic"/>
                          <a:cs typeface="Century Gothic"/>
                        </a:rPr>
                        <a:t>and</a:t>
                      </a:r>
                      <a:r>
                        <a:rPr sz="1400" spc="-30" dirty="0">
                          <a:latin typeface="Century Gothic"/>
                          <a:cs typeface="Century Gothic"/>
                        </a:rPr>
                        <a:t> </a:t>
                      </a:r>
                      <a:r>
                        <a:rPr sz="1400" dirty="0">
                          <a:latin typeface="Century Gothic"/>
                          <a:cs typeface="Century Gothic"/>
                        </a:rPr>
                        <a:t>Visual</a:t>
                      </a:r>
                      <a:r>
                        <a:rPr sz="1400" spc="-50" dirty="0">
                          <a:latin typeface="Century Gothic"/>
                          <a:cs typeface="Century Gothic"/>
                        </a:rPr>
                        <a:t> </a:t>
                      </a:r>
                      <a:r>
                        <a:rPr sz="1400" spc="-10" dirty="0">
                          <a:latin typeface="Century Gothic"/>
                          <a:cs typeface="Century Gothic"/>
                        </a:rPr>
                        <a:t>Computing</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a:txBody>
                    <a:bodyPr/>
                    <a:lstStyle/>
                    <a:p>
                      <a:pPr marL="92075" marR="379095">
                        <a:lnSpc>
                          <a:spcPct val="100000"/>
                        </a:lnSpc>
                        <a:spcBef>
                          <a:spcPts val="325"/>
                        </a:spcBef>
                      </a:pPr>
                      <a:r>
                        <a:rPr sz="1400" dirty="0">
                          <a:latin typeface="Century Gothic"/>
                          <a:cs typeface="Century Gothic"/>
                        </a:rPr>
                        <a:t>discipline</a:t>
                      </a:r>
                      <a:r>
                        <a:rPr sz="1400" spc="-85" dirty="0">
                          <a:latin typeface="Century Gothic"/>
                          <a:cs typeface="Century Gothic"/>
                        </a:rPr>
                        <a:t> </a:t>
                      </a:r>
                      <a:r>
                        <a:rPr sz="1400" dirty="0">
                          <a:latin typeface="Century Gothic"/>
                          <a:cs typeface="Century Gothic"/>
                        </a:rPr>
                        <a:t>that</a:t>
                      </a:r>
                      <a:r>
                        <a:rPr sz="1400" spc="-40" dirty="0">
                          <a:latin typeface="Century Gothic"/>
                          <a:cs typeface="Century Gothic"/>
                        </a:rPr>
                        <a:t> </a:t>
                      </a:r>
                      <a:r>
                        <a:rPr sz="1400" dirty="0">
                          <a:latin typeface="Century Gothic"/>
                          <a:cs typeface="Century Gothic"/>
                        </a:rPr>
                        <a:t>combines</a:t>
                      </a:r>
                      <a:r>
                        <a:rPr sz="1400" spc="-70" dirty="0">
                          <a:latin typeface="Century Gothic"/>
                          <a:cs typeface="Century Gothic"/>
                        </a:rPr>
                        <a:t> </a:t>
                      </a:r>
                      <a:r>
                        <a:rPr sz="1400" spc="-10" dirty="0">
                          <a:latin typeface="Century Gothic"/>
                          <a:cs typeface="Century Gothic"/>
                        </a:rPr>
                        <a:t>computer </a:t>
                      </a:r>
                      <a:r>
                        <a:rPr sz="1400" dirty="0">
                          <a:latin typeface="Century Gothic"/>
                          <a:cs typeface="Century Gothic"/>
                        </a:rPr>
                        <a:t>graphics</a:t>
                      </a:r>
                      <a:r>
                        <a:rPr sz="1400" spc="-40" dirty="0">
                          <a:latin typeface="Century Gothic"/>
                          <a:cs typeface="Century Gothic"/>
                        </a:rPr>
                        <a:t> </a:t>
                      </a:r>
                      <a:r>
                        <a:rPr sz="1400" dirty="0">
                          <a:latin typeface="Century Gothic"/>
                          <a:cs typeface="Century Gothic"/>
                        </a:rPr>
                        <a:t>and</a:t>
                      </a:r>
                      <a:r>
                        <a:rPr sz="1400" spc="-20" dirty="0">
                          <a:latin typeface="Century Gothic"/>
                          <a:cs typeface="Century Gothic"/>
                        </a:rPr>
                        <a:t> </a:t>
                      </a:r>
                      <a:r>
                        <a:rPr sz="1400" dirty="0">
                          <a:latin typeface="Century Gothic"/>
                          <a:cs typeface="Century Gothic"/>
                        </a:rPr>
                        <a:t>computer</a:t>
                      </a:r>
                      <a:r>
                        <a:rPr sz="1400" spc="-5" dirty="0">
                          <a:latin typeface="Century Gothic"/>
                          <a:cs typeface="Century Gothic"/>
                        </a:rPr>
                        <a:t> </a:t>
                      </a:r>
                      <a:r>
                        <a:rPr sz="1400" dirty="0">
                          <a:latin typeface="Century Gothic"/>
                          <a:cs typeface="Century Gothic"/>
                        </a:rPr>
                        <a:t>vision</a:t>
                      </a:r>
                      <a:r>
                        <a:rPr sz="1400" spc="-65" dirty="0">
                          <a:latin typeface="Century Gothic"/>
                          <a:cs typeface="Century Gothic"/>
                        </a:rPr>
                        <a:t> </a:t>
                      </a:r>
                      <a:r>
                        <a:rPr sz="1400" spc="-25" dirty="0">
                          <a:latin typeface="Century Gothic"/>
                          <a:cs typeface="Century Gothic"/>
                        </a:rPr>
                        <a:t>to </a:t>
                      </a:r>
                      <a:r>
                        <a:rPr sz="1400" dirty="0">
                          <a:latin typeface="Century Gothic"/>
                          <a:cs typeface="Century Gothic"/>
                        </a:rPr>
                        <a:t>advance</a:t>
                      </a:r>
                      <a:r>
                        <a:rPr sz="1400" spc="-70" dirty="0">
                          <a:latin typeface="Century Gothic"/>
                          <a:cs typeface="Century Gothic"/>
                        </a:rPr>
                        <a:t> </a:t>
                      </a:r>
                      <a:r>
                        <a:rPr sz="1400" dirty="0">
                          <a:latin typeface="Century Gothic"/>
                          <a:cs typeface="Century Gothic"/>
                        </a:rPr>
                        <a:t>technologies</a:t>
                      </a:r>
                      <a:r>
                        <a:rPr sz="1400" spc="-50" dirty="0">
                          <a:latin typeface="Century Gothic"/>
                          <a:cs typeface="Century Gothic"/>
                        </a:rPr>
                        <a:t> </a:t>
                      </a:r>
                      <a:r>
                        <a:rPr sz="1400" dirty="0">
                          <a:latin typeface="Century Gothic"/>
                          <a:cs typeface="Century Gothic"/>
                        </a:rPr>
                        <a:t>for</a:t>
                      </a:r>
                      <a:r>
                        <a:rPr sz="1400" spc="-70" dirty="0">
                          <a:latin typeface="Century Gothic"/>
                          <a:cs typeface="Century Gothic"/>
                        </a:rPr>
                        <a:t> </a:t>
                      </a:r>
                      <a:r>
                        <a:rPr sz="1400" dirty="0">
                          <a:latin typeface="Century Gothic"/>
                          <a:cs typeface="Century Gothic"/>
                        </a:rPr>
                        <a:t>the</a:t>
                      </a:r>
                      <a:r>
                        <a:rPr sz="1400" spc="-35" dirty="0">
                          <a:latin typeface="Century Gothic"/>
                          <a:cs typeface="Century Gothic"/>
                        </a:rPr>
                        <a:t> </a:t>
                      </a:r>
                      <a:r>
                        <a:rPr sz="1400" spc="-10" dirty="0">
                          <a:latin typeface="Century Gothic"/>
                          <a:cs typeface="Century Gothic"/>
                        </a:rPr>
                        <a:t>capture, </a:t>
                      </a:r>
                      <a:r>
                        <a:rPr sz="1400" dirty="0">
                          <a:latin typeface="Century Gothic"/>
                          <a:cs typeface="Century Gothic"/>
                        </a:rPr>
                        <a:t>processing,</a:t>
                      </a:r>
                      <a:r>
                        <a:rPr sz="1400" spc="-55" dirty="0">
                          <a:latin typeface="Century Gothic"/>
                          <a:cs typeface="Century Gothic"/>
                        </a:rPr>
                        <a:t> </a:t>
                      </a:r>
                      <a:r>
                        <a:rPr sz="1400" dirty="0">
                          <a:latin typeface="Century Gothic"/>
                          <a:cs typeface="Century Gothic"/>
                        </a:rPr>
                        <a:t>display</a:t>
                      </a:r>
                      <a:r>
                        <a:rPr sz="1400" spc="-75" dirty="0">
                          <a:latin typeface="Century Gothic"/>
                          <a:cs typeface="Century Gothic"/>
                        </a:rPr>
                        <a:t> </a:t>
                      </a:r>
                      <a:r>
                        <a:rPr sz="1400" dirty="0">
                          <a:latin typeface="Century Gothic"/>
                          <a:cs typeface="Century Gothic"/>
                        </a:rPr>
                        <a:t>and</a:t>
                      </a:r>
                      <a:r>
                        <a:rPr sz="1400" spc="-35" dirty="0">
                          <a:latin typeface="Century Gothic"/>
                          <a:cs typeface="Century Gothic"/>
                        </a:rPr>
                        <a:t> </a:t>
                      </a:r>
                      <a:r>
                        <a:rPr sz="1400" dirty="0">
                          <a:latin typeface="Century Gothic"/>
                          <a:cs typeface="Century Gothic"/>
                        </a:rPr>
                        <a:t>perception</a:t>
                      </a:r>
                      <a:r>
                        <a:rPr sz="1400" spc="-45" dirty="0">
                          <a:latin typeface="Century Gothic"/>
                          <a:cs typeface="Century Gothic"/>
                        </a:rPr>
                        <a:t> </a:t>
                      </a:r>
                      <a:r>
                        <a:rPr sz="1400" spc="-25" dirty="0">
                          <a:latin typeface="Century Gothic"/>
                          <a:cs typeface="Century Gothic"/>
                        </a:rPr>
                        <a:t>of </a:t>
                      </a:r>
                      <a:r>
                        <a:rPr sz="1400" dirty="0">
                          <a:latin typeface="Century Gothic"/>
                          <a:cs typeface="Century Gothic"/>
                        </a:rPr>
                        <a:t>visual</a:t>
                      </a:r>
                      <a:r>
                        <a:rPr sz="1400" spc="-60" dirty="0">
                          <a:latin typeface="Century Gothic"/>
                          <a:cs typeface="Century Gothic"/>
                        </a:rPr>
                        <a:t> </a:t>
                      </a:r>
                      <a:r>
                        <a:rPr sz="1400" spc="-10" dirty="0">
                          <a:latin typeface="Century Gothic"/>
                          <a:cs typeface="Century Gothic"/>
                        </a:rPr>
                        <a:t>information</a:t>
                      </a:r>
                      <a:endParaRPr sz="1400">
                        <a:latin typeface="Century Gothic"/>
                        <a:cs typeface="Century Gothic"/>
                      </a:endParaRPr>
                    </a:p>
                  </a:txBody>
                  <a:tcPr marL="0" marR="0" marT="30956"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D1DBCE"/>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2"/>
                  </a:ext>
                </a:extLst>
              </a:tr>
              <a:tr h="2123599">
                <a:tc vMerge="1">
                  <a:txBody>
                    <a:bodyPr/>
                    <a:lstStyle/>
                    <a:p>
                      <a:endParaRPr/>
                    </a:p>
                  </a:txBody>
                  <a:tcPr marL="0" marR="0" marT="0" marB="0">
                    <a:lnL w="6350">
                      <a:solidFill>
                        <a:srgbClr val="252525"/>
                      </a:solidFill>
                      <a:prstDash val="solid"/>
                    </a:lnL>
                    <a:lnR w="12700">
                      <a:solidFill>
                        <a:srgbClr val="FFFFFF"/>
                      </a:solidFill>
                      <a:prstDash val="solid"/>
                    </a:lnR>
                    <a:lnB w="6350">
                      <a:solidFill>
                        <a:srgbClr val="252525"/>
                      </a:solidFill>
                      <a:prstDash val="solid"/>
                    </a:lnB>
                  </a:tcPr>
                </a:tc>
                <a:tc>
                  <a:txBody>
                    <a:bodyPr/>
                    <a:lstStyle/>
                    <a:p>
                      <a:pPr marL="91440">
                        <a:lnSpc>
                          <a:spcPct val="100000"/>
                        </a:lnSpc>
                        <a:spcBef>
                          <a:spcPts val="330"/>
                        </a:spcBef>
                      </a:pPr>
                      <a:r>
                        <a:rPr sz="1400" dirty="0">
                          <a:latin typeface="Century Gothic"/>
                          <a:cs typeface="Century Gothic"/>
                        </a:rPr>
                        <a:t>Intelligent</a:t>
                      </a:r>
                      <a:r>
                        <a:rPr sz="1400" spc="-100" dirty="0">
                          <a:latin typeface="Century Gothic"/>
                          <a:cs typeface="Century Gothic"/>
                        </a:rPr>
                        <a:t> </a:t>
                      </a:r>
                      <a:r>
                        <a:rPr sz="1400" spc="-10" dirty="0">
                          <a:latin typeface="Century Gothic"/>
                          <a:cs typeface="Century Gothic"/>
                        </a:rPr>
                        <a:t>Systems</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EAEDE8"/>
                    </a:solidFill>
                  </a:tcPr>
                </a:tc>
                <a:tc>
                  <a:txBody>
                    <a:bodyPr/>
                    <a:lstStyle/>
                    <a:p>
                      <a:pPr marL="92075" marR="203200">
                        <a:lnSpc>
                          <a:spcPct val="100000"/>
                        </a:lnSpc>
                        <a:spcBef>
                          <a:spcPts val="330"/>
                        </a:spcBef>
                      </a:pPr>
                      <a:r>
                        <a:rPr sz="1400" dirty="0">
                          <a:latin typeface="Century Gothic"/>
                          <a:cs typeface="Century Gothic"/>
                        </a:rPr>
                        <a:t>A</a:t>
                      </a:r>
                      <a:r>
                        <a:rPr sz="1400" spc="-55" dirty="0">
                          <a:latin typeface="Century Gothic"/>
                          <a:cs typeface="Century Gothic"/>
                        </a:rPr>
                        <a:t> </a:t>
                      </a:r>
                      <a:r>
                        <a:rPr sz="1400" dirty="0">
                          <a:latin typeface="Century Gothic"/>
                          <a:cs typeface="Century Gothic"/>
                        </a:rPr>
                        <a:t>machine</a:t>
                      </a:r>
                      <a:r>
                        <a:rPr sz="1400" spc="-55" dirty="0">
                          <a:latin typeface="Century Gothic"/>
                          <a:cs typeface="Century Gothic"/>
                        </a:rPr>
                        <a:t> </a:t>
                      </a:r>
                      <a:r>
                        <a:rPr sz="1400" dirty="0">
                          <a:latin typeface="Century Gothic"/>
                          <a:cs typeface="Century Gothic"/>
                        </a:rPr>
                        <a:t>with</a:t>
                      </a:r>
                      <a:r>
                        <a:rPr sz="1400" spc="-35" dirty="0">
                          <a:latin typeface="Century Gothic"/>
                          <a:cs typeface="Century Gothic"/>
                        </a:rPr>
                        <a:t> </a:t>
                      </a:r>
                      <a:r>
                        <a:rPr sz="1400" dirty="0">
                          <a:latin typeface="Century Gothic"/>
                          <a:cs typeface="Century Gothic"/>
                        </a:rPr>
                        <a:t>an</a:t>
                      </a:r>
                      <a:r>
                        <a:rPr sz="1400" spc="-40" dirty="0">
                          <a:latin typeface="Century Gothic"/>
                          <a:cs typeface="Century Gothic"/>
                        </a:rPr>
                        <a:t> </a:t>
                      </a:r>
                      <a:r>
                        <a:rPr sz="1400" dirty="0">
                          <a:latin typeface="Century Gothic"/>
                          <a:cs typeface="Century Gothic"/>
                        </a:rPr>
                        <a:t>embedded,</a:t>
                      </a:r>
                      <a:r>
                        <a:rPr sz="1400" spc="-20" dirty="0">
                          <a:latin typeface="Century Gothic"/>
                          <a:cs typeface="Century Gothic"/>
                        </a:rPr>
                        <a:t> </a:t>
                      </a:r>
                      <a:r>
                        <a:rPr sz="1400" spc="-10" dirty="0">
                          <a:latin typeface="Century Gothic"/>
                          <a:cs typeface="Century Gothic"/>
                        </a:rPr>
                        <a:t>Internet- </a:t>
                      </a:r>
                      <a:r>
                        <a:rPr sz="1400" dirty="0">
                          <a:latin typeface="Century Gothic"/>
                          <a:cs typeface="Century Gothic"/>
                        </a:rPr>
                        <a:t>connected</a:t>
                      </a:r>
                      <a:r>
                        <a:rPr sz="1400" spc="-25" dirty="0">
                          <a:latin typeface="Century Gothic"/>
                          <a:cs typeface="Century Gothic"/>
                        </a:rPr>
                        <a:t> </a:t>
                      </a:r>
                      <a:r>
                        <a:rPr sz="1400" dirty="0">
                          <a:latin typeface="Century Gothic"/>
                          <a:cs typeface="Century Gothic"/>
                        </a:rPr>
                        <a:t>computer</a:t>
                      </a:r>
                      <a:r>
                        <a:rPr sz="1400" spc="-50" dirty="0">
                          <a:latin typeface="Century Gothic"/>
                          <a:cs typeface="Century Gothic"/>
                        </a:rPr>
                        <a:t> </a:t>
                      </a:r>
                      <a:r>
                        <a:rPr sz="1400" dirty="0">
                          <a:latin typeface="Century Gothic"/>
                          <a:cs typeface="Century Gothic"/>
                        </a:rPr>
                        <a:t>that</a:t>
                      </a:r>
                      <a:r>
                        <a:rPr sz="1400" spc="-40" dirty="0">
                          <a:latin typeface="Century Gothic"/>
                          <a:cs typeface="Century Gothic"/>
                        </a:rPr>
                        <a:t> </a:t>
                      </a:r>
                      <a:r>
                        <a:rPr sz="1400" dirty="0">
                          <a:latin typeface="Century Gothic"/>
                          <a:cs typeface="Century Gothic"/>
                        </a:rPr>
                        <a:t>has</a:t>
                      </a:r>
                      <a:r>
                        <a:rPr sz="1400" spc="-55" dirty="0">
                          <a:latin typeface="Century Gothic"/>
                          <a:cs typeface="Century Gothic"/>
                        </a:rPr>
                        <a:t> </a:t>
                      </a:r>
                      <a:r>
                        <a:rPr sz="1400" spc="-25" dirty="0">
                          <a:latin typeface="Century Gothic"/>
                          <a:cs typeface="Century Gothic"/>
                        </a:rPr>
                        <a:t>the </a:t>
                      </a:r>
                      <a:r>
                        <a:rPr sz="1400" dirty="0">
                          <a:latin typeface="Century Gothic"/>
                          <a:cs typeface="Century Gothic"/>
                        </a:rPr>
                        <a:t>capacity</a:t>
                      </a:r>
                      <a:r>
                        <a:rPr sz="1400" spc="-65" dirty="0">
                          <a:latin typeface="Century Gothic"/>
                          <a:cs typeface="Century Gothic"/>
                        </a:rPr>
                        <a:t> </a:t>
                      </a:r>
                      <a:r>
                        <a:rPr sz="1400" dirty="0">
                          <a:latin typeface="Century Gothic"/>
                          <a:cs typeface="Century Gothic"/>
                        </a:rPr>
                        <a:t>to</a:t>
                      </a:r>
                      <a:r>
                        <a:rPr sz="1400" spc="-35" dirty="0">
                          <a:latin typeface="Century Gothic"/>
                          <a:cs typeface="Century Gothic"/>
                        </a:rPr>
                        <a:t> </a:t>
                      </a:r>
                      <a:r>
                        <a:rPr sz="1400" dirty="0">
                          <a:latin typeface="Century Gothic"/>
                          <a:cs typeface="Century Gothic"/>
                        </a:rPr>
                        <a:t>gather</a:t>
                      </a:r>
                      <a:r>
                        <a:rPr sz="1400" spc="-25" dirty="0">
                          <a:latin typeface="Century Gothic"/>
                          <a:cs typeface="Century Gothic"/>
                        </a:rPr>
                        <a:t> </a:t>
                      </a:r>
                      <a:r>
                        <a:rPr sz="1400" dirty="0">
                          <a:latin typeface="Century Gothic"/>
                          <a:cs typeface="Century Gothic"/>
                        </a:rPr>
                        <a:t>and</a:t>
                      </a:r>
                      <a:r>
                        <a:rPr sz="1400" spc="-35" dirty="0">
                          <a:latin typeface="Century Gothic"/>
                          <a:cs typeface="Century Gothic"/>
                        </a:rPr>
                        <a:t> </a:t>
                      </a:r>
                      <a:r>
                        <a:rPr sz="1400" dirty="0">
                          <a:latin typeface="Century Gothic"/>
                          <a:cs typeface="Century Gothic"/>
                        </a:rPr>
                        <a:t>analyze</a:t>
                      </a:r>
                      <a:r>
                        <a:rPr sz="1400" spc="-55" dirty="0">
                          <a:latin typeface="Century Gothic"/>
                          <a:cs typeface="Century Gothic"/>
                        </a:rPr>
                        <a:t> </a:t>
                      </a:r>
                      <a:r>
                        <a:rPr sz="1400" spc="-20" dirty="0">
                          <a:latin typeface="Century Gothic"/>
                          <a:cs typeface="Century Gothic"/>
                        </a:rPr>
                        <a:t>data </a:t>
                      </a:r>
                      <a:r>
                        <a:rPr sz="1400" dirty="0">
                          <a:latin typeface="Century Gothic"/>
                          <a:cs typeface="Century Gothic"/>
                        </a:rPr>
                        <a:t>and</a:t>
                      </a:r>
                      <a:r>
                        <a:rPr sz="1400" spc="-35" dirty="0">
                          <a:latin typeface="Century Gothic"/>
                          <a:cs typeface="Century Gothic"/>
                        </a:rPr>
                        <a:t> </a:t>
                      </a:r>
                      <a:r>
                        <a:rPr sz="1400" spc="-10" dirty="0">
                          <a:latin typeface="Century Gothic"/>
                          <a:cs typeface="Century Gothic"/>
                        </a:rPr>
                        <a:t>communicate</a:t>
                      </a:r>
                      <a:r>
                        <a:rPr sz="1400" spc="-55" dirty="0">
                          <a:latin typeface="Century Gothic"/>
                          <a:cs typeface="Century Gothic"/>
                        </a:rPr>
                        <a:t> </a:t>
                      </a:r>
                      <a:r>
                        <a:rPr sz="1400" dirty="0">
                          <a:latin typeface="Century Gothic"/>
                          <a:cs typeface="Century Gothic"/>
                        </a:rPr>
                        <a:t>with</a:t>
                      </a:r>
                      <a:r>
                        <a:rPr sz="1400" spc="-30" dirty="0">
                          <a:latin typeface="Century Gothic"/>
                          <a:cs typeface="Century Gothic"/>
                        </a:rPr>
                        <a:t> </a:t>
                      </a:r>
                      <a:r>
                        <a:rPr sz="1400" dirty="0">
                          <a:latin typeface="Century Gothic"/>
                          <a:cs typeface="Century Gothic"/>
                        </a:rPr>
                        <a:t>other</a:t>
                      </a:r>
                      <a:r>
                        <a:rPr sz="1400" spc="-25" dirty="0">
                          <a:latin typeface="Century Gothic"/>
                          <a:cs typeface="Century Gothic"/>
                        </a:rPr>
                        <a:t> </a:t>
                      </a:r>
                      <a:r>
                        <a:rPr sz="1400" spc="-10" dirty="0">
                          <a:latin typeface="Century Gothic"/>
                          <a:cs typeface="Century Gothic"/>
                        </a:rPr>
                        <a:t>systems.</a:t>
                      </a:r>
                      <a:endParaRPr sz="1400">
                        <a:latin typeface="Century Gothic"/>
                        <a:cs typeface="Century Gothic"/>
                      </a:endParaRPr>
                    </a:p>
                    <a:p>
                      <a:pPr>
                        <a:lnSpc>
                          <a:spcPct val="100000"/>
                        </a:lnSpc>
                        <a:spcBef>
                          <a:spcPts val="90"/>
                        </a:spcBef>
                      </a:pPr>
                      <a:endParaRPr sz="1400">
                        <a:latin typeface="Times New Roman"/>
                        <a:cs typeface="Times New Roman"/>
                      </a:endParaRPr>
                    </a:p>
                    <a:p>
                      <a:pPr marL="92075" marR="114300">
                        <a:lnSpc>
                          <a:spcPct val="100000"/>
                        </a:lnSpc>
                        <a:spcBef>
                          <a:spcPts val="5"/>
                        </a:spcBef>
                      </a:pPr>
                      <a:r>
                        <a:rPr sz="1400" dirty="0">
                          <a:latin typeface="Century Gothic"/>
                          <a:cs typeface="Century Gothic"/>
                        </a:rPr>
                        <a:t>Capacity</a:t>
                      </a:r>
                      <a:r>
                        <a:rPr sz="1400" spc="-40" dirty="0">
                          <a:latin typeface="Century Gothic"/>
                          <a:cs typeface="Century Gothic"/>
                        </a:rPr>
                        <a:t> </a:t>
                      </a:r>
                      <a:r>
                        <a:rPr sz="1400" dirty="0">
                          <a:latin typeface="Century Gothic"/>
                          <a:cs typeface="Century Gothic"/>
                        </a:rPr>
                        <a:t>to</a:t>
                      </a:r>
                      <a:r>
                        <a:rPr sz="1400" spc="-15" dirty="0">
                          <a:latin typeface="Century Gothic"/>
                          <a:cs typeface="Century Gothic"/>
                        </a:rPr>
                        <a:t> </a:t>
                      </a:r>
                      <a:r>
                        <a:rPr sz="1400" dirty="0">
                          <a:latin typeface="Century Gothic"/>
                          <a:cs typeface="Century Gothic"/>
                        </a:rPr>
                        <a:t>learn</a:t>
                      </a:r>
                      <a:r>
                        <a:rPr sz="1400" spc="-35" dirty="0">
                          <a:latin typeface="Century Gothic"/>
                          <a:cs typeface="Century Gothic"/>
                        </a:rPr>
                        <a:t> </a:t>
                      </a:r>
                      <a:r>
                        <a:rPr sz="1400" dirty="0">
                          <a:latin typeface="Century Gothic"/>
                          <a:cs typeface="Century Gothic"/>
                        </a:rPr>
                        <a:t>from</a:t>
                      </a:r>
                      <a:r>
                        <a:rPr sz="1400" spc="-25" dirty="0">
                          <a:latin typeface="Century Gothic"/>
                          <a:cs typeface="Century Gothic"/>
                        </a:rPr>
                        <a:t> </a:t>
                      </a:r>
                      <a:r>
                        <a:rPr sz="1400" spc="-10" dirty="0">
                          <a:latin typeface="Century Gothic"/>
                          <a:cs typeface="Century Gothic"/>
                        </a:rPr>
                        <a:t>experience, </a:t>
                      </a:r>
                      <a:r>
                        <a:rPr sz="1400" dirty="0">
                          <a:latin typeface="Century Gothic"/>
                          <a:cs typeface="Century Gothic"/>
                        </a:rPr>
                        <a:t>security,</a:t>
                      </a:r>
                      <a:r>
                        <a:rPr sz="1400" spc="-50" dirty="0">
                          <a:latin typeface="Century Gothic"/>
                          <a:cs typeface="Century Gothic"/>
                        </a:rPr>
                        <a:t> </a:t>
                      </a:r>
                      <a:r>
                        <a:rPr sz="1400" dirty="0">
                          <a:latin typeface="Century Gothic"/>
                          <a:cs typeface="Century Gothic"/>
                        </a:rPr>
                        <a:t>connectivity,</a:t>
                      </a:r>
                      <a:r>
                        <a:rPr sz="1400" spc="-55" dirty="0">
                          <a:latin typeface="Century Gothic"/>
                          <a:cs typeface="Century Gothic"/>
                        </a:rPr>
                        <a:t> </a:t>
                      </a:r>
                      <a:r>
                        <a:rPr sz="1400" dirty="0">
                          <a:latin typeface="Century Gothic"/>
                          <a:cs typeface="Century Gothic"/>
                        </a:rPr>
                        <a:t>the</a:t>
                      </a:r>
                      <a:r>
                        <a:rPr sz="1400" spc="-25" dirty="0">
                          <a:latin typeface="Century Gothic"/>
                          <a:cs typeface="Century Gothic"/>
                        </a:rPr>
                        <a:t> </a:t>
                      </a:r>
                      <a:r>
                        <a:rPr sz="1400" dirty="0">
                          <a:latin typeface="Century Gothic"/>
                          <a:cs typeface="Century Gothic"/>
                        </a:rPr>
                        <a:t>ability</a:t>
                      </a:r>
                      <a:r>
                        <a:rPr sz="1400" spc="-70" dirty="0">
                          <a:latin typeface="Century Gothic"/>
                          <a:cs typeface="Century Gothic"/>
                        </a:rPr>
                        <a:t> </a:t>
                      </a:r>
                      <a:r>
                        <a:rPr sz="1400" dirty="0">
                          <a:latin typeface="Century Gothic"/>
                          <a:cs typeface="Century Gothic"/>
                        </a:rPr>
                        <a:t>to</a:t>
                      </a:r>
                      <a:r>
                        <a:rPr sz="1400" spc="-45" dirty="0">
                          <a:latin typeface="Century Gothic"/>
                          <a:cs typeface="Century Gothic"/>
                        </a:rPr>
                        <a:t> </a:t>
                      </a:r>
                      <a:r>
                        <a:rPr sz="1400" spc="-10" dirty="0">
                          <a:latin typeface="Century Gothic"/>
                          <a:cs typeface="Century Gothic"/>
                        </a:rPr>
                        <a:t>adapt </a:t>
                      </a:r>
                      <a:r>
                        <a:rPr sz="1400" dirty="0">
                          <a:latin typeface="Century Gothic"/>
                          <a:cs typeface="Century Gothic"/>
                        </a:rPr>
                        <a:t>according</a:t>
                      </a:r>
                      <a:r>
                        <a:rPr sz="1400" spc="-65" dirty="0">
                          <a:latin typeface="Century Gothic"/>
                          <a:cs typeface="Century Gothic"/>
                        </a:rPr>
                        <a:t> </a:t>
                      </a:r>
                      <a:r>
                        <a:rPr sz="1400" dirty="0">
                          <a:latin typeface="Century Gothic"/>
                          <a:cs typeface="Century Gothic"/>
                        </a:rPr>
                        <a:t>to</a:t>
                      </a:r>
                      <a:r>
                        <a:rPr sz="1400" spc="-35" dirty="0">
                          <a:latin typeface="Century Gothic"/>
                          <a:cs typeface="Century Gothic"/>
                        </a:rPr>
                        <a:t> </a:t>
                      </a:r>
                      <a:r>
                        <a:rPr sz="1400" dirty="0">
                          <a:latin typeface="Century Gothic"/>
                          <a:cs typeface="Century Gothic"/>
                        </a:rPr>
                        <a:t>current</a:t>
                      </a:r>
                      <a:r>
                        <a:rPr sz="1400" spc="-25" dirty="0">
                          <a:latin typeface="Century Gothic"/>
                          <a:cs typeface="Century Gothic"/>
                        </a:rPr>
                        <a:t> </a:t>
                      </a:r>
                      <a:r>
                        <a:rPr sz="1400" dirty="0">
                          <a:latin typeface="Century Gothic"/>
                          <a:cs typeface="Century Gothic"/>
                        </a:rPr>
                        <a:t>data</a:t>
                      </a:r>
                      <a:r>
                        <a:rPr sz="1400" spc="-35" dirty="0">
                          <a:latin typeface="Century Gothic"/>
                          <a:cs typeface="Century Gothic"/>
                        </a:rPr>
                        <a:t> </a:t>
                      </a:r>
                      <a:r>
                        <a:rPr sz="1400" dirty="0">
                          <a:latin typeface="Century Gothic"/>
                          <a:cs typeface="Century Gothic"/>
                        </a:rPr>
                        <a:t>and</a:t>
                      </a:r>
                      <a:r>
                        <a:rPr sz="1400" spc="-30" dirty="0">
                          <a:latin typeface="Century Gothic"/>
                          <a:cs typeface="Century Gothic"/>
                        </a:rPr>
                        <a:t> </a:t>
                      </a:r>
                      <a:r>
                        <a:rPr sz="1400" spc="-25" dirty="0">
                          <a:latin typeface="Century Gothic"/>
                          <a:cs typeface="Century Gothic"/>
                        </a:rPr>
                        <a:t>the </a:t>
                      </a:r>
                      <a:r>
                        <a:rPr sz="1400" dirty="0">
                          <a:latin typeface="Century Gothic"/>
                          <a:cs typeface="Century Gothic"/>
                        </a:rPr>
                        <a:t>capacity</a:t>
                      </a:r>
                      <a:r>
                        <a:rPr sz="1400" spc="-55" dirty="0">
                          <a:latin typeface="Century Gothic"/>
                          <a:cs typeface="Century Gothic"/>
                        </a:rPr>
                        <a:t> </a:t>
                      </a:r>
                      <a:r>
                        <a:rPr sz="1400" dirty="0">
                          <a:latin typeface="Century Gothic"/>
                          <a:cs typeface="Century Gothic"/>
                        </a:rPr>
                        <a:t>for</a:t>
                      </a:r>
                      <a:r>
                        <a:rPr sz="1400" spc="-50" dirty="0">
                          <a:latin typeface="Century Gothic"/>
                          <a:cs typeface="Century Gothic"/>
                        </a:rPr>
                        <a:t> </a:t>
                      </a:r>
                      <a:r>
                        <a:rPr sz="1400" dirty="0">
                          <a:latin typeface="Century Gothic"/>
                          <a:cs typeface="Century Gothic"/>
                        </a:rPr>
                        <a:t>remote</a:t>
                      </a:r>
                      <a:r>
                        <a:rPr sz="1400" spc="-15" dirty="0">
                          <a:latin typeface="Century Gothic"/>
                          <a:cs typeface="Century Gothic"/>
                        </a:rPr>
                        <a:t> </a:t>
                      </a:r>
                      <a:r>
                        <a:rPr sz="1400" dirty="0">
                          <a:latin typeface="Century Gothic"/>
                          <a:cs typeface="Century Gothic"/>
                        </a:rPr>
                        <a:t>monitoring</a:t>
                      </a:r>
                      <a:r>
                        <a:rPr sz="1400" spc="-55" dirty="0">
                          <a:latin typeface="Century Gothic"/>
                          <a:cs typeface="Century Gothic"/>
                        </a:rPr>
                        <a:t> </a:t>
                      </a:r>
                      <a:r>
                        <a:rPr sz="1400" spc="-25" dirty="0">
                          <a:latin typeface="Century Gothic"/>
                          <a:cs typeface="Century Gothic"/>
                        </a:rPr>
                        <a:t>and </a:t>
                      </a:r>
                      <a:r>
                        <a:rPr sz="1400" spc="-10" dirty="0">
                          <a:latin typeface="Century Gothic"/>
                          <a:cs typeface="Century Gothic"/>
                        </a:rPr>
                        <a:t>management.</a:t>
                      </a:r>
                      <a:endParaRPr sz="1400">
                        <a:latin typeface="Century Gothic"/>
                        <a:cs typeface="Century Gothic"/>
                      </a:endParaRPr>
                    </a:p>
                  </a:txBody>
                  <a:tcPr marL="0" marR="0" marT="31433" marB="0">
                    <a:lnL w="12700">
                      <a:solidFill>
                        <a:srgbClr val="FFFFFF"/>
                      </a:solidFill>
                      <a:prstDash val="solid"/>
                    </a:lnL>
                    <a:lnR w="12700">
                      <a:solidFill>
                        <a:srgbClr val="FFFFFF"/>
                      </a:solidFill>
                      <a:prstDash val="solid"/>
                    </a:lnR>
                    <a:lnT w="12700">
                      <a:solidFill>
                        <a:srgbClr val="FFFFFF"/>
                      </a:solidFill>
                      <a:prstDash val="solid"/>
                    </a:lnT>
                    <a:lnB w="19050">
                      <a:solidFill>
                        <a:srgbClr val="FFFFFF"/>
                      </a:solidFill>
                      <a:prstDash val="solid"/>
                    </a:lnB>
                    <a:solidFill>
                      <a:srgbClr val="EAEDE8"/>
                    </a:solidFill>
                  </a:tcPr>
                </a:tc>
                <a:tc vMerge="1">
                  <a:txBody>
                    <a:bodyPr/>
                    <a:lstStyle/>
                    <a:p>
                      <a:endParaRPr/>
                    </a:p>
                  </a:txBody>
                  <a:tcPr marL="0" marR="0" marT="0" marB="0">
                    <a:lnL w="12700">
                      <a:solidFill>
                        <a:srgbClr val="FFFFFF"/>
                      </a:solidFill>
                      <a:prstDash val="solid"/>
                    </a:lnL>
                    <a:lnR w="6350">
                      <a:solidFill>
                        <a:srgbClr val="252525"/>
                      </a:solidFill>
                      <a:prstDash val="solid"/>
                    </a:lnR>
                    <a:lnB w="6350">
                      <a:solidFill>
                        <a:srgbClr val="252525"/>
                      </a:solidFill>
                      <a:prstDash val="soli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a:extLst>
              <a:ext uri="{FF2B5EF4-FFF2-40B4-BE49-F238E27FC236}">
                <a16:creationId xmlns:a16="http://schemas.microsoft.com/office/drawing/2014/main" id="{5FF371C0-8D0E-25E8-F852-3ECAB7A3F956}"/>
              </a:ext>
            </a:extLst>
          </p:cNvPr>
          <p:cNvSpPr>
            <a:spLocks noGrp="1" noChangeArrowheads="1"/>
          </p:cNvSpPr>
          <p:nvPr>
            <p:ph type="title"/>
          </p:nvPr>
        </p:nvSpPr>
        <p:spPr/>
        <p:txBody>
          <a:bodyPr/>
          <a:lstStyle/>
          <a:p>
            <a:pPr eaLnBrk="1" hangingPunct="1"/>
            <a:r>
              <a:rPr lang="en-US" altLang="en-US"/>
              <a:t>The Ethics of Computing</a:t>
            </a:r>
          </a:p>
        </p:txBody>
      </p:sp>
      <p:sp>
        <p:nvSpPr>
          <p:cNvPr id="29700" name="Rectangle 3">
            <a:extLst>
              <a:ext uri="{FF2B5EF4-FFF2-40B4-BE49-F238E27FC236}">
                <a16:creationId xmlns:a16="http://schemas.microsoft.com/office/drawing/2014/main" id="{B3DB03F9-EDDC-315E-16D7-0FA91D2071E7}"/>
              </a:ext>
            </a:extLst>
          </p:cNvPr>
          <p:cNvSpPr>
            <a:spLocks noGrp="1" noChangeArrowheads="1"/>
          </p:cNvSpPr>
          <p:nvPr>
            <p:ph type="body" idx="1"/>
          </p:nvPr>
        </p:nvSpPr>
        <p:spPr>
          <a:xfrm>
            <a:off x="457200" y="1371600"/>
            <a:ext cx="8382000" cy="492443"/>
          </a:xfrm>
        </p:spPr>
        <p:txBody>
          <a:bodyPr/>
          <a:lstStyle/>
          <a:p>
            <a:pPr marL="6350" indent="7938" eaLnBrk="1" hangingPunct="1"/>
            <a:r>
              <a:rPr lang="en-US" altLang="en-US" sz="1600" dirty="0"/>
              <a:t>As technology becomes more prevalent in society, computing professionals must ensure that hardware and software are used safely, fairly, and effectively</a:t>
            </a:r>
          </a:p>
        </p:txBody>
      </p:sp>
      <p:pic>
        <p:nvPicPr>
          <p:cNvPr id="29701" name="Picture 7">
            <a:extLst>
              <a:ext uri="{FF2B5EF4-FFF2-40B4-BE49-F238E27FC236}">
                <a16:creationId xmlns:a16="http://schemas.microsoft.com/office/drawing/2014/main" id="{4334D2A1-D579-5E3F-5B78-54D8D067E64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2133600"/>
            <a:ext cx="6324600" cy="4438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786742" y="1061132"/>
            <a:ext cx="5284517" cy="893764"/>
          </a:xfrm>
          <a:prstGeom prst="rect">
            <a:avLst/>
          </a:prstGeom>
        </p:spPr>
        <p:txBody>
          <a:bodyPr vert="horz" wrap="square" lIns="0" tIns="214560" rIns="0" bIns="0" rtlCol="0">
            <a:spAutoFit/>
          </a:bodyPr>
          <a:lstStyle/>
          <a:p>
            <a:pPr marL="9525">
              <a:spcBef>
                <a:spcPts val="71"/>
              </a:spcBef>
            </a:pPr>
            <a:r>
              <a:rPr spc="-8" dirty="0"/>
              <a:t>Questions/Discussion</a:t>
            </a:r>
          </a:p>
        </p:txBody>
      </p:sp>
      <p:pic>
        <p:nvPicPr>
          <p:cNvPr id="3" name="object 3"/>
          <p:cNvPicPr/>
          <p:nvPr/>
        </p:nvPicPr>
        <p:blipFill>
          <a:blip r:embed="rId2" cstate="print"/>
          <a:stretch>
            <a:fillRect/>
          </a:stretch>
        </p:blipFill>
        <p:spPr>
          <a:xfrm>
            <a:off x="1272158" y="2724912"/>
            <a:ext cx="4759452" cy="2503170"/>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523" y="0"/>
            <a:ext cx="9142475" cy="6857999"/>
          </a:xfrm>
          <a:prstGeom prst="rect">
            <a:avLst/>
          </a:prstGeom>
        </p:spPr>
      </p:pic>
      <p:sp>
        <p:nvSpPr>
          <p:cNvPr id="3" name="object 3"/>
          <p:cNvSpPr txBox="1">
            <a:spLocks noGrp="1"/>
          </p:cNvSpPr>
          <p:nvPr>
            <p:ph type="title"/>
          </p:nvPr>
        </p:nvSpPr>
        <p:spPr>
          <a:xfrm>
            <a:off x="3027584" y="1411541"/>
            <a:ext cx="2536825" cy="574040"/>
          </a:xfrm>
          <a:prstGeom prst="rect">
            <a:avLst/>
          </a:prstGeom>
        </p:spPr>
        <p:txBody>
          <a:bodyPr vert="horz" wrap="square" lIns="0" tIns="12700" rIns="0" bIns="0" rtlCol="0">
            <a:spAutoFit/>
          </a:bodyPr>
          <a:lstStyle/>
          <a:p>
            <a:pPr marL="12700">
              <a:lnSpc>
                <a:spcPct val="100000"/>
              </a:lnSpc>
              <a:spcBef>
                <a:spcPts val="100"/>
              </a:spcBef>
            </a:pPr>
            <a:r>
              <a:rPr sz="3600" b="1" dirty="0">
                <a:solidFill>
                  <a:srgbClr val="FFFFFF"/>
                </a:solidFill>
                <a:latin typeface="Trebuchet MS"/>
                <a:cs typeface="Trebuchet MS"/>
              </a:rPr>
              <a:t>THANK</a:t>
            </a:r>
            <a:r>
              <a:rPr sz="3600" b="1" spc="-65" dirty="0">
                <a:solidFill>
                  <a:srgbClr val="FFFFFF"/>
                </a:solidFill>
                <a:latin typeface="Trebuchet MS"/>
                <a:cs typeface="Trebuchet MS"/>
              </a:rPr>
              <a:t> </a:t>
            </a:r>
            <a:r>
              <a:rPr sz="3600" b="1" spc="-25" dirty="0">
                <a:solidFill>
                  <a:srgbClr val="FFFFFF"/>
                </a:solidFill>
                <a:latin typeface="Trebuchet MS"/>
                <a:cs typeface="Trebuchet MS"/>
              </a:rPr>
              <a:t>YOU</a:t>
            </a:r>
            <a:endParaRPr sz="3600">
              <a:latin typeface="Trebuchet MS"/>
              <a:cs typeface="Trebuchet MS"/>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502</TotalTime>
  <Words>3456</Words>
  <Application>Microsoft Office PowerPoint</Application>
  <PresentationFormat>On-screen Show (4:3)</PresentationFormat>
  <Paragraphs>390</Paragraphs>
  <Slides>39</Slides>
  <Notes>4</Notes>
  <HiddenSlides>0</HiddenSlides>
  <MMClips>0</MMClips>
  <ScaleCrop>false</ScaleCrop>
  <HeadingPairs>
    <vt:vector size="6" baseType="variant">
      <vt:variant>
        <vt:lpstr>Fonts Used</vt:lpstr>
      </vt:variant>
      <vt:variant>
        <vt:i4>9</vt:i4>
      </vt:variant>
      <vt:variant>
        <vt:lpstr>Theme</vt:lpstr>
      </vt:variant>
      <vt:variant>
        <vt:i4>2</vt:i4>
      </vt:variant>
      <vt:variant>
        <vt:lpstr>Slide Titles</vt:lpstr>
      </vt:variant>
      <vt:variant>
        <vt:i4>39</vt:i4>
      </vt:variant>
    </vt:vector>
  </HeadingPairs>
  <TitlesOfParts>
    <vt:vector size="50" baseType="lpstr">
      <vt:lpstr>Aptos</vt:lpstr>
      <vt:lpstr>Arial</vt:lpstr>
      <vt:lpstr>Bookman Old Style</vt:lpstr>
      <vt:lpstr>Calibri</vt:lpstr>
      <vt:lpstr>Century Gothic</vt:lpstr>
      <vt:lpstr>Courier New</vt:lpstr>
      <vt:lpstr>Garamond</vt:lpstr>
      <vt:lpstr>Times New Roman</vt:lpstr>
      <vt:lpstr>Trebuchet MS</vt:lpstr>
      <vt:lpstr>Office Theme</vt:lpstr>
      <vt:lpstr>1_Office Theme</vt:lpstr>
      <vt:lpstr>PowerPoint Presentation</vt:lpstr>
      <vt:lpstr>Computing Discipline</vt:lpstr>
      <vt:lpstr>Agenda</vt:lpstr>
      <vt:lpstr>About myself</vt:lpstr>
      <vt:lpstr>Course Overview</vt:lpstr>
      <vt:lpstr>Course Outline</vt:lpstr>
      <vt:lpstr>Course Outline</vt:lpstr>
      <vt:lpstr>Approach to be used</vt:lpstr>
      <vt:lpstr>PowerPoint Presentation</vt:lpstr>
      <vt:lpstr>Computing Definition</vt:lpstr>
      <vt:lpstr>Evolution of Computing</vt:lpstr>
      <vt:lpstr>Classical Computers vs Quantum Computers</vt:lpstr>
      <vt:lpstr>Layers of a Computing System</vt:lpstr>
      <vt:lpstr>Computer Science Themes</vt:lpstr>
      <vt:lpstr>Learning Aspects of Computers</vt:lpstr>
      <vt:lpstr>Information Systems</vt:lpstr>
      <vt:lpstr>Computer Engineering</vt:lpstr>
      <vt:lpstr>Computer Science</vt:lpstr>
      <vt:lpstr>Information Technology</vt:lpstr>
      <vt:lpstr>Software Engineering</vt:lpstr>
      <vt:lpstr>Systems Engineering</vt:lpstr>
      <vt:lpstr>Verification&amp; Validation</vt:lpstr>
      <vt:lpstr>System Requirements Checklist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 Ethics of Computing</vt:lpstr>
      <vt:lpstr>Questions/Discussion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Mandla Mbasane</dc:creator>
  <cp:lastModifiedBy>Mhlanga, Thamie</cp:lastModifiedBy>
  <cp:revision>9</cp:revision>
  <dcterms:created xsi:type="dcterms:W3CDTF">2024-02-10T05:44:36Z</dcterms:created>
  <dcterms:modified xsi:type="dcterms:W3CDTF">2026-02-07T15:34:40Z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2021-06-12T00:00:00Z</vt:filetime>
  </property>
  <property fmtid="{D5CDD505-2E9C-101B-9397-08002B2CF9AE}" pid="3" name="Creator">
    <vt:lpwstr>Acrobat PDFMaker 15 for PowerPoint</vt:lpwstr>
  </property>
  <property fmtid="{D5CDD505-2E9C-101B-9397-08002B2CF9AE}" pid="4" name="LastSaved">
    <vt:filetime>2024-02-10T00:00:00Z</vt:filetime>
  </property>
  <property fmtid="{D5CDD505-2E9C-101B-9397-08002B2CF9AE}" pid="5" name="Producer">
    <vt:lpwstr>Adobe PDF Library 15.0</vt:lpwstr>
  </property>
  <property fmtid="{D5CDD505-2E9C-101B-9397-08002B2CF9AE}" pid="6" name="MSIP_Label_ad03699a-af8b-4ab4-b573-ab42382494ec_Enabled">
    <vt:lpwstr>true</vt:lpwstr>
  </property>
  <property fmtid="{D5CDD505-2E9C-101B-9397-08002B2CF9AE}" pid="7" name="MSIP_Label_ad03699a-af8b-4ab4-b573-ab42382494ec_SetDate">
    <vt:lpwstr>2026-02-06T16:42:08Z</vt:lpwstr>
  </property>
  <property fmtid="{D5CDD505-2E9C-101B-9397-08002B2CF9AE}" pid="8" name="MSIP_Label_ad03699a-af8b-4ab4-b573-ab42382494ec_Method">
    <vt:lpwstr>Privileged</vt:lpwstr>
  </property>
  <property fmtid="{D5CDD505-2E9C-101B-9397-08002B2CF9AE}" pid="9" name="MSIP_Label_ad03699a-af8b-4ab4-b573-ab42382494ec_Name">
    <vt:lpwstr>Sensitive</vt:lpwstr>
  </property>
  <property fmtid="{D5CDD505-2E9C-101B-9397-08002B2CF9AE}" pid="10" name="MSIP_Label_ad03699a-af8b-4ab4-b573-ab42382494ec_SiteId">
    <vt:lpwstr>fa785acd-36ef-41bc-8a94-89841327e045</vt:lpwstr>
  </property>
  <property fmtid="{D5CDD505-2E9C-101B-9397-08002B2CF9AE}" pid="11" name="MSIP_Label_ad03699a-af8b-4ab4-b573-ab42382494ec_ActionId">
    <vt:lpwstr>196765e5-7bbe-42c5-9808-2056995a22ec</vt:lpwstr>
  </property>
  <property fmtid="{D5CDD505-2E9C-101B-9397-08002B2CF9AE}" pid="12" name="MSIP_Label_ad03699a-af8b-4ab4-b573-ab42382494ec_ContentBits">
    <vt:lpwstr>0</vt:lpwstr>
  </property>
  <property fmtid="{D5CDD505-2E9C-101B-9397-08002B2CF9AE}" pid="13" name="MSIP_Label_ad03699a-af8b-4ab4-b573-ab42382494ec_Tag">
    <vt:lpwstr>10, 0, 1, 1</vt:lpwstr>
  </property>
</Properties>
</file>