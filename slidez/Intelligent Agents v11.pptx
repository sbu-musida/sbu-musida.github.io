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sldIdLst>
    <p:sldId id="256" r:id="rId2"/>
    <p:sldId id="257" r:id="rId3"/>
    <p:sldId id="467" r:id="rId4"/>
    <p:sldId id="466" r:id="rId5"/>
    <p:sldId id="258" r:id="rId6"/>
    <p:sldId id="512" r:id="rId7"/>
    <p:sldId id="259" r:id="rId8"/>
    <p:sldId id="494" r:id="rId9"/>
    <p:sldId id="505" r:id="rId10"/>
    <p:sldId id="479" r:id="rId11"/>
    <p:sldId id="516" r:id="rId12"/>
    <p:sldId id="264" r:id="rId13"/>
    <p:sldId id="265" r:id="rId14"/>
    <p:sldId id="266" r:id="rId15"/>
    <p:sldId id="268" r:id="rId16"/>
    <p:sldId id="495" r:id="rId17"/>
    <p:sldId id="269" r:id="rId18"/>
    <p:sldId id="513" r:id="rId19"/>
    <p:sldId id="514" r:id="rId20"/>
    <p:sldId id="315" r:id="rId21"/>
    <p:sldId id="515" r:id="rId22"/>
    <p:sldId id="272" r:id="rId23"/>
    <p:sldId id="470" r:id="rId24"/>
    <p:sldId id="506" r:id="rId25"/>
    <p:sldId id="507" r:id="rId26"/>
    <p:sldId id="508" r:id="rId27"/>
    <p:sldId id="509" r:id="rId28"/>
    <p:sldId id="510" r:id="rId29"/>
    <p:sldId id="511" r:id="rId30"/>
    <p:sldId id="296" r:id="rId31"/>
    <p:sldId id="297" r:id="rId32"/>
    <p:sldId id="298" r:id="rId33"/>
    <p:sldId id="299" r:id="rId34"/>
    <p:sldId id="300" r:id="rId35"/>
    <p:sldId id="301" r:id="rId36"/>
    <p:sldId id="302" r:id="rId37"/>
    <p:sldId id="303" r:id="rId38"/>
    <p:sldId id="304" r:id="rId39"/>
    <p:sldId id="305" r:id="rId40"/>
    <p:sldId id="499" r:id="rId41"/>
    <p:sldId id="500" r:id="rId42"/>
    <p:sldId id="501" r:id="rId43"/>
    <p:sldId id="502" r:id="rId44"/>
    <p:sldId id="503" r:id="rId45"/>
    <p:sldId id="504" r:id="rId46"/>
    <p:sldId id="469" r:id="rId47"/>
    <p:sldId id="473" r:id="rId48"/>
    <p:sldId id="474" r:id="rId49"/>
    <p:sldId id="480" r:id="rId50"/>
    <p:sldId id="481" r:id="rId51"/>
    <p:sldId id="482" r:id="rId52"/>
    <p:sldId id="483" r:id="rId53"/>
    <p:sldId id="484" r:id="rId54"/>
    <p:sldId id="485" r:id="rId55"/>
    <p:sldId id="261" r:id="rId56"/>
    <p:sldId id="314" r:id="rId57"/>
    <p:sldId id="274" r:id="rId58"/>
    <p:sldId id="291" r:id="rId59"/>
    <p:sldId id="292" r:id="rId60"/>
    <p:sldId id="293" r:id="rId61"/>
    <p:sldId id="306" r:id="rId62"/>
    <p:sldId id="307" r:id="rId63"/>
    <p:sldId id="426" r:id="rId64"/>
    <p:sldId id="308" r:id="rId6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3" d="100"/>
          <a:sy n="103" d="100"/>
        </p:scale>
        <p:origin x="1300"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422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B530C-25E1-A8BB-A679-20793E83526C}"/>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A6DE1FE0-46F6-CC02-74F4-682070C4D335}"/>
              </a:ext>
            </a:extLst>
          </p:cNvP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659899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4169F-5B41-DB52-BAD4-179706A10607}"/>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115741A2-BEF3-E220-7FDE-84810DE83666}"/>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4121041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3848-8BCC-4DE1-6BA8-165D8748A5D8}"/>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82D63F5E-DAD2-0EC5-B841-7ED37480F906}"/>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77845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00FA-69AB-DB54-9342-25D690C041B2}"/>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E5B8CBD0-4C30-A2BC-B97A-300D57438294}"/>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97056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216E-0A5B-21EB-CE2E-C2367089AB7D}"/>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43006E2C-4C66-F605-01ED-159619E02983}"/>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691822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D68C3-1488-6C2B-69AE-D568B216F4E5}"/>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21629D65-4777-AA15-5BBD-78BD3C92E2E4}"/>
              </a:ext>
            </a:extLst>
          </p:cNvP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106140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CEF7-6C58-24B9-AD8F-450EFE754262}"/>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CBEF04B1-4C37-FE37-767E-FC70E3EC76B2}"/>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77654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831AE-F624-CA58-09CE-5BEDB6EC4797}"/>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9A77A276-3E94-38D7-0578-8662B94C68C5}"/>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130836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9F40-3FA7-0656-84E7-A7B25A562ABA}"/>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32CB3049-A8F5-2669-809B-AEF67B903583}"/>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016853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ED305-6199-825B-6D6D-15F0F59A9581}"/>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F5F90137-4926-176F-7682-7BFBF2F59517}"/>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709851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36E1-3C15-1F73-2D5A-65DE669A25D2}"/>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518B42F3-2C73-32EF-9B48-140A39F83B10}"/>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076780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4E6BF-9270-0996-BE38-4DFE2FD66802}"/>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6BF50015-14A3-94A7-23D7-BE3C1E3C36F1}"/>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791846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3FAE6-28A6-91B4-9637-41CD35CB69DA}"/>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EFE84923-7D2A-7DEE-D503-ED1F5CAE8A4E}"/>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822543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2F6E5-D5C2-9872-945C-D225EB0EEC90}"/>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8025BEF7-B9C8-AA28-FA3D-DFEF475DEF43}"/>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1938552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D761-19E7-6632-7B1E-35966FE50F5C}"/>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F60C5042-720B-A841-A1EA-93CE083828AF}"/>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382387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8F20-E37D-C2F7-1AAF-6048380FBDA9}"/>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61851E74-A99E-9346-161E-C002555EC657}"/>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859675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7463-418E-68F5-73B3-EE4172027B07}"/>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CC2FE7FF-C9F7-E487-BB39-355A42D85245}"/>
              </a:ext>
            </a:extLst>
          </p:cNvP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0667530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A1336037-87BD-F692-54E2-71846241DB7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1pPr>
            <a:lvl2pPr marL="742950" indent="-285750">
              <a:spcBef>
                <a:spcPct val="20000"/>
              </a:spcBef>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2pPr>
            <a:lvl3pPr marL="1143000" indent="-228600">
              <a:spcBef>
                <a:spcPct val="20000"/>
              </a:spcBef>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3pPr>
            <a:lvl4pPr marL="1600200" indent="-228600">
              <a:spcBef>
                <a:spcPct val="20000"/>
              </a:spcBef>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4pPr>
            <a:lvl5pPr marL="2057400" indent="-228600">
              <a:spcBef>
                <a:spcPct val="20000"/>
              </a:spcBef>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kumimoji="1" sz="2400" b="1">
                <a:solidFill>
                  <a:schemeClr val="hlink"/>
                </a:solidFill>
                <a:latin typeface="Arial" panose="020B0604020202020204" pitchFamily="34" charset="0"/>
                <a:ea typeface="隶书" pitchFamily="49" charset="-122"/>
              </a:defRPr>
            </a:lvl9pPr>
          </a:lstStyle>
          <a:p>
            <a:pPr>
              <a:spcBef>
                <a:spcPct val="0"/>
              </a:spcBef>
              <a:buClrTx/>
              <a:buSzTx/>
              <a:buFontTx/>
              <a:buNone/>
            </a:pPr>
            <a:fld id="{11200BBB-3841-4E8F-9B92-98C7D60D9BC1}" type="slidenum">
              <a:rPr lang="en-US" altLang="zh-CN" sz="1200" b="0">
                <a:solidFill>
                  <a:schemeClr val="tx1"/>
                </a:solidFill>
                <a:latin typeface="Times New Roman" panose="02020603050405020304" pitchFamily="18" charset="0"/>
                <a:ea typeface="宋体" panose="02010600030101010101" pitchFamily="2" charset="-122"/>
              </a:rPr>
              <a:pPr>
                <a:spcBef>
                  <a:spcPct val="0"/>
                </a:spcBef>
                <a:buClrTx/>
                <a:buSzTx/>
                <a:buFontTx/>
                <a:buNone/>
              </a:pPr>
              <a:t>52</a:t>
            </a:fld>
            <a:endParaRPr lang="en-US" altLang="zh-CN" sz="1200" b="0">
              <a:solidFill>
                <a:schemeClr val="tx1"/>
              </a:solidFill>
              <a:latin typeface="Times New Roman" panose="02020603050405020304" pitchFamily="18" charset="0"/>
              <a:ea typeface="宋体" panose="02010600030101010101" pitchFamily="2" charset="-122"/>
            </a:endParaRPr>
          </a:p>
        </p:txBody>
      </p:sp>
      <p:sp>
        <p:nvSpPr>
          <p:cNvPr id="33795" name="Rectangle 2">
            <a:extLst>
              <a:ext uri="{FF2B5EF4-FFF2-40B4-BE49-F238E27FC236}">
                <a16:creationId xmlns:a16="http://schemas.microsoft.com/office/drawing/2014/main" id="{BA97B37F-7258-BE4B-3676-40397A3AACDE}"/>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4D23055E-85F1-DABF-23D7-2D222C36F59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a:t>Everything it needs to know is the current state’s percept.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45455" y="606044"/>
            <a:ext cx="4653089" cy="696594"/>
          </a:xfrm>
          <a:prstGeom prst="rect">
            <a:avLst/>
          </a:prstGeom>
        </p:spPr>
        <p:txBody>
          <a:bodyPr wrap="square" lIns="0" tIns="0" rIns="0" bIns="0">
            <a:spAutoFit/>
          </a:bodyPr>
          <a:lstStyle>
            <a:lvl1pPr>
              <a:defRPr sz="4400" b="0" i="0">
                <a:solidFill>
                  <a:srgbClr val="558ED5"/>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558ED5"/>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558ED5"/>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558ED5"/>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523" y="160735"/>
            <a:ext cx="9140951" cy="6697264"/>
          </a:xfrm>
          <a:prstGeom prst="rect">
            <a:avLst/>
          </a:prstGeom>
        </p:spPr>
      </p:pic>
      <p:sp>
        <p:nvSpPr>
          <p:cNvPr id="2" name="Holder 2"/>
          <p:cNvSpPr>
            <a:spLocks noGrp="1"/>
          </p:cNvSpPr>
          <p:nvPr>
            <p:ph type="title"/>
          </p:nvPr>
        </p:nvSpPr>
        <p:spPr>
          <a:xfrm>
            <a:off x="1091342" y="271081"/>
            <a:ext cx="7029132" cy="1130617"/>
          </a:xfrm>
          <a:prstGeom prst="rect">
            <a:avLst/>
          </a:prstGeom>
        </p:spPr>
        <p:txBody>
          <a:bodyPr wrap="square" lIns="0" tIns="0" rIns="0" bIns="0">
            <a:spAutoFit/>
          </a:bodyPr>
          <a:lstStyle>
            <a:lvl1pPr>
              <a:defRPr sz="4400" b="0" i="0">
                <a:solidFill>
                  <a:srgbClr val="558ED5"/>
                </a:solidFill>
                <a:latin typeface="Calibri"/>
                <a:cs typeface="Calibri"/>
              </a:defRPr>
            </a:lvl1pPr>
          </a:lstStyle>
          <a:p>
            <a:endParaRPr/>
          </a:p>
        </p:txBody>
      </p:sp>
      <p:sp>
        <p:nvSpPr>
          <p:cNvPr id="3" name="Holder 3"/>
          <p:cNvSpPr>
            <a:spLocks noGrp="1"/>
          </p:cNvSpPr>
          <p:nvPr>
            <p:ph type="body" idx="1"/>
          </p:nvPr>
        </p:nvSpPr>
        <p:spPr>
          <a:xfrm>
            <a:off x="380365" y="1461135"/>
            <a:ext cx="8130540" cy="424561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2/21/2026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mailto:MhlangaST@tut.ac.z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Mhlanga.thamies@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23" y="0"/>
            <a:ext cx="9142463" cy="6857999"/>
          </a:xfrm>
          <a:prstGeom prst="rect">
            <a:avLst/>
          </a:prstGeom>
        </p:spPr>
      </p:pic>
      <p:sp>
        <p:nvSpPr>
          <p:cNvPr id="3" name="object 3"/>
          <p:cNvSpPr txBox="1"/>
          <p:nvPr/>
        </p:nvSpPr>
        <p:spPr>
          <a:xfrm>
            <a:off x="5262298" y="5319648"/>
            <a:ext cx="3593465" cy="51371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Trebuchet MS"/>
                <a:cs typeface="Trebuchet MS"/>
              </a:rPr>
              <a:t>Department</a:t>
            </a:r>
            <a:r>
              <a:rPr sz="1800" b="1" spc="-40" dirty="0">
                <a:solidFill>
                  <a:srgbClr val="FFFFFF"/>
                </a:solidFill>
                <a:latin typeface="Trebuchet MS"/>
                <a:cs typeface="Trebuchet MS"/>
              </a:rPr>
              <a:t> </a:t>
            </a:r>
            <a:r>
              <a:rPr sz="1800" b="1" dirty="0">
                <a:solidFill>
                  <a:srgbClr val="FFFFFF"/>
                </a:solidFill>
                <a:latin typeface="Trebuchet MS"/>
                <a:cs typeface="Trebuchet MS"/>
              </a:rPr>
              <a:t>of</a:t>
            </a:r>
            <a:r>
              <a:rPr sz="1800" b="1" spc="-65" dirty="0">
                <a:solidFill>
                  <a:srgbClr val="FFFFFF"/>
                </a:solidFill>
                <a:latin typeface="Trebuchet MS"/>
                <a:cs typeface="Trebuchet MS"/>
              </a:rPr>
              <a:t> </a:t>
            </a:r>
            <a:r>
              <a:rPr sz="1800" b="1" dirty="0">
                <a:solidFill>
                  <a:srgbClr val="FFFFFF"/>
                </a:solidFill>
                <a:latin typeface="Trebuchet MS"/>
                <a:cs typeface="Trebuchet MS"/>
              </a:rPr>
              <a:t>Computer</a:t>
            </a:r>
            <a:r>
              <a:rPr sz="1800" b="1" spc="-60" dirty="0">
                <a:solidFill>
                  <a:srgbClr val="FFFFFF"/>
                </a:solidFill>
                <a:latin typeface="Trebuchet MS"/>
                <a:cs typeface="Trebuchet MS"/>
              </a:rPr>
              <a:t> </a:t>
            </a:r>
            <a:r>
              <a:rPr sz="1800" b="1" spc="-10" dirty="0">
                <a:solidFill>
                  <a:srgbClr val="FFFFFF"/>
                </a:solidFill>
                <a:latin typeface="Trebuchet MS"/>
                <a:cs typeface="Trebuchet MS"/>
              </a:rPr>
              <a:t>Science</a:t>
            </a:r>
            <a:endParaRPr sz="1800" dirty="0">
              <a:latin typeface="Trebuchet MS"/>
              <a:cs typeface="Trebuchet MS"/>
            </a:endParaRPr>
          </a:p>
          <a:p>
            <a:pPr marR="5080" algn="r">
              <a:lnSpc>
                <a:spcPct val="100000"/>
              </a:lnSpc>
            </a:pPr>
            <a:r>
              <a:rPr sz="1400" dirty="0">
                <a:solidFill>
                  <a:srgbClr val="FFFFFF"/>
                </a:solidFill>
                <a:latin typeface="Trebuchet MS"/>
                <a:cs typeface="Trebuchet MS"/>
              </a:rPr>
              <a:t>Faculty</a:t>
            </a:r>
            <a:r>
              <a:rPr sz="1400" spc="-20" dirty="0">
                <a:solidFill>
                  <a:srgbClr val="FFFFFF"/>
                </a:solidFill>
                <a:latin typeface="Trebuchet MS"/>
                <a:cs typeface="Trebuchet MS"/>
              </a:rPr>
              <a:t> </a:t>
            </a:r>
            <a:r>
              <a:rPr sz="1400" dirty="0">
                <a:solidFill>
                  <a:srgbClr val="FFFFFF"/>
                </a:solidFill>
                <a:latin typeface="Trebuchet MS"/>
                <a:cs typeface="Trebuchet MS"/>
              </a:rPr>
              <a:t>of</a:t>
            </a:r>
            <a:r>
              <a:rPr sz="1400" spc="-30" dirty="0">
                <a:solidFill>
                  <a:srgbClr val="FFFFFF"/>
                </a:solidFill>
                <a:latin typeface="Trebuchet MS"/>
                <a:cs typeface="Trebuchet MS"/>
              </a:rPr>
              <a:t> </a:t>
            </a:r>
            <a:r>
              <a:rPr sz="1400" spc="-25" dirty="0">
                <a:solidFill>
                  <a:srgbClr val="FFFFFF"/>
                </a:solidFill>
                <a:latin typeface="Trebuchet MS"/>
                <a:cs typeface="Trebuchet MS"/>
              </a:rPr>
              <a:t>ICT</a:t>
            </a:r>
            <a:endParaRPr sz="14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1882967"/>
            <a:ext cx="3702683" cy="1306127"/>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rgbClr val="000000"/>
                </a:solidFill>
                <a:latin typeface="Arial"/>
                <a:cs typeface="Arial"/>
              </a:rPr>
              <a:t>Intelligent</a:t>
            </a:r>
            <a:r>
              <a:rPr sz="3200" b="1" spc="-220" dirty="0">
                <a:solidFill>
                  <a:srgbClr val="000000"/>
                </a:solidFill>
                <a:latin typeface="Arial"/>
                <a:cs typeface="Arial"/>
              </a:rPr>
              <a:t> </a:t>
            </a:r>
            <a:r>
              <a:rPr sz="3200" b="1" spc="-10" dirty="0">
                <a:solidFill>
                  <a:srgbClr val="000000"/>
                </a:solidFill>
                <a:latin typeface="Arial"/>
                <a:cs typeface="Arial"/>
              </a:rPr>
              <a:t>Agents</a:t>
            </a:r>
            <a:br>
              <a:rPr lang="en-US" sz="3200" b="1" spc="-10" dirty="0">
                <a:solidFill>
                  <a:srgbClr val="000000"/>
                </a:solidFill>
                <a:latin typeface="Arial"/>
                <a:cs typeface="Arial"/>
              </a:rPr>
            </a:br>
            <a:br>
              <a:rPr lang="en-ZA" sz="3200" b="1" spc="-10" dirty="0">
                <a:solidFill>
                  <a:srgbClr val="000000"/>
                </a:solidFill>
                <a:latin typeface="Arial"/>
                <a:cs typeface="Arial"/>
              </a:rPr>
            </a:br>
            <a:r>
              <a:rPr lang="en-ZA" sz="2000" spc="-10" dirty="0">
                <a:solidFill>
                  <a:srgbClr val="000000"/>
                </a:solidFill>
                <a:latin typeface="Arial"/>
                <a:cs typeface="Arial"/>
              </a:rPr>
              <a:t>21 February 2026</a:t>
            </a:r>
            <a:endParaRPr sz="2000" dirty="0">
              <a:latin typeface="Arial"/>
              <a:cs typeface="Arial"/>
            </a:endParaRPr>
          </a:p>
        </p:txBody>
      </p:sp>
      <p:sp>
        <p:nvSpPr>
          <p:cNvPr id="3" name="object 3"/>
          <p:cNvSpPr txBox="1"/>
          <p:nvPr/>
        </p:nvSpPr>
        <p:spPr>
          <a:xfrm>
            <a:off x="2438400" y="4350456"/>
            <a:ext cx="4267200" cy="1120820"/>
          </a:xfrm>
          <a:prstGeom prst="rect">
            <a:avLst/>
          </a:prstGeom>
        </p:spPr>
        <p:txBody>
          <a:bodyPr vert="horz" wrap="square" lIns="0" tIns="12700" rIns="0" bIns="0" rtlCol="0">
            <a:spAutoFit/>
          </a:bodyPr>
          <a:lstStyle/>
          <a:p>
            <a:pPr algn="ctr">
              <a:lnSpc>
                <a:spcPct val="100000"/>
              </a:lnSpc>
              <a:spcBef>
                <a:spcPts val="100"/>
              </a:spcBef>
            </a:pPr>
            <a:r>
              <a:rPr lang="en-US" sz="3200" b="1" spc="-80" dirty="0">
                <a:latin typeface="Trebuchet MS"/>
                <a:cs typeface="Trebuchet MS"/>
              </a:rPr>
              <a:t>Sandile</a:t>
            </a:r>
            <a:r>
              <a:rPr sz="3200" b="1" spc="-80" dirty="0">
                <a:latin typeface="Trebuchet MS"/>
                <a:cs typeface="Trebuchet MS"/>
              </a:rPr>
              <a:t> </a:t>
            </a:r>
            <a:r>
              <a:rPr sz="3200" b="1" spc="-10" dirty="0">
                <a:latin typeface="Trebuchet MS"/>
                <a:cs typeface="Trebuchet MS"/>
              </a:rPr>
              <a:t>M</a:t>
            </a:r>
            <a:r>
              <a:rPr lang="en-US" sz="3200" b="1" spc="-10" dirty="0">
                <a:latin typeface="Trebuchet MS"/>
                <a:cs typeface="Trebuchet MS"/>
              </a:rPr>
              <a:t>hlanga</a:t>
            </a:r>
            <a:endParaRPr sz="3200" dirty="0">
              <a:latin typeface="Trebuchet MS"/>
              <a:cs typeface="Trebuchet MS"/>
            </a:endParaRPr>
          </a:p>
          <a:p>
            <a:pPr marL="154305" marR="147955" indent="-635" algn="ctr">
              <a:lnSpc>
                <a:spcPct val="100000"/>
              </a:lnSpc>
              <a:spcBef>
                <a:spcPts val="40"/>
              </a:spcBef>
            </a:pPr>
            <a:r>
              <a:rPr sz="2000" b="1" i="1" u="sng" spc="-10" dirty="0">
                <a:solidFill>
                  <a:srgbClr val="0000FF"/>
                </a:solidFill>
                <a:uFill>
                  <a:solidFill>
                    <a:srgbClr val="0000FF"/>
                  </a:solidFill>
                </a:uFill>
                <a:latin typeface="Trebuchet MS"/>
                <a:cs typeface="Trebuchet MS"/>
                <a:hlinkClick r:id="rId3"/>
              </a:rPr>
              <a:t>M</a:t>
            </a:r>
            <a:r>
              <a:rPr lang="en-US" sz="2000" b="1" i="1" u="sng" spc="-10" dirty="0">
                <a:solidFill>
                  <a:srgbClr val="0000FF"/>
                </a:solidFill>
                <a:uFill>
                  <a:solidFill>
                    <a:srgbClr val="0000FF"/>
                  </a:solidFill>
                </a:uFill>
                <a:latin typeface="Trebuchet MS"/>
                <a:cs typeface="Trebuchet MS"/>
                <a:hlinkClick r:id="rId3"/>
              </a:rPr>
              <a:t>hlangaST</a:t>
            </a:r>
            <a:r>
              <a:rPr sz="2000" b="1" i="1" u="sng" spc="-10" dirty="0">
                <a:solidFill>
                  <a:srgbClr val="0000FF"/>
                </a:solidFill>
                <a:uFill>
                  <a:solidFill>
                    <a:srgbClr val="0000FF"/>
                  </a:solidFill>
                </a:uFill>
                <a:latin typeface="Trebuchet MS"/>
                <a:cs typeface="Trebuchet MS"/>
                <a:hlinkClick r:id="rId3"/>
              </a:rPr>
              <a:t>@tut.ac.za</a:t>
            </a:r>
            <a:r>
              <a:rPr sz="2000" b="1" i="1" spc="-10" dirty="0">
                <a:solidFill>
                  <a:srgbClr val="0000FF"/>
                </a:solidFill>
                <a:latin typeface="Trebuchet MS"/>
                <a:cs typeface="Trebuchet MS"/>
              </a:rPr>
              <a:t> </a:t>
            </a:r>
            <a:r>
              <a:rPr lang="en-ZA" sz="2000" b="1" i="1" spc="-10" dirty="0">
                <a:latin typeface="Trebuchet MS"/>
                <a:cs typeface="Trebuchet MS"/>
                <a:hlinkClick r:id="rId4"/>
              </a:rPr>
              <a:t>M</a:t>
            </a:r>
            <a:r>
              <a:rPr lang="en-US" sz="2000" b="1" i="1" spc="-10" dirty="0">
                <a:latin typeface="Trebuchet MS"/>
                <a:cs typeface="Trebuchet MS"/>
                <a:hlinkClick r:id="rId4"/>
              </a:rPr>
              <a:t>hlanga.thamies</a:t>
            </a:r>
            <a:r>
              <a:rPr sz="2000" b="1" i="1" spc="-10" dirty="0">
                <a:latin typeface="Trebuchet MS"/>
                <a:cs typeface="Trebuchet MS"/>
                <a:hlinkClick r:id="rId4"/>
              </a:rPr>
              <a:t>@gmail.com</a:t>
            </a:r>
            <a:endParaRPr lang="en-US" sz="2000" b="1" i="1" spc="-1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5315A-1094-C3C5-55A0-7DE88955A5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4865835-97E9-54C4-BDBD-CFB734747FDA}"/>
              </a:ext>
            </a:extLst>
          </p:cNvPr>
          <p:cNvSpPr txBox="1">
            <a:spLocks noGrp="1"/>
          </p:cNvSpPr>
          <p:nvPr>
            <p:ph type="title"/>
          </p:nvPr>
        </p:nvSpPr>
        <p:spPr>
          <a:xfrm>
            <a:off x="1143000" y="286602"/>
            <a:ext cx="5284517" cy="893764"/>
          </a:xfrm>
          <a:prstGeom prst="rect">
            <a:avLst/>
          </a:prstGeom>
        </p:spPr>
        <p:txBody>
          <a:bodyPr vert="horz" wrap="square" lIns="0" tIns="214560" rIns="0" bIns="0" rtlCol="0">
            <a:spAutoFit/>
          </a:bodyPr>
          <a:lstStyle/>
          <a:p>
            <a:pPr marL="9525">
              <a:spcBef>
                <a:spcPts val="71"/>
              </a:spcBef>
            </a:pPr>
            <a:r>
              <a:rPr dirty="0"/>
              <a:t>Course</a:t>
            </a:r>
            <a:r>
              <a:rPr spc="-71" dirty="0"/>
              <a:t> </a:t>
            </a:r>
            <a:r>
              <a:rPr lang="en-US" spc="-8" dirty="0"/>
              <a:t>Outline</a:t>
            </a:r>
            <a:endParaRPr spc="-8" dirty="0"/>
          </a:p>
        </p:txBody>
      </p:sp>
      <p:sp>
        <p:nvSpPr>
          <p:cNvPr id="5" name="Text Placeholder 4">
            <a:extLst>
              <a:ext uri="{FF2B5EF4-FFF2-40B4-BE49-F238E27FC236}">
                <a16:creationId xmlns:a16="http://schemas.microsoft.com/office/drawing/2014/main" id="{BD242A24-8DD5-F724-7127-3F3CF0A6D365}"/>
              </a:ext>
            </a:extLst>
          </p:cNvPr>
          <p:cNvSpPr>
            <a:spLocks noGrp="1"/>
          </p:cNvSpPr>
          <p:nvPr>
            <p:ph type="body" idx="1"/>
          </p:nvPr>
        </p:nvSpPr>
        <p:spPr>
          <a:xfrm>
            <a:off x="380365" y="1447801"/>
            <a:ext cx="8130540" cy="4258944"/>
          </a:xfrm>
        </p:spPr>
        <p:txBody>
          <a:bodyPr/>
          <a:lstStyle/>
          <a:p>
            <a:endParaRPr lang="en-ZA" dirty="0"/>
          </a:p>
        </p:txBody>
      </p:sp>
      <p:graphicFrame>
        <p:nvGraphicFramePr>
          <p:cNvPr id="7" name="Table 6">
            <a:extLst>
              <a:ext uri="{FF2B5EF4-FFF2-40B4-BE49-F238E27FC236}">
                <a16:creationId xmlns:a16="http://schemas.microsoft.com/office/drawing/2014/main" id="{13D008BC-FBB1-45DE-157F-E61633D3DBC7}"/>
              </a:ext>
            </a:extLst>
          </p:cNvPr>
          <p:cNvGraphicFramePr>
            <a:graphicFrameLocks noGrp="1"/>
          </p:cNvGraphicFramePr>
          <p:nvPr>
            <p:extLst>
              <p:ext uri="{D42A27DB-BD31-4B8C-83A1-F6EECF244321}">
                <p14:modId xmlns:p14="http://schemas.microsoft.com/office/powerpoint/2010/main" val="1499507458"/>
              </p:ext>
            </p:extLst>
          </p:nvPr>
        </p:nvGraphicFramePr>
        <p:xfrm>
          <a:off x="380365" y="1524000"/>
          <a:ext cx="8077835" cy="4221690"/>
        </p:xfrm>
        <a:graphic>
          <a:graphicData uri="http://schemas.openxmlformats.org/drawingml/2006/table">
            <a:tbl>
              <a:tblPr firstRow="1" bandRow="1">
                <a:tableStyleId>{5C22544A-7EE6-4342-B048-85BDC9FD1C3A}</a:tableStyleId>
              </a:tblPr>
              <a:tblGrid>
                <a:gridCol w="8077835">
                  <a:extLst>
                    <a:ext uri="{9D8B030D-6E8A-4147-A177-3AD203B41FA5}">
                      <a16:colId xmlns:a16="http://schemas.microsoft.com/office/drawing/2014/main" val="1614638965"/>
                    </a:ext>
                  </a:extLst>
                </a:gridCol>
              </a:tblGrid>
              <a:tr h="422169">
                <a:tc>
                  <a:txBody>
                    <a:bodyPr/>
                    <a:lstStyle/>
                    <a:p>
                      <a:r>
                        <a:rPr lang="en-ZA" sz="1800" b="1" dirty="0">
                          <a:solidFill>
                            <a:schemeClr val="lt1"/>
                          </a:solidFill>
                          <a:effectLst/>
                          <a:latin typeface="+mn-lt"/>
                          <a:ea typeface="+mn-ea"/>
                          <a:cs typeface="+mn-cs"/>
                        </a:rPr>
                        <a:t>The Computing Discipline</a:t>
                      </a:r>
                      <a:endParaRPr lang="en-ZA" dirty="0"/>
                    </a:p>
                  </a:txBody>
                  <a:tcPr/>
                </a:tc>
                <a:extLst>
                  <a:ext uri="{0D108BD9-81ED-4DB2-BD59-A6C34878D82A}">
                    <a16:rowId xmlns:a16="http://schemas.microsoft.com/office/drawing/2014/main" val="252438456"/>
                  </a:ext>
                </a:extLst>
              </a:tr>
              <a:tr h="422169">
                <a:tc>
                  <a:txBody>
                    <a:bodyPr/>
                    <a:lstStyle/>
                    <a:p>
                      <a:r>
                        <a:rPr lang="en-ZA" sz="1800" dirty="0">
                          <a:solidFill>
                            <a:schemeClr val="tx1"/>
                          </a:solidFill>
                          <a:effectLst/>
                          <a:latin typeface="+mn-lt"/>
                          <a:ea typeface="+mn-ea"/>
                          <a:cs typeface="+mn-cs"/>
                        </a:rPr>
                        <a:t>Cloud Computing.</a:t>
                      </a:r>
                      <a:endParaRPr lang="en-ZA" dirty="0">
                        <a:solidFill>
                          <a:schemeClr val="tx1"/>
                        </a:solidFill>
                      </a:endParaRPr>
                    </a:p>
                  </a:txBody>
                  <a:tcPr/>
                </a:tc>
                <a:extLst>
                  <a:ext uri="{0D108BD9-81ED-4DB2-BD59-A6C34878D82A}">
                    <a16:rowId xmlns:a16="http://schemas.microsoft.com/office/drawing/2014/main" val="2115240504"/>
                  </a:ext>
                </a:extLst>
              </a:tr>
              <a:tr h="422169">
                <a:tc>
                  <a:txBody>
                    <a:bodyPr/>
                    <a:lstStyle/>
                    <a:p>
                      <a:r>
                        <a:rPr lang="en-ZA" sz="1800" dirty="0">
                          <a:solidFill>
                            <a:srgbClr val="C00000"/>
                          </a:solidFill>
                          <a:effectLst/>
                          <a:latin typeface="+mn-lt"/>
                          <a:ea typeface="+mn-ea"/>
                          <a:cs typeface="+mn-cs"/>
                        </a:rPr>
                        <a:t>Intelligent agents.</a:t>
                      </a:r>
                      <a:endParaRPr lang="en-ZA" dirty="0">
                        <a:solidFill>
                          <a:srgbClr val="C00000"/>
                        </a:solidFill>
                      </a:endParaRPr>
                    </a:p>
                  </a:txBody>
                  <a:tcPr/>
                </a:tc>
                <a:extLst>
                  <a:ext uri="{0D108BD9-81ED-4DB2-BD59-A6C34878D82A}">
                    <a16:rowId xmlns:a16="http://schemas.microsoft.com/office/drawing/2014/main" val="319381677"/>
                  </a:ext>
                </a:extLst>
              </a:tr>
              <a:tr h="422169">
                <a:tc>
                  <a:txBody>
                    <a:bodyPr/>
                    <a:lstStyle/>
                    <a:p>
                      <a:r>
                        <a:rPr lang="en-ZA" sz="1800" dirty="0">
                          <a:solidFill>
                            <a:schemeClr val="dk1"/>
                          </a:solidFill>
                          <a:effectLst/>
                          <a:latin typeface="+mn-lt"/>
                          <a:ea typeface="+mn-ea"/>
                          <a:cs typeface="+mn-cs"/>
                        </a:rPr>
                        <a:t>Internet of Things and smart environments.</a:t>
                      </a:r>
                      <a:endParaRPr lang="en-ZA" dirty="0"/>
                    </a:p>
                  </a:txBody>
                  <a:tcPr/>
                </a:tc>
                <a:extLst>
                  <a:ext uri="{0D108BD9-81ED-4DB2-BD59-A6C34878D82A}">
                    <a16:rowId xmlns:a16="http://schemas.microsoft.com/office/drawing/2014/main" val="816054969"/>
                  </a:ext>
                </a:extLst>
              </a:tr>
              <a:tr h="422169">
                <a:tc>
                  <a:txBody>
                    <a:bodyPr/>
                    <a:lstStyle/>
                    <a:p>
                      <a:r>
                        <a:rPr lang="en-ZA" sz="1800" dirty="0">
                          <a:solidFill>
                            <a:schemeClr val="dk1"/>
                          </a:solidFill>
                          <a:effectLst/>
                          <a:latin typeface="+mn-lt"/>
                          <a:ea typeface="+mn-ea"/>
                          <a:cs typeface="+mn-cs"/>
                        </a:rPr>
                        <a:t>Data mining and Big data.</a:t>
                      </a:r>
                      <a:endParaRPr lang="en-ZA" dirty="0"/>
                    </a:p>
                  </a:txBody>
                  <a:tcPr/>
                </a:tc>
                <a:extLst>
                  <a:ext uri="{0D108BD9-81ED-4DB2-BD59-A6C34878D82A}">
                    <a16:rowId xmlns:a16="http://schemas.microsoft.com/office/drawing/2014/main" val="1625638842"/>
                  </a:ext>
                </a:extLst>
              </a:tr>
              <a:tr h="422169">
                <a:tc>
                  <a:txBody>
                    <a:bodyPr/>
                    <a:lstStyle/>
                    <a:p>
                      <a:r>
                        <a:rPr lang="en-ZA" sz="1800" dirty="0">
                          <a:solidFill>
                            <a:schemeClr val="dk1"/>
                          </a:solidFill>
                          <a:effectLst/>
                          <a:latin typeface="+mn-lt"/>
                          <a:ea typeface="+mn-ea"/>
                          <a:cs typeface="+mn-cs"/>
                        </a:rPr>
                        <a:t>Mobile Computing.</a:t>
                      </a:r>
                      <a:endParaRPr lang="en-ZA" dirty="0"/>
                    </a:p>
                  </a:txBody>
                  <a:tcPr/>
                </a:tc>
                <a:extLst>
                  <a:ext uri="{0D108BD9-81ED-4DB2-BD59-A6C34878D82A}">
                    <a16:rowId xmlns:a16="http://schemas.microsoft.com/office/drawing/2014/main" val="2643341948"/>
                  </a:ext>
                </a:extLst>
              </a:tr>
              <a:tr h="422169">
                <a:tc>
                  <a:txBody>
                    <a:bodyPr/>
                    <a:lstStyle/>
                    <a:p>
                      <a:r>
                        <a:rPr lang="en-ZA" sz="1800" dirty="0">
                          <a:solidFill>
                            <a:schemeClr val="dk1"/>
                          </a:solidFill>
                          <a:effectLst/>
                          <a:latin typeface="+mn-lt"/>
                          <a:ea typeface="+mn-ea"/>
                          <a:cs typeface="+mn-cs"/>
                        </a:rPr>
                        <a:t>Networks and Cybersecurity.</a:t>
                      </a:r>
                      <a:endParaRPr lang="en-ZA" dirty="0"/>
                    </a:p>
                  </a:txBody>
                  <a:tcPr/>
                </a:tc>
                <a:extLst>
                  <a:ext uri="{0D108BD9-81ED-4DB2-BD59-A6C34878D82A}">
                    <a16:rowId xmlns:a16="http://schemas.microsoft.com/office/drawing/2014/main" val="3022911858"/>
                  </a:ext>
                </a:extLst>
              </a:tr>
              <a:tr h="422169">
                <a:tc>
                  <a:txBody>
                    <a:bodyPr/>
                    <a:lstStyle/>
                    <a:p>
                      <a:r>
                        <a:rPr lang="en-ZA" sz="1800" dirty="0">
                          <a:solidFill>
                            <a:schemeClr val="dk1"/>
                          </a:solidFill>
                          <a:effectLst/>
                          <a:latin typeface="+mn-lt"/>
                          <a:ea typeface="+mn-ea"/>
                          <a:cs typeface="+mn-cs"/>
                        </a:rPr>
                        <a:t>Virtual and Augmented Reality.</a:t>
                      </a:r>
                      <a:endParaRPr lang="en-ZA" dirty="0"/>
                    </a:p>
                  </a:txBody>
                  <a:tcPr/>
                </a:tc>
                <a:extLst>
                  <a:ext uri="{0D108BD9-81ED-4DB2-BD59-A6C34878D82A}">
                    <a16:rowId xmlns:a16="http://schemas.microsoft.com/office/drawing/2014/main" val="2241336783"/>
                  </a:ext>
                </a:extLst>
              </a:tr>
              <a:tr h="422169">
                <a:tc>
                  <a:txBody>
                    <a:bodyPr/>
                    <a:lstStyle/>
                    <a:p>
                      <a:r>
                        <a:rPr lang="en-ZA" sz="1800" dirty="0">
                          <a:solidFill>
                            <a:schemeClr val="dk1"/>
                          </a:solidFill>
                          <a:effectLst/>
                          <a:latin typeface="+mn-lt"/>
                          <a:ea typeface="+mn-ea"/>
                          <a:cs typeface="+mn-cs"/>
                        </a:rPr>
                        <a:t>Machine learning</a:t>
                      </a:r>
                      <a:endParaRPr lang="en-ZA" dirty="0"/>
                    </a:p>
                  </a:txBody>
                  <a:tcPr/>
                </a:tc>
                <a:extLst>
                  <a:ext uri="{0D108BD9-81ED-4DB2-BD59-A6C34878D82A}">
                    <a16:rowId xmlns:a16="http://schemas.microsoft.com/office/drawing/2014/main" val="539295856"/>
                  </a:ext>
                </a:extLst>
              </a:tr>
              <a:tr h="422169">
                <a:tc>
                  <a:txBody>
                    <a:bodyPr/>
                    <a:lstStyle/>
                    <a:p>
                      <a:r>
                        <a:rPr lang="en-ZA" sz="1800" dirty="0">
                          <a:solidFill>
                            <a:schemeClr val="dk1"/>
                          </a:solidFill>
                          <a:effectLst/>
                          <a:latin typeface="+mn-lt"/>
                          <a:ea typeface="+mn-ea"/>
                          <a:cs typeface="+mn-cs"/>
                        </a:rPr>
                        <a:t>Social and professional issues in Computing</a:t>
                      </a:r>
                      <a:endParaRPr lang="en-ZA" dirty="0"/>
                    </a:p>
                  </a:txBody>
                  <a:tcPr/>
                </a:tc>
                <a:extLst>
                  <a:ext uri="{0D108BD9-81ED-4DB2-BD59-A6C34878D82A}">
                    <a16:rowId xmlns:a16="http://schemas.microsoft.com/office/drawing/2014/main" val="3668954085"/>
                  </a:ext>
                </a:extLst>
              </a:tr>
            </a:tbl>
          </a:graphicData>
        </a:graphic>
      </p:graphicFrame>
    </p:spTree>
    <p:extLst>
      <p:ext uri="{BB962C8B-B14F-4D97-AF65-F5344CB8AC3E}">
        <p14:creationId xmlns:p14="http://schemas.microsoft.com/office/powerpoint/2010/main" val="33758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304DB-D913-6C2B-778E-E3B0E4438A40}"/>
              </a:ext>
            </a:extLst>
          </p:cNvPr>
          <p:cNvSpPr>
            <a:spLocks noGrp="1"/>
          </p:cNvSpPr>
          <p:nvPr>
            <p:ph type="title"/>
          </p:nvPr>
        </p:nvSpPr>
        <p:spPr>
          <a:xfrm>
            <a:off x="535940" y="612510"/>
            <a:ext cx="7787322" cy="553998"/>
          </a:xfrm>
        </p:spPr>
        <p:txBody>
          <a:bodyPr/>
          <a:lstStyle/>
          <a:p>
            <a:r>
              <a:rPr lang="en-US" dirty="0"/>
              <a:t>	Assessments (Continuous)</a:t>
            </a:r>
            <a:endParaRPr lang="en-ZA" dirty="0"/>
          </a:p>
        </p:txBody>
      </p:sp>
      <p:sp>
        <p:nvSpPr>
          <p:cNvPr id="3" name="Text Placeholder 2">
            <a:extLst>
              <a:ext uri="{FF2B5EF4-FFF2-40B4-BE49-F238E27FC236}">
                <a16:creationId xmlns:a16="http://schemas.microsoft.com/office/drawing/2014/main" id="{7FFCFE70-E877-7EA6-98E3-F9F7AE5C0430}"/>
              </a:ext>
            </a:extLst>
          </p:cNvPr>
          <p:cNvSpPr>
            <a:spLocks noGrp="1"/>
          </p:cNvSpPr>
          <p:nvPr>
            <p:ph type="body" idx="1"/>
          </p:nvPr>
        </p:nvSpPr>
        <p:spPr/>
        <p:txBody>
          <a:bodyPr/>
          <a:lstStyle/>
          <a:p>
            <a:endParaRPr lang="en-ZA" dirty="0"/>
          </a:p>
        </p:txBody>
      </p:sp>
      <p:pic>
        <p:nvPicPr>
          <p:cNvPr id="7" name="Picture 6">
            <a:extLst>
              <a:ext uri="{FF2B5EF4-FFF2-40B4-BE49-F238E27FC236}">
                <a16:creationId xmlns:a16="http://schemas.microsoft.com/office/drawing/2014/main" id="{B585A4CC-0087-03FC-F1B7-892911AF5B84}"/>
              </a:ext>
            </a:extLst>
          </p:cNvPr>
          <p:cNvPicPr>
            <a:picLocks noChangeAspect="1"/>
          </p:cNvPicPr>
          <p:nvPr/>
        </p:nvPicPr>
        <p:blipFill>
          <a:blip r:embed="rId2"/>
          <a:stretch>
            <a:fillRect/>
          </a:stretch>
        </p:blipFill>
        <p:spPr>
          <a:xfrm>
            <a:off x="283466" y="1461136"/>
            <a:ext cx="8039796" cy="3237930"/>
          </a:xfrm>
          <a:prstGeom prst="rect">
            <a:avLst/>
          </a:prstGeom>
        </p:spPr>
      </p:pic>
    </p:spTree>
    <p:extLst>
      <p:ext uri="{BB962C8B-B14F-4D97-AF65-F5344CB8AC3E}">
        <p14:creationId xmlns:p14="http://schemas.microsoft.com/office/powerpoint/2010/main" val="842390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47357" rIns="0" bIns="0" rtlCol="0">
            <a:spAutoFit/>
          </a:bodyPr>
          <a:lstStyle/>
          <a:p>
            <a:pPr marL="1369695">
              <a:lnSpc>
                <a:spcPct val="100000"/>
              </a:lnSpc>
              <a:spcBef>
                <a:spcPts val="105"/>
              </a:spcBef>
            </a:pPr>
            <a:r>
              <a:rPr spc="-10" dirty="0"/>
              <a:t>Intelligent</a:t>
            </a:r>
            <a:r>
              <a:rPr spc="-175" dirty="0"/>
              <a:t> </a:t>
            </a:r>
            <a:r>
              <a:rPr spc="-10" dirty="0"/>
              <a:t>Agents</a:t>
            </a:r>
          </a:p>
        </p:txBody>
      </p:sp>
      <p:pic>
        <p:nvPicPr>
          <p:cNvPr id="3" name="object 3"/>
          <p:cNvPicPr/>
          <p:nvPr/>
        </p:nvPicPr>
        <p:blipFill>
          <a:blip r:embed="rId3" cstate="print"/>
          <a:stretch>
            <a:fillRect/>
          </a:stretch>
        </p:blipFill>
        <p:spPr>
          <a:xfrm>
            <a:off x="777239" y="2185415"/>
            <a:ext cx="216407" cy="227075"/>
          </a:xfrm>
          <a:prstGeom prst="rect">
            <a:avLst/>
          </a:prstGeom>
        </p:spPr>
      </p:pic>
      <p:sp>
        <p:nvSpPr>
          <p:cNvPr id="4" name="object 4"/>
          <p:cNvSpPr txBox="1"/>
          <p:nvPr/>
        </p:nvSpPr>
        <p:spPr>
          <a:xfrm>
            <a:off x="1105916" y="1887720"/>
            <a:ext cx="7133590" cy="3814445"/>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What</a:t>
            </a:r>
            <a:r>
              <a:rPr sz="3200" spc="-70" dirty="0">
                <a:latin typeface="Calibri"/>
                <a:cs typeface="Calibri"/>
              </a:rPr>
              <a:t> </a:t>
            </a:r>
            <a:r>
              <a:rPr sz="3200" dirty="0">
                <a:latin typeface="Calibri"/>
                <a:cs typeface="Calibri"/>
              </a:rPr>
              <a:t>is</a:t>
            </a:r>
            <a:r>
              <a:rPr sz="3200" spc="-65" dirty="0">
                <a:latin typeface="Calibri"/>
                <a:cs typeface="Calibri"/>
              </a:rPr>
              <a:t> </a:t>
            </a:r>
            <a:r>
              <a:rPr sz="3200" dirty="0">
                <a:latin typeface="Calibri"/>
                <a:cs typeface="Calibri"/>
              </a:rPr>
              <a:t>an</a:t>
            </a:r>
            <a:r>
              <a:rPr sz="3200" spc="-75" dirty="0">
                <a:latin typeface="Calibri"/>
                <a:cs typeface="Calibri"/>
              </a:rPr>
              <a:t> </a:t>
            </a:r>
            <a:r>
              <a:rPr sz="3200" dirty="0">
                <a:latin typeface="Calibri"/>
                <a:cs typeface="Calibri"/>
              </a:rPr>
              <a:t>agent</a:t>
            </a:r>
            <a:r>
              <a:rPr sz="3200" spc="-65" dirty="0">
                <a:latin typeface="Calibri"/>
                <a:cs typeface="Calibri"/>
              </a:rPr>
              <a:t> </a:t>
            </a:r>
            <a:r>
              <a:rPr sz="3200" spc="-50" dirty="0">
                <a:latin typeface="Calibri"/>
                <a:cs typeface="Calibri"/>
              </a:rPr>
              <a:t>?</a:t>
            </a:r>
            <a:endParaRPr sz="3200" dirty="0">
              <a:latin typeface="Calibri"/>
              <a:cs typeface="Calibri"/>
            </a:endParaRPr>
          </a:p>
          <a:p>
            <a:pPr marL="412115" marR="5080" indent="-284480">
              <a:lnSpc>
                <a:spcPct val="100000"/>
              </a:lnSpc>
              <a:spcBef>
                <a:spcPts val="690"/>
              </a:spcBef>
              <a:buClr>
                <a:srgbClr val="C09E4A"/>
              </a:buClr>
              <a:buSzPct val="69642"/>
              <a:buFont typeface="Wingdings"/>
              <a:buChar char=""/>
              <a:tabLst>
                <a:tab pos="413384" algn="l"/>
                <a:tab pos="4191000" algn="l"/>
              </a:tabLst>
            </a:pPr>
            <a:r>
              <a:rPr sz="2800" dirty="0">
                <a:latin typeface="Calibri"/>
                <a:cs typeface="Calibri"/>
              </a:rPr>
              <a:t>An</a:t>
            </a:r>
            <a:r>
              <a:rPr sz="2800" spc="-70" dirty="0">
                <a:latin typeface="Calibri"/>
                <a:cs typeface="Calibri"/>
              </a:rPr>
              <a:t> </a:t>
            </a:r>
            <a:r>
              <a:rPr sz="2800" b="1" dirty="0">
                <a:solidFill>
                  <a:srgbClr val="C00000"/>
                </a:solidFill>
                <a:latin typeface="Calibri"/>
                <a:cs typeface="Calibri"/>
              </a:rPr>
              <a:t>agent</a:t>
            </a:r>
            <a:r>
              <a:rPr sz="2800" b="1" spc="-50" dirty="0">
                <a:solidFill>
                  <a:srgbClr val="C00000"/>
                </a:solidFill>
                <a:latin typeface="Calibri"/>
                <a:cs typeface="Calibri"/>
              </a:rPr>
              <a:t> </a:t>
            </a:r>
            <a:r>
              <a:rPr sz="2800" dirty="0">
                <a:latin typeface="Calibri"/>
                <a:cs typeface="Calibri"/>
              </a:rPr>
              <a:t>is</a:t>
            </a:r>
            <a:r>
              <a:rPr sz="2800" spc="-65" dirty="0">
                <a:latin typeface="Calibri"/>
                <a:cs typeface="Calibri"/>
              </a:rPr>
              <a:t> </a:t>
            </a:r>
            <a:r>
              <a:rPr sz="2800" dirty="0">
                <a:latin typeface="Calibri"/>
                <a:cs typeface="Calibri"/>
              </a:rPr>
              <a:t>anything</a:t>
            </a:r>
            <a:r>
              <a:rPr sz="2800" spc="-50" dirty="0">
                <a:latin typeface="Calibri"/>
                <a:cs typeface="Calibri"/>
              </a:rPr>
              <a:t> </a:t>
            </a:r>
            <a:r>
              <a:rPr sz="2800" spc="-20" dirty="0">
                <a:latin typeface="Calibri"/>
                <a:cs typeface="Calibri"/>
              </a:rPr>
              <a:t>that</a:t>
            </a:r>
            <a:r>
              <a:rPr sz="2800">
                <a:latin typeface="Calibri"/>
                <a:cs typeface="Calibri"/>
              </a:rPr>
              <a:t>	</a:t>
            </a:r>
            <a:r>
              <a:rPr sz="2800" b="1" spc="-10">
                <a:solidFill>
                  <a:srgbClr val="C00000"/>
                </a:solidFill>
                <a:latin typeface="Calibri"/>
                <a:cs typeface="Calibri"/>
              </a:rPr>
              <a:t>perceiv</a:t>
            </a:r>
            <a:r>
              <a:rPr lang="en-US" sz="2800" b="1" spc="-10">
                <a:solidFill>
                  <a:srgbClr val="C00000"/>
                </a:solidFill>
                <a:latin typeface="Calibri"/>
                <a:cs typeface="Calibri"/>
              </a:rPr>
              <a:t>es</a:t>
            </a:r>
            <a:r>
              <a:rPr sz="2800" b="1" spc="-65">
                <a:solidFill>
                  <a:srgbClr val="C00000"/>
                </a:solidFill>
                <a:latin typeface="Calibri"/>
                <a:cs typeface="Calibri"/>
              </a:rPr>
              <a:t> </a:t>
            </a:r>
            <a:r>
              <a:rPr sz="2800" spc="-25" dirty="0">
                <a:latin typeface="Calibri"/>
                <a:cs typeface="Calibri"/>
              </a:rPr>
              <a:t>its 	</a:t>
            </a:r>
            <a:r>
              <a:rPr sz="2800" spc="-10" dirty="0">
                <a:latin typeface="Calibri"/>
                <a:cs typeface="Calibri"/>
              </a:rPr>
              <a:t>environment</a:t>
            </a:r>
            <a:r>
              <a:rPr sz="2800" spc="-60" dirty="0">
                <a:latin typeface="Calibri"/>
                <a:cs typeface="Calibri"/>
              </a:rPr>
              <a:t> </a:t>
            </a:r>
            <a:r>
              <a:rPr sz="2800" dirty="0">
                <a:latin typeface="Calibri"/>
                <a:cs typeface="Calibri"/>
              </a:rPr>
              <a:t>through</a:t>
            </a:r>
            <a:r>
              <a:rPr sz="2800" spc="-65" dirty="0">
                <a:latin typeface="Calibri"/>
                <a:cs typeface="Calibri"/>
              </a:rPr>
              <a:t> </a:t>
            </a:r>
            <a:r>
              <a:rPr sz="2800" b="1" dirty="0">
                <a:solidFill>
                  <a:srgbClr val="C00000"/>
                </a:solidFill>
                <a:latin typeface="Calibri"/>
                <a:cs typeface="Calibri"/>
              </a:rPr>
              <a:t>sensors</a:t>
            </a:r>
            <a:r>
              <a:rPr sz="2800" b="1" spc="-80" dirty="0">
                <a:solidFill>
                  <a:srgbClr val="C00000"/>
                </a:solidFill>
                <a:latin typeface="Calibri"/>
                <a:cs typeface="Calibri"/>
              </a:rPr>
              <a:t> </a:t>
            </a:r>
            <a:r>
              <a:rPr sz="2800" dirty="0">
                <a:latin typeface="Calibri"/>
                <a:cs typeface="Calibri"/>
              </a:rPr>
              <a:t>and</a:t>
            </a:r>
            <a:r>
              <a:rPr sz="2800" spc="-80" dirty="0">
                <a:latin typeface="Calibri"/>
                <a:cs typeface="Calibri"/>
              </a:rPr>
              <a:t> </a:t>
            </a:r>
            <a:r>
              <a:rPr sz="2800" b="1" dirty="0">
                <a:solidFill>
                  <a:srgbClr val="C00000"/>
                </a:solidFill>
                <a:latin typeface="Calibri"/>
                <a:cs typeface="Calibri"/>
              </a:rPr>
              <a:t>acting</a:t>
            </a:r>
            <a:r>
              <a:rPr sz="2800" b="1" spc="-75" dirty="0">
                <a:solidFill>
                  <a:srgbClr val="C00000"/>
                </a:solidFill>
                <a:latin typeface="Calibri"/>
                <a:cs typeface="Calibri"/>
              </a:rPr>
              <a:t> </a:t>
            </a:r>
            <a:r>
              <a:rPr sz="2800" spc="-20" dirty="0">
                <a:latin typeface="Calibri"/>
                <a:cs typeface="Calibri"/>
              </a:rPr>
              <a:t>upon 	</a:t>
            </a:r>
            <a:r>
              <a:rPr sz="2800" dirty="0">
                <a:latin typeface="Calibri"/>
                <a:cs typeface="Calibri"/>
              </a:rPr>
              <a:t>that</a:t>
            </a:r>
            <a:r>
              <a:rPr sz="2800" spc="-85" dirty="0">
                <a:latin typeface="Calibri"/>
                <a:cs typeface="Calibri"/>
              </a:rPr>
              <a:t> </a:t>
            </a:r>
            <a:r>
              <a:rPr sz="2800" spc="-20" dirty="0">
                <a:latin typeface="Calibri"/>
                <a:cs typeface="Calibri"/>
              </a:rPr>
              <a:t>environment</a:t>
            </a:r>
            <a:r>
              <a:rPr sz="2800" spc="-65" dirty="0">
                <a:latin typeface="Calibri"/>
                <a:cs typeface="Calibri"/>
              </a:rPr>
              <a:t> </a:t>
            </a:r>
            <a:r>
              <a:rPr sz="2800" dirty="0">
                <a:latin typeface="Calibri"/>
                <a:cs typeface="Calibri"/>
              </a:rPr>
              <a:t>through</a:t>
            </a:r>
            <a:r>
              <a:rPr sz="2800" spc="-60" dirty="0">
                <a:latin typeface="Calibri"/>
                <a:cs typeface="Calibri"/>
              </a:rPr>
              <a:t> </a:t>
            </a:r>
            <a:r>
              <a:rPr sz="2800" b="1" spc="-10" dirty="0">
                <a:solidFill>
                  <a:srgbClr val="C00000"/>
                </a:solidFill>
                <a:latin typeface="Calibri"/>
                <a:cs typeface="Calibri"/>
              </a:rPr>
              <a:t>actuators</a:t>
            </a:r>
            <a:endParaRPr sz="2800" dirty="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spc="-10" dirty="0">
                <a:latin typeface="Calibri"/>
                <a:cs typeface="Calibri"/>
              </a:rPr>
              <a:t>Example:</a:t>
            </a:r>
            <a:endParaRPr sz="2800" dirty="0">
              <a:latin typeface="Calibri"/>
              <a:cs typeface="Calibri"/>
            </a:endParaRPr>
          </a:p>
          <a:p>
            <a:pPr marL="813435" lvl="1" indent="-227965">
              <a:lnSpc>
                <a:spcPct val="100000"/>
              </a:lnSpc>
              <a:spcBef>
                <a:spcPts val="605"/>
              </a:spcBef>
              <a:buClr>
                <a:srgbClr val="666699"/>
              </a:buClr>
              <a:buSzPct val="64583"/>
              <a:buFont typeface="Wingdings"/>
              <a:buChar char=""/>
              <a:tabLst>
                <a:tab pos="813435" algn="l"/>
              </a:tabLst>
            </a:pPr>
            <a:r>
              <a:rPr sz="2400" dirty="0">
                <a:latin typeface="Calibri"/>
                <a:cs typeface="Calibri"/>
              </a:rPr>
              <a:t>Human</a:t>
            </a:r>
            <a:r>
              <a:rPr sz="2400" spc="-40" dirty="0">
                <a:latin typeface="Calibri"/>
                <a:cs typeface="Calibri"/>
              </a:rPr>
              <a:t> </a:t>
            </a:r>
            <a:r>
              <a:rPr sz="2400" dirty="0">
                <a:latin typeface="Calibri"/>
                <a:cs typeface="Calibri"/>
              </a:rPr>
              <a:t>is</a:t>
            </a:r>
            <a:r>
              <a:rPr sz="2400" spc="-30" dirty="0">
                <a:latin typeface="Calibri"/>
                <a:cs typeface="Calibri"/>
              </a:rPr>
              <a:t> </a:t>
            </a:r>
            <a:r>
              <a:rPr sz="2400" dirty="0">
                <a:latin typeface="Calibri"/>
                <a:cs typeface="Calibri"/>
              </a:rPr>
              <a:t>an</a:t>
            </a:r>
            <a:r>
              <a:rPr sz="2400" spc="-25" dirty="0">
                <a:latin typeface="Calibri"/>
                <a:cs typeface="Calibri"/>
              </a:rPr>
              <a:t> </a:t>
            </a:r>
            <a:r>
              <a:rPr sz="2400" spc="-20" dirty="0">
                <a:latin typeface="Calibri"/>
                <a:cs typeface="Calibri"/>
              </a:rPr>
              <a:t>agent</a:t>
            </a:r>
            <a:endParaRPr sz="2400" dirty="0">
              <a:latin typeface="Calibri"/>
              <a:cs typeface="Calibri"/>
            </a:endParaRPr>
          </a:p>
          <a:p>
            <a:pPr marL="813435" lvl="1" indent="-227965">
              <a:lnSpc>
                <a:spcPct val="100000"/>
              </a:lnSpc>
              <a:spcBef>
                <a:spcPts val="575"/>
              </a:spcBef>
              <a:buClr>
                <a:srgbClr val="666699"/>
              </a:buClr>
              <a:buSzPct val="64583"/>
              <a:buFont typeface="Wingdings"/>
              <a:buChar char=""/>
              <a:tabLst>
                <a:tab pos="813435" algn="l"/>
              </a:tabLst>
            </a:pPr>
            <a:r>
              <a:rPr sz="2400" dirty="0">
                <a:latin typeface="Calibri"/>
                <a:cs typeface="Calibri"/>
              </a:rPr>
              <a:t>A</a:t>
            </a:r>
            <a:r>
              <a:rPr sz="2400" spc="-55" dirty="0">
                <a:latin typeface="Calibri"/>
                <a:cs typeface="Calibri"/>
              </a:rPr>
              <a:t> </a:t>
            </a:r>
            <a:r>
              <a:rPr sz="2400" dirty="0">
                <a:latin typeface="Calibri"/>
                <a:cs typeface="Calibri"/>
              </a:rPr>
              <a:t>robot</a:t>
            </a:r>
            <a:r>
              <a:rPr sz="2400" spc="-45"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also</a:t>
            </a:r>
            <a:r>
              <a:rPr sz="2400" spc="-50" dirty="0">
                <a:latin typeface="Calibri"/>
                <a:cs typeface="Calibri"/>
              </a:rPr>
              <a:t> </a:t>
            </a:r>
            <a:r>
              <a:rPr sz="2400" dirty="0">
                <a:latin typeface="Calibri"/>
                <a:cs typeface="Calibri"/>
              </a:rPr>
              <a:t>an</a:t>
            </a:r>
            <a:r>
              <a:rPr sz="2400" spc="-55" dirty="0">
                <a:latin typeface="Calibri"/>
                <a:cs typeface="Calibri"/>
              </a:rPr>
              <a:t> </a:t>
            </a:r>
            <a:r>
              <a:rPr sz="2400" dirty="0">
                <a:latin typeface="Calibri"/>
                <a:cs typeface="Calibri"/>
              </a:rPr>
              <a:t>agent</a:t>
            </a:r>
            <a:r>
              <a:rPr sz="2400" spc="-45" dirty="0">
                <a:latin typeface="Calibri"/>
                <a:cs typeface="Calibri"/>
              </a:rPr>
              <a:t> </a:t>
            </a:r>
            <a:r>
              <a:rPr sz="2400" dirty="0">
                <a:latin typeface="Calibri"/>
                <a:cs typeface="Calibri"/>
              </a:rPr>
              <a:t>with</a:t>
            </a:r>
            <a:r>
              <a:rPr sz="2400" spc="-60" dirty="0">
                <a:latin typeface="Calibri"/>
                <a:cs typeface="Calibri"/>
              </a:rPr>
              <a:t> </a:t>
            </a:r>
            <a:r>
              <a:rPr sz="2400" dirty="0">
                <a:latin typeface="Calibri"/>
                <a:cs typeface="Calibri"/>
              </a:rPr>
              <a:t>cameras</a:t>
            </a:r>
            <a:r>
              <a:rPr sz="2400" spc="-60" dirty="0">
                <a:latin typeface="Calibri"/>
                <a:cs typeface="Calibri"/>
              </a:rPr>
              <a:t> </a:t>
            </a:r>
            <a:r>
              <a:rPr sz="2400" dirty="0">
                <a:latin typeface="Calibri"/>
                <a:cs typeface="Calibri"/>
              </a:rPr>
              <a:t>and</a:t>
            </a:r>
            <a:r>
              <a:rPr sz="2400" spc="-45" dirty="0">
                <a:latin typeface="Calibri"/>
                <a:cs typeface="Calibri"/>
              </a:rPr>
              <a:t> </a:t>
            </a:r>
            <a:r>
              <a:rPr sz="2400" spc="-10" dirty="0">
                <a:latin typeface="Calibri"/>
                <a:cs typeface="Calibri"/>
              </a:rPr>
              <a:t>motors</a:t>
            </a:r>
            <a:endParaRPr sz="2400" dirty="0">
              <a:latin typeface="Calibri"/>
              <a:cs typeface="Calibri"/>
            </a:endParaRPr>
          </a:p>
          <a:p>
            <a:pPr marL="813435" lvl="1" indent="-227965">
              <a:lnSpc>
                <a:spcPct val="100000"/>
              </a:lnSpc>
              <a:spcBef>
                <a:spcPts val="575"/>
              </a:spcBef>
              <a:buClr>
                <a:srgbClr val="666699"/>
              </a:buClr>
              <a:buSzPct val="64583"/>
              <a:buFont typeface="Wingdings"/>
              <a:buChar char=""/>
              <a:tabLst>
                <a:tab pos="813435" algn="l"/>
              </a:tabLst>
            </a:pPr>
            <a:r>
              <a:rPr sz="2400" dirty="0">
                <a:latin typeface="Calibri"/>
                <a:cs typeface="Calibri"/>
              </a:rPr>
              <a:t>A</a:t>
            </a:r>
            <a:r>
              <a:rPr sz="2400" spc="-60" dirty="0">
                <a:latin typeface="Calibri"/>
                <a:cs typeface="Calibri"/>
              </a:rPr>
              <a:t> </a:t>
            </a:r>
            <a:r>
              <a:rPr sz="2400" spc="-10" dirty="0">
                <a:latin typeface="Calibri"/>
                <a:cs typeface="Calibri"/>
              </a:rPr>
              <a:t>thermostat</a:t>
            </a:r>
            <a:r>
              <a:rPr sz="2400" spc="-70" dirty="0">
                <a:latin typeface="Calibri"/>
                <a:cs typeface="Calibri"/>
              </a:rPr>
              <a:t> </a:t>
            </a:r>
            <a:r>
              <a:rPr sz="2400" dirty="0">
                <a:latin typeface="Calibri"/>
                <a:cs typeface="Calibri"/>
              </a:rPr>
              <a:t>detecting</a:t>
            </a:r>
            <a:r>
              <a:rPr sz="2400" spc="-70" dirty="0">
                <a:latin typeface="Calibri"/>
                <a:cs typeface="Calibri"/>
              </a:rPr>
              <a:t> </a:t>
            </a:r>
            <a:r>
              <a:rPr sz="2400" dirty="0">
                <a:latin typeface="Calibri"/>
                <a:cs typeface="Calibri"/>
              </a:rPr>
              <a:t>room</a:t>
            </a:r>
            <a:r>
              <a:rPr sz="2400" spc="-45" dirty="0">
                <a:latin typeface="Calibri"/>
                <a:cs typeface="Calibri"/>
              </a:rPr>
              <a:t> </a:t>
            </a:r>
            <a:r>
              <a:rPr sz="2400" spc="-10" dirty="0">
                <a:latin typeface="Calibri"/>
                <a:cs typeface="Calibri"/>
              </a:rPr>
              <a:t>temperature.</a:t>
            </a:r>
            <a:endParaRPr sz="24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5A47750-BE04-5E1A-B614-C8563195B4CF}"/>
              </a:ext>
            </a:extLst>
          </p:cNvPr>
          <p:cNvSpPr>
            <a:spLocks noGrp="1" noChangeArrowheads="1"/>
          </p:cNvSpPr>
          <p:nvPr>
            <p:ph type="title"/>
          </p:nvPr>
        </p:nvSpPr>
        <p:spPr>
          <a:xfrm>
            <a:off x="1752600" y="232981"/>
            <a:ext cx="4699858" cy="719519"/>
          </a:xfrm>
        </p:spPr>
        <p:txBody>
          <a:bodyPr/>
          <a:lstStyle/>
          <a:p>
            <a:r>
              <a:rPr lang="en-US" altLang="en-US" dirty="0">
                <a:solidFill>
                  <a:srgbClr val="CC3300"/>
                </a:solidFill>
              </a:rPr>
              <a:t>What is an Agent?</a:t>
            </a:r>
          </a:p>
        </p:txBody>
      </p:sp>
      <p:sp>
        <p:nvSpPr>
          <p:cNvPr id="3075" name="Rectangle 3">
            <a:extLst>
              <a:ext uri="{FF2B5EF4-FFF2-40B4-BE49-F238E27FC236}">
                <a16:creationId xmlns:a16="http://schemas.microsoft.com/office/drawing/2014/main" id="{C15DE248-01AF-BCD9-4C29-81DE9EC89804}"/>
              </a:ext>
            </a:extLst>
          </p:cNvPr>
          <p:cNvSpPr>
            <a:spLocks noGrp="1" noChangeArrowheads="1"/>
          </p:cNvSpPr>
          <p:nvPr>
            <p:ph type="body" idx="1"/>
          </p:nvPr>
        </p:nvSpPr>
        <p:spPr>
          <a:xfrm>
            <a:off x="457200" y="990600"/>
            <a:ext cx="8458200" cy="2971800"/>
          </a:xfrm>
        </p:spPr>
        <p:txBody>
          <a:bodyPr/>
          <a:lstStyle/>
          <a:p>
            <a:r>
              <a:rPr lang="en-US" altLang="en-US" dirty="0"/>
              <a:t>The main point about agents is they are </a:t>
            </a:r>
            <a:r>
              <a:rPr lang="en-US" altLang="en-US" i="1" dirty="0">
                <a:solidFill>
                  <a:srgbClr val="003399"/>
                </a:solidFill>
              </a:rPr>
              <a:t>autonomous</a:t>
            </a:r>
            <a:r>
              <a:rPr lang="en-US" altLang="en-US" dirty="0"/>
              <a:t>: capable of acting independently, exhibiting control over their internal state</a:t>
            </a:r>
          </a:p>
          <a:p>
            <a:r>
              <a:rPr lang="en-US" altLang="en-US" dirty="0"/>
              <a:t>Thus: </a:t>
            </a:r>
            <a:r>
              <a:rPr lang="en-US" altLang="en-US" i="1" dirty="0">
                <a:solidFill>
                  <a:srgbClr val="003399"/>
                </a:solidFill>
              </a:rPr>
              <a:t>an</a:t>
            </a:r>
            <a:r>
              <a:rPr lang="en-US" altLang="en-US" dirty="0">
                <a:solidFill>
                  <a:srgbClr val="003399"/>
                </a:solidFill>
              </a:rPr>
              <a:t> agent</a:t>
            </a:r>
            <a:r>
              <a:rPr lang="en-US" altLang="en-US" i="1" dirty="0">
                <a:solidFill>
                  <a:srgbClr val="003399"/>
                </a:solidFill>
              </a:rPr>
              <a:t> is a computer system capable of </a:t>
            </a:r>
            <a:r>
              <a:rPr lang="en-US" altLang="en-US" dirty="0">
                <a:solidFill>
                  <a:srgbClr val="003399"/>
                </a:solidFill>
              </a:rPr>
              <a:t>autonomous action </a:t>
            </a:r>
            <a:r>
              <a:rPr lang="en-US" altLang="en-US" i="1" dirty="0">
                <a:solidFill>
                  <a:srgbClr val="003399"/>
                </a:solidFill>
              </a:rPr>
              <a:t>in some environment to meet its </a:t>
            </a:r>
            <a:r>
              <a:rPr lang="en-US" altLang="en-US" dirty="0">
                <a:solidFill>
                  <a:srgbClr val="003399"/>
                </a:solidFill>
              </a:rPr>
              <a:t>design objectives</a:t>
            </a:r>
            <a:endParaRPr lang="en-US" altLang="en-US" dirty="0"/>
          </a:p>
        </p:txBody>
      </p:sp>
      <p:sp>
        <p:nvSpPr>
          <p:cNvPr id="3076" name="Rectangle 4">
            <a:extLst>
              <a:ext uri="{FF2B5EF4-FFF2-40B4-BE49-F238E27FC236}">
                <a16:creationId xmlns:a16="http://schemas.microsoft.com/office/drawing/2014/main" id="{CDC344D8-E453-9DF6-9380-A90424958915}"/>
              </a:ext>
            </a:extLst>
          </p:cNvPr>
          <p:cNvSpPr>
            <a:spLocks noChangeArrowheads="1"/>
          </p:cNvSpPr>
          <p:nvPr/>
        </p:nvSpPr>
        <p:spPr bwMode="auto">
          <a:xfrm>
            <a:off x="3124200" y="4038600"/>
            <a:ext cx="25908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dirty="0"/>
          </a:p>
        </p:txBody>
      </p:sp>
      <p:sp>
        <p:nvSpPr>
          <p:cNvPr id="3077" name="Rectangle 5">
            <a:extLst>
              <a:ext uri="{FF2B5EF4-FFF2-40B4-BE49-F238E27FC236}">
                <a16:creationId xmlns:a16="http://schemas.microsoft.com/office/drawing/2014/main" id="{C06F673B-4D33-2A49-F4BC-920D16BBE8AF}"/>
              </a:ext>
            </a:extLst>
          </p:cNvPr>
          <p:cNvSpPr>
            <a:spLocks noChangeArrowheads="1"/>
          </p:cNvSpPr>
          <p:nvPr/>
        </p:nvSpPr>
        <p:spPr bwMode="auto">
          <a:xfrm>
            <a:off x="3124200" y="5334000"/>
            <a:ext cx="25908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dirty="0"/>
          </a:p>
        </p:txBody>
      </p:sp>
      <p:sp>
        <p:nvSpPr>
          <p:cNvPr id="3078" name="Text Box 6">
            <a:extLst>
              <a:ext uri="{FF2B5EF4-FFF2-40B4-BE49-F238E27FC236}">
                <a16:creationId xmlns:a16="http://schemas.microsoft.com/office/drawing/2014/main" id="{2CE9F22F-8978-8B8F-F103-72A49AB7F97C}"/>
              </a:ext>
            </a:extLst>
          </p:cNvPr>
          <p:cNvSpPr txBox="1">
            <a:spLocks noChangeArrowheads="1"/>
          </p:cNvSpPr>
          <p:nvPr/>
        </p:nvSpPr>
        <p:spPr bwMode="auto">
          <a:xfrm>
            <a:off x="3886200" y="4267200"/>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SYSTEM</a:t>
            </a:r>
          </a:p>
        </p:txBody>
      </p:sp>
      <p:sp>
        <p:nvSpPr>
          <p:cNvPr id="3079" name="Text Box 7">
            <a:extLst>
              <a:ext uri="{FF2B5EF4-FFF2-40B4-BE49-F238E27FC236}">
                <a16:creationId xmlns:a16="http://schemas.microsoft.com/office/drawing/2014/main" id="{4883FF12-E23F-EAEB-F780-AF7908C7A48D}"/>
              </a:ext>
            </a:extLst>
          </p:cNvPr>
          <p:cNvSpPr txBox="1">
            <a:spLocks noChangeArrowheads="1"/>
          </p:cNvSpPr>
          <p:nvPr/>
        </p:nvSpPr>
        <p:spPr bwMode="auto">
          <a:xfrm>
            <a:off x="3505200" y="556260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ENVIRONMENT</a:t>
            </a:r>
          </a:p>
        </p:txBody>
      </p:sp>
      <p:sp>
        <p:nvSpPr>
          <p:cNvPr id="3080" name="AutoShape 8">
            <a:extLst>
              <a:ext uri="{FF2B5EF4-FFF2-40B4-BE49-F238E27FC236}">
                <a16:creationId xmlns:a16="http://schemas.microsoft.com/office/drawing/2014/main" id="{888BBED1-EBC0-E1AC-84C8-F52A2B19C048}"/>
              </a:ext>
            </a:extLst>
          </p:cNvPr>
          <p:cNvSpPr>
            <a:spLocks noChangeArrowheads="1"/>
          </p:cNvSpPr>
          <p:nvPr/>
        </p:nvSpPr>
        <p:spPr bwMode="auto">
          <a:xfrm rot="10905927" flipH="1">
            <a:off x="1981200" y="4267200"/>
            <a:ext cx="1143000" cy="1600200"/>
          </a:xfrm>
          <a:prstGeom prst="curvedRightArrow">
            <a:avLst>
              <a:gd name="adj1" fmla="val 28000"/>
              <a:gd name="adj2" fmla="val 56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dirty="0"/>
          </a:p>
        </p:txBody>
      </p:sp>
      <p:sp>
        <p:nvSpPr>
          <p:cNvPr id="3081" name="Text Box 9">
            <a:extLst>
              <a:ext uri="{FF2B5EF4-FFF2-40B4-BE49-F238E27FC236}">
                <a16:creationId xmlns:a16="http://schemas.microsoft.com/office/drawing/2014/main" id="{93230F19-174B-AE74-8E80-556700BFE22E}"/>
              </a:ext>
            </a:extLst>
          </p:cNvPr>
          <p:cNvSpPr txBox="1">
            <a:spLocks noChangeArrowheads="1"/>
          </p:cNvSpPr>
          <p:nvPr/>
        </p:nvSpPr>
        <p:spPr bwMode="auto">
          <a:xfrm>
            <a:off x="2193925" y="4913313"/>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input</a:t>
            </a:r>
          </a:p>
        </p:txBody>
      </p:sp>
      <p:sp>
        <p:nvSpPr>
          <p:cNvPr id="3082" name="AutoShape 10">
            <a:extLst>
              <a:ext uri="{FF2B5EF4-FFF2-40B4-BE49-F238E27FC236}">
                <a16:creationId xmlns:a16="http://schemas.microsoft.com/office/drawing/2014/main" id="{90C74B40-A121-F5DB-4139-312B6388F184}"/>
              </a:ext>
            </a:extLst>
          </p:cNvPr>
          <p:cNvSpPr>
            <a:spLocks noChangeArrowheads="1"/>
          </p:cNvSpPr>
          <p:nvPr/>
        </p:nvSpPr>
        <p:spPr bwMode="auto">
          <a:xfrm rot="37487" flipH="1">
            <a:off x="5715000" y="4343400"/>
            <a:ext cx="1143000" cy="1600200"/>
          </a:xfrm>
          <a:prstGeom prst="curvedRightArrow">
            <a:avLst>
              <a:gd name="adj1" fmla="val 28000"/>
              <a:gd name="adj2" fmla="val 56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dirty="0"/>
          </a:p>
        </p:txBody>
      </p:sp>
      <p:sp>
        <p:nvSpPr>
          <p:cNvPr id="3083" name="Text Box 11">
            <a:extLst>
              <a:ext uri="{FF2B5EF4-FFF2-40B4-BE49-F238E27FC236}">
                <a16:creationId xmlns:a16="http://schemas.microsoft.com/office/drawing/2014/main" id="{F1B4357C-DE9E-8583-3DE7-4924A37B13CB}"/>
              </a:ext>
            </a:extLst>
          </p:cNvPr>
          <p:cNvSpPr txBox="1">
            <a:spLocks noChangeArrowheads="1"/>
          </p:cNvSpPr>
          <p:nvPr/>
        </p:nvSpPr>
        <p:spPr bwMode="auto">
          <a:xfrm>
            <a:off x="5791200" y="4876800"/>
            <a:ext cx="819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output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843D9-C06F-0B88-0815-096A41257A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F07F67E-9DE8-97A6-450E-648F8BBBCF59}"/>
              </a:ext>
            </a:extLst>
          </p:cNvPr>
          <p:cNvSpPr txBox="1">
            <a:spLocks noGrp="1"/>
          </p:cNvSpPr>
          <p:nvPr>
            <p:ph type="title"/>
          </p:nvPr>
        </p:nvSpPr>
        <p:spPr>
          <a:xfrm>
            <a:off x="4198778" y="377444"/>
            <a:ext cx="1582420" cy="696595"/>
          </a:xfrm>
          <a:prstGeom prst="rect">
            <a:avLst/>
          </a:prstGeom>
        </p:spPr>
        <p:txBody>
          <a:bodyPr vert="horz" wrap="square" lIns="0" tIns="13335" rIns="0" bIns="0" rtlCol="0">
            <a:spAutoFit/>
          </a:bodyPr>
          <a:lstStyle/>
          <a:p>
            <a:pPr marL="12700">
              <a:lnSpc>
                <a:spcPct val="100000"/>
              </a:lnSpc>
              <a:spcBef>
                <a:spcPts val="105"/>
              </a:spcBef>
            </a:pPr>
            <a:r>
              <a:rPr spc="-10" dirty="0"/>
              <a:t>Agents</a:t>
            </a:r>
          </a:p>
        </p:txBody>
      </p:sp>
      <p:sp>
        <p:nvSpPr>
          <p:cNvPr id="3" name="object 3">
            <a:extLst>
              <a:ext uri="{FF2B5EF4-FFF2-40B4-BE49-F238E27FC236}">
                <a16:creationId xmlns:a16="http://schemas.microsoft.com/office/drawing/2014/main" id="{5097ACDD-C609-C5DF-5248-B0BC4E42231D}"/>
              </a:ext>
            </a:extLst>
          </p:cNvPr>
          <p:cNvSpPr txBox="1"/>
          <p:nvPr/>
        </p:nvSpPr>
        <p:spPr>
          <a:xfrm>
            <a:off x="764540" y="1305560"/>
            <a:ext cx="7162165" cy="1305560"/>
          </a:xfrm>
          <a:prstGeom prst="rect">
            <a:avLst/>
          </a:prstGeom>
        </p:spPr>
        <p:txBody>
          <a:bodyPr vert="horz" wrap="square" lIns="0" tIns="12065" rIns="0" bIns="0" rtlCol="0">
            <a:spAutoFit/>
          </a:bodyPr>
          <a:lstStyle/>
          <a:p>
            <a:pPr marL="236220" marR="5080" indent="-224154">
              <a:lnSpc>
                <a:spcPct val="100000"/>
              </a:lnSpc>
              <a:spcBef>
                <a:spcPts val="95"/>
              </a:spcBef>
              <a:buFont typeface="Arial"/>
              <a:buChar char="•"/>
              <a:tabLst>
                <a:tab pos="237490" algn="l"/>
              </a:tabLst>
            </a:pPr>
            <a:r>
              <a:rPr sz="2800" b="1" dirty="0">
                <a:latin typeface="Calibri"/>
                <a:cs typeface="Calibri"/>
              </a:rPr>
              <a:t>An</a:t>
            </a:r>
            <a:r>
              <a:rPr sz="2800" b="1" spc="-70" dirty="0">
                <a:latin typeface="Calibri"/>
                <a:cs typeface="Calibri"/>
              </a:rPr>
              <a:t> </a:t>
            </a:r>
            <a:r>
              <a:rPr sz="2800" b="1" dirty="0">
                <a:solidFill>
                  <a:srgbClr val="C0504D"/>
                </a:solidFill>
                <a:latin typeface="Calibri"/>
                <a:cs typeface="Calibri"/>
              </a:rPr>
              <a:t>agent</a:t>
            </a:r>
            <a:r>
              <a:rPr sz="2800" b="1" spc="-60" dirty="0">
                <a:solidFill>
                  <a:srgbClr val="C0504D"/>
                </a:solidFill>
                <a:latin typeface="Calibri"/>
                <a:cs typeface="Calibri"/>
              </a:rPr>
              <a:t> </a:t>
            </a:r>
            <a:r>
              <a:rPr sz="2800" b="1" spc="-10" dirty="0">
                <a:latin typeface="Calibri"/>
                <a:cs typeface="Calibri"/>
              </a:rPr>
              <a:t>perceives</a:t>
            </a:r>
            <a:r>
              <a:rPr sz="2800" b="1" spc="-50" dirty="0">
                <a:latin typeface="Calibri"/>
                <a:cs typeface="Calibri"/>
              </a:rPr>
              <a:t> </a:t>
            </a:r>
            <a:r>
              <a:rPr sz="2800" b="1" dirty="0">
                <a:latin typeface="Calibri"/>
                <a:cs typeface="Calibri"/>
              </a:rPr>
              <a:t>its</a:t>
            </a:r>
            <a:r>
              <a:rPr sz="2800" b="1" spc="-70" dirty="0">
                <a:latin typeface="Calibri"/>
                <a:cs typeface="Calibri"/>
              </a:rPr>
              <a:t> </a:t>
            </a:r>
            <a:r>
              <a:rPr sz="2800" b="1" spc="-10" dirty="0">
                <a:solidFill>
                  <a:srgbClr val="C0504D"/>
                </a:solidFill>
                <a:latin typeface="Calibri"/>
                <a:cs typeface="Calibri"/>
              </a:rPr>
              <a:t>environment</a:t>
            </a:r>
            <a:r>
              <a:rPr sz="2800" b="1" spc="-50" dirty="0">
                <a:solidFill>
                  <a:srgbClr val="C0504D"/>
                </a:solidFill>
                <a:latin typeface="Calibri"/>
                <a:cs typeface="Calibri"/>
              </a:rPr>
              <a:t> </a:t>
            </a:r>
            <a:r>
              <a:rPr sz="2800" b="1" dirty="0">
                <a:latin typeface="Calibri"/>
                <a:cs typeface="Calibri"/>
              </a:rPr>
              <a:t>via</a:t>
            </a:r>
            <a:r>
              <a:rPr sz="2800" b="1" spc="-60" dirty="0">
                <a:latin typeface="Calibri"/>
                <a:cs typeface="Calibri"/>
              </a:rPr>
              <a:t> </a:t>
            </a:r>
            <a:r>
              <a:rPr sz="2800" b="1" spc="-10" dirty="0">
                <a:solidFill>
                  <a:srgbClr val="C0504D"/>
                </a:solidFill>
                <a:latin typeface="Calibri"/>
                <a:cs typeface="Calibri"/>
              </a:rPr>
              <a:t>sensors 	</a:t>
            </a:r>
            <a:r>
              <a:rPr sz="2800" b="1" dirty="0">
                <a:latin typeface="Calibri"/>
                <a:cs typeface="Calibri"/>
              </a:rPr>
              <a:t>and</a:t>
            </a:r>
            <a:r>
              <a:rPr sz="2800" b="1" spc="-45" dirty="0">
                <a:latin typeface="Calibri"/>
                <a:cs typeface="Calibri"/>
              </a:rPr>
              <a:t> </a:t>
            </a:r>
            <a:r>
              <a:rPr sz="2800" b="1" dirty="0">
                <a:latin typeface="Calibri"/>
                <a:cs typeface="Calibri"/>
              </a:rPr>
              <a:t>acts</a:t>
            </a:r>
            <a:r>
              <a:rPr sz="2800" b="1" spc="-50" dirty="0">
                <a:latin typeface="Calibri"/>
                <a:cs typeface="Calibri"/>
              </a:rPr>
              <a:t> </a:t>
            </a:r>
            <a:r>
              <a:rPr sz="2800" b="1" dirty="0">
                <a:latin typeface="Calibri"/>
                <a:cs typeface="Calibri"/>
              </a:rPr>
              <a:t>upon</a:t>
            </a:r>
            <a:r>
              <a:rPr sz="2800" b="1" spc="-45" dirty="0">
                <a:latin typeface="Calibri"/>
                <a:cs typeface="Calibri"/>
              </a:rPr>
              <a:t> </a:t>
            </a:r>
            <a:r>
              <a:rPr sz="2800" b="1" dirty="0">
                <a:latin typeface="Calibri"/>
                <a:cs typeface="Calibri"/>
              </a:rPr>
              <a:t>that</a:t>
            </a:r>
            <a:r>
              <a:rPr sz="2800" b="1" spc="-40" dirty="0">
                <a:latin typeface="Calibri"/>
                <a:cs typeface="Calibri"/>
              </a:rPr>
              <a:t> </a:t>
            </a:r>
            <a:r>
              <a:rPr sz="2800" b="1" spc="-10" dirty="0">
                <a:latin typeface="Calibri"/>
                <a:cs typeface="Calibri"/>
              </a:rPr>
              <a:t>environment</a:t>
            </a:r>
            <a:r>
              <a:rPr sz="2800" b="1" spc="-30" dirty="0">
                <a:latin typeface="Calibri"/>
                <a:cs typeface="Calibri"/>
              </a:rPr>
              <a:t> </a:t>
            </a:r>
            <a:r>
              <a:rPr sz="2800" b="1" dirty="0">
                <a:latin typeface="Calibri"/>
                <a:cs typeface="Calibri"/>
              </a:rPr>
              <a:t>through</a:t>
            </a:r>
            <a:r>
              <a:rPr sz="2800" b="1" spc="-40" dirty="0">
                <a:latin typeface="Calibri"/>
                <a:cs typeface="Calibri"/>
              </a:rPr>
              <a:t> </a:t>
            </a:r>
            <a:r>
              <a:rPr sz="2800" b="1" spc="-25" dirty="0">
                <a:latin typeface="Calibri"/>
                <a:cs typeface="Calibri"/>
              </a:rPr>
              <a:t>its 	</a:t>
            </a:r>
            <a:r>
              <a:rPr sz="2800" b="1" spc="-10" dirty="0">
                <a:solidFill>
                  <a:srgbClr val="C0504D"/>
                </a:solidFill>
                <a:latin typeface="Calibri"/>
                <a:cs typeface="Calibri"/>
              </a:rPr>
              <a:t>actuators</a:t>
            </a:r>
            <a:endParaRPr sz="2800" dirty="0">
              <a:latin typeface="Calibri"/>
              <a:cs typeface="Calibri"/>
            </a:endParaRPr>
          </a:p>
        </p:txBody>
      </p:sp>
      <p:pic>
        <p:nvPicPr>
          <p:cNvPr id="4" name="object 4">
            <a:extLst>
              <a:ext uri="{FF2B5EF4-FFF2-40B4-BE49-F238E27FC236}">
                <a16:creationId xmlns:a16="http://schemas.microsoft.com/office/drawing/2014/main" id="{48DA794D-A3CF-AFE8-FBE4-774145C79F10}"/>
              </a:ext>
            </a:extLst>
          </p:cNvPr>
          <p:cNvPicPr/>
          <p:nvPr/>
        </p:nvPicPr>
        <p:blipFill>
          <a:blip r:embed="rId3" cstate="print"/>
          <a:stretch>
            <a:fillRect/>
          </a:stretch>
        </p:blipFill>
        <p:spPr>
          <a:xfrm>
            <a:off x="1219212" y="2743200"/>
            <a:ext cx="6580619" cy="2971787"/>
          </a:xfrm>
          <a:prstGeom prst="rect">
            <a:avLst/>
          </a:prstGeom>
        </p:spPr>
      </p:pic>
    </p:spTree>
    <p:extLst>
      <p:ext uri="{BB962C8B-B14F-4D97-AF65-F5344CB8AC3E}">
        <p14:creationId xmlns:p14="http://schemas.microsoft.com/office/powerpoint/2010/main" val="389462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1B208-FC7C-E6FB-4A1B-A16D579407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4EAD2B1-B99D-457C-0C9D-24C0F8935210}"/>
              </a:ext>
            </a:extLst>
          </p:cNvPr>
          <p:cNvSpPr txBox="1">
            <a:spLocks noGrp="1"/>
          </p:cNvSpPr>
          <p:nvPr>
            <p:ph type="title"/>
          </p:nvPr>
        </p:nvSpPr>
        <p:spPr>
          <a:xfrm>
            <a:off x="933214" y="429995"/>
            <a:ext cx="6010659" cy="688074"/>
          </a:xfrm>
          <a:prstGeom prst="rect">
            <a:avLst/>
          </a:prstGeom>
        </p:spPr>
        <p:txBody>
          <a:bodyPr vert="horz" wrap="square" lIns="0" tIns="10860" rIns="0" bIns="0" rtlCol="0">
            <a:spAutoFit/>
          </a:bodyPr>
          <a:lstStyle/>
          <a:p>
            <a:pPr marL="1350412">
              <a:spcBef>
                <a:spcPts val="86"/>
              </a:spcBef>
            </a:pPr>
            <a:r>
              <a:rPr dirty="0"/>
              <a:t>Intelligent </a:t>
            </a:r>
            <a:r>
              <a:rPr spc="-9" dirty="0"/>
              <a:t>Agents</a:t>
            </a:r>
          </a:p>
        </p:txBody>
      </p:sp>
      <p:sp>
        <p:nvSpPr>
          <p:cNvPr id="3" name="object 3">
            <a:extLst>
              <a:ext uri="{FF2B5EF4-FFF2-40B4-BE49-F238E27FC236}">
                <a16:creationId xmlns:a16="http://schemas.microsoft.com/office/drawing/2014/main" id="{8EE9BF93-FB3A-F8D2-A640-4206C459CEA3}"/>
              </a:ext>
            </a:extLst>
          </p:cNvPr>
          <p:cNvSpPr txBox="1"/>
          <p:nvPr/>
        </p:nvSpPr>
        <p:spPr>
          <a:xfrm>
            <a:off x="1096302" y="1128343"/>
            <a:ext cx="6951395" cy="4379663"/>
          </a:xfrm>
          <a:prstGeom prst="rect">
            <a:avLst/>
          </a:prstGeom>
        </p:spPr>
        <p:txBody>
          <a:bodyPr vert="horz" wrap="square" lIns="0" tIns="10860" rIns="0" bIns="0" rtlCol="0">
            <a:spAutoFit/>
          </a:bodyPr>
          <a:lstStyle/>
          <a:p>
            <a:pPr marL="10860" marR="4344">
              <a:lnSpc>
                <a:spcPct val="114399"/>
              </a:lnSpc>
              <a:spcBef>
                <a:spcPts val="86"/>
              </a:spcBef>
            </a:pPr>
            <a:r>
              <a:rPr sz="2200" dirty="0">
                <a:latin typeface="+mn-lt"/>
                <a:cs typeface="Times New Roman"/>
              </a:rPr>
              <a:t>Agents</a:t>
            </a:r>
            <a:r>
              <a:rPr sz="2200" spc="51" dirty="0">
                <a:latin typeface="+mn-lt"/>
                <a:cs typeface="Times New Roman"/>
              </a:rPr>
              <a:t> </a:t>
            </a:r>
            <a:r>
              <a:rPr sz="2200" dirty="0">
                <a:latin typeface="+mn-lt"/>
                <a:cs typeface="Times New Roman"/>
              </a:rPr>
              <a:t>are</a:t>
            </a:r>
            <a:r>
              <a:rPr sz="2200" spc="51" dirty="0">
                <a:latin typeface="+mn-lt"/>
                <a:cs typeface="Times New Roman"/>
              </a:rPr>
              <a:t> </a:t>
            </a:r>
            <a:r>
              <a:rPr sz="2200" dirty="0">
                <a:latin typeface="+mn-lt"/>
                <a:cs typeface="Times New Roman"/>
              </a:rPr>
              <a:t>comprised</a:t>
            </a:r>
            <a:r>
              <a:rPr sz="2200" spc="51" dirty="0">
                <a:latin typeface="+mn-lt"/>
                <a:cs typeface="Times New Roman"/>
              </a:rPr>
              <a:t> </a:t>
            </a:r>
            <a:r>
              <a:rPr sz="2200" dirty="0">
                <a:latin typeface="+mn-lt"/>
                <a:cs typeface="Times New Roman"/>
              </a:rPr>
              <a:t>of</a:t>
            </a:r>
            <a:r>
              <a:rPr sz="2200" spc="51" dirty="0">
                <a:latin typeface="+mn-lt"/>
                <a:cs typeface="Times New Roman"/>
              </a:rPr>
              <a:t> </a:t>
            </a:r>
            <a:r>
              <a:rPr sz="2200" dirty="0">
                <a:latin typeface="+mn-lt"/>
                <a:cs typeface="Times New Roman"/>
              </a:rPr>
              <a:t>an</a:t>
            </a:r>
            <a:r>
              <a:rPr sz="2200" spc="51" dirty="0">
                <a:latin typeface="+mn-lt"/>
                <a:cs typeface="Times New Roman"/>
              </a:rPr>
              <a:t> </a:t>
            </a:r>
            <a:r>
              <a:rPr sz="2200" b="1" i="1" dirty="0">
                <a:solidFill>
                  <a:srgbClr val="0000FF"/>
                </a:solidFill>
                <a:latin typeface="+mn-lt"/>
                <a:cs typeface="Times New Roman"/>
              </a:rPr>
              <a:t>architecture</a:t>
            </a:r>
            <a:r>
              <a:rPr sz="2200" b="1" i="1" spc="51" dirty="0">
                <a:solidFill>
                  <a:srgbClr val="0000FF"/>
                </a:solidFill>
                <a:latin typeface="+mn-lt"/>
                <a:cs typeface="Times New Roman"/>
              </a:rPr>
              <a:t> </a:t>
            </a:r>
            <a:r>
              <a:rPr sz="2200" dirty="0">
                <a:latin typeface="+mn-lt"/>
                <a:cs typeface="Times New Roman"/>
              </a:rPr>
              <a:t>(e.g.</a:t>
            </a:r>
            <a:r>
              <a:rPr sz="2200" spc="56" dirty="0">
                <a:latin typeface="+mn-lt"/>
                <a:cs typeface="Times New Roman"/>
              </a:rPr>
              <a:t> </a:t>
            </a:r>
            <a:r>
              <a:rPr sz="2200" dirty="0">
                <a:latin typeface="+mn-lt"/>
                <a:cs typeface="Times New Roman"/>
              </a:rPr>
              <a:t>a</a:t>
            </a:r>
            <a:r>
              <a:rPr sz="2200" spc="56" dirty="0">
                <a:latin typeface="+mn-lt"/>
                <a:cs typeface="Times New Roman"/>
              </a:rPr>
              <a:t> </a:t>
            </a:r>
            <a:r>
              <a:rPr sz="2200" dirty="0">
                <a:latin typeface="+mn-lt"/>
                <a:cs typeface="Times New Roman"/>
              </a:rPr>
              <a:t>computer)</a:t>
            </a:r>
            <a:r>
              <a:rPr sz="2200" spc="56" dirty="0">
                <a:latin typeface="+mn-lt"/>
                <a:cs typeface="Times New Roman"/>
              </a:rPr>
              <a:t> </a:t>
            </a:r>
            <a:r>
              <a:rPr sz="2200" dirty="0">
                <a:latin typeface="+mn-lt"/>
                <a:cs typeface="Times New Roman"/>
              </a:rPr>
              <a:t>plus</a:t>
            </a:r>
            <a:r>
              <a:rPr sz="2200" spc="56" dirty="0">
                <a:latin typeface="+mn-lt"/>
                <a:cs typeface="Times New Roman"/>
              </a:rPr>
              <a:t> </a:t>
            </a:r>
            <a:r>
              <a:rPr sz="2200" dirty="0">
                <a:latin typeface="+mn-lt"/>
                <a:cs typeface="Times New Roman"/>
              </a:rPr>
              <a:t>a</a:t>
            </a:r>
            <a:r>
              <a:rPr sz="2200" spc="60" dirty="0">
                <a:latin typeface="+mn-lt"/>
                <a:cs typeface="Times New Roman"/>
              </a:rPr>
              <a:t> </a:t>
            </a:r>
            <a:r>
              <a:rPr sz="2200" b="1" i="1" dirty="0">
                <a:solidFill>
                  <a:srgbClr val="0000FF"/>
                </a:solidFill>
                <a:latin typeface="+mn-lt"/>
                <a:cs typeface="Times New Roman"/>
              </a:rPr>
              <a:t>program</a:t>
            </a:r>
            <a:r>
              <a:rPr sz="2200" b="1" i="1" spc="56" dirty="0">
                <a:solidFill>
                  <a:srgbClr val="0000FF"/>
                </a:solidFill>
                <a:latin typeface="+mn-lt"/>
                <a:cs typeface="Times New Roman"/>
              </a:rPr>
              <a:t> </a:t>
            </a:r>
            <a:r>
              <a:rPr sz="2200" dirty="0">
                <a:latin typeface="+mn-lt"/>
                <a:cs typeface="Times New Roman"/>
              </a:rPr>
              <a:t>that</a:t>
            </a:r>
            <a:r>
              <a:rPr sz="2200" spc="56" dirty="0">
                <a:latin typeface="+mn-lt"/>
                <a:cs typeface="Times New Roman"/>
              </a:rPr>
              <a:t> </a:t>
            </a:r>
            <a:r>
              <a:rPr sz="2200" dirty="0">
                <a:latin typeface="+mn-lt"/>
                <a:cs typeface="Times New Roman"/>
              </a:rPr>
              <a:t>runs</a:t>
            </a:r>
            <a:r>
              <a:rPr sz="2200" spc="56" dirty="0">
                <a:latin typeface="+mn-lt"/>
                <a:cs typeface="Times New Roman"/>
              </a:rPr>
              <a:t> </a:t>
            </a:r>
            <a:r>
              <a:rPr sz="2200" spc="-21" dirty="0">
                <a:latin typeface="+mn-lt"/>
                <a:cs typeface="Times New Roman"/>
              </a:rPr>
              <a:t>on </a:t>
            </a:r>
            <a:r>
              <a:rPr sz="2200" dirty="0">
                <a:latin typeface="+mn-lt"/>
                <a:cs typeface="Times New Roman"/>
              </a:rPr>
              <a:t>that</a:t>
            </a:r>
            <a:r>
              <a:rPr sz="2200" spc="-26" dirty="0">
                <a:latin typeface="+mn-lt"/>
                <a:cs typeface="Times New Roman"/>
              </a:rPr>
              <a:t> </a:t>
            </a:r>
            <a:r>
              <a:rPr sz="2200" dirty="0">
                <a:latin typeface="+mn-lt"/>
                <a:cs typeface="Times New Roman"/>
              </a:rPr>
              <a:t>architecture.</a:t>
            </a:r>
            <a:r>
              <a:rPr sz="2200" spc="333" dirty="0">
                <a:latin typeface="+mn-lt"/>
                <a:cs typeface="Times New Roman"/>
              </a:rPr>
              <a:t> </a:t>
            </a:r>
            <a:endParaRPr lang="en-US" sz="2200" spc="333" dirty="0">
              <a:latin typeface="+mn-lt"/>
              <a:cs typeface="Times New Roman"/>
            </a:endParaRPr>
          </a:p>
          <a:p>
            <a:pPr marL="10860" marR="4344">
              <a:lnSpc>
                <a:spcPct val="114399"/>
              </a:lnSpc>
              <a:spcBef>
                <a:spcPts val="86"/>
              </a:spcBef>
            </a:pPr>
            <a:endParaRPr lang="en-ZA" sz="2200" spc="333" dirty="0">
              <a:latin typeface="+mn-lt"/>
              <a:cs typeface="Times New Roman"/>
            </a:endParaRPr>
          </a:p>
          <a:p>
            <a:pPr marL="10860" marR="4344">
              <a:lnSpc>
                <a:spcPct val="114399"/>
              </a:lnSpc>
              <a:spcBef>
                <a:spcPts val="86"/>
              </a:spcBef>
            </a:pPr>
            <a:r>
              <a:rPr sz="2200" dirty="0">
                <a:latin typeface="+mn-lt"/>
                <a:cs typeface="Times New Roman"/>
              </a:rPr>
              <a:t>In</a:t>
            </a:r>
            <a:r>
              <a:rPr sz="2200" spc="-26" dirty="0">
                <a:latin typeface="+mn-lt"/>
                <a:cs typeface="Times New Roman"/>
              </a:rPr>
              <a:t> </a:t>
            </a:r>
            <a:r>
              <a:rPr sz="2200" dirty="0">
                <a:latin typeface="+mn-lt"/>
                <a:cs typeface="Times New Roman"/>
              </a:rPr>
              <a:t>designing</a:t>
            </a:r>
            <a:r>
              <a:rPr sz="2200" spc="-21" dirty="0">
                <a:latin typeface="+mn-lt"/>
                <a:cs typeface="Times New Roman"/>
              </a:rPr>
              <a:t> </a:t>
            </a:r>
            <a:r>
              <a:rPr sz="2200" dirty="0">
                <a:latin typeface="+mn-lt"/>
                <a:cs typeface="Times New Roman"/>
              </a:rPr>
              <a:t>intelligent</a:t>
            </a:r>
            <a:r>
              <a:rPr sz="2200" spc="-21" dirty="0">
                <a:latin typeface="+mn-lt"/>
                <a:cs typeface="Times New Roman"/>
              </a:rPr>
              <a:t> </a:t>
            </a:r>
            <a:r>
              <a:rPr sz="2200" dirty="0">
                <a:latin typeface="+mn-lt"/>
                <a:cs typeface="Times New Roman"/>
              </a:rPr>
              <a:t>systems</a:t>
            </a:r>
            <a:r>
              <a:rPr sz="2200" spc="-21" dirty="0">
                <a:latin typeface="+mn-lt"/>
                <a:cs typeface="Times New Roman"/>
              </a:rPr>
              <a:t> </a:t>
            </a:r>
            <a:r>
              <a:rPr sz="2200" dirty="0">
                <a:latin typeface="+mn-lt"/>
                <a:cs typeface="Times New Roman"/>
              </a:rPr>
              <a:t>there</a:t>
            </a:r>
            <a:r>
              <a:rPr sz="2200" spc="-26" dirty="0">
                <a:latin typeface="+mn-lt"/>
                <a:cs typeface="Times New Roman"/>
              </a:rPr>
              <a:t> </a:t>
            </a:r>
            <a:r>
              <a:rPr sz="2200" dirty="0">
                <a:latin typeface="+mn-lt"/>
                <a:cs typeface="Times New Roman"/>
              </a:rPr>
              <a:t>are</a:t>
            </a:r>
            <a:r>
              <a:rPr sz="2200" spc="-21" dirty="0">
                <a:latin typeface="+mn-lt"/>
                <a:cs typeface="Times New Roman"/>
              </a:rPr>
              <a:t> </a:t>
            </a:r>
            <a:r>
              <a:rPr sz="2200" dirty="0">
                <a:latin typeface="+mn-lt"/>
                <a:cs typeface="Times New Roman"/>
              </a:rPr>
              <a:t>four</a:t>
            </a:r>
            <a:r>
              <a:rPr sz="2200" spc="-21" dirty="0">
                <a:latin typeface="+mn-lt"/>
                <a:cs typeface="Times New Roman"/>
              </a:rPr>
              <a:t> </a:t>
            </a:r>
            <a:r>
              <a:rPr sz="2200" dirty="0">
                <a:latin typeface="+mn-lt"/>
                <a:cs typeface="Times New Roman"/>
              </a:rPr>
              <a:t>main</a:t>
            </a:r>
            <a:r>
              <a:rPr sz="2200" spc="-21" dirty="0">
                <a:latin typeface="+mn-lt"/>
                <a:cs typeface="Times New Roman"/>
              </a:rPr>
              <a:t> </a:t>
            </a:r>
            <a:r>
              <a:rPr sz="2200" dirty="0">
                <a:latin typeface="+mn-lt"/>
                <a:cs typeface="Times New Roman"/>
              </a:rPr>
              <a:t>factors</a:t>
            </a:r>
            <a:r>
              <a:rPr sz="2200" spc="-21" dirty="0">
                <a:latin typeface="+mn-lt"/>
                <a:cs typeface="Times New Roman"/>
              </a:rPr>
              <a:t> </a:t>
            </a:r>
            <a:r>
              <a:rPr sz="2200" dirty="0">
                <a:latin typeface="+mn-lt"/>
                <a:cs typeface="Times New Roman"/>
              </a:rPr>
              <a:t>to</a:t>
            </a:r>
            <a:r>
              <a:rPr sz="2200" spc="-26" dirty="0">
                <a:latin typeface="+mn-lt"/>
                <a:cs typeface="Times New Roman"/>
              </a:rPr>
              <a:t> </a:t>
            </a:r>
            <a:r>
              <a:rPr sz="2200" spc="-9" dirty="0">
                <a:latin typeface="+mn-lt"/>
                <a:cs typeface="Times New Roman"/>
              </a:rPr>
              <a:t>consider:</a:t>
            </a:r>
            <a:endParaRPr lang="en-US" sz="2200" spc="-9" dirty="0">
              <a:latin typeface="+mn-lt"/>
              <a:cs typeface="Times New Roman"/>
            </a:endParaRPr>
          </a:p>
          <a:p>
            <a:pPr marL="10860" marR="4344">
              <a:lnSpc>
                <a:spcPct val="114399"/>
              </a:lnSpc>
              <a:spcBef>
                <a:spcPts val="86"/>
              </a:spcBef>
            </a:pPr>
            <a:endParaRPr lang="en-ZA" sz="2200" spc="-9" dirty="0">
              <a:latin typeface="+mn-lt"/>
              <a:cs typeface="Times New Roman"/>
            </a:endParaRPr>
          </a:p>
          <a:p>
            <a:pPr marL="10860" marR="4344">
              <a:lnSpc>
                <a:spcPct val="114399"/>
              </a:lnSpc>
              <a:spcBef>
                <a:spcPts val="86"/>
              </a:spcBef>
            </a:pPr>
            <a:r>
              <a:rPr lang="en-ZA" sz="2200" spc="-9" dirty="0">
                <a:latin typeface="+mn-lt"/>
                <a:cs typeface="Times New Roman"/>
              </a:rPr>
              <a:t>   </a:t>
            </a:r>
            <a:r>
              <a:rPr sz="2200" spc="-43" dirty="0">
                <a:solidFill>
                  <a:srgbClr val="0000FF"/>
                </a:solidFill>
                <a:latin typeface="+mn-lt"/>
                <a:cs typeface="Times New Roman"/>
              </a:rPr>
              <a:t>P</a:t>
            </a:r>
            <a:r>
              <a:rPr lang="en-US" sz="2200" spc="-43" dirty="0">
                <a:solidFill>
                  <a:srgbClr val="0000FF"/>
                </a:solidFill>
                <a:latin typeface="+mn-lt"/>
                <a:cs typeface="Times New Roman"/>
              </a:rPr>
              <a:t>      </a:t>
            </a:r>
            <a:r>
              <a:rPr sz="2200" b="1" dirty="0">
                <a:solidFill>
                  <a:srgbClr val="0000FF"/>
                </a:solidFill>
                <a:latin typeface="+mn-lt"/>
                <a:cs typeface="Times New Roman"/>
              </a:rPr>
              <a:t>Percepts</a:t>
            </a:r>
            <a:r>
              <a:rPr sz="2200" b="1" spc="-17" dirty="0">
                <a:solidFill>
                  <a:srgbClr val="0000FF"/>
                </a:solidFill>
                <a:latin typeface="+mn-lt"/>
                <a:cs typeface="Times New Roman"/>
              </a:rPr>
              <a:t> </a:t>
            </a:r>
            <a:r>
              <a:rPr sz="2200" dirty="0">
                <a:latin typeface="+mn-lt"/>
                <a:cs typeface="Times New Roman"/>
              </a:rPr>
              <a:t>–</a:t>
            </a:r>
            <a:r>
              <a:rPr sz="2200" spc="-17" dirty="0">
                <a:latin typeface="+mn-lt"/>
                <a:cs typeface="Times New Roman"/>
              </a:rPr>
              <a:t> </a:t>
            </a:r>
            <a:r>
              <a:rPr sz="2200" dirty="0">
                <a:latin typeface="+mn-lt"/>
                <a:cs typeface="Times New Roman"/>
              </a:rPr>
              <a:t>the</a:t>
            </a:r>
            <a:r>
              <a:rPr sz="2200" spc="-17" dirty="0">
                <a:latin typeface="+mn-lt"/>
                <a:cs typeface="Times New Roman"/>
              </a:rPr>
              <a:t> </a:t>
            </a:r>
            <a:r>
              <a:rPr sz="2200" dirty="0">
                <a:latin typeface="+mn-lt"/>
                <a:cs typeface="Times New Roman"/>
              </a:rPr>
              <a:t>inputs</a:t>
            </a:r>
            <a:r>
              <a:rPr sz="2200" spc="-13" dirty="0">
                <a:latin typeface="+mn-lt"/>
                <a:cs typeface="Times New Roman"/>
              </a:rPr>
              <a:t> </a:t>
            </a:r>
            <a:r>
              <a:rPr sz="2200" dirty="0">
                <a:latin typeface="+mn-lt"/>
                <a:cs typeface="Times New Roman"/>
              </a:rPr>
              <a:t>to</a:t>
            </a:r>
            <a:r>
              <a:rPr sz="2200" spc="-17" dirty="0">
                <a:latin typeface="+mn-lt"/>
                <a:cs typeface="Times New Roman"/>
              </a:rPr>
              <a:t> </a:t>
            </a:r>
            <a:r>
              <a:rPr sz="2200" dirty="0">
                <a:latin typeface="+mn-lt"/>
                <a:cs typeface="Times New Roman"/>
              </a:rPr>
              <a:t>our</a:t>
            </a:r>
            <a:r>
              <a:rPr sz="2200" spc="-17" dirty="0">
                <a:latin typeface="+mn-lt"/>
                <a:cs typeface="Times New Roman"/>
              </a:rPr>
              <a:t> </a:t>
            </a:r>
            <a:r>
              <a:rPr sz="2200" spc="-9" dirty="0">
                <a:latin typeface="+mn-lt"/>
                <a:cs typeface="Times New Roman"/>
              </a:rPr>
              <a:t>system</a:t>
            </a:r>
            <a:endParaRPr sz="2200" dirty="0">
              <a:latin typeface="+mn-lt"/>
              <a:cs typeface="Times New Roman"/>
            </a:endParaRPr>
          </a:p>
          <a:p>
            <a:pPr marL="242716">
              <a:spcBef>
                <a:spcPts val="881"/>
              </a:spcBef>
              <a:tabLst>
                <a:tab pos="703713" algn="l"/>
              </a:tabLst>
            </a:pPr>
            <a:r>
              <a:rPr sz="2200" spc="-43" dirty="0">
                <a:solidFill>
                  <a:srgbClr val="0000FF"/>
                </a:solidFill>
                <a:latin typeface="+mn-lt"/>
                <a:cs typeface="Times New Roman"/>
              </a:rPr>
              <a:t>A</a:t>
            </a:r>
            <a:r>
              <a:rPr sz="2200" dirty="0">
                <a:solidFill>
                  <a:srgbClr val="0000FF"/>
                </a:solidFill>
                <a:latin typeface="+mn-lt"/>
                <a:cs typeface="Times New Roman"/>
              </a:rPr>
              <a:t>	</a:t>
            </a:r>
            <a:r>
              <a:rPr sz="2200" b="1" dirty="0">
                <a:solidFill>
                  <a:srgbClr val="0000FF"/>
                </a:solidFill>
                <a:latin typeface="+mn-lt"/>
                <a:cs typeface="Times New Roman"/>
              </a:rPr>
              <a:t>Actions</a:t>
            </a:r>
            <a:r>
              <a:rPr sz="2200" b="1" spc="-21" dirty="0">
                <a:solidFill>
                  <a:srgbClr val="0000FF"/>
                </a:solidFill>
                <a:latin typeface="+mn-lt"/>
                <a:cs typeface="Times New Roman"/>
              </a:rPr>
              <a:t> </a:t>
            </a:r>
            <a:r>
              <a:rPr sz="2200" dirty="0">
                <a:latin typeface="+mn-lt"/>
                <a:cs typeface="Times New Roman"/>
              </a:rPr>
              <a:t>–</a:t>
            </a:r>
            <a:r>
              <a:rPr sz="2200" spc="-21" dirty="0">
                <a:latin typeface="+mn-lt"/>
                <a:cs typeface="Times New Roman"/>
              </a:rPr>
              <a:t> </a:t>
            </a:r>
            <a:r>
              <a:rPr sz="2200" dirty="0">
                <a:latin typeface="+mn-lt"/>
                <a:cs typeface="Times New Roman"/>
              </a:rPr>
              <a:t>the</a:t>
            </a:r>
            <a:r>
              <a:rPr sz="2200" spc="-17" dirty="0">
                <a:latin typeface="+mn-lt"/>
                <a:cs typeface="Times New Roman"/>
              </a:rPr>
              <a:t> </a:t>
            </a:r>
            <a:r>
              <a:rPr sz="2200" dirty="0">
                <a:latin typeface="+mn-lt"/>
                <a:cs typeface="Times New Roman"/>
              </a:rPr>
              <a:t>outputs</a:t>
            </a:r>
            <a:r>
              <a:rPr sz="2200" spc="-17" dirty="0">
                <a:latin typeface="+mn-lt"/>
                <a:cs typeface="Times New Roman"/>
              </a:rPr>
              <a:t> </a:t>
            </a:r>
            <a:r>
              <a:rPr sz="2200" dirty="0">
                <a:latin typeface="+mn-lt"/>
                <a:cs typeface="Times New Roman"/>
              </a:rPr>
              <a:t>of</a:t>
            </a:r>
            <a:r>
              <a:rPr sz="2200" spc="-21" dirty="0">
                <a:latin typeface="+mn-lt"/>
                <a:cs typeface="Times New Roman"/>
              </a:rPr>
              <a:t> </a:t>
            </a:r>
            <a:r>
              <a:rPr sz="2200" dirty="0">
                <a:latin typeface="+mn-lt"/>
                <a:cs typeface="Times New Roman"/>
              </a:rPr>
              <a:t>our</a:t>
            </a:r>
            <a:r>
              <a:rPr sz="2200" spc="-17" dirty="0">
                <a:latin typeface="+mn-lt"/>
                <a:cs typeface="Times New Roman"/>
              </a:rPr>
              <a:t> </a:t>
            </a:r>
            <a:r>
              <a:rPr sz="2200" spc="-9" dirty="0">
                <a:latin typeface="+mn-lt"/>
                <a:cs typeface="Times New Roman"/>
              </a:rPr>
              <a:t>system</a:t>
            </a:r>
            <a:endParaRPr sz="2200" dirty="0">
              <a:latin typeface="+mn-lt"/>
              <a:cs typeface="Times New Roman"/>
            </a:endParaRPr>
          </a:p>
          <a:p>
            <a:pPr marL="242716">
              <a:spcBef>
                <a:spcPts val="885"/>
              </a:spcBef>
              <a:tabLst>
                <a:tab pos="703713" algn="l"/>
              </a:tabLst>
            </a:pPr>
            <a:r>
              <a:rPr sz="2200" spc="-43" dirty="0">
                <a:solidFill>
                  <a:srgbClr val="0000FF"/>
                </a:solidFill>
                <a:latin typeface="+mn-lt"/>
                <a:cs typeface="Times New Roman"/>
              </a:rPr>
              <a:t>G</a:t>
            </a:r>
            <a:r>
              <a:rPr sz="2200" dirty="0">
                <a:solidFill>
                  <a:srgbClr val="0000FF"/>
                </a:solidFill>
                <a:latin typeface="+mn-lt"/>
                <a:cs typeface="Times New Roman"/>
              </a:rPr>
              <a:t>	</a:t>
            </a:r>
            <a:r>
              <a:rPr sz="2200" b="1" dirty="0">
                <a:solidFill>
                  <a:srgbClr val="0000FF"/>
                </a:solidFill>
                <a:latin typeface="+mn-lt"/>
                <a:cs typeface="Times New Roman"/>
              </a:rPr>
              <a:t>Goals</a:t>
            </a:r>
            <a:r>
              <a:rPr sz="2200" b="1" spc="-17" dirty="0">
                <a:solidFill>
                  <a:srgbClr val="0000FF"/>
                </a:solidFill>
                <a:latin typeface="+mn-lt"/>
                <a:cs typeface="Times New Roman"/>
              </a:rPr>
              <a:t> </a:t>
            </a:r>
            <a:r>
              <a:rPr sz="2200" dirty="0">
                <a:latin typeface="+mn-lt"/>
                <a:cs typeface="Times New Roman"/>
              </a:rPr>
              <a:t>–</a:t>
            </a:r>
            <a:r>
              <a:rPr sz="2200" spc="-17" dirty="0">
                <a:latin typeface="+mn-lt"/>
                <a:cs typeface="Times New Roman"/>
              </a:rPr>
              <a:t> </a:t>
            </a:r>
            <a:r>
              <a:rPr sz="2200" dirty="0">
                <a:latin typeface="+mn-lt"/>
                <a:cs typeface="Times New Roman"/>
              </a:rPr>
              <a:t>what</a:t>
            </a:r>
            <a:r>
              <a:rPr sz="2200" spc="-17" dirty="0">
                <a:latin typeface="+mn-lt"/>
                <a:cs typeface="Times New Roman"/>
              </a:rPr>
              <a:t> </a:t>
            </a:r>
            <a:r>
              <a:rPr sz="2200" dirty="0">
                <a:latin typeface="+mn-lt"/>
                <a:cs typeface="Times New Roman"/>
              </a:rPr>
              <a:t>the</a:t>
            </a:r>
            <a:r>
              <a:rPr sz="2200" spc="-17" dirty="0">
                <a:latin typeface="+mn-lt"/>
                <a:cs typeface="Times New Roman"/>
              </a:rPr>
              <a:t> </a:t>
            </a:r>
            <a:r>
              <a:rPr sz="2200" dirty="0">
                <a:latin typeface="+mn-lt"/>
                <a:cs typeface="Times New Roman"/>
              </a:rPr>
              <a:t>agent</a:t>
            </a:r>
            <a:r>
              <a:rPr sz="2200" spc="-17" dirty="0">
                <a:latin typeface="+mn-lt"/>
                <a:cs typeface="Times New Roman"/>
              </a:rPr>
              <a:t> </a:t>
            </a:r>
            <a:r>
              <a:rPr sz="2200" dirty="0">
                <a:latin typeface="+mn-lt"/>
                <a:cs typeface="Times New Roman"/>
              </a:rPr>
              <a:t>is</a:t>
            </a:r>
            <a:r>
              <a:rPr sz="2200" spc="-17" dirty="0">
                <a:latin typeface="+mn-lt"/>
                <a:cs typeface="Times New Roman"/>
              </a:rPr>
              <a:t> </a:t>
            </a:r>
            <a:r>
              <a:rPr sz="2200" dirty="0">
                <a:latin typeface="+mn-lt"/>
                <a:cs typeface="Times New Roman"/>
              </a:rPr>
              <a:t>expected</a:t>
            </a:r>
            <a:r>
              <a:rPr sz="2200" spc="-17" dirty="0">
                <a:latin typeface="+mn-lt"/>
                <a:cs typeface="Times New Roman"/>
              </a:rPr>
              <a:t> </a:t>
            </a:r>
            <a:r>
              <a:rPr sz="2200" dirty="0">
                <a:latin typeface="+mn-lt"/>
                <a:cs typeface="Times New Roman"/>
              </a:rPr>
              <a:t>to</a:t>
            </a:r>
            <a:r>
              <a:rPr sz="2200" spc="-17" dirty="0">
                <a:latin typeface="+mn-lt"/>
                <a:cs typeface="Times New Roman"/>
              </a:rPr>
              <a:t> </a:t>
            </a:r>
            <a:r>
              <a:rPr sz="2200" spc="-9" dirty="0">
                <a:latin typeface="+mn-lt"/>
                <a:cs typeface="Times New Roman"/>
              </a:rPr>
              <a:t>achieve</a:t>
            </a:r>
            <a:endParaRPr sz="2200" dirty="0">
              <a:latin typeface="+mn-lt"/>
              <a:cs typeface="Times New Roman"/>
            </a:endParaRPr>
          </a:p>
          <a:p>
            <a:pPr marL="242716">
              <a:spcBef>
                <a:spcPts val="902"/>
              </a:spcBef>
              <a:tabLst>
                <a:tab pos="703713" algn="l"/>
              </a:tabLst>
            </a:pPr>
            <a:r>
              <a:rPr sz="2200" spc="-43" dirty="0">
                <a:solidFill>
                  <a:srgbClr val="0000FF"/>
                </a:solidFill>
                <a:latin typeface="+mn-lt"/>
                <a:cs typeface="Times New Roman"/>
              </a:rPr>
              <a:t>E</a:t>
            </a:r>
            <a:r>
              <a:rPr sz="2200" dirty="0">
                <a:solidFill>
                  <a:srgbClr val="0000FF"/>
                </a:solidFill>
                <a:latin typeface="+mn-lt"/>
                <a:cs typeface="Times New Roman"/>
              </a:rPr>
              <a:t>	</a:t>
            </a:r>
            <a:r>
              <a:rPr sz="2200" b="1" dirty="0">
                <a:solidFill>
                  <a:srgbClr val="0000FF"/>
                </a:solidFill>
                <a:latin typeface="+mn-lt"/>
                <a:cs typeface="Times New Roman"/>
              </a:rPr>
              <a:t>Environment</a:t>
            </a:r>
            <a:r>
              <a:rPr sz="2200" b="1" spc="-21" dirty="0">
                <a:solidFill>
                  <a:srgbClr val="0000FF"/>
                </a:solidFill>
                <a:latin typeface="+mn-lt"/>
                <a:cs typeface="Times New Roman"/>
              </a:rPr>
              <a:t> </a:t>
            </a:r>
            <a:r>
              <a:rPr sz="2200" dirty="0">
                <a:latin typeface="+mn-lt"/>
                <a:cs typeface="Times New Roman"/>
              </a:rPr>
              <a:t>–</a:t>
            </a:r>
            <a:r>
              <a:rPr sz="2200" spc="-21" dirty="0">
                <a:latin typeface="+mn-lt"/>
                <a:cs typeface="Times New Roman"/>
              </a:rPr>
              <a:t> </a:t>
            </a:r>
            <a:r>
              <a:rPr sz="2200" dirty="0">
                <a:latin typeface="+mn-lt"/>
                <a:cs typeface="Times New Roman"/>
              </a:rPr>
              <a:t>what</a:t>
            </a:r>
            <a:r>
              <a:rPr sz="2200" spc="-21" dirty="0">
                <a:latin typeface="+mn-lt"/>
                <a:cs typeface="Times New Roman"/>
              </a:rPr>
              <a:t> </a:t>
            </a:r>
            <a:r>
              <a:rPr sz="2200" dirty="0">
                <a:latin typeface="+mn-lt"/>
                <a:cs typeface="Times New Roman"/>
              </a:rPr>
              <a:t>the</a:t>
            </a:r>
            <a:r>
              <a:rPr sz="2200" spc="-21" dirty="0">
                <a:latin typeface="+mn-lt"/>
                <a:cs typeface="Times New Roman"/>
              </a:rPr>
              <a:t> </a:t>
            </a:r>
            <a:r>
              <a:rPr sz="2200" dirty="0">
                <a:latin typeface="+mn-lt"/>
                <a:cs typeface="Times New Roman"/>
              </a:rPr>
              <a:t>agent</a:t>
            </a:r>
            <a:r>
              <a:rPr sz="2200" spc="-21" dirty="0">
                <a:latin typeface="+mn-lt"/>
                <a:cs typeface="Times New Roman"/>
              </a:rPr>
              <a:t> </a:t>
            </a:r>
            <a:r>
              <a:rPr sz="2200" dirty="0">
                <a:latin typeface="+mn-lt"/>
                <a:cs typeface="Times New Roman"/>
              </a:rPr>
              <a:t>is</a:t>
            </a:r>
            <a:r>
              <a:rPr sz="2200" spc="-21" dirty="0">
                <a:latin typeface="+mn-lt"/>
                <a:cs typeface="Times New Roman"/>
              </a:rPr>
              <a:t> </a:t>
            </a:r>
            <a:r>
              <a:rPr sz="2200" dirty="0">
                <a:latin typeface="+mn-lt"/>
                <a:cs typeface="Times New Roman"/>
              </a:rPr>
              <a:t>interacting</a:t>
            </a:r>
            <a:r>
              <a:rPr sz="2200" spc="-21" dirty="0">
                <a:latin typeface="+mn-lt"/>
                <a:cs typeface="Times New Roman"/>
              </a:rPr>
              <a:t> </a:t>
            </a:r>
            <a:r>
              <a:rPr sz="2200" spc="-17" dirty="0">
                <a:latin typeface="+mn-lt"/>
                <a:cs typeface="Times New Roman"/>
              </a:rPr>
              <a:t>with</a:t>
            </a:r>
            <a:endParaRPr sz="2200" dirty="0">
              <a:latin typeface="+mn-lt"/>
              <a:cs typeface="Times New Roman"/>
            </a:endParaRPr>
          </a:p>
          <a:p>
            <a:pPr>
              <a:spcBef>
                <a:spcPts val="342"/>
              </a:spcBef>
            </a:pPr>
            <a:endParaRPr sz="1400" dirty="0">
              <a:latin typeface="Times New Roman"/>
              <a:cs typeface="Times New Roman"/>
            </a:endParaRPr>
          </a:p>
        </p:txBody>
      </p:sp>
    </p:spTree>
    <p:extLst>
      <p:ext uri="{BB962C8B-B14F-4D97-AF65-F5344CB8AC3E}">
        <p14:creationId xmlns:p14="http://schemas.microsoft.com/office/powerpoint/2010/main" val="22704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B906-560D-0A85-1A4E-34A20238C39E}"/>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0738DB91-DF60-6D08-3FB1-81C4009276DB}"/>
              </a:ext>
            </a:extLst>
          </p:cNvPr>
          <p:cNvSpPr>
            <a:spLocks noGrp="1" noChangeArrowheads="1"/>
          </p:cNvSpPr>
          <p:nvPr>
            <p:ph type="title"/>
          </p:nvPr>
        </p:nvSpPr>
        <p:spPr>
          <a:xfrm>
            <a:off x="914400" y="609600"/>
            <a:ext cx="7029132" cy="677108"/>
          </a:xfrm>
        </p:spPr>
        <p:txBody>
          <a:bodyPr/>
          <a:lstStyle/>
          <a:p>
            <a:r>
              <a:rPr lang="en-US" altLang="en-US" dirty="0"/>
              <a:t>Intelligent Agents</a:t>
            </a:r>
          </a:p>
        </p:txBody>
      </p:sp>
      <p:sp>
        <p:nvSpPr>
          <p:cNvPr id="7171" name="Rectangle 3">
            <a:extLst>
              <a:ext uri="{FF2B5EF4-FFF2-40B4-BE49-F238E27FC236}">
                <a16:creationId xmlns:a16="http://schemas.microsoft.com/office/drawing/2014/main" id="{6D21B630-CD3B-0D70-57F5-1728C02BF83E}"/>
              </a:ext>
            </a:extLst>
          </p:cNvPr>
          <p:cNvSpPr>
            <a:spLocks noGrp="1" noChangeArrowheads="1"/>
          </p:cNvSpPr>
          <p:nvPr>
            <p:ph type="body" idx="1"/>
          </p:nvPr>
        </p:nvSpPr>
        <p:spPr>
          <a:xfrm>
            <a:off x="380365" y="1461135"/>
            <a:ext cx="8130540" cy="2769989"/>
          </a:xfrm>
        </p:spPr>
        <p:txBody>
          <a:bodyPr/>
          <a:lstStyle/>
          <a:p>
            <a:r>
              <a:rPr lang="en-US" altLang="en-US" sz="2800" dirty="0"/>
              <a:t>An intelligent agent is one that is capable of </a:t>
            </a:r>
            <a:r>
              <a:rPr lang="en-US" altLang="en-US" sz="2800" b="1" dirty="0"/>
              <a:t>flexible</a:t>
            </a:r>
            <a:r>
              <a:rPr lang="en-US" altLang="en-US" sz="2800" dirty="0"/>
              <a:t> autonomous action to meet its design objectives</a:t>
            </a:r>
          </a:p>
          <a:p>
            <a:r>
              <a:rPr lang="en-US" altLang="en-US" sz="2800" dirty="0"/>
              <a:t>Flexible:</a:t>
            </a:r>
          </a:p>
          <a:p>
            <a:pPr lvl="1"/>
            <a:r>
              <a:rPr lang="en-US" altLang="en-US" sz="2400" b="1" dirty="0"/>
              <a:t>Reactivity</a:t>
            </a:r>
            <a:r>
              <a:rPr lang="en-US" altLang="en-US" sz="2400" dirty="0"/>
              <a:t>: perceive and respond in timely fashion</a:t>
            </a:r>
          </a:p>
          <a:p>
            <a:pPr lvl="1"/>
            <a:r>
              <a:rPr lang="en-US" altLang="en-US" sz="2400" b="1" dirty="0"/>
              <a:t>Pro-activeness</a:t>
            </a:r>
            <a:r>
              <a:rPr lang="en-US" altLang="en-US" sz="2400" dirty="0"/>
              <a:t>: goal-directed behavior by taking the initiative to achieve the goal</a:t>
            </a:r>
          </a:p>
          <a:p>
            <a:pPr lvl="1"/>
            <a:r>
              <a:rPr lang="en-US" altLang="en-US" sz="2400" b="1" dirty="0"/>
              <a:t>Social ability</a:t>
            </a:r>
            <a:r>
              <a:rPr lang="en-US" altLang="en-US" sz="2400" dirty="0"/>
              <a:t>: interaction and communication</a:t>
            </a:r>
          </a:p>
        </p:txBody>
      </p:sp>
    </p:spTree>
    <p:extLst>
      <p:ext uri="{BB962C8B-B14F-4D97-AF65-F5344CB8AC3E}">
        <p14:creationId xmlns:p14="http://schemas.microsoft.com/office/powerpoint/2010/main" val="3345157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5D6C2-1696-2133-35F2-DA470BF3BCA8}"/>
            </a:ext>
          </a:extLst>
        </p:cNvPr>
        <p:cNvGrpSpPr/>
        <p:nvPr/>
      </p:nvGrpSpPr>
      <p:grpSpPr>
        <a:xfrm>
          <a:off x="0" y="0"/>
          <a:ext cx="0" cy="0"/>
          <a:chOff x="0" y="0"/>
          <a:chExt cx="0" cy="0"/>
        </a:xfrm>
      </p:grpSpPr>
      <p:sp>
        <p:nvSpPr>
          <p:cNvPr id="26628" name="Slide Number Placeholder 5">
            <a:extLst>
              <a:ext uri="{FF2B5EF4-FFF2-40B4-BE49-F238E27FC236}">
                <a16:creationId xmlns:a16="http://schemas.microsoft.com/office/drawing/2014/main" id="{5C9EABD5-11AA-57D5-DEF9-616857FC916E}"/>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10</a:t>
            </a:fld>
            <a:endParaRPr kumimoji="0" lang="en-US" altLang="zh-CN" sz="2600" dirty="0">
              <a:solidFill>
                <a:schemeClr val="bg1"/>
              </a:solidFill>
              <a:ea typeface="宋体" panose="02010600030101010101" pitchFamily="2" charset="-122"/>
            </a:endParaRPr>
          </a:p>
        </p:txBody>
      </p:sp>
      <p:sp>
        <p:nvSpPr>
          <p:cNvPr id="26629" name="Rectangle 2">
            <a:extLst>
              <a:ext uri="{FF2B5EF4-FFF2-40B4-BE49-F238E27FC236}">
                <a16:creationId xmlns:a16="http://schemas.microsoft.com/office/drawing/2014/main" id="{5C4153FB-99D0-B957-6DDE-4C7462CACF7E}"/>
              </a:ext>
            </a:extLst>
          </p:cNvPr>
          <p:cNvSpPr>
            <a:spLocks noGrp="1" noChangeArrowheads="1"/>
          </p:cNvSpPr>
          <p:nvPr>
            <p:ph type="title"/>
          </p:nvPr>
        </p:nvSpPr>
        <p:spPr>
          <a:xfrm>
            <a:off x="762000" y="1066800"/>
            <a:ext cx="7029132" cy="719519"/>
          </a:xfrm>
        </p:spPr>
        <p:txBody>
          <a:bodyPr/>
          <a:lstStyle/>
          <a:p>
            <a:pPr eaLnBrk="1" hangingPunct="1"/>
            <a:r>
              <a:rPr lang="en-US" altLang="zh-CN" dirty="0"/>
              <a:t>Dear child gets many names…</a:t>
            </a:r>
          </a:p>
        </p:txBody>
      </p:sp>
      <p:sp>
        <p:nvSpPr>
          <p:cNvPr id="26630" name="Rectangle 3">
            <a:extLst>
              <a:ext uri="{FF2B5EF4-FFF2-40B4-BE49-F238E27FC236}">
                <a16:creationId xmlns:a16="http://schemas.microsoft.com/office/drawing/2014/main" id="{AD3672B6-58B6-D36D-D6CC-890F52FD1E06}"/>
              </a:ext>
            </a:extLst>
          </p:cNvPr>
          <p:cNvSpPr>
            <a:spLocks noGrp="1" noChangeArrowheads="1"/>
          </p:cNvSpPr>
          <p:nvPr>
            <p:ph type="body" idx="1"/>
          </p:nvPr>
        </p:nvSpPr>
        <p:spPr>
          <a:xfrm>
            <a:off x="381000" y="2362200"/>
            <a:ext cx="8130540" cy="2958465"/>
          </a:xfrm>
        </p:spPr>
        <p:txBody>
          <a:bodyPr/>
          <a:lstStyle/>
          <a:p>
            <a:pPr eaLnBrk="1" hangingPunct="1"/>
            <a:r>
              <a:rPr lang="en-US" altLang="zh-CN" dirty="0">
                <a:solidFill>
                  <a:srgbClr val="FF3300"/>
                </a:solidFill>
              </a:rPr>
              <a:t>Many synonyms of the term “Intelligent agent”</a:t>
            </a:r>
          </a:p>
          <a:p>
            <a:pPr lvl="1" eaLnBrk="1" hangingPunct="1">
              <a:lnSpc>
                <a:spcPct val="150000"/>
              </a:lnSpc>
            </a:pPr>
            <a:r>
              <a:rPr lang="en-US" altLang="zh-CN" dirty="0"/>
              <a:t>Robots</a:t>
            </a:r>
          </a:p>
          <a:p>
            <a:pPr lvl="1" eaLnBrk="1" hangingPunct="1">
              <a:lnSpc>
                <a:spcPct val="150000"/>
              </a:lnSpc>
            </a:pPr>
            <a:r>
              <a:rPr lang="en-US" altLang="zh-CN" dirty="0"/>
              <a:t>Software agent or softbots</a:t>
            </a:r>
          </a:p>
          <a:p>
            <a:pPr lvl="1" eaLnBrk="1" hangingPunct="1">
              <a:lnSpc>
                <a:spcPct val="150000"/>
              </a:lnSpc>
            </a:pPr>
            <a:r>
              <a:rPr lang="en-US" altLang="zh-CN" dirty="0"/>
              <a:t>Knowbots</a:t>
            </a:r>
          </a:p>
          <a:p>
            <a:pPr lvl="1" eaLnBrk="1" hangingPunct="1">
              <a:lnSpc>
                <a:spcPct val="150000"/>
              </a:lnSpc>
            </a:pPr>
            <a:r>
              <a:rPr lang="en-US" altLang="zh-CN" dirty="0" err="1"/>
              <a:t>Taskbots</a:t>
            </a:r>
            <a:endParaRPr lang="en-US" altLang="zh-CN" dirty="0"/>
          </a:p>
          <a:p>
            <a:pPr lvl="1" eaLnBrk="1" hangingPunct="1">
              <a:lnSpc>
                <a:spcPct val="150000"/>
              </a:lnSpc>
            </a:pPr>
            <a:r>
              <a:rPr lang="en-US" altLang="zh-CN" dirty="0" err="1"/>
              <a:t>Userbots</a:t>
            </a:r>
            <a:endParaRPr lang="en-US" altLang="zh-CN" dirty="0"/>
          </a:p>
          <a:p>
            <a:pPr lvl="1" eaLnBrk="1" hangingPunct="1">
              <a:lnSpc>
                <a:spcPct val="150000"/>
              </a:lnSpc>
            </a:pPr>
            <a:r>
              <a:rPr lang="en-US" altLang="zh-CN" dirty="0"/>
              <a:t>……</a:t>
            </a:r>
          </a:p>
        </p:txBody>
      </p:sp>
    </p:spTree>
    <p:extLst>
      <p:ext uri="{BB962C8B-B14F-4D97-AF65-F5344CB8AC3E}">
        <p14:creationId xmlns:p14="http://schemas.microsoft.com/office/powerpoint/2010/main" val="81101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8C7C-4F2E-5637-FFF5-2E0413786B73}"/>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588E6700-590F-C5D4-3230-8069269B450B}"/>
              </a:ext>
            </a:extLst>
          </p:cNvPr>
          <p:cNvSpPr>
            <a:spLocks noGrp="1" noChangeArrowheads="1"/>
          </p:cNvSpPr>
          <p:nvPr>
            <p:ph type="title"/>
          </p:nvPr>
        </p:nvSpPr>
        <p:spPr>
          <a:xfrm>
            <a:off x="1600200" y="914400"/>
            <a:ext cx="4547458" cy="792098"/>
          </a:xfrm>
        </p:spPr>
        <p:txBody>
          <a:bodyPr/>
          <a:lstStyle/>
          <a:p>
            <a:r>
              <a:rPr lang="en-US" altLang="en-US" dirty="0">
                <a:solidFill>
                  <a:srgbClr val="CC3300"/>
                </a:solidFill>
              </a:rPr>
              <a:t>Other Properties</a:t>
            </a:r>
          </a:p>
        </p:txBody>
      </p:sp>
      <p:sp>
        <p:nvSpPr>
          <p:cNvPr id="13315" name="Rectangle 3">
            <a:extLst>
              <a:ext uri="{FF2B5EF4-FFF2-40B4-BE49-F238E27FC236}">
                <a16:creationId xmlns:a16="http://schemas.microsoft.com/office/drawing/2014/main" id="{7EAE9406-8B5A-7926-13A8-03AA26A8D00E}"/>
              </a:ext>
            </a:extLst>
          </p:cNvPr>
          <p:cNvSpPr>
            <a:spLocks noGrp="1" noChangeArrowheads="1"/>
          </p:cNvSpPr>
          <p:nvPr>
            <p:ph type="body" idx="1"/>
          </p:nvPr>
        </p:nvSpPr>
        <p:spPr>
          <a:xfrm>
            <a:off x="228600" y="2209800"/>
            <a:ext cx="8839200" cy="3581400"/>
          </a:xfrm>
        </p:spPr>
        <p:txBody>
          <a:bodyPr/>
          <a:lstStyle/>
          <a:p>
            <a:r>
              <a:rPr lang="en-US" altLang="en-US" sz="2400" dirty="0"/>
              <a:t>Other properties, sometimes discussed in the context of agency:</a:t>
            </a:r>
          </a:p>
          <a:p>
            <a:r>
              <a:rPr lang="en-US" altLang="en-US" sz="2400" i="1" dirty="0">
                <a:solidFill>
                  <a:srgbClr val="003399"/>
                </a:solidFill>
              </a:rPr>
              <a:t>mobility</a:t>
            </a:r>
            <a:r>
              <a:rPr lang="en-US" altLang="en-US" sz="2400" dirty="0"/>
              <a:t>: the ability of an agent to move around an electronic network</a:t>
            </a:r>
          </a:p>
          <a:p>
            <a:r>
              <a:rPr lang="en-US" altLang="en-US" sz="2400" i="1" dirty="0">
                <a:solidFill>
                  <a:srgbClr val="003399"/>
                </a:solidFill>
              </a:rPr>
              <a:t>veracity</a:t>
            </a:r>
            <a:r>
              <a:rPr lang="en-US" altLang="en-US" sz="2400" dirty="0"/>
              <a:t>: an agent will not knowingly communicate false information</a:t>
            </a:r>
          </a:p>
          <a:p>
            <a:r>
              <a:rPr lang="en-US" altLang="en-US" sz="2400" i="1" dirty="0">
                <a:solidFill>
                  <a:srgbClr val="003399"/>
                </a:solidFill>
              </a:rPr>
              <a:t>benevolence</a:t>
            </a:r>
            <a:r>
              <a:rPr lang="en-US" altLang="en-US" sz="2400" dirty="0"/>
              <a:t>: agents do not have conflicting goals, and that every agent will therefore always try to do what is asked of it</a:t>
            </a:r>
          </a:p>
          <a:p>
            <a:r>
              <a:rPr lang="en-US" altLang="en-US" sz="2400" i="1" dirty="0">
                <a:solidFill>
                  <a:srgbClr val="003399"/>
                </a:solidFill>
              </a:rPr>
              <a:t>rationality</a:t>
            </a:r>
            <a:r>
              <a:rPr lang="en-US" altLang="en-US" sz="2400" dirty="0"/>
              <a:t>: agent will act in order to achieve its goals, and will not act in such a way as to prevent its goals being achieved — at least insofar as its beliefs permit</a:t>
            </a:r>
          </a:p>
          <a:p>
            <a:r>
              <a:rPr lang="en-US" altLang="en-US" sz="2400" i="1" dirty="0">
                <a:solidFill>
                  <a:srgbClr val="003399"/>
                </a:solidFill>
              </a:rPr>
              <a:t>learning/adaption</a:t>
            </a:r>
            <a:r>
              <a:rPr lang="en-US" altLang="en-US" sz="2400" dirty="0"/>
              <a:t>: agents improve performance over time</a:t>
            </a:r>
          </a:p>
        </p:txBody>
      </p:sp>
    </p:spTree>
    <p:extLst>
      <p:ext uri="{BB962C8B-B14F-4D97-AF65-F5344CB8AC3E}">
        <p14:creationId xmlns:p14="http://schemas.microsoft.com/office/powerpoint/2010/main" val="2968795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C4DF-FFA8-4529-642B-CC996A7ECF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46FFC6-2C3D-7CE6-93DB-A12D71D3F933}"/>
              </a:ext>
            </a:extLst>
          </p:cNvPr>
          <p:cNvSpPr txBox="1">
            <a:spLocks noGrp="1"/>
          </p:cNvSpPr>
          <p:nvPr>
            <p:ph type="title"/>
          </p:nvPr>
        </p:nvSpPr>
        <p:spPr>
          <a:prstGeom prst="rect">
            <a:avLst/>
          </a:prstGeom>
        </p:spPr>
        <p:txBody>
          <a:bodyPr vert="horz" wrap="square" lIns="0" tIns="348297" rIns="0" bIns="0" rtlCol="0">
            <a:spAutoFit/>
          </a:bodyPr>
          <a:lstStyle/>
          <a:p>
            <a:pPr marL="962025">
              <a:lnSpc>
                <a:spcPct val="100000"/>
              </a:lnSpc>
              <a:spcBef>
                <a:spcPts val="105"/>
              </a:spcBef>
            </a:pPr>
            <a:r>
              <a:rPr dirty="0"/>
              <a:t>Concept</a:t>
            </a:r>
            <a:r>
              <a:rPr spc="-70" dirty="0"/>
              <a:t> </a:t>
            </a:r>
            <a:r>
              <a:rPr dirty="0"/>
              <a:t>of</a:t>
            </a:r>
            <a:r>
              <a:rPr spc="-40" dirty="0"/>
              <a:t> </a:t>
            </a:r>
            <a:r>
              <a:rPr spc="-10" dirty="0"/>
              <a:t>Rationality</a:t>
            </a:r>
          </a:p>
        </p:txBody>
      </p:sp>
      <p:grpSp>
        <p:nvGrpSpPr>
          <p:cNvPr id="3" name="object 3">
            <a:extLst>
              <a:ext uri="{FF2B5EF4-FFF2-40B4-BE49-F238E27FC236}">
                <a16:creationId xmlns:a16="http://schemas.microsoft.com/office/drawing/2014/main" id="{D159D4F0-04D7-296B-6BD1-F45D065D32E7}"/>
              </a:ext>
            </a:extLst>
          </p:cNvPr>
          <p:cNvGrpSpPr/>
          <p:nvPr/>
        </p:nvGrpSpPr>
        <p:grpSpPr>
          <a:xfrm>
            <a:off x="777239" y="1956815"/>
            <a:ext cx="216535" cy="2260600"/>
            <a:chOff x="777239" y="1956815"/>
            <a:chExt cx="216535" cy="2260600"/>
          </a:xfrm>
        </p:grpSpPr>
        <p:pic>
          <p:nvPicPr>
            <p:cNvPr id="4" name="object 4">
              <a:extLst>
                <a:ext uri="{FF2B5EF4-FFF2-40B4-BE49-F238E27FC236}">
                  <a16:creationId xmlns:a16="http://schemas.microsoft.com/office/drawing/2014/main" id="{E3D61BBE-4DC4-A84C-9CEA-D3AA7A5827A2}"/>
                </a:ext>
              </a:extLst>
            </p:cNvPr>
            <p:cNvPicPr/>
            <p:nvPr/>
          </p:nvPicPr>
          <p:blipFill>
            <a:blip r:embed="rId3" cstate="print"/>
            <a:stretch>
              <a:fillRect/>
            </a:stretch>
          </p:blipFill>
          <p:spPr>
            <a:xfrm>
              <a:off x="777239" y="1956815"/>
              <a:ext cx="216407" cy="227075"/>
            </a:xfrm>
            <a:prstGeom prst="rect">
              <a:avLst/>
            </a:prstGeom>
          </p:spPr>
        </p:pic>
        <p:pic>
          <p:nvPicPr>
            <p:cNvPr id="5" name="object 5">
              <a:extLst>
                <a:ext uri="{FF2B5EF4-FFF2-40B4-BE49-F238E27FC236}">
                  <a16:creationId xmlns:a16="http://schemas.microsoft.com/office/drawing/2014/main" id="{2A95E5AD-7915-6B6B-BA60-683AD39A51A3}"/>
                </a:ext>
              </a:extLst>
            </p:cNvPr>
            <p:cNvPicPr/>
            <p:nvPr/>
          </p:nvPicPr>
          <p:blipFill>
            <a:blip r:embed="rId3" cstate="print"/>
            <a:stretch>
              <a:fillRect/>
            </a:stretch>
          </p:blipFill>
          <p:spPr>
            <a:xfrm>
              <a:off x="777240" y="3989844"/>
              <a:ext cx="216407" cy="227063"/>
            </a:xfrm>
            <a:prstGeom prst="rect">
              <a:avLst/>
            </a:prstGeom>
          </p:spPr>
        </p:pic>
      </p:grpSp>
      <p:sp>
        <p:nvSpPr>
          <p:cNvPr id="6" name="object 6">
            <a:extLst>
              <a:ext uri="{FF2B5EF4-FFF2-40B4-BE49-F238E27FC236}">
                <a16:creationId xmlns:a16="http://schemas.microsoft.com/office/drawing/2014/main" id="{76FF6079-C4D8-8D67-D6D5-D4F29F9D4EC1}"/>
              </a:ext>
            </a:extLst>
          </p:cNvPr>
          <p:cNvSpPr txBox="1"/>
          <p:nvPr/>
        </p:nvSpPr>
        <p:spPr>
          <a:xfrm>
            <a:off x="1105916" y="1659120"/>
            <a:ext cx="6744970" cy="4103370"/>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Rational</a:t>
            </a:r>
            <a:r>
              <a:rPr sz="3200" spc="-130" dirty="0">
                <a:latin typeface="Calibri"/>
                <a:cs typeface="Calibri"/>
              </a:rPr>
              <a:t> </a:t>
            </a:r>
            <a:r>
              <a:rPr sz="3200" spc="-10" dirty="0">
                <a:latin typeface="Calibri"/>
                <a:cs typeface="Calibri"/>
              </a:rPr>
              <a:t>agent</a:t>
            </a:r>
            <a:endParaRPr sz="3200" dirty="0">
              <a:latin typeface="Calibri"/>
              <a:cs typeface="Calibri"/>
            </a:endParaRPr>
          </a:p>
          <a:p>
            <a:pPr marL="412750" indent="-284480">
              <a:lnSpc>
                <a:spcPct val="100000"/>
              </a:lnSpc>
              <a:spcBef>
                <a:spcPts val="690"/>
              </a:spcBef>
              <a:buClr>
                <a:srgbClr val="C09E4A"/>
              </a:buClr>
              <a:buSzPct val="69642"/>
              <a:buFont typeface="Wingdings"/>
              <a:buChar char=""/>
              <a:tabLst>
                <a:tab pos="412750" algn="l"/>
              </a:tabLst>
            </a:pPr>
            <a:r>
              <a:rPr sz="2800" dirty="0">
                <a:latin typeface="Calibri"/>
                <a:cs typeface="Calibri"/>
              </a:rPr>
              <a:t>One</a:t>
            </a:r>
            <a:r>
              <a:rPr sz="2800" spc="-35" dirty="0">
                <a:latin typeface="Calibri"/>
                <a:cs typeface="Calibri"/>
              </a:rPr>
              <a:t> </a:t>
            </a:r>
            <a:r>
              <a:rPr sz="2800" dirty="0">
                <a:latin typeface="Calibri"/>
                <a:cs typeface="Calibri"/>
              </a:rPr>
              <a:t>that</a:t>
            </a:r>
            <a:r>
              <a:rPr sz="2800" spc="-50" dirty="0">
                <a:latin typeface="Calibri"/>
                <a:cs typeface="Calibri"/>
              </a:rPr>
              <a:t> </a:t>
            </a:r>
            <a:r>
              <a:rPr sz="2800" dirty="0">
                <a:latin typeface="Calibri"/>
                <a:cs typeface="Calibri"/>
              </a:rPr>
              <a:t>does</a:t>
            </a:r>
            <a:r>
              <a:rPr sz="2800" spc="-2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right</a:t>
            </a:r>
            <a:r>
              <a:rPr sz="2800" spc="-40" dirty="0">
                <a:latin typeface="Calibri"/>
                <a:cs typeface="Calibri"/>
              </a:rPr>
              <a:t> </a:t>
            </a:r>
            <a:r>
              <a:rPr sz="2800" spc="-10" dirty="0">
                <a:latin typeface="Calibri"/>
                <a:cs typeface="Calibri"/>
              </a:rPr>
              <a:t>thing</a:t>
            </a:r>
            <a:endParaRPr sz="2800" dirty="0">
              <a:latin typeface="Calibri"/>
              <a:cs typeface="Calibri"/>
            </a:endParaRPr>
          </a:p>
          <a:p>
            <a:pPr marL="413384" marR="751205" indent="-285115">
              <a:lnSpc>
                <a:spcPct val="100000"/>
              </a:lnSpc>
              <a:spcBef>
                <a:spcPts val="670"/>
              </a:spcBef>
            </a:pPr>
            <a:r>
              <a:rPr sz="1950" dirty="0">
                <a:solidFill>
                  <a:srgbClr val="C09E4A"/>
                </a:solidFill>
                <a:latin typeface="Wingdings"/>
                <a:cs typeface="Wingdings"/>
              </a:rPr>
              <a:t></a:t>
            </a:r>
            <a:r>
              <a:rPr sz="1950" spc="235" dirty="0">
                <a:solidFill>
                  <a:srgbClr val="C09E4A"/>
                </a:solidFill>
                <a:latin typeface="Times New Roman"/>
                <a:cs typeface="Times New Roman"/>
              </a:rPr>
              <a:t> </a:t>
            </a:r>
            <a:r>
              <a:rPr sz="2800" dirty="0">
                <a:latin typeface="Calibri"/>
                <a:cs typeface="Calibri"/>
              </a:rPr>
              <a:t>=</a:t>
            </a:r>
            <a:r>
              <a:rPr sz="2800" spc="-25" dirty="0">
                <a:latin typeface="Calibri"/>
                <a:cs typeface="Calibri"/>
              </a:rPr>
              <a:t> </a:t>
            </a:r>
            <a:r>
              <a:rPr sz="2800" dirty="0">
                <a:latin typeface="Calibri"/>
                <a:cs typeface="Calibri"/>
              </a:rPr>
              <a:t>every</a:t>
            </a:r>
            <a:r>
              <a:rPr sz="2800" spc="-50" dirty="0">
                <a:latin typeface="Calibri"/>
                <a:cs typeface="Calibri"/>
              </a:rPr>
              <a:t> </a:t>
            </a:r>
            <a:r>
              <a:rPr sz="2800" dirty="0">
                <a:latin typeface="Calibri"/>
                <a:cs typeface="Calibri"/>
              </a:rPr>
              <a:t>entry</a:t>
            </a:r>
            <a:r>
              <a:rPr sz="2800" spc="-30" dirty="0">
                <a:latin typeface="Calibri"/>
                <a:cs typeface="Calibri"/>
              </a:rPr>
              <a:t> </a:t>
            </a:r>
            <a:r>
              <a:rPr sz="2800" dirty="0">
                <a:latin typeface="Calibri"/>
                <a:cs typeface="Calibri"/>
              </a:rPr>
              <a:t>in</a:t>
            </a:r>
            <a:r>
              <a:rPr sz="2800" spc="-35" dirty="0">
                <a:latin typeface="Calibri"/>
                <a:cs typeface="Calibri"/>
              </a:rPr>
              <a:t> </a:t>
            </a:r>
            <a:r>
              <a:rPr sz="2800" dirty="0">
                <a:latin typeface="Calibri"/>
                <a:cs typeface="Calibri"/>
              </a:rPr>
              <a:t>the</a:t>
            </a:r>
            <a:r>
              <a:rPr sz="2800" spc="-30" dirty="0">
                <a:latin typeface="Calibri"/>
                <a:cs typeface="Calibri"/>
              </a:rPr>
              <a:t> </a:t>
            </a:r>
            <a:r>
              <a:rPr sz="2800" dirty="0">
                <a:latin typeface="Calibri"/>
                <a:cs typeface="Calibri"/>
              </a:rPr>
              <a:t>table</a:t>
            </a:r>
            <a:r>
              <a:rPr sz="2800" spc="-40" dirty="0">
                <a:latin typeface="Calibri"/>
                <a:cs typeface="Calibri"/>
              </a:rPr>
              <a:t> </a:t>
            </a:r>
            <a:r>
              <a:rPr sz="2800" dirty="0">
                <a:latin typeface="Calibri"/>
                <a:cs typeface="Calibri"/>
              </a:rPr>
              <a:t>for</a:t>
            </a:r>
            <a:r>
              <a:rPr sz="2800" spc="-45" dirty="0">
                <a:latin typeface="Calibri"/>
                <a:cs typeface="Calibri"/>
              </a:rPr>
              <a:t> </a:t>
            </a:r>
            <a:r>
              <a:rPr sz="2800" dirty="0">
                <a:latin typeface="Calibri"/>
                <a:cs typeface="Calibri"/>
              </a:rPr>
              <a:t>the</a:t>
            </a:r>
            <a:r>
              <a:rPr sz="2800" spc="-25" dirty="0">
                <a:latin typeface="Calibri"/>
                <a:cs typeface="Calibri"/>
              </a:rPr>
              <a:t> </a:t>
            </a:r>
            <a:r>
              <a:rPr sz="2800" spc="-10" dirty="0">
                <a:latin typeface="Calibri"/>
                <a:cs typeface="Calibri"/>
              </a:rPr>
              <a:t>agent </a:t>
            </a:r>
            <a:r>
              <a:rPr sz="2800" dirty="0">
                <a:latin typeface="Calibri"/>
                <a:cs typeface="Calibri"/>
              </a:rPr>
              <a:t>function</a:t>
            </a:r>
            <a:r>
              <a:rPr sz="2800" spc="-55" dirty="0">
                <a:latin typeface="Calibri"/>
                <a:cs typeface="Calibri"/>
              </a:rPr>
              <a:t> </a:t>
            </a:r>
            <a:r>
              <a:rPr sz="2800" dirty="0">
                <a:latin typeface="Calibri"/>
                <a:cs typeface="Calibri"/>
              </a:rPr>
              <a:t>is</a:t>
            </a:r>
            <a:r>
              <a:rPr sz="2800" spc="-75" dirty="0">
                <a:latin typeface="Calibri"/>
                <a:cs typeface="Calibri"/>
              </a:rPr>
              <a:t> </a:t>
            </a:r>
            <a:r>
              <a:rPr sz="2800" dirty="0">
                <a:latin typeface="Calibri"/>
                <a:cs typeface="Calibri"/>
              </a:rPr>
              <a:t>correct</a:t>
            </a:r>
            <a:r>
              <a:rPr sz="2800" spc="-80" dirty="0">
                <a:latin typeface="Calibri"/>
                <a:cs typeface="Calibri"/>
              </a:rPr>
              <a:t> </a:t>
            </a:r>
            <a:r>
              <a:rPr sz="2800" spc="-10" dirty="0">
                <a:latin typeface="Calibri"/>
                <a:cs typeface="Calibri"/>
              </a:rPr>
              <a:t>(rational).</a:t>
            </a:r>
            <a:endParaRPr sz="2800" dirty="0">
              <a:latin typeface="Calibri"/>
              <a:cs typeface="Calibri"/>
            </a:endParaRPr>
          </a:p>
          <a:p>
            <a:pPr marL="12700">
              <a:lnSpc>
                <a:spcPct val="100000"/>
              </a:lnSpc>
              <a:spcBef>
                <a:spcPts val="750"/>
              </a:spcBef>
            </a:pPr>
            <a:r>
              <a:rPr sz="3200" dirty="0">
                <a:latin typeface="Calibri"/>
                <a:cs typeface="Calibri"/>
              </a:rPr>
              <a:t>What</a:t>
            </a:r>
            <a:r>
              <a:rPr sz="3200" spc="-60" dirty="0">
                <a:latin typeface="Calibri"/>
                <a:cs typeface="Calibri"/>
              </a:rPr>
              <a:t> </a:t>
            </a:r>
            <a:r>
              <a:rPr sz="3200" dirty="0">
                <a:latin typeface="Calibri"/>
                <a:cs typeface="Calibri"/>
              </a:rPr>
              <a:t>is</a:t>
            </a:r>
            <a:r>
              <a:rPr sz="3200" spc="-55" dirty="0">
                <a:latin typeface="Calibri"/>
                <a:cs typeface="Calibri"/>
              </a:rPr>
              <a:t> </a:t>
            </a:r>
            <a:r>
              <a:rPr sz="3200" spc="-10" dirty="0">
                <a:latin typeface="Calibri"/>
                <a:cs typeface="Calibri"/>
              </a:rPr>
              <a:t>correct?</a:t>
            </a:r>
            <a:endParaRPr sz="3200" dirty="0">
              <a:latin typeface="Calibri"/>
              <a:cs typeface="Calibri"/>
            </a:endParaRPr>
          </a:p>
          <a:p>
            <a:pPr marL="413384" marR="5080" indent="-285115">
              <a:lnSpc>
                <a:spcPct val="100000"/>
              </a:lnSpc>
              <a:spcBef>
                <a:spcPts val="690"/>
              </a:spcBef>
              <a:buClr>
                <a:srgbClr val="C09E4A"/>
              </a:buClr>
              <a:buSzPct val="69642"/>
              <a:buFont typeface="Wingdings"/>
              <a:buChar char=""/>
              <a:tabLst>
                <a:tab pos="413384" algn="l"/>
              </a:tabLst>
            </a:pPr>
            <a:r>
              <a:rPr sz="2800" dirty="0">
                <a:latin typeface="Calibri"/>
                <a:cs typeface="Calibri"/>
              </a:rPr>
              <a:t>The</a:t>
            </a:r>
            <a:r>
              <a:rPr sz="2800" spc="-55" dirty="0">
                <a:latin typeface="Calibri"/>
                <a:cs typeface="Calibri"/>
              </a:rPr>
              <a:t> </a:t>
            </a:r>
            <a:r>
              <a:rPr sz="2800" dirty="0">
                <a:latin typeface="Calibri"/>
                <a:cs typeface="Calibri"/>
              </a:rPr>
              <a:t>actions</a:t>
            </a:r>
            <a:r>
              <a:rPr sz="2800" spc="-30" dirty="0">
                <a:latin typeface="Calibri"/>
                <a:cs typeface="Calibri"/>
              </a:rPr>
              <a:t> </a:t>
            </a:r>
            <a:r>
              <a:rPr sz="2800" dirty="0">
                <a:latin typeface="Calibri"/>
                <a:cs typeface="Calibri"/>
              </a:rPr>
              <a:t>that</a:t>
            </a:r>
            <a:r>
              <a:rPr sz="2800" spc="-50" dirty="0">
                <a:latin typeface="Calibri"/>
                <a:cs typeface="Calibri"/>
              </a:rPr>
              <a:t> </a:t>
            </a:r>
            <a:r>
              <a:rPr sz="2800" dirty="0">
                <a:latin typeface="Calibri"/>
                <a:cs typeface="Calibri"/>
              </a:rPr>
              <a:t>cause</a:t>
            </a:r>
            <a:r>
              <a:rPr sz="2800" spc="-35"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agent</a:t>
            </a:r>
            <a:r>
              <a:rPr sz="2800" spc="-60" dirty="0">
                <a:latin typeface="Calibri"/>
                <a:cs typeface="Calibri"/>
              </a:rPr>
              <a:t> </a:t>
            </a:r>
            <a:r>
              <a:rPr sz="2800" dirty="0">
                <a:latin typeface="Calibri"/>
                <a:cs typeface="Calibri"/>
              </a:rPr>
              <a:t>to</a:t>
            </a:r>
            <a:r>
              <a:rPr sz="2800" spc="-55" dirty="0">
                <a:latin typeface="Calibri"/>
                <a:cs typeface="Calibri"/>
              </a:rPr>
              <a:t> </a:t>
            </a:r>
            <a:r>
              <a:rPr sz="2800" dirty="0">
                <a:latin typeface="Calibri"/>
                <a:cs typeface="Calibri"/>
              </a:rPr>
              <a:t>be</a:t>
            </a:r>
            <a:r>
              <a:rPr sz="2800" spc="-35" dirty="0">
                <a:latin typeface="Calibri"/>
                <a:cs typeface="Calibri"/>
              </a:rPr>
              <a:t> </a:t>
            </a:r>
            <a:r>
              <a:rPr sz="2800" spc="-20" dirty="0">
                <a:latin typeface="Calibri"/>
                <a:cs typeface="Calibri"/>
              </a:rPr>
              <a:t>most </a:t>
            </a:r>
            <a:r>
              <a:rPr sz="2800" spc="-10" dirty="0">
                <a:latin typeface="Calibri"/>
                <a:cs typeface="Calibri"/>
              </a:rPr>
              <a:t>successful</a:t>
            </a:r>
            <a:endParaRPr sz="2800" dirty="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So</a:t>
            </a:r>
            <a:r>
              <a:rPr sz="2800" spc="-70" dirty="0">
                <a:latin typeface="Calibri"/>
                <a:cs typeface="Calibri"/>
              </a:rPr>
              <a:t> </a:t>
            </a:r>
            <a:r>
              <a:rPr sz="2800" dirty="0">
                <a:latin typeface="Calibri"/>
                <a:cs typeface="Calibri"/>
              </a:rPr>
              <a:t>we</a:t>
            </a:r>
            <a:r>
              <a:rPr sz="2800" spc="-65" dirty="0">
                <a:latin typeface="Calibri"/>
                <a:cs typeface="Calibri"/>
              </a:rPr>
              <a:t> </a:t>
            </a:r>
            <a:r>
              <a:rPr sz="2800" dirty="0">
                <a:latin typeface="Calibri"/>
                <a:cs typeface="Calibri"/>
              </a:rPr>
              <a:t>need</a:t>
            </a:r>
            <a:r>
              <a:rPr sz="2800" spc="-65" dirty="0">
                <a:latin typeface="Calibri"/>
                <a:cs typeface="Calibri"/>
              </a:rPr>
              <a:t> </a:t>
            </a:r>
            <a:r>
              <a:rPr sz="2800" dirty="0">
                <a:latin typeface="Calibri"/>
                <a:cs typeface="Calibri"/>
              </a:rPr>
              <a:t>ways</a:t>
            </a:r>
            <a:r>
              <a:rPr sz="2800" spc="-6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measure</a:t>
            </a:r>
            <a:r>
              <a:rPr sz="2800" spc="-55" dirty="0">
                <a:latin typeface="Calibri"/>
                <a:cs typeface="Calibri"/>
              </a:rPr>
              <a:t> </a:t>
            </a:r>
            <a:r>
              <a:rPr sz="2800" spc="-10" dirty="0">
                <a:latin typeface="Calibri"/>
                <a:cs typeface="Calibri"/>
              </a:rPr>
              <a:t>success.</a:t>
            </a:r>
            <a:endParaRPr sz="2800" dirty="0">
              <a:latin typeface="Calibri"/>
              <a:cs typeface="Calibri"/>
            </a:endParaRPr>
          </a:p>
        </p:txBody>
      </p:sp>
    </p:spTree>
    <p:extLst>
      <p:ext uri="{BB962C8B-B14F-4D97-AF65-F5344CB8AC3E}">
        <p14:creationId xmlns:p14="http://schemas.microsoft.com/office/powerpoint/2010/main" val="3398984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FCBC-7B14-1FB6-F8F6-DD05497D48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2F6754-06B4-B707-5C6B-4028111A35AC}"/>
              </a:ext>
            </a:extLst>
          </p:cNvPr>
          <p:cNvSpPr txBox="1">
            <a:spLocks noGrp="1"/>
          </p:cNvSpPr>
          <p:nvPr>
            <p:ph type="title"/>
          </p:nvPr>
        </p:nvSpPr>
        <p:spPr>
          <a:xfrm>
            <a:off x="2163165" y="377444"/>
            <a:ext cx="3689985" cy="696595"/>
          </a:xfrm>
          <a:prstGeom prst="rect">
            <a:avLst/>
          </a:prstGeom>
        </p:spPr>
        <p:txBody>
          <a:bodyPr vert="horz" wrap="square" lIns="0" tIns="13335" rIns="0" bIns="0" rtlCol="0">
            <a:spAutoFit/>
          </a:bodyPr>
          <a:lstStyle/>
          <a:p>
            <a:pPr marL="12700">
              <a:lnSpc>
                <a:spcPct val="100000"/>
              </a:lnSpc>
              <a:spcBef>
                <a:spcPts val="105"/>
              </a:spcBef>
            </a:pPr>
            <a:r>
              <a:rPr dirty="0"/>
              <a:t>Rational</a:t>
            </a:r>
            <a:r>
              <a:rPr spc="-110" dirty="0"/>
              <a:t> </a:t>
            </a:r>
            <a:r>
              <a:rPr spc="-10" dirty="0"/>
              <a:t>agent…</a:t>
            </a:r>
          </a:p>
        </p:txBody>
      </p:sp>
      <p:sp>
        <p:nvSpPr>
          <p:cNvPr id="3" name="object 3">
            <a:extLst>
              <a:ext uri="{FF2B5EF4-FFF2-40B4-BE49-F238E27FC236}">
                <a16:creationId xmlns:a16="http://schemas.microsoft.com/office/drawing/2014/main" id="{1B04FB59-DCE8-2B70-8CAB-72B80790A8FE}"/>
              </a:ext>
            </a:extLst>
          </p:cNvPr>
          <p:cNvSpPr txBox="1"/>
          <p:nvPr/>
        </p:nvSpPr>
        <p:spPr>
          <a:xfrm>
            <a:off x="764540" y="1150112"/>
            <a:ext cx="7141845" cy="3610610"/>
          </a:xfrm>
          <a:prstGeom prst="rect">
            <a:avLst/>
          </a:prstGeom>
        </p:spPr>
        <p:txBody>
          <a:bodyPr vert="horz" wrap="square" lIns="0" tIns="13335" rIns="0" bIns="0" rtlCol="0">
            <a:spAutoFit/>
          </a:bodyPr>
          <a:lstStyle/>
          <a:p>
            <a:pPr marL="354965" marR="469900" indent="-342900">
              <a:lnSpc>
                <a:spcPct val="100000"/>
              </a:lnSpc>
              <a:spcBef>
                <a:spcPts val="105"/>
              </a:spcBef>
              <a:buFont typeface="Arial"/>
              <a:buChar char="•"/>
              <a:tabLst>
                <a:tab pos="354965" algn="l"/>
              </a:tabLst>
            </a:pPr>
            <a:r>
              <a:rPr sz="3200" dirty="0">
                <a:latin typeface="Calibri"/>
                <a:cs typeface="Calibri"/>
              </a:rPr>
              <a:t>An</a:t>
            </a:r>
            <a:r>
              <a:rPr sz="3200" spc="-70" dirty="0">
                <a:latin typeface="Calibri"/>
                <a:cs typeface="Calibri"/>
              </a:rPr>
              <a:t> </a:t>
            </a:r>
            <a:r>
              <a:rPr sz="3200" dirty="0">
                <a:latin typeface="Calibri"/>
                <a:cs typeface="Calibri"/>
              </a:rPr>
              <a:t>agent</a:t>
            </a:r>
            <a:r>
              <a:rPr sz="3200" spc="-65" dirty="0">
                <a:latin typeface="Calibri"/>
                <a:cs typeface="Calibri"/>
              </a:rPr>
              <a:t> </a:t>
            </a:r>
            <a:r>
              <a:rPr sz="3200" dirty="0">
                <a:latin typeface="Calibri"/>
                <a:cs typeface="Calibri"/>
              </a:rPr>
              <a:t>should</a:t>
            </a:r>
            <a:r>
              <a:rPr sz="3200" spc="-55" dirty="0">
                <a:latin typeface="Calibri"/>
                <a:cs typeface="Calibri"/>
              </a:rPr>
              <a:t> </a:t>
            </a:r>
            <a:r>
              <a:rPr sz="3200" dirty="0">
                <a:latin typeface="Calibri"/>
                <a:cs typeface="Calibri"/>
              </a:rPr>
              <a:t>strive</a:t>
            </a:r>
            <a:r>
              <a:rPr sz="3200" spc="-60" dirty="0">
                <a:latin typeface="Calibri"/>
                <a:cs typeface="Calibri"/>
              </a:rPr>
              <a:t> </a:t>
            </a:r>
            <a:r>
              <a:rPr sz="3200" dirty="0">
                <a:latin typeface="Calibri"/>
                <a:cs typeface="Calibri"/>
              </a:rPr>
              <a:t>to</a:t>
            </a:r>
            <a:r>
              <a:rPr sz="3200" spc="-60" dirty="0">
                <a:latin typeface="Calibri"/>
                <a:cs typeface="Calibri"/>
              </a:rPr>
              <a:t> </a:t>
            </a:r>
            <a:r>
              <a:rPr sz="3200" dirty="0">
                <a:latin typeface="Calibri"/>
                <a:cs typeface="Calibri"/>
              </a:rPr>
              <a:t>"</a:t>
            </a:r>
            <a:r>
              <a:rPr sz="3200" dirty="0">
                <a:solidFill>
                  <a:srgbClr val="FF0000"/>
                </a:solidFill>
                <a:latin typeface="Calibri"/>
                <a:cs typeface="Calibri"/>
              </a:rPr>
              <a:t>do</a:t>
            </a:r>
            <a:r>
              <a:rPr sz="3200" spc="-65" dirty="0">
                <a:solidFill>
                  <a:srgbClr val="FF0000"/>
                </a:solidFill>
                <a:latin typeface="Calibri"/>
                <a:cs typeface="Calibri"/>
              </a:rPr>
              <a:t> </a:t>
            </a:r>
            <a:r>
              <a:rPr sz="3200" dirty="0">
                <a:solidFill>
                  <a:srgbClr val="FF0000"/>
                </a:solidFill>
                <a:latin typeface="Calibri"/>
                <a:cs typeface="Calibri"/>
              </a:rPr>
              <a:t>the</a:t>
            </a:r>
            <a:r>
              <a:rPr sz="3200" spc="-60" dirty="0">
                <a:solidFill>
                  <a:srgbClr val="FF0000"/>
                </a:solidFill>
                <a:latin typeface="Calibri"/>
                <a:cs typeface="Calibri"/>
              </a:rPr>
              <a:t> </a:t>
            </a:r>
            <a:r>
              <a:rPr sz="3200" spc="-10" dirty="0">
                <a:solidFill>
                  <a:srgbClr val="FF0000"/>
                </a:solidFill>
                <a:latin typeface="Calibri"/>
                <a:cs typeface="Calibri"/>
              </a:rPr>
              <a:t>right </a:t>
            </a:r>
            <a:r>
              <a:rPr sz="3200" dirty="0">
                <a:solidFill>
                  <a:srgbClr val="FF0000"/>
                </a:solidFill>
                <a:latin typeface="Calibri"/>
                <a:cs typeface="Calibri"/>
              </a:rPr>
              <a:t>thing</a:t>
            </a:r>
            <a:r>
              <a:rPr sz="3200" dirty="0">
                <a:latin typeface="Calibri"/>
                <a:cs typeface="Calibri"/>
              </a:rPr>
              <a:t>",</a:t>
            </a:r>
            <a:r>
              <a:rPr sz="3200" spc="-40" dirty="0">
                <a:latin typeface="Calibri"/>
                <a:cs typeface="Calibri"/>
              </a:rPr>
              <a:t> </a:t>
            </a:r>
            <a:r>
              <a:rPr sz="3200" dirty="0">
                <a:latin typeface="Calibri"/>
                <a:cs typeface="Calibri"/>
              </a:rPr>
              <a:t>based</a:t>
            </a:r>
            <a:r>
              <a:rPr sz="3200" spc="-65" dirty="0">
                <a:latin typeface="Calibri"/>
                <a:cs typeface="Calibri"/>
              </a:rPr>
              <a:t> </a:t>
            </a:r>
            <a:r>
              <a:rPr sz="3200" dirty="0">
                <a:latin typeface="Calibri"/>
                <a:cs typeface="Calibri"/>
              </a:rPr>
              <a:t>on</a:t>
            </a:r>
            <a:r>
              <a:rPr sz="3200" spc="-65" dirty="0">
                <a:latin typeface="Calibri"/>
                <a:cs typeface="Calibri"/>
              </a:rPr>
              <a:t> </a:t>
            </a:r>
            <a:r>
              <a:rPr sz="3200" spc="-10" dirty="0">
                <a:latin typeface="Calibri"/>
                <a:cs typeface="Calibri"/>
              </a:rPr>
              <a:t>what:</a:t>
            </a:r>
            <a:endParaRPr sz="3200">
              <a:latin typeface="Calibri"/>
              <a:cs typeface="Calibri"/>
            </a:endParaRPr>
          </a:p>
          <a:p>
            <a:pPr marL="755015" lvl="1" indent="-285115">
              <a:lnSpc>
                <a:spcPct val="100000"/>
              </a:lnSpc>
              <a:spcBef>
                <a:spcPts val="685"/>
              </a:spcBef>
              <a:buFont typeface="Arial"/>
              <a:buChar char="–"/>
              <a:tabLst>
                <a:tab pos="755015" algn="l"/>
              </a:tabLst>
            </a:pPr>
            <a:r>
              <a:rPr sz="2800" dirty="0">
                <a:solidFill>
                  <a:srgbClr val="008000"/>
                </a:solidFill>
                <a:latin typeface="Calibri"/>
                <a:cs typeface="Calibri"/>
              </a:rPr>
              <a:t>it</a:t>
            </a:r>
            <a:r>
              <a:rPr sz="2800" spc="-60" dirty="0">
                <a:solidFill>
                  <a:srgbClr val="008000"/>
                </a:solidFill>
                <a:latin typeface="Calibri"/>
                <a:cs typeface="Calibri"/>
              </a:rPr>
              <a:t> </a:t>
            </a:r>
            <a:r>
              <a:rPr sz="2800" dirty="0">
                <a:solidFill>
                  <a:srgbClr val="008000"/>
                </a:solidFill>
                <a:latin typeface="Calibri"/>
                <a:cs typeface="Calibri"/>
              </a:rPr>
              <a:t>can</a:t>
            </a:r>
            <a:r>
              <a:rPr sz="2800" spc="-50" dirty="0">
                <a:solidFill>
                  <a:srgbClr val="008000"/>
                </a:solidFill>
                <a:latin typeface="Calibri"/>
                <a:cs typeface="Calibri"/>
              </a:rPr>
              <a:t> </a:t>
            </a:r>
            <a:r>
              <a:rPr sz="2800" dirty="0">
                <a:solidFill>
                  <a:srgbClr val="008000"/>
                </a:solidFill>
                <a:latin typeface="Calibri"/>
                <a:cs typeface="Calibri"/>
              </a:rPr>
              <a:t>perceive</a:t>
            </a:r>
            <a:r>
              <a:rPr sz="2800" spc="-55" dirty="0">
                <a:solidFill>
                  <a:srgbClr val="008000"/>
                </a:solidFill>
                <a:latin typeface="Calibri"/>
                <a:cs typeface="Calibri"/>
              </a:rPr>
              <a:t> </a:t>
            </a:r>
            <a:r>
              <a:rPr sz="2800" spc="-25" dirty="0">
                <a:solidFill>
                  <a:srgbClr val="008000"/>
                </a:solidFill>
                <a:latin typeface="Calibri"/>
                <a:cs typeface="Calibri"/>
              </a:rPr>
              <a:t>and</a:t>
            </a:r>
            <a:endParaRPr sz="2800">
              <a:latin typeface="Calibri"/>
              <a:cs typeface="Calibri"/>
            </a:endParaRPr>
          </a:p>
          <a:p>
            <a:pPr marL="755015" lvl="1" indent="-285115">
              <a:lnSpc>
                <a:spcPct val="100000"/>
              </a:lnSpc>
              <a:spcBef>
                <a:spcPts val="675"/>
              </a:spcBef>
              <a:buFont typeface="Arial"/>
              <a:buChar char="–"/>
              <a:tabLst>
                <a:tab pos="755015" algn="l"/>
              </a:tabLst>
            </a:pPr>
            <a:r>
              <a:rPr sz="2800" dirty="0">
                <a:solidFill>
                  <a:srgbClr val="008000"/>
                </a:solidFill>
                <a:latin typeface="Calibri"/>
                <a:cs typeface="Calibri"/>
              </a:rPr>
              <a:t>the</a:t>
            </a:r>
            <a:r>
              <a:rPr sz="2800" spc="-25" dirty="0">
                <a:solidFill>
                  <a:srgbClr val="008000"/>
                </a:solidFill>
                <a:latin typeface="Calibri"/>
                <a:cs typeface="Calibri"/>
              </a:rPr>
              <a:t> </a:t>
            </a:r>
            <a:r>
              <a:rPr sz="2800" dirty="0">
                <a:solidFill>
                  <a:srgbClr val="008000"/>
                </a:solidFill>
                <a:latin typeface="Calibri"/>
                <a:cs typeface="Calibri"/>
              </a:rPr>
              <a:t>actions</a:t>
            </a:r>
            <a:r>
              <a:rPr sz="2800" spc="-30" dirty="0">
                <a:solidFill>
                  <a:srgbClr val="008000"/>
                </a:solidFill>
                <a:latin typeface="Calibri"/>
                <a:cs typeface="Calibri"/>
              </a:rPr>
              <a:t> </a:t>
            </a:r>
            <a:r>
              <a:rPr sz="2800" dirty="0">
                <a:solidFill>
                  <a:srgbClr val="008000"/>
                </a:solidFill>
                <a:latin typeface="Calibri"/>
                <a:cs typeface="Calibri"/>
              </a:rPr>
              <a:t>it</a:t>
            </a:r>
            <a:r>
              <a:rPr sz="2800" spc="-35" dirty="0">
                <a:solidFill>
                  <a:srgbClr val="008000"/>
                </a:solidFill>
                <a:latin typeface="Calibri"/>
                <a:cs typeface="Calibri"/>
              </a:rPr>
              <a:t> </a:t>
            </a:r>
            <a:r>
              <a:rPr sz="2800" dirty="0">
                <a:solidFill>
                  <a:srgbClr val="008000"/>
                </a:solidFill>
                <a:latin typeface="Calibri"/>
                <a:cs typeface="Calibri"/>
              </a:rPr>
              <a:t>can</a:t>
            </a:r>
            <a:r>
              <a:rPr sz="2800" spc="-30" dirty="0">
                <a:solidFill>
                  <a:srgbClr val="008000"/>
                </a:solidFill>
                <a:latin typeface="Calibri"/>
                <a:cs typeface="Calibri"/>
              </a:rPr>
              <a:t> </a:t>
            </a:r>
            <a:r>
              <a:rPr sz="2800" spc="-10" dirty="0">
                <a:solidFill>
                  <a:srgbClr val="008000"/>
                </a:solidFill>
                <a:latin typeface="Calibri"/>
                <a:cs typeface="Calibri"/>
              </a:rPr>
              <a:t>perform.</a:t>
            </a:r>
            <a:endParaRPr sz="2800">
              <a:latin typeface="Calibri"/>
              <a:cs typeface="Calibri"/>
            </a:endParaRPr>
          </a:p>
          <a:p>
            <a:pPr lvl="1">
              <a:lnSpc>
                <a:spcPct val="100000"/>
              </a:lnSpc>
              <a:spcBef>
                <a:spcPts val="1365"/>
              </a:spcBef>
              <a:buClr>
                <a:srgbClr val="008000"/>
              </a:buClr>
              <a:buFont typeface="Arial"/>
              <a:buChar char="–"/>
            </a:pPr>
            <a:endParaRPr sz="2800">
              <a:latin typeface="Calibri"/>
              <a:cs typeface="Calibri"/>
            </a:endParaRPr>
          </a:p>
          <a:p>
            <a:pPr marL="355600" marR="5080" indent="-342900">
              <a:lnSpc>
                <a:spcPct val="100000"/>
              </a:lnSpc>
              <a:buFont typeface="Arial"/>
              <a:buChar char="•"/>
              <a:tabLst>
                <a:tab pos="355600" algn="l"/>
              </a:tabLst>
            </a:pPr>
            <a:r>
              <a:rPr sz="3200" dirty="0">
                <a:latin typeface="Calibri"/>
                <a:cs typeface="Calibri"/>
              </a:rPr>
              <a:t>The</a:t>
            </a:r>
            <a:r>
              <a:rPr sz="3200" spc="-45" dirty="0">
                <a:latin typeface="Calibri"/>
                <a:cs typeface="Calibri"/>
              </a:rPr>
              <a:t> </a:t>
            </a:r>
            <a:r>
              <a:rPr sz="3200" dirty="0">
                <a:latin typeface="Calibri"/>
                <a:cs typeface="Calibri"/>
              </a:rPr>
              <a:t>right</a:t>
            </a:r>
            <a:r>
              <a:rPr sz="3200" spc="-45" dirty="0">
                <a:latin typeface="Calibri"/>
                <a:cs typeface="Calibri"/>
              </a:rPr>
              <a:t> </a:t>
            </a:r>
            <a:r>
              <a:rPr sz="3200" dirty="0">
                <a:latin typeface="Calibri"/>
                <a:cs typeface="Calibri"/>
              </a:rPr>
              <a:t>action</a:t>
            </a:r>
            <a:r>
              <a:rPr sz="3200" spc="-45" dirty="0">
                <a:latin typeface="Calibri"/>
                <a:cs typeface="Calibri"/>
              </a:rPr>
              <a:t> </a:t>
            </a:r>
            <a:r>
              <a:rPr sz="3200" dirty="0">
                <a:latin typeface="Calibri"/>
                <a:cs typeface="Calibri"/>
              </a:rPr>
              <a:t>is</a:t>
            </a:r>
            <a:r>
              <a:rPr sz="3200" spc="-45" dirty="0">
                <a:latin typeface="Calibri"/>
                <a:cs typeface="Calibri"/>
              </a:rPr>
              <a:t> </a:t>
            </a:r>
            <a:r>
              <a:rPr sz="3200" dirty="0">
                <a:latin typeface="Calibri"/>
                <a:cs typeface="Calibri"/>
              </a:rPr>
              <a:t>the</a:t>
            </a:r>
            <a:r>
              <a:rPr sz="3200" spc="-40" dirty="0">
                <a:latin typeface="Calibri"/>
                <a:cs typeface="Calibri"/>
              </a:rPr>
              <a:t> </a:t>
            </a:r>
            <a:r>
              <a:rPr sz="3200" dirty="0">
                <a:latin typeface="Calibri"/>
                <a:cs typeface="Calibri"/>
              </a:rPr>
              <a:t>one</a:t>
            </a:r>
            <a:r>
              <a:rPr sz="3200" spc="-45" dirty="0">
                <a:latin typeface="Calibri"/>
                <a:cs typeface="Calibri"/>
              </a:rPr>
              <a:t> </a:t>
            </a:r>
            <a:r>
              <a:rPr sz="3200" dirty="0">
                <a:latin typeface="Calibri"/>
                <a:cs typeface="Calibri"/>
              </a:rPr>
              <a:t>that</a:t>
            </a:r>
            <a:r>
              <a:rPr sz="3200" spc="-35" dirty="0">
                <a:latin typeface="Calibri"/>
                <a:cs typeface="Calibri"/>
              </a:rPr>
              <a:t> </a:t>
            </a:r>
            <a:r>
              <a:rPr sz="3200" dirty="0">
                <a:latin typeface="Calibri"/>
                <a:cs typeface="Calibri"/>
              </a:rPr>
              <a:t>will</a:t>
            </a:r>
            <a:r>
              <a:rPr sz="3200" spc="-45" dirty="0">
                <a:latin typeface="Calibri"/>
                <a:cs typeface="Calibri"/>
              </a:rPr>
              <a:t> </a:t>
            </a:r>
            <a:r>
              <a:rPr sz="3200" spc="-10" dirty="0">
                <a:latin typeface="Calibri"/>
                <a:cs typeface="Calibri"/>
              </a:rPr>
              <a:t>cause </a:t>
            </a:r>
            <a:r>
              <a:rPr sz="3200" dirty="0">
                <a:solidFill>
                  <a:srgbClr val="FF0000"/>
                </a:solidFill>
                <a:latin typeface="Calibri"/>
                <a:cs typeface="Calibri"/>
              </a:rPr>
              <a:t>the</a:t>
            </a:r>
            <a:r>
              <a:rPr sz="3200" spc="-60" dirty="0">
                <a:solidFill>
                  <a:srgbClr val="FF0000"/>
                </a:solidFill>
                <a:latin typeface="Calibri"/>
                <a:cs typeface="Calibri"/>
              </a:rPr>
              <a:t> </a:t>
            </a:r>
            <a:r>
              <a:rPr sz="3200" dirty="0">
                <a:solidFill>
                  <a:srgbClr val="FF0000"/>
                </a:solidFill>
                <a:latin typeface="Calibri"/>
                <a:cs typeface="Calibri"/>
              </a:rPr>
              <a:t>agent</a:t>
            </a:r>
            <a:r>
              <a:rPr sz="3200" spc="-75" dirty="0">
                <a:solidFill>
                  <a:srgbClr val="FF0000"/>
                </a:solidFill>
                <a:latin typeface="Calibri"/>
                <a:cs typeface="Calibri"/>
              </a:rPr>
              <a:t> </a:t>
            </a:r>
            <a:r>
              <a:rPr sz="3200" dirty="0">
                <a:solidFill>
                  <a:srgbClr val="FF0000"/>
                </a:solidFill>
                <a:latin typeface="Calibri"/>
                <a:cs typeface="Calibri"/>
              </a:rPr>
              <a:t>to</a:t>
            </a:r>
            <a:r>
              <a:rPr sz="3200" spc="-60" dirty="0">
                <a:solidFill>
                  <a:srgbClr val="FF0000"/>
                </a:solidFill>
                <a:latin typeface="Calibri"/>
                <a:cs typeface="Calibri"/>
              </a:rPr>
              <a:t> </a:t>
            </a:r>
            <a:r>
              <a:rPr sz="3200" dirty="0">
                <a:solidFill>
                  <a:srgbClr val="FF0000"/>
                </a:solidFill>
                <a:latin typeface="Calibri"/>
                <a:cs typeface="Calibri"/>
              </a:rPr>
              <a:t>be</a:t>
            </a:r>
            <a:r>
              <a:rPr sz="3200" spc="-60" dirty="0">
                <a:solidFill>
                  <a:srgbClr val="FF0000"/>
                </a:solidFill>
                <a:latin typeface="Calibri"/>
                <a:cs typeface="Calibri"/>
              </a:rPr>
              <a:t> </a:t>
            </a:r>
            <a:r>
              <a:rPr sz="3200" dirty="0">
                <a:solidFill>
                  <a:srgbClr val="FF0000"/>
                </a:solidFill>
                <a:latin typeface="Calibri"/>
                <a:cs typeface="Calibri"/>
              </a:rPr>
              <a:t>most</a:t>
            </a:r>
            <a:r>
              <a:rPr sz="3200" spc="-60" dirty="0">
                <a:solidFill>
                  <a:srgbClr val="FF0000"/>
                </a:solidFill>
                <a:latin typeface="Calibri"/>
                <a:cs typeface="Calibri"/>
              </a:rPr>
              <a:t> </a:t>
            </a:r>
            <a:r>
              <a:rPr sz="3200" spc="-10" dirty="0">
                <a:solidFill>
                  <a:srgbClr val="FF0000"/>
                </a:solidFill>
                <a:latin typeface="Calibri"/>
                <a:cs typeface="Calibri"/>
              </a:rPr>
              <a:t>successful</a:t>
            </a:r>
            <a:endParaRPr sz="3200">
              <a:latin typeface="Calibri"/>
              <a:cs typeface="Calibri"/>
            </a:endParaRPr>
          </a:p>
        </p:txBody>
      </p:sp>
    </p:spTree>
    <p:extLst>
      <p:ext uri="{BB962C8B-B14F-4D97-AF65-F5344CB8AC3E}">
        <p14:creationId xmlns:p14="http://schemas.microsoft.com/office/powerpoint/2010/main" val="102078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6EB5E-7CC8-7245-4A2C-F658C8EE6CE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7E68F2-B46D-C852-FCB9-ED3C61368E24}"/>
              </a:ext>
            </a:extLst>
          </p:cNvPr>
          <p:cNvSpPr txBox="1">
            <a:spLocks noGrp="1"/>
          </p:cNvSpPr>
          <p:nvPr>
            <p:ph type="title"/>
          </p:nvPr>
        </p:nvSpPr>
        <p:spPr>
          <a:prstGeom prst="rect">
            <a:avLst/>
          </a:prstGeom>
        </p:spPr>
        <p:txBody>
          <a:bodyPr vert="horz" wrap="square" lIns="0" tIns="348297" rIns="0" bIns="0" rtlCol="0">
            <a:spAutoFit/>
          </a:bodyPr>
          <a:lstStyle/>
          <a:p>
            <a:pPr marL="2068195">
              <a:lnSpc>
                <a:spcPct val="100000"/>
              </a:lnSpc>
              <a:spcBef>
                <a:spcPts val="105"/>
              </a:spcBef>
            </a:pPr>
            <a:r>
              <a:rPr spc="-10" dirty="0"/>
              <a:t>Rationality…</a:t>
            </a:r>
          </a:p>
        </p:txBody>
      </p:sp>
      <p:pic>
        <p:nvPicPr>
          <p:cNvPr id="3" name="object 3">
            <a:extLst>
              <a:ext uri="{FF2B5EF4-FFF2-40B4-BE49-F238E27FC236}">
                <a16:creationId xmlns:a16="http://schemas.microsoft.com/office/drawing/2014/main" id="{C95383D5-F6A5-87AC-0B52-FB4648E96B89}"/>
              </a:ext>
            </a:extLst>
          </p:cNvPr>
          <p:cNvPicPr/>
          <p:nvPr/>
        </p:nvPicPr>
        <p:blipFill>
          <a:blip r:embed="rId3" cstate="print"/>
          <a:stretch>
            <a:fillRect/>
          </a:stretch>
        </p:blipFill>
        <p:spPr>
          <a:xfrm>
            <a:off x="320040" y="2185415"/>
            <a:ext cx="216407" cy="227075"/>
          </a:xfrm>
          <a:prstGeom prst="rect">
            <a:avLst/>
          </a:prstGeom>
        </p:spPr>
      </p:pic>
      <p:sp>
        <p:nvSpPr>
          <p:cNvPr id="4" name="object 4">
            <a:extLst>
              <a:ext uri="{FF2B5EF4-FFF2-40B4-BE49-F238E27FC236}">
                <a16:creationId xmlns:a16="http://schemas.microsoft.com/office/drawing/2014/main" id="{6B1BDD90-4940-30EC-EDEF-D81939159818}"/>
              </a:ext>
            </a:extLst>
          </p:cNvPr>
          <p:cNvSpPr txBox="1"/>
          <p:nvPr/>
        </p:nvSpPr>
        <p:spPr>
          <a:xfrm>
            <a:off x="648716" y="1988312"/>
            <a:ext cx="7744459" cy="3478529"/>
          </a:xfrm>
          <a:prstGeom prst="rect">
            <a:avLst/>
          </a:prstGeom>
        </p:spPr>
        <p:txBody>
          <a:bodyPr vert="horz" wrap="square" lIns="0" tIns="13335" rIns="0" bIns="0" rtlCol="0">
            <a:spAutoFit/>
          </a:bodyPr>
          <a:lstStyle/>
          <a:p>
            <a:pPr marL="12700" marR="141605">
              <a:lnSpc>
                <a:spcPct val="100000"/>
              </a:lnSpc>
              <a:spcBef>
                <a:spcPts val="105"/>
              </a:spcBef>
            </a:pPr>
            <a:r>
              <a:rPr sz="3200" dirty="0">
                <a:latin typeface="Calibri"/>
                <a:cs typeface="Calibri"/>
              </a:rPr>
              <a:t>What</a:t>
            </a:r>
            <a:r>
              <a:rPr sz="3200" spc="-60" dirty="0">
                <a:latin typeface="Calibri"/>
                <a:cs typeface="Calibri"/>
              </a:rPr>
              <a:t> </a:t>
            </a:r>
            <a:r>
              <a:rPr sz="3200" dirty="0">
                <a:latin typeface="Calibri"/>
                <a:cs typeface="Calibri"/>
              </a:rPr>
              <a:t>is</a:t>
            </a:r>
            <a:r>
              <a:rPr sz="3200" spc="-55" dirty="0">
                <a:latin typeface="Calibri"/>
                <a:cs typeface="Calibri"/>
              </a:rPr>
              <a:t> </a:t>
            </a:r>
            <a:r>
              <a:rPr sz="3200" dirty="0">
                <a:latin typeface="Calibri"/>
                <a:cs typeface="Calibri"/>
              </a:rPr>
              <a:t>rational</a:t>
            </a:r>
            <a:r>
              <a:rPr sz="3200" spc="-55" dirty="0">
                <a:latin typeface="Calibri"/>
                <a:cs typeface="Calibri"/>
              </a:rPr>
              <a:t> </a:t>
            </a:r>
            <a:r>
              <a:rPr sz="3200" dirty="0">
                <a:latin typeface="Calibri"/>
                <a:cs typeface="Calibri"/>
              </a:rPr>
              <a:t>at</a:t>
            </a:r>
            <a:r>
              <a:rPr sz="3200" spc="-55" dirty="0">
                <a:latin typeface="Calibri"/>
                <a:cs typeface="Calibri"/>
              </a:rPr>
              <a:t> </a:t>
            </a:r>
            <a:r>
              <a:rPr sz="3200" dirty="0">
                <a:latin typeface="Calibri"/>
                <a:cs typeface="Calibri"/>
              </a:rPr>
              <a:t>any</a:t>
            </a:r>
            <a:r>
              <a:rPr sz="3200" spc="-55" dirty="0">
                <a:latin typeface="Calibri"/>
                <a:cs typeface="Calibri"/>
              </a:rPr>
              <a:t> </a:t>
            </a:r>
            <a:r>
              <a:rPr sz="3200" dirty="0">
                <a:latin typeface="Calibri"/>
                <a:cs typeface="Calibri"/>
              </a:rPr>
              <a:t>given</a:t>
            </a:r>
            <a:r>
              <a:rPr sz="3200" spc="-55" dirty="0">
                <a:latin typeface="Calibri"/>
                <a:cs typeface="Calibri"/>
              </a:rPr>
              <a:t> </a:t>
            </a:r>
            <a:r>
              <a:rPr sz="3200" dirty="0">
                <a:latin typeface="Calibri"/>
                <a:cs typeface="Calibri"/>
              </a:rPr>
              <a:t>time</a:t>
            </a:r>
            <a:r>
              <a:rPr sz="3200" spc="-50" dirty="0">
                <a:latin typeface="Calibri"/>
                <a:cs typeface="Calibri"/>
              </a:rPr>
              <a:t> </a:t>
            </a:r>
            <a:r>
              <a:rPr sz="3200" dirty="0">
                <a:latin typeface="Calibri"/>
                <a:cs typeface="Calibri"/>
              </a:rPr>
              <a:t>depends</a:t>
            </a:r>
            <a:r>
              <a:rPr sz="3200" spc="-60" dirty="0">
                <a:latin typeface="Calibri"/>
                <a:cs typeface="Calibri"/>
              </a:rPr>
              <a:t> </a:t>
            </a:r>
            <a:r>
              <a:rPr sz="3200" spc="-25" dirty="0">
                <a:latin typeface="Calibri"/>
                <a:cs typeface="Calibri"/>
              </a:rPr>
              <a:t>on </a:t>
            </a:r>
            <a:r>
              <a:rPr sz="3200" dirty="0">
                <a:latin typeface="Calibri"/>
                <a:cs typeface="Calibri"/>
              </a:rPr>
              <a:t>four</a:t>
            </a:r>
            <a:r>
              <a:rPr sz="3200" spc="-80" dirty="0">
                <a:latin typeface="Calibri"/>
                <a:cs typeface="Calibri"/>
              </a:rPr>
              <a:t> </a:t>
            </a:r>
            <a:r>
              <a:rPr sz="3200" spc="-10" dirty="0">
                <a:latin typeface="Calibri"/>
                <a:cs typeface="Calibri"/>
              </a:rPr>
              <a:t>things:</a:t>
            </a:r>
            <a:endParaRPr sz="3200">
              <a:latin typeface="Calibri"/>
              <a:cs typeface="Calibri"/>
            </a:endParaRPr>
          </a:p>
          <a:p>
            <a:pPr marL="413384" marR="5080" indent="-285115">
              <a:lnSpc>
                <a:spcPct val="100000"/>
              </a:lnSpc>
              <a:spcBef>
                <a:spcPts val="685"/>
              </a:spcBef>
              <a:buClr>
                <a:srgbClr val="C09E4A"/>
              </a:buClr>
              <a:buSzPct val="69642"/>
              <a:buFont typeface="Wingdings"/>
              <a:buChar char=""/>
              <a:tabLst>
                <a:tab pos="413384" algn="l"/>
              </a:tabLst>
            </a:pPr>
            <a:r>
              <a:rPr sz="2800" dirty="0">
                <a:latin typeface="Calibri"/>
                <a:cs typeface="Calibri"/>
              </a:rPr>
              <a:t>The</a:t>
            </a:r>
            <a:r>
              <a:rPr sz="2800" spc="-95" dirty="0">
                <a:latin typeface="Calibri"/>
                <a:cs typeface="Calibri"/>
              </a:rPr>
              <a:t> </a:t>
            </a:r>
            <a:r>
              <a:rPr sz="2800" dirty="0">
                <a:solidFill>
                  <a:srgbClr val="C00000"/>
                </a:solidFill>
                <a:latin typeface="Calibri"/>
                <a:cs typeface="Calibri"/>
              </a:rPr>
              <a:t>performance</a:t>
            </a:r>
            <a:r>
              <a:rPr sz="2800" spc="-65" dirty="0">
                <a:solidFill>
                  <a:srgbClr val="C00000"/>
                </a:solidFill>
                <a:latin typeface="Calibri"/>
                <a:cs typeface="Calibri"/>
              </a:rPr>
              <a:t> </a:t>
            </a:r>
            <a:r>
              <a:rPr sz="2800" dirty="0">
                <a:solidFill>
                  <a:srgbClr val="C00000"/>
                </a:solidFill>
                <a:latin typeface="Calibri"/>
                <a:cs typeface="Calibri"/>
              </a:rPr>
              <a:t>measure</a:t>
            </a:r>
            <a:r>
              <a:rPr sz="2800" spc="-80" dirty="0">
                <a:solidFill>
                  <a:srgbClr val="C00000"/>
                </a:solidFill>
                <a:latin typeface="Calibri"/>
                <a:cs typeface="Calibri"/>
              </a:rPr>
              <a:t> </a:t>
            </a:r>
            <a:r>
              <a:rPr sz="2800" dirty="0">
                <a:latin typeface="Calibri"/>
                <a:cs typeface="Calibri"/>
              </a:rPr>
              <a:t>defining</a:t>
            </a:r>
            <a:r>
              <a:rPr sz="2800" spc="-65" dirty="0">
                <a:latin typeface="Calibri"/>
                <a:cs typeface="Calibri"/>
              </a:rPr>
              <a:t> </a:t>
            </a:r>
            <a:r>
              <a:rPr sz="2800" dirty="0">
                <a:latin typeface="Calibri"/>
                <a:cs typeface="Calibri"/>
              </a:rPr>
              <a:t>the</a:t>
            </a:r>
            <a:r>
              <a:rPr sz="2800" spc="-90" dirty="0">
                <a:latin typeface="Calibri"/>
                <a:cs typeface="Calibri"/>
              </a:rPr>
              <a:t> </a:t>
            </a:r>
            <a:r>
              <a:rPr sz="2800" dirty="0">
                <a:latin typeface="Calibri"/>
                <a:cs typeface="Calibri"/>
              </a:rPr>
              <a:t>criterion</a:t>
            </a:r>
            <a:r>
              <a:rPr sz="2800" spc="-80" dirty="0">
                <a:latin typeface="Calibri"/>
                <a:cs typeface="Calibri"/>
              </a:rPr>
              <a:t> </a:t>
            </a:r>
            <a:r>
              <a:rPr sz="2800" spc="-25" dirty="0">
                <a:latin typeface="Calibri"/>
                <a:cs typeface="Calibri"/>
              </a:rPr>
              <a:t>of </a:t>
            </a:r>
            <a:r>
              <a:rPr sz="2800" spc="-10" dirty="0">
                <a:latin typeface="Calibri"/>
                <a:cs typeface="Calibri"/>
              </a:rPr>
              <a:t>success</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The</a:t>
            </a:r>
            <a:r>
              <a:rPr sz="2800" spc="-60" dirty="0">
                <a:latin typeface="Calibri"/>
                <a:cs typeface="Calibri"/>
              </a:rPr>
              <a:t> </a:t>
            </a:r>
            <a:r>
              <a:rPr sz="2800" spc="-10" dirty="0">
                <a:solidFill>
                  <a:srgbClr val="C00000"/>
                </a:solidFill>
                <a:latin typeface="Calibri"/>
                <a:cs typeface="Calibri"/>
              </a:rPr>
              <a:t>agent’s</a:t>
            </a:r>
            <a:r>
              <a:rPr sz="2800" spc="-45" dirty="0">
                <a:solidFill>
                  <a:srgbClr val="C00000"/>
                </a:solidFill>
                <a:latin typeface="Calibri"/>
                <a:cs typeface="Calibri"/>
              </a:rPr>
              <a:t> </a:t>
            </a:r>
            <a:r>
              <a:rPr sz="2800" dirty="0">
                <a:solidFill>
                  <a:srgbClr val="C00000"/>
                </a:solidFill>
                <a:latin typeface="Calibri"/>
                <a:cs typeface="Calibri"/>
              </a:rPr>
              <a:t>prior</a:t>
            </a:r>
            <a:r>
              <a:rPr sz="2800" spc="-50" dirty="0">
                <a:solidFill>
                  <a:srgbClr val="C00000"/>
                </a:solidFill>
                <a:latin typeface="Calibri"/>
                <a:cs typeface="Calibri"/>
              </a:rPr>
              <a:t> </a:t>
            </a:r>
            <a:r>
              <a:rPr sz="2800" dirty="0">
                <a:solidFill>
                  <a:srgbClr val="C00000"/>
                </a:solidFill>
                <a:latin typeface="Calibri"/>
                <a:cs typeface="Calibri"/>
              </a:rPr>
              <a:t>knowledge</a:t>
            </a:r>
            <a:r>
              <a:rPr sz="2800" spc="-40" dirty="0">
                <a:solidFill>
                  <a:srgbClr val="C00000"/>
                </a:solidFill>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the</a:t>
            </a:r>
            <a:r>
              <a:rPr sz="2800" spc="-45" dirty="0">
                <a:latin typeface="Calibri"/>
                <a:cs typeface="Calibri"/>
              </a:rPr>
              <a:t> </a:t>
            </a:r>
            <a:r>
              <a:rPr sz="2800" spc="-10" dirty="0">
                <a:latin typeface="Calibri"/>
                <a:cs typeface="Calibri"/>
              </a:rPr>
              <a:t>environment</a:t>
            </a:r>
            <a:endParaRPr sz="2800">
              <a:latin typeface="Calibri"/>
              <a:cs typeface="Calibri"/>
            </a:endParaRPr>
          </a:p>
          <a:p>
            <a:pPr marL="412750" indent="-284480">
              <a:lnSpc>
                <a:spcPct val="100000"/>
              </a:lnSpc>
              <a:spcBef>
                <a:spcPts val="675"/>
              </a:spcBef>
              <a:buClr>
                <a:srgbClr val="C09E4A"/>
              </a:buClr>
              <a:buSzPct val="69642"/>
              <a:buFont typeface="Wingdings"/>
              <a:buChar char=""/>
              <a:tabLst>
                <a:tab pos="412750" algn="l"/>
              </a:tabLst>
            </a:pPr>
            <a:r>
              <a:rPr sz="2800" dirty="0">
                <a:latin typeface="Calibri"/>
                <a:cs typeface="Calibri"/>
              </a:rPr>
              <a:t>The</a:t>
            </a:r>
            <a:r>
              <a:rPr sz="2800" spc="-55" dirty="0">
                <a:latin typeface="Calibri"/>
                <a:cs typeface="Calibri"/>
              </a:rPr>
              <a:t> </a:t>
            </a:r>
            <a:r>
              <a:rPr sz="2800" dirty="0">
                <a:solidFill>
                  <a:srgbClr val="C00000"/>
                </a:solidFill>
                <a:latin typeface="Calibri"/>
                <a:cs typeface="Calibri"/>
              </a:rPr>
              <a:t>actions</a:t>
            </a:r>
            <a:r>
              <a:rPr sz="2800" spc="-30" dirty="0">
                <a:solidFill>
                  <a:srgbClr val="C00000"/>
                </a:solidFill>
                <a:latin typeface="Calibri"/>
                <a:cs typeface="Calibri"/>
              </a:rPr>
              <a:t> </a:t>
            </a:r>
            <a:r>
              <a:rPr sz="2800" dirty="0">
                <a:latin typeface="Calibri"/>
                <a:cs typeface="Calibri"/>
              </a:rPr>
              <a:t>that</a:t>
            </a:r>
            <a:r>
              <a:rPr sz="2800" spc="-50" dirty="0">
                <a:latin typeface="Calibri"/>
                <a:cs typeface="Calibri"/>
              </a:rPr>
              <a:t> </a:t>
            </a:r>
            <a:r>
              <a:rPr sz="2800" dirty="0">
                <a:latin typeface="Calibri"/>
                <a:cs typeface="Calibri"/>
              </a:rPr>
              <a:t>the</a:t>
            </a:r>
            <a:r>
              <a:rPr sz="2800" spc="-40" dirty="0">
                <a:latin typeface="Calibri"/>
                <a:cs typeface="Calibri"/>
              </a:rPr>
              <a:t> </a:t>
            </a:r>
            <a:r>
              <a:rPr sz="2800" dirty="0">
                <a:solidFill>
                  <a:srgbClr val="C00000"/>
                </a:solidFill>
                <a:latin typeface="Calibri"/>
                <a:cs typeface="Calibri"/>
              </a:rPr>
              <a:t>agent</a:t>
            </a:r>
            <a:r>
              <a:rPr sz="2800" spc="-65" dirty="0">
                <a:solidFill>
                  <a:srgbClr val="C00000"/>
                </a:solidFill>
                <a:latin typeface="Calibri"/>
                <a:cs typeface="Calibri"/>
              </a:rPr>
              <a:t> </a:t>
            </a:r>
            <a:r>
              <a:rPr sz="2800" dirty="0">
                <a:solidFill>
                  <a:srgbClr val="C00000"/>
                </a:solidFill>
                <a:latin typeface="Calibri"/>
                <a:cs typeface="Calibri"/>
              </a:rPr>
              <a:t>can</a:t>
            </a:r>
            <a:r>
              <a:rPr sz="2800" spc="-40" dirty="0">
                <a:solidFill>
                  <a:srgbClr val="C00000"/>
                </a:solidFill>
                <a:latin typeface="Calibri"/>
                <a:cs typeface="Calibri"/>
              </a:rPr>
              <a:t> </a:t>
            </a:r>
            <a:r>
              <a:rPr sz="2800" spc="-10" dirty="0">
                <a:solidFill>
                  <a:srgbClr val="C00000"/>
                </a:solidFill>
                <a:latin typeface="Calibri"/>
                <a:cs typeface="Calibri"/>
              </a:rPr>
              <a:t>perform</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The</a:t>
            </a:r>
            <a:r>
              <a:rPr sz="2800" spc="-75" dirty="0">
                <a:latin typeface="Calibri"/>
                <a:cs typeface="Calibri"/>
              </a:rPr>
              <a:t> </a:t>
            </a:r>
            <a:r>
              <a:rPr sz="2800" spc="-25" dirty="0">
                <a:solidFill>
                  <a:srgbClr val="C00000"/>
                </a:solidFill>
                <a:latin typeface="Calibri"/>
                <a:cs typeface="Calibri"/>
              </a:rPr>
              <a:t>agents’s</a:t>
            </a:r>
            <a:r>
              <a:rPr sz="2800" spc="-65" dirty="0">
                <a:solidFill>
                  <a:srgbClr val="C00000"/>
                </a:solidFill>
                <a:latin typeface="Calibri"/>
                <a:cs typeface="Calibri"/>
              </a:rPr>
              <a:t> </a:t>
            </a:r>
            <a:r>
              <a:rPr sz="2800" dirty="0">
                <a:solidFill>
                  <a:srgbClr val="C00000"/>
                </a:solidFill>
                <a:latin typeface="Calibri"/>
                <a:cs typeface="Calibri"/>
              </a:rPr>
              <a:t>percept</a:t>
            </a:r>
            <a:r>
              <a:rPr sz="2800" spc="-60" dirty="0">
                <a:solidFill>
                  <a:srgbClr val="C00000"/>
                </a:solidFill>
                <a:latin typeface="Calibri"/>
                <a:cs typeface="Calibri"/>
              </a:rPr>
              <a:t> </a:t>
            </a:r>
            <a:r>
              <a:rPr sz="2800" dirty="0">
                <a:solidFill>
                  <a:srgbClr val="C00000"/>
                </a:solidFill>
                <a:latin typeface="Calibri"/>
                <a:cs typeface="Calibri"/>
              </a:rPr>
              <a:t>sequence</a:t>
            </a:r>
            <a:r>
              <a:rPr sz="2800" spc="-35" dirty="0">
                <a:solidFill>
                  <a:srgbClr val="C00000"/>
                </a:solidFill>
                <a:latin typeface="Calibri"/>
                <a:cs typeface="Calibri"/>
              </a:rPr>
              <a:t> </a:t>
            </a:r>
            <a:r>
              <a:rPr sz="2800" dirty="0">
                <a:latin typeface="Calibri"/>
                <a:cs typeface="Calibri"/>
              </a:rPr>
              <a:t>up</a:t>
            </a:r>
            <a:r>
              <a:rPr sz="2800" spc="-55" dirty="0">
                <a:latin typeface="Calibri"/>
                <a:cs typeface="Calibri"/>
              </a:rPr>
              <a:t> </a:t>
            </a:r>
            <a:r>
              <a:rPr sz="2800" dirty="0">
                <a:latin typeface="Calibri"/>
                <a:cs typeface="Calibri"/>
              </a:rPr>
              <a:t>to</a:t>
            </a:r>
            <a:r>
              <a:rPr sz="2800" spc="-80" dirty="0">
                <a:latin typeface="Calibri"/>
                <a:cs typeface="Calibri"/>
              </a:rPr>
              <a:t> </a:t>
            </a:r>
            <a:r>
              <a:rPr sz="2800" spc="-25" dirty="0">
                <a:latin typeface="Calibri"/>
                <a:cs typeface="Calibri"/>
              </a:rPr>
              <a:t>now</a:t>
            </a:r>
            <a:endParaRPr sz="2800">
              <a:latin typeface="Calibri"/>
              <a:cs typeface="Calibri"/>
            </a:endParaRPr>
          </a:p>
        </p:txBody>
      </p:sp>
    </p:spTree>
    <p:extLst>
      <p:ext uri="{BB962C8B-B14F-4D97-AF65-F5344CB8AC3E}">
        <p14:creationId xmlns:p14="http://schemas.microsoft.com/office/powerpoint/2010/main" val="1526115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7AFA-0D39-2D55-6B12-6314275A75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403693-97DA-F16B-2062-B72AE8C996B3}"/>
              </a:ext>
            </a:extLst>
          </p:cNvPr>
          <p:cNvSpPr/>
          <p:nvPr/>
        </p:nvSpPr>
        <p:spPr>
          <a:xfrm>
            <a:off x="1296162" y="1738883"/>
            <a:ext cx="7848600" cy="29209"/>
          </a:xfrm>
          <a:custGeom>
            <a:avLst/>
            <a:gdLst/>
            <a:ahLst/>
            <a:cxnLst/>
            <a:rect l="l" t="t" r="r" b="b"/>
            <a:pathLst>
              <a:path w="7848600" h="29210">
                <a:moveTo>
                  <a:pt x="7848600" y="0"/>
                </a:moveTo>
                <a:lnTo>
                  <a:pt x="0" y="0"/>
                </a:lnTo>
                <a:lnTo>
                  <a:pt x="0" y="28956"/>
                </a:lnTo>
                <a:lnTo>
                  <a:pt x="7848600" y="28956"/>
                </a:lnTo>
                <a:lnTo>
                  <a:pt x="7848600" y="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FD3FDC5B-7FF9-B48F-BEC1-834F06DC715D}"/>
              </a:ext>
            </a:extLst>
          </p:cNvPr>
          <p:cNvSpPr txBox="1">
            <a:spLocks noGrp="1"/>
          </p:cNvSpPr>
          <p:nvPr>
            <p:ph type="title"/>
          </p:nvPr>
        </p:nvSpPr>
        <p:spPr>
          <a:xfrm>
            <a:off x="2655079" y="480124"/>
            <a:ext cx="2557145" cy="696595"/>
          </a:xfrm>
          <a:prstGeom prst="rect">
            <a:avLst/>
          </a:prstGeom>
        </p:spPr>
        <p:txBody>
          <a:bodyPr vert="horz" wrap="square" lIns="0" tIns="13335" rIns="0" bIns="0" rtlCol="0">
            <a:spAutoFit/>
          </a:bodyPr>
          <a:lstStyle/>
          <a:p>
            <a:pPr marL="12700">
              <a:lnSpc>
                <a:spcPct val="100000"/>
              </a:lnSpc>
              <a:spcBef>
                <a:spcPts val="105"/>
              </a:spcBef>
            </a:pPr>
            <a:r>
              <a:rPr b="1" spc="-10" dirty="0">
                <a:solidFill>
                  <a:srgbClr val="7B9899"/>
                </a:solidFill>
                <a:latin typeface="Calibri"/>
                <a:cs typeface="Calibri"/>
              </a:rPr>
              <a:t>Rationality</a:t>
            </a:r>
          </a:p>
        </p:txBody>
      </p:sp>
      <p:sp>
        <p:nvSpPr>
          <p:cNvPr id="4" name="object 4">
            <a:extLst>
              <a:ext uri="{FF2B5EF4-FFF2-40B4-BE49-F238E27FC236}">
                <a16:creationId xmlns:a16="http://schemas.microsoft.com/office/drawing/2014/main" id="{A2A2D182-F01D-5040-65BD-9502C1365E8D}"/>
              </a:ext>
            </a:extLst>
          </p:cNvPr>
          <p:cNvSpPr txBox="1"/>
          <p:nvPr/>
        </p:nvSpPr>
        <p:spPr>
          <a:xfrm>
            <a:off x="535940" y="1944116"/>
            <a:ext cx="6939915" cy="15500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Must</a:t>
            </a:r>
            <a:r>
              <a:rPr sz="2000" spc="-30" dirty="0">
                <a:latin typeface="Times New Roman"/>
                <a:cs typeface="Times New Roman"/>
              </a:rPr>
              <a:t> </a:t>
            </a:r>
            <a:r>
              <a:rPr sz="2000" dirty="0">
                <a:latin typeface="Times New Roman"/>
                <a:cs typeface="Times New Roman"/>
              </a:rPr>
              <a:t>first</a:t>
            </a:r>
            <a:r>
              <a:rPr sz="2000" spc="-30" dirty="0">
                <a:latin typeface="Times New Roman"/>
                <a:cs typeface="Times New Roman"/>
              </a:rPr>
              <a:t> </a:t>
            </a:r>
            <a:r>
              <a:rPr sz="2000" dirty="0">
                <a:latin typeface="Times New Roman"/>
                <a:cs typeface="Times New Roman"/>
              </a:rPr>
              <a:t>specify</a:t>
            </a:r>
            <a:r>
              <a:rPr sz="2000" spc="-3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setting</a:t>
            </a:r>
            <a:r>
              <a:rPr sz="2000" spc="-1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intelligent</a:t>
            </a:r>
            <a:r>
              <a:rPr sz="2000" spc="-35" dirty="0">
                <a:latin typeface="Times New Roman"/>
                <a:cs typeface="Times New Roman"/>
              </a:rPr>
              <a:t> </a:t>
            </a:r>
            <a:r>
              <a:rPr sz="2000" dirty="0">
                <a:latin typeface="Times New Roman"/>
                <a:cs typeface="Times New Roman"/>
              </a:rPr>
              <a:t>agent</a:t>
            </a:r>
            <a:r>
              <a:rPr sz="2000" spc="-25" dirty="0">
                <a:latin typeface="Times New Roman"/>
                <a:cs typeface="Times New Roman"/>
              </a:rPr>
              <a:t> </a:t>
            </a:r>
            <a:r>
              <a:rPr sz="2000" spc="-10" dirty="0">
                <a:latin typeface="Times New Roman"/>
                <a:cs typeface="Times New Roman"/>
              </a:rPr>
              <a:t>design.</a:t>
            </a:r>
            <a:endParaRPr sz="2000">
              <a:latin typeface="Times New Roman"/>
              <a:cs typeface="Times New Roman"/>
            </a:endParaRPr>
          </a:p>
          <a:p>
            <a:pPr marL="12700" marR="5080" indent="-635">
              <a:lnSpc>
                <a:spcPct val="200000"/>
              </a:lnSpc>
            </a:pPr>
            <a:r>
              <a:rPr sz="2000" b="1" dirty="0">
                <a:solidFill>
                  <a:srgbClr val="FF6600"/>
                </a:solidFill>
                <a:latin typeface="Times New Roman"/>
                <a:cs typeface="Times New Roman"/>
              </a:rPr>
              <a:t>PEAS</a:t>
            </a:r>
            <a:r>
              <a:rPr sz="2000" b="1" dirty="0">
                <a:solidFill>
                  <a:srgbClr val="3333CC"/>
                </a:solidFill>
                <a:latin typeface="Times New Roman"/>
                <a:cs typeface="Times New Roman"/>
              </a:rPr>
              <a:t>:</a:t>
            </a:r>
            <a:r>
              <a:rPr sz="2000" b="1" spc="-35" dirty="0">
                <a:solidFill>
                  <a:srgbClr val="3333CC"/>
                </a:solidFill>
                <a:latin typeface="Times New Roman"/>
                <a:cs typeface="Times New Roman"/>
              </a:rPr>
              <a:t> </a:t>
            </a:r>
            <a:r>
              <a:rPr sz="2000" b="1" dirty="0">
                <a:solidFill>
                  <a:srgbClr val="FF6600"/>
                </a:solidFill>
                <a:latin typeface="Times New Roman"/>
                <a:cs typeface="Times New Roman"/>
              </a:rPr>
              <a:t>P</a:t>
            </a:r>
            <a:r>
              <a:rPr sz="2000" b="1" dirty="0">
                <a:solidFill>
                  <a:srgbClr val="3333CC"/>
                </a:solidFill>
                <a:latin typeface="Times New Roman"/>
                <a:cs typeface="Times New Roman"/>
              </a:rPr>
              <a:t>erformance</a:t>
            </a:r>
            <a:r>
              <a:rPr sz="2000" b="1" spc="-65" dirty="0">
                <a:solidFill>
                  <a:srgbClr val="3333CC"/>
                </a:solidFill>
                <a:latin typeface="Times New Roman"/>
                <a:cs typeface="Times New Roman"/>
              </a:rPr>
              <a:t> </a:t>
            </a:r>
            <a:r>
              <a:rPr sz="2000" b="1" dirty="0">
                <a:solidFill>
                  <a:srgbClr val="3333CC"/>
                </a:solidFill>
                <a:latin typeface="Times New Roman"/>
                <a:cs typeface="Times New Roman"/>
              </a:rPr>
              <a:t>measure,</a:t>
            </a:r>
            <a:r>
              <a:rPr sz="2000" b="1" spc="-55" dirty="0">
                <a:solidFill>
                  <a:srgbClr val="3333CC"/>
                </a:solidFill>
                <a:latin typeface="Times New Roman"/>
                <a:cs typeface="Times New Roman"/>
              </a:rPr>
              <a:t> </a:t>
            </a:r>
            <a:r>
              <a:rPr sz="2000" b="1" dirty="0">
                <a:solidFill>
                  <a:srgbClr val="FF6600"/>
                </a:solidFill>
                <a:latin typeface="Times New Roman"/>
                <a:cs typeface="Times New Roman"/>
              </a:rPr>
              <a:t>E</a:t>
            </a:r>
            <a:r>
              <a:rPr sz="2000" b="1" dirty="0">
                <a:solidFill>
                  <a:srgbClr val="3333CC"/>
                </a:solidFill>
                <a:latin typeface="Times New Roman"/>
                <a:cs typeface="Times New Roman"/>
              </a:rPr>
              <a:t>nvironment,</a:t>
            </a:r>
            <a:r>
              <a:rPr sz="2000" b="1" spc="-75" dirty="0">
                <a:solidFill>
                  <a:srgbClr val="3333CC"/>
                </a:solidFill>
                <a:latin typeface="Times New Roman"/>
                <a:cs typeface="Times New Roman"/>
              </a:rPr>
              <a:t> </a:t>
            </a:r>
            <a:r>
              <a:rPr sz="2000" b="1" dirty="0">
                <a:solidFill>
                  <a:srgbClr val="FF6600"/>
                </a:solidFill>
                <a:latin typeface="Times New Roman"/>
                <a:cs typeface="Times New Roman"/>
              </a:rPr>
              <a:t>A</a:t>
            </a:r>
            <a:r>
              <a:rPr sz="2000" b="1" dirty="0">
                <a:solidFill>
                  <a:srgbClr val="3333CC"/>
                </a:solidFill>
                <a:latin typeface="Times New Roman"/>
                <a:cs typeface="Times New Roman"/>
              </a:rPr>
              <a:t>ctuators,</a:t>
            </a:r>
            <a:r>
              <a:rPr sz="2000" b="1" spc="-55" dirty="0">
                <a:solidFill>
                  <a:srgbClr val="3333CC"/>
                </a:solidFill>
                <a:latin typeface="Times New Roman"/>
                <a:cs typeface="Times New Roman"/>
              </a:rPr>
              <a:t> </a:t>
            </a:r>
            <a:r>
              <a:rPr sz="2000" b="1" spc="-10" dirty="0">
                <a:solidFill>
                  <a:srgbClr val="FF6600"/>
                </a:solidFill>
                <a:latin typeface="Times New Roman"/>
                <a:cs typeface="Times New Roman"/>
              </a:rPr>
              <a:t>S</a:t>
            </a:r>
            <a:r>
              <a:rPr sz="2000" b="1" spc="-10" dirty="0">
                <a:solidFill>
                  <a:srgbClr val="3333CC"/>
                </a:solidFill>
                <a:latin typeface="Times New Roman"/>
                <a:cs typeface="Times New Roman"/>
              </a:rPr>
              <a:t>ensors </a:t>
            </a:r>
            <a:r>
              <a:rPr sz="2000" b="1" dirty="0">
                <a:solidFill>
                  <a:srgbClr val="3333CC"/>
                </a:solidFill>
                <a:latin typeface="Times New Roman"/>
                <a:cs typeface="Times New Roman"/>
              </a:rPr>
              <a:t>Example:</a:t>
            </a:r>
            <a:r>
              <a:rPr sz="2000" b="1" spc="475" dirty="0">
                <a:solidFill>
                  <a:srgbClr val="3333CC"/>
                </a:solidFill>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task</a:t>
            </a:r>
            <a:r>
              <a:rPr sz="2000" spc="-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designing</a:t>
            </a:r>
            <a:r>
              <a:rPr sz="2000" spc="-4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spc="-10" dirty="0">
                <a:solidFill>
                  <a:srgbClr val="FF0000"/>
                </a:solidFill>
                <a:latin typeface="Times New Roman"/>
                <a:cs typeface="Times New Roman"/>
              </a:rPr>
              <a:t>self-</a:t>
            </a:r>
            <a:r>
              <a:rPr sz="2000" dirty="0">
                <a:solidFill>
                  <a:srgbClr val="FF0000"/>
                </a:solidFill>
                <a:latin typeface="Times New Roman"/>
                <a:cs typeface="Times New Roman"/>
              </a:rPr>
              <a:t>driving</a:t>
            </a:r>
            <a:r>
              <a:rPr sz="2000" spc="-40" dirty="0">
                <a:solidFill>
                  <a:srgbClr val="FF0000"/>
                </a:solidFill>
                <a:latin typeface="Times New Roman"/>
                <a:cs typeface="Times New Roman"/>
              </a:rPr>
              <a:t> </a:t>
            </a:r>
            <a:r>
              <a:rPr sz="2000" spc="-25" dirty="0">
                <a:solidFill>
                  <a:srgbClr val="FF0000"/>
                </a:solidFill>
                <a:latin typeface="Times New Roman"/>
                <a:cs typeface="Times New Roman"/>
              </a:rPr>
              <a:t>car</a:t>
            </a:r>
            <a:endParaRPr sz="2000">
              <a:latin typeface="Times New Roman"/>
              <a:cs typeface="Times New Roman"/>
            </a:endParaRPr>
          </a:p>
        </p:txBody>
      </p:sp>
      <p:sp>
        <p:nvSpPr>
          <p:cNvPr id="5" name="object 5">
            <a:extLst>
              <a:ext uri="{FF2B5EF4-FFF2-40B4-BE49-F238E27FC236}">
                <a16:creationId xmlns:a16="http://schemas.microsoft.com/office/drawing/2014/main" id="{43E19DE2-A654-AE1A-7395-1868E36F7AF7}"/>
              </a:ext>
            </a:extLst>
          </p:cNvPr>
          <p:cNvSpPr txBox="1"/>
          <p:nvPr/>
        </p:nvSpPr>
        <p:spPr>
          <a:xfrm>
            <a:off x="993139" y="3772915"/>
            <a:ext cx="2704465" cy="330835"/>
          </a:xfrm>
          <a:prstGeom prst="rect">
            <a:avLst/>
          </a:prstGeom>
        </p:spPr>
        <p:txBody>
          <a:bodyPr vert="horz" wrap="square" lIns="0" tIns="12700" rIns="0" bIns="0" rtlCol="0">
            <a:spAutoFit/>
          </a:bodyPr>
          <a:lstStyle/>
          <a:p>
            <a:pPr marL="12700">
              <a:lnSpc>
                <a:spcPct val="100000"/>
              </a:lnSpc>
              <a:spcBef>
                <a:spcPts val="100"/>
              </a:spcBef>
              <a:tabLst>
                <a:tab pos="299085" algn="l"/>
              </a:tabLst>
            </a:pPr>
            <a:r>
              <a:rPr sz="2000" spc="-50" dirty="0">
                <a:solidFill>
                  <a:srgbClr val="00CC99"/>
                </a:solidFill>
                <a:latin typeface="Times New Roman"/>
                <a:cs typeface="Times New Roman"/>
              </a:rPr>
              <a:t>–</a:t>
            </a:r>
            <a:r>
              <a:rPr sz="2000" dirty="0">
                <a:solidFill>
                  <a:srgbClr val="00CC99"/>
                </a:solidFill>
                <a:latin typeface="Times New Roman"/>
                <a:cs typeface="Times New Roman"/>
              </a:rPr>
              <a:t>	</a:t>
            </a:r>
            <a:r>
              <a:rPr sz="2000" b="1" dirty="0">
                <a:solidFill>
                  <a:srgbClr val="00CC99"/>
                </a:solidFill>
                <a:latin typeface="Times New Roman"/>
                <a:cs typeface="Times New Roman"/>
              </a:rPr>
              <a:t>Performance</a:t>
            </a:r>
            <a:r>
              <a:rPr sz="2000" b="1" spc="-70" dirty="0">
                <a:solidFill>
                  <a:srgbClr val="00CC99"/>
                </a:solidFill>
                <a:latin typeface="Times New Roman"/>
                <a:cs typeface="Times New Roman"/>
              </a:rPr>
              <a:t> </a:t>
            </a:r>
            <a:r>
              <a:rPr sz="2000" b="1" spc="-10" dirty="0">
                <a:solidFill>
                  <a:srgbClr val="00CC99"/>
                </a:solidFill>
                <a:latin typeface="Times New Roman"/>
                <a:cs typeface="Times New Roman"/>
              </a:rPr>
              <a:t>measure</a:t>
            </a:r>
            <a:endParaRPr sz="2000">
              <a:latin typeface="Times New Roman"/>
              <a:cs typeface="Times New Roman"/>
            </a:endParaRPr>
          </a:p>
        </p:txBody>
      </p:sp>
      <p:sp>
        <p:nvSpPr>
          <p:cNvPr id="6" name="object 6">
            <a:extLst>
              <a:ext uri="{FF2B5EF4-FFF2-40B4-BE49-F238E27FC236}">
                <a16:creationId xmlns:a16="http://schemas.microsoft.com/office/drawing/2014/main" id="{1974E02A-32D8-006E-C128-2787620887DF}"/>
              </a:ext>
            </a:extLst>
          </p:cNvPr>
          <p:cNvSpPr txBox="1"/>
          <p:nvPr/>
        </p:nvSpPr>
        <p:spPr>
          <a:xfrm>
            <a:off x="3859784" y="3824732"/>
            <a:ext cx="285877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3333CC"/>
                </a:solidFill>
                <a:latin typeface="Times New Roman"/>
                <a:cs typeface="Times New Roman"/>
              </a:rPr>
              <a:t>Safe,</a:t>
            </a:r>
            <a:r>
              <a:rPr sz="1600" b="1" spc="-50" dirty="0">
                <a:solidFill>
                  <a:srgbClr val="3333CC"/>
                </a:solidFill>
                <a:latin typeface="Times New Roman"/>
                <a:cs typeface="Times New Roman"/>
              </a:rPr>
              <a:t> </a:t>
            </a:r>
            <a:r>
              <a:rPr sz="1600" b="1" dirty="0">
                <a:solidFill>
                  <a:srgbClr val="3333CC"/>
                </a:solidFill>
                <a:latin typeface="Times New Roman"/>
                <a:cs typeface="Times New Roman"/>
              </a:rPr>
              <a:t>fast,</a:t>
            </a:r>
            <a:r>
              <a:rPr sz="1600" b="1" spc="-40" dirty="0">
                <a:solidFill>
                  <a:srgbClr val="3333CC"/>
                </a:solidFill>
                <a:latin typeface="Times New Roman"/>
                <a:cs typeface="Times New Roman"/>
              </a:rPr>
              <a:t> </a:t>
            </a:r>
            <a:r>
              <a:rPr sz="1600" b="1" dirty="0">
                <a:solidFill>
                  <a:srgbClr val="3333CC"/>
                </a:solidFill>
                <a:latin typeface="Times New Roman"/>
                <a:cs typeface="Times New Roman"/>
              </a:rPr>
              <a:t>legal,</a:t>
            </a:r>
            <a:r>
              <a:rPr sz="1600" b="1" spc="-35" dirty="0">
                <a:solidFill>
                  <a:srgbClr val="3333CC"/>
                </a:solidFill>
                <a:latin typeface="Times New Roman"/>
                <a:cs typeface="Times New Roman"/>
              </a:rPr>
              <a:t> </a:t>
            </a:r>
            <a:r>
              <a:rPr sz="1600" b="1" dirty="0">
                <a:solidFill>
                  <a:srgbClr val="3333CC"/>
                </a:solidFill>
                <a:latin typeface="Times New Roman"/>
                <a:cs typeface="Times New Roman"/>
              </a:rPr>
              <a:t>comfortable</a:t>
            </a:r>
            <a:r>
              <a:rPr sz="1600" b="1" spc="-5" dirty="0">
                <a:solidFill>
                  <a:srgbClr val="3333CC"/>
                </a:solidFill>
                <a:latin typeface="Times New Roman"/>
                <a:cs typeface="Times New Roman"/>
              </a:rPr>
              <a:t> </a:t>
            </a:r>
            <a:r>
              <a:rPr sz="1600" b="1" spc="-20" dirty="0">
                <a:solidFill>
                  <a:srgbClr val="3333CC"/>
                </a:solidFill>
                <a:latin typeface="Times New Roman"/>
                <a:cs typeface="Times New Roman"/>
              </a:rPr>
              <a:t>trip</a:t>
            </a:r>
            <a:endParaRPr sz="1600">
              <a:latin typeface="Times New Roman"/>
              <a:cs typeface="Times New Roman"/>
            </a:endParaRPr>
          </a:p>
        </p:txBody>
      </p:sp>
      <p:sp>
        <p:nvSpPr>
          <p:cNvPr id="7" name="object 7">
            <a:extLst>
              <a:ext uri="{FF2B5EF4-FFF2-40B4-BE49-F238E27FC236}">
                <a16:creationId xmlns:a16="http://schemas.microsoft.com/office/drawing/2014/main" id="{921238D7-E7CF-CC11-D436-6AC0DC3AF92D}"/>
              </a:ext>
            </a:extLst>
          </p:cNvPr>
          <p:cNvSpPr txBox="1"/>
          <p:nvPr/>
        </p:nvSpPr>
        <p:spPr>
          <a:xfrm>
            <a:off x="993139" y="4077715"/>
            <a:ext cx="1754505" cy="330835"/>
          </a:xfrm>
          <a:prstGeom prst="rect">
            <a:avLst/>
          </a:prstGeom>
        </p:spPr>
        <p:txBody>
          <a:bodyPr vert="horz" wrap="square" lIns="0" tIns="12700" rIns="0" bIns="0" rtlCol="0">
            <a:spAutoFit/>
          </a:bodyPr>
          <a:lstStyle/>
          <a:p>
            <a:pPr marL="12700">
              <a:lnSpc>
                <a:spcPct val="100000"/>
              </a:lnSpc>
              <a:spcBef>
                <a:spcPts val="100"/>
              </a:spcBef>
              <a:tabLst>
                <a:tab pos="299085" algn="l"/>
              </a:tabLst>
            </a:pPr>
            <a:r>
              <a:rPr sz="2000" spc="-50" dirty="0">
                <a:solidFill>
                  <a:srgbClr val="00CC99"/>
                </a:solidFill>
                <a:latin typeface="Times New Roman"/>
                <a:cs typeface="Times New Roman"/>
              </a:rPr>
              <a:t>–</a:t>
            </a:r>
            <a:r>
              <a:rPr sz="2000" dirty="0">
                <a:solidFill>
                  <a:srgbClr val="00CC99"/>
                </a:solidFill>
                <a:latin typeface="Times New Roman"/>
                <a:cs typeface="Times New Roman"/>
              </a:rPr>
              <a:t>	</a:t>
            </a:r>
            <a:r>
              <a:rPr sz="2000" b="1" spc="-10" dirty="0">
                <a:solidFill>
                  <a:srgbClr val="00CC99"/>
                </a:solidFill>
                <a:latin typeface="Times New Roman"/>
                <a:cs typeface="Times New Roman"/>
              </a:rPr>
              <a:t>Environment</a:t>
            </a:r>
            <a:endParaRPr sz="2000">
              <a:latin typeface="Times New Roman"/>
              <a:cs typeface="Times New Roman"/>
            </a:endParaRPr>
          </a:p>
        </p:txBody>
      </p:sp>
      <p:sp>
        <p:nvSpPr>
          <p:cNvPr id="8" name="object 8">
            <a:extLst>
              <a:ext uri="{FF2B5EF4-FFF2-40B4-BE49-F238E27FC236}">
                <a16:creationId xmlns:a16="http://schemas.microsoft.com/office/drawing/2014/main" id="{7697E62E-F6C3-988D-AA3B-C9598FA07049}"/>
              </a:ext>
            </a:extLst>
          </p:cNvPr>
          <p:cNvSpPr txBox="1"/>
          <p:nvPr/>
        </p:nvSpPr>
        <p:spPr>
          <a:xfrm>
            <a:off x="2908807" y="4129532"/>
            <a:ext cx="282067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3333CC"/>
                </a:solidFill>
                <a:latin typeface="Times New Roman"/>
                <a:cs typeface="Times New Roman"/>
              </a:rPr>
              <a:t>Roads,</a:t>
            </a:r>
            <a:r>
              <a:rPr sz="1600" b="1" spc="-55" dirty="0">
                <a:solidFill>
                  <a:srgbClr val="3333CC"/>
                </a:solidFill>
                <a:latin typeface="Times New Roman"/>
                <a:cs typeface="Times New Roman"/>
              </a:rPr>
              <a:t> </a:t>
            </a:r>
            <a:r>
              <a:rPr sz="1600" b="1" dirty="0">
                <a:solidFill>
                  <a:srgbClr val="3333CC"/>
                </a:solidFill>
                <a:latin typeface="Times New Roman"/>
                <a:cs typeface="Times New Roman"/>
              </a:rPr>
              <a:t>other</a:t>
            </a:r>
            <a:r>
              <a:rPr sz="1600" b="1" spc="-35" dirty="0">
                <a:solidFill>
                  <a:srgbClr val="3333CC"/>
                </a:solidFill>
                <a:latin typeface="Times New Roman"/>
                <a:cs typeface="Times New Roman"/>
              </a:rPr>
              <a:t> </a:t>
            </a:r>
            <a:r>
              <a:rPr sz="1600" b="1" dirty="0">
                <a:solidFill>
                  <a:srgbClr val="3333CC"/>
                </a:solidFill>
                <a:latin typeface="Times New Roman"/>
                <a:cs typeface="Times New Roman"/>
              </a:rPr>
              <a:t>traffic,</a:t>
            </a:r>
            <a:r>
              <a:rPr sz="1600" b="1" spc="-10" dirty="0">
                <a:solidFill>
                  <a:srgbClr val="3333CC"/>
                </a:solidFill>
                <a:latin typeface="Times New Roman"/>
                <a:cs typeface="Times New Roman"/>
              </a:rPr>
              <a:t> pedestrians</a:t>
            </a:r>
            <a:endParaRPr sz="1600">
              <a:latin typeface="Times New Roman"/>
              <a:cs typeface="Times New Roman"/>
            </a:endParaRPr>
          </a:p>
        </p:txBody>
      </p:sp>
      <p:sp>
        <p:nvSpPr>
          <p:cNvPr id="9" name="object 9">
            <a:extLst>
              <a:ext uri="{FF2B5EF4-FFF2-40B4-BE49-F238E27FC236}">
                <a16:creationId xmlns:a16="http://schemas.microsoft.com/office/drawing/2014/main" id="{41BE4117-EC50-7F2F-A30F-9E3D1A87E661}"/>
              </a:ext>
            </a:extLst>
          </p:cNvPr>
          <p:cNvSpPr txBox="1"/>
          <p:nvPr/>
        </p:nvSpPr>
        <p:spPr>
          <a:xfrm>
            <a:off x="993139" y="4431284"/>
            <a:ext cx="1389380" cy="330835"/>
          </a:xfrm>
          <a:prstGeom prst="rect">
            <a:avLst/>
          </a:prstGeom>
        </p:spPr>
        <p:txBody>
          <a:bodyPr vert="horz" wrap="square" lIns="0" tIns="12700" rIns="0" bIns="0" rtlCol="0">
            <a:spAutoFit/>
          </a:bodyPr>
          <a:lstStyle/>
          <a:p>
            <a:pPr marL="12700">
              <a:lnSpc>
                <a:spcPct val="100000"/>
              </a:lnSpc>
              <a:spcBef>
                <a:spcPts val="100"/>
              </a:spcBef>
              <a:tabLst>
                <a:tab pos="299085" algn="l"/>
              </a:tabLst>
            </a:pPr>
            <a:r>
              <a:rPr sz="2000" spc="-50" dirty="0">
                <a:solidFill>
                  <a:srgbClr val="00CC99"/>
                </a:solidFill>
                <a:latin typeface="Times New Roman"/>
                <a:cs typeface="Times New Roman"/>
              </a:rPr>
              <a:t>–</a:t>
            </a:r>
            <a:r>
              <a:rPr sz="2000" dirty="0">
                <a:solidFill>
                  <a:srgbClr val="00CC99"/>
                </a:solidFill>
                <a:latin typeface="Times New Roman"/>
                <a:cs typeface="Times New Roman"/>
              </a:rPr>
              <a:t>	</a:t>
            </a:r>
            <a:r>
              <a:rPr sz="2000" b="1" spc="-10" dirty="0">
                <a:solidFill>
                  <a:srgbClr val="00CC99"/>
                </a:solidFill>
                <a:latin typeface="Times New Roman"/>
                <a:cs typeface="Times New Roman"/>
              </a:rPr>
              <a:t>Actuators</a:t>
            </a:r>
            <a:endParaRPr sz="2000">
              <a:latin typeface="Times New Roman"/>
              <a:cs typeface="Times New Roman"/>
            </a:endParaRPr>
          </a:p>
        </p:txBody>
      </p:sp>
      <p:sp>
        <p:nvSpPr>
          <p:cNvPr id="10" name="object 10">
            <a:extLst>
              <a:ext uri="{FF2B5EF4-FFF2-40B4-BE49-F238E27FC236}">
                <a16:creationId xmlns:a16="http://schemas.microsoft.com/office/drawing/2014/main" id="{043928E7-495E-3F94-3987-76B3369A1056}"/>
              </a:ext>
            </a:extLst>
          </p:cNvPr>
          <p:cNvSpPr txBox="1"/>
          <p:nvPr/>
        </p:nvSpPr>
        <p:spPr>
          <a:xfrm>
            <a:off x="2579623" y="4483100"/>
            <a:ext cx="4111625"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3333CC"/>
                </a:solidFill>
                <a:latin typeface="Times New Roman"/>
                <a:cs typeface="Times New Roman"/>
              </a:rPr>
              <a:t>Steering</a:t>
            </a:r>
            <a:r>
              <a:rPr sz="1600" b="1" spc="-25" dirty="0">
                <a:solidFill>
                  <a:srgbClr val="3333CC"/>
                </a:solidFill>
                <a:latin typeface="Times New Roman"/>
                <a:cs typeface="Times New Roman"/>
              </a:rPr>
              <a:t> </a:t>
            </a:r>
            <a:r>
              <a:rPr sz="1600" b="1" dirty="0">
                <a:solidFill>
                  <a:srgbClr val="3333CC"/>
                </a:solidFill>
                <a:latin typeface="Times New Roman"/>
                <a:cs typeface="Times New Roman"/>
              </a:rPr>
              <a:t>wheel,</a:t>
            </a:r>
            <a:r>
              <a:rPr sz="1600" b="1" spc="-55" dirty="0">
                <a:solidFill>
                  <a:srgbClr val="3333CC"/>
                </a:solidFill>
                <a:latin typeface="Times New Roman"/>
                <a:cs typeface="Times New Roman"/>
              </a:rPr>
              <a:t> </a:t>
            </a:r>
            <a:r>
              <a:rPr sz="1600" b="1" dirty="0">
                <a:solidFill>
                  <a:srgbClr val="3333CC"/>
                </a:solidFill>
                <a:latin typeface="Times New Roman"/>
                <a:cs typeface="Times New Roman"/>
              </a:rPr>
              <a:t>accelerator,</a:t>
            </a:r>
            <a:r>
              <a:rPr sz="1600" b="1" spc="-20" dirty="0">
                <a:solidFill>
                  <a:srgbClr val="3333CC"/>
                </a:solidFill>
                <a:latin typeface="Times New Roman"/>
                <a:cs typeface="Times New Roman"/>
              </a:rPr>
              <a:t> </a:t>
            </a:r>
            <a:r>
              <a:rPr sz="1600" b="1" dirty="0">
                <a:solidFill>
                  <a:srgbClr val="3333CC"/>
                </a:solidFill>
                <a:latin typeface="Times New Roman"/>
                <a:cs typeface="Times New Roman"/>
              </a:rPr>
              <a:t>brake,</a:t>
            </a:r>
            <a:r>
              <a:rPr sz="1600" b="1" spc="-30" dirty="0">
                <a:solidFill>
                  <a:srgbClr val="3333CC"/>
                </a:solidFill>
                <a:latin typeface="Times New Roman"/>
                <a:cs typeface="Times New Roman"/>
              </a:rPr>
              <a:t> </a:t>
            </a:r>
            <a:r>
              <a:rPr sz="1600" b="1" dirty="0">
                <a:solidFill>
                  <a:srgbClr val="3333CC"/>
                </a:solidFill>
                <a:latin typeface="Times New Roman"/>
                <a:cs typeface="Times New Roman"/>
              </a:rPr>
              <a:t>signal,</a:t>
            </a:r>
            <a:r>
              <a:rPr sz="1600" b="1" spc="-45" dirty="0">
                <a:solidFill>
                  <a:srgbClr val="3333CC"/>
                </a:solidFill>
                <a:latin typeface="Times New Roman"/>
                <a:cs typeface="Times New Roman"/>
              </a:rPr>
              <a:t> </a:t>
            </a:r>
            <a:r>
              <a:rPr sz="1600" b="1" spc="-20" dirty="0">
                <a:solidFill>
                  <a:srgbClr val="3333CC"/>
                </a:solidFill>
                <a:latin typeface="Times New Roman"/>
                <a:cs typeface="Times New Roman"/>
              </a:rPr>
              <a:t>horn</a:t>
            </a:r>
            <a:endParaRPr sz="1600">
              <a:latin typeface="Times New Roman"/>
              <a:cs typeface="Times New Roman"/>
            </a:endParaRPr>
          </a:p>
        </p:txBody>
      </p:sp>
      <p:sp>
        <p:nvSpPr>
          <p:cNvPr id="11" name="object 11">
            <a:extLst>
              <a:ext uri="{FF2B5EF4-FFF2-40B4-BE49-F238E27FC236}">
                <a16:creationId xmlns:a16="http://schemas.microsoft.com/office/drawing/2014/main" id="{EB9348C3-BC82-1360-5584-61AE8F8BDCB5}"/>
              </a:ext>
            </a:extLst>
          </p:cNvPr>
          <p:cNvSpPr txBox="1"/>
          <p:nvPr/>
        </p:nvSpPr>
        <p:spPr>
          <a:xfrm>
            <a:off x="993139" y="4797044"/>
            <a:ext cx="1146810" cy="330835"/>
          </a:xfrm>
          <a:prstGeom prst="rect">
            <a:avLst/>
          </a:prstGeom>
        </p:spPr>
        <p:txBody>
          <a:bodyPr vert="horz" wrap="square" lIns="0" tIns="12700" rIns="0" bIns="0" rtlCol="0">
            <a:spAutoFit/>
          </a:bodyPr>
          <a:lstStyle/>
          <a:p>
            <a:pPr marL="12700">
              <a:lnSpc>
                <a:spcPct val="100000"/>
              </a:lnSpc>
              <a:spcBef>
                <a:spcPts val="100"/>
              </a:spcBef>
              <a:tabLst>
                <a:tab pos="299085" algn="l"/>
              </a:tabLst>
            </a:pPr>
            <a:r>
              <a:rPr sz="2000" spc="-50" dirty="0">
                <a:solidFill>
                  <a:srgbClr val="00CC99"/>
                </a:solidFill>
                <a:latin typeface="Times New Roman"/>
                <a:cs typeface="Times New Roman"/>
              </a:rPr>
              <a:t>–</a:t>
            </a:r>
            <a:r>
              <a:rPr sz="2000" dirty="0">
                <a:solidFill>
                  <a:srgbClr val="00CC99"/>
                </a:solidFill>
                <a:latin typeface="Times New Roman"/>
                <a:cs typeface="Times New Roman"/>
              </a:rPr>
              <a:t>	</a:t>
            </a:r>
            <a:r>
              <a:rPr sz="2000" b="1" spc="-10" dirty="0">
                <a:solidFill>
                  <a:srgbClr val="00CC99"/>
                </a:solidFill>
                <a:latin typeface="Times New Roman"/>
                <a:cs typeface="Times New Roman"/>
              </a:rPr>
              <a:t>Sensors</a:t>
            </a:r>
            <a:endParaRPr sz="2000">
              <a:latin typeface="Times New Roman"/>
              <a:cs typeface="Times New Roman"/>
            </a:endParaRPr>
          </a:p>
        </p:txBody>
      </p:sp>
      <p:sp>
        <p:nvSpPr>
          <p:cNvPr id="12" name="object 12">
            <a:extLst>
              <a:ext uri="{FF2B5EF4-FFF2-40B4-BE49-F238E27FC236}">
                <a16:creationId xmlns:a16="http://schemas.microsoft.com/office/drawing/2014/main" id="{EFF9C655-16F6-73D8-7F01-72785462AE75}"/>
              </a:ext>
            </a:extLst>
          </p:cNvPr>
          <p:cNvSpPr txBox="1"/>
          <p:nvPr/>
        </p:nvSpPr>
        <p:spPr>
          <a:xfrm>
            <a:off x="2340355" y="4823928"/>
            <a:ext cx="5314315" cy="561975"/>
          </a:xfrm>
          <a:prstGeom prst="rect">
            <a:avLst/>
          </a:prstGeom>
        </p:spPr>
        <p:txBody>
          <a:bodyPr vert="horz" wrap="square" lIns="0" tIns="12700" rIns="0" bIns="0" rtlCol="0">
            <a:spAutoFit/>
          </a:bodyPr>
          <a:lstStyle/>
          <a:p>
            <a:pPr marL="36830" marR="5080" indent="-24765">
              <a:lnSpc>
                <a:spcPct val="110000"/>
              </a:lnSpc>
              <a:spcBef>
                <a:spcPts val="100"/>
              </a:spcBef>
            </a:pPr>
            <a:r>
              <a:rPr sz="1600" b="1" dirty="0">
                <a:solidFill>
                  <a:srgbClr val="3333CC"/>
                </a:solidFill>
                <a:latin typeface="Times New Roman"/>
                <a:cs typeface="Times New Roman"/>
              </a:rPr>
              <a:t>Cameras,</a:t>
            </a:r>
            <a:r>
              <a:rPr sz="1600" b="1" spc="-45" dirty="0">
                <a:solidFill>
                  <a:srgbClr val="3333CC"/>
                </a:solidFill>
                <a:latin typeface="Times New Roman"/>
                <a:cs typeface="Times New Roman"/>
              </a:rPr>
              <a:t> </a:t>
            </a:r>
            <a:r>
              <a:rPr sz="1600" b="1" dirty="0">
                <a:solidFill>
                  <a:srgbClr val="3333CC"/>
                </a:solidFill>
                <a:latin typeface="Times New Roman"/>
                <a:cs typeface="Times New Roman"/>
              </a:rPr>
              <a:t>LIDAR</a:t>
            </a:r>
            <a:r>
              <a:rPr sz="1600" b="1" spc="-75" dirty="0">
                <a:solidFill>
                  <a:srgbClr val="3333CC"/>
                </a:solidFill>
                <a:latin typeface="Times New Roman"/>
                <a:cs typeface="Times New Roman"/>
              </a:rPr>
              <a:t> </a:t>
            </a:r>
            <a:r>
              <a:rPr sz="1600" b="1" dirty="0">
                <a:solidFill>
                  <a:srgbClr val="3333CC"/>
                </a:solidFill>
                <a:latin typeface="Times New Roman"/>
                <a:cs typeface="Times New Roman"/>
              </a:rPr>
              <a:t>(light/radar),</a:t>
            </a:r>
            <a:r>
              <a:rPr sz="1600" b="1" spc="-20" dirty="0">
                <a:solidFill>
                  <a:srgbClr val="3333CC"/>
                </a:solidFill>
                <a:latin typeface="Times New Roman"/>
                <a:cs typeface="Times New Roman"/>
              </a:rPr>
              <a:t> </a:t>
            </a:r>
            <a:r>
              <a:rPr sz="1600" b="1" dirty="0">
                <a:solidFill>
                  <a:srgbClr val="3333CC"/>
                </a:solidFill>
                <a:latin typeface="Times New Roman"/>
                <a:cs typeface="Times New Roman"/>
              </a:rPr>
              <a:t>speedometer,</a:t>
            </a:r>
            <a:r>
              <a:rPr sz="1600" b="1" spc="-20" dirty="0">
                <a:solidFill>
                  <a:srgbClr val="3333CC"/>
                </a:solidFill>
                <a:latin typeface="Times New Roman"/>
                <a:cs typeface="Times New Roman"/>
              </a:rPr>
              <a:t> </a:t>
            </a:r>
            <a:r>
              <a:rPr sz="1600" b="1" dirty="0">
                <a:solidFill>
                  <a:srgbClr val="3333CC"/>
                </a:solidFill>
                <a:latin typeface="Times New Roman"/>
                <a:cs typeface="Times New Roman"/>
              </a:rPr>
              <a:t>GPS,</a:t>
            </a:r>
            <a:r>
              <a:rPr sz="1600" b="1" spc="-50" dirty="0">
                <a:solidFill>
                  <a:srgbClr val="3333CC"/>
                </a:solidFill>
                <a:latin typeface="Times New Roman"/>
                <a:cs typeface="Times New Roman"/>
              </a:rPr>
              <a:t> </a:t>
            </a:r>
            <a:r>
              <a:rPr sz="1600" b="1" spc="-10" dirty="0">
                <a:solidFill>
                  <a:srgbClr val="3333CC"/>
                </a:solidFill>
                <a:latin typeface="Times New Roman"/>
                <a:cs typeface="Times New Roman"/>
              </a:rPr>
              <a:t>odometer </a:t>
            </a:r>
            <a:r>
              <a:rPr sz="1600" b="1" dirty="0">
                <a:solidFill>
                  <a:srgbClr val="3333CC"/>
                </a:solidFill>
                <a:latin typeface="Times New Roman"/>
                <a:cs typeface="Times New Roman"/>
              </a:rPr>
              <a:t>engine</a:t>
            </a:r>
            <a:r>
              <a:rPr sz="1600" b="1" spc="-40" dirty="0">
                <a:solidFill>
                  <a:srgbClr val="3333CC"/>
                </a:solidFill>
                <a:latin typeface="Times New Roman"/>
                <a:cs typeface="Times New Roman"/>
              </a:rPr>
              <a:t> </a:t>
            </a:r>
            <a:r>
              <a:rPr sz="1600" b="1" dirty="0">
                <a:solidFill>
                  <a:srgbClr val="3333CC"/>
                </a:solidFill>
                <a:latin typeface="Times New Roman"/>
                <a:cs typeface="Times New Roman"/>
              </a:rPr>
              <a:t>sensors,</a:t>
            </a:r>
            <a:r>
              <a:rPr sz="1600" b="1" spc="-40" dirty="0">
                <a:solidFill>
                  <a:srgbClr val="3333CC"/>
                </a:solidFill>
                <a:latin typeface="Times New Roman"/>
                <a:cs typeface="Times New Roman"/>
              </a:rPr>
              <a:t> </a:t>
            </a:r>
            <a:r>
              <a:rPr sz="1600" b="1" spc="-10" dirty="0">
                <a:solidFill>
                  <a:srgbClr val="3333CC"/>
                </a:solidFill>
                <a:latin typeface="Times New Roman"/>
                <a:cs typeface="Times New Roman"/>
              </a:rPr>
              <a:t>keyboard</a:t>
            </a:r>
            <a:endParaRPr sz="1600">
              <a:latin typeface="Times New Roman"/>
              <a:cs typeface="Times New Roman"/>
            </a:endParaRPr>
          </a:p>
        </p:txBody>
      </p:sp>
      <p:pic>
        <p:nvPicPr>
          <p:cNvPr id="13" name="object 13">
            <a:extLst>
              <a:ext uri="{FF2B5EF4-FFF2-40B4-BE49-F238E27FC236}">
                <a16:creationId xmlns:a16="http://schemas.microsoft.com/office/drawing/2014/main" id="{B3DB68AB-F4D7-8AEE-75FE-9168F51FFABD}"/>
              </a:ext>
            </a:extLst>
          </p:cNvPr>
          <p:cNvPicPr/>
          <p:nvPr/>
        </p:nvPicPr>
        <p:blipFill>
          <a:blip r:embed="rId3" cstate="print"/>
          <a:stretch>
            <a:fillRect/>
          </a:stretch>
        </p:blipFill>
        <p:spPr>
          <a:xfrm>
            <a:off x="6502908" y="2743200"/>
            <a:ext cx="2641091" cy="1504187"/>
          </a:xfrm>
          <a:prstGeom prst="rect">
            <a:avLst/>
          </a:prstGeom>
        </p:spPr>
      </p:pic>
    </p:spTree>
    <p:extLst>
      <p:ext uri="{BB962C8B-B14F-4D97-AF65-F5344CB8AC3E}">
        <p14:creationId xmlns:p14="http://schemas.microsoft.com/office/powerpoint/2010/main" val="2008117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031" y="624023"/>
            <a:ext cx="6246769" cy="441853"/>
          </a:xfrm>
          <a:prstGeom prst="rect">
            <a:avLst/>
          </a:prstGeom>
        </p:spPr>
        <p:txBody>
          <a:bodyPr vert="horz" wrap="square" lIns="0" tIns="10860" rIns="0" bIns="0" rtlCol="0">
            <a:spAutoFit/>
          </a:bodyPr>
          <a:lstStyle/>
          <a:p>
            <a:pPr marL="10860">
              <a:spcBef>
                <a:spcPts val="86"/>
              </a:spcBef>
              <a:tabLst>
                <a:tab pos="2218651" algn="l"/>
                <a:tab pos="2645983" algn="l"/>
              </a:tabLst>
            </a:pPr>
            <a:r>
              <a:rPr sz="2800" dirty="0"/>
              <a:t>PAGE </a:t>
            </a:r>
            <a:r>
              <a:rPr sz="2800" spc="-9" dirty="0"/>
              <a:t>Descriptors</a:t>
            </a:r>
            <a:r>
              <a:rPr sz="2800" dirty="0"/>
              <a:t>	</a:t>
            </a:r>
            <a:r>
              <a:rPr sz="2800" spc="-21" dirty="0"/>
              <a:t>vs.</a:t>
            </a:r>
            <a:r>
              <a:rPr sz="2800" dirty="0"/>
              <a:t>	PEAS</a:t>
            </a:r>
            <a:r>
              <a:rPr sz="2800" spc="-56" dirty="0"/>
              <a:t> </a:t>
            </a:r>
            <a:r>
              <a:rPr sz="2800" spc="-9" dirty="0"/>
              <a:t>Descriptors</a:t>
            </a:r>
          </a:p>
        </p:txBody>
      </p:sp>
      <p:sp>
        <p:nvSpPr>
          <p:cNvPr id="3" name="object 3"/>
          <p:cNvSpPr txBox="1"/>
          <p:nvPr/>
        </p:nvSpPr>
        <p:spPr>
          <a:xfrm>
            <a:off x="1068186" y="1446220"/>
            <a:ext cx="6872661" cy="2447915"/>
          </a:xfrm>
          <a:prstGeom prst="rect">
            <a:avLst/>
          </a:prstGeom>
        </p:spPr>
        <p:txBody>
          <a:bodyPr vert="horz" wrap="square" lIns="0" tIns="10860" rIns="0" bIns="0" rtlCol="0">
            <a:spAutoFit/>
          </a:bodyPr>
          <a:lstStyle/>
          <a:p>
            <a:pPr marL="10860" marR="4344">
              <a:lnSpc>
                <a:spcPct val="115599"/>
              </a:lnSpc>
              <a:spcBef>
                <a:spcPts val="86"/>
              </a:spcBef>
              <a:tabLst>
                <a:tab pos="6529437" algn="l"/>
              </a:tabLst>
            </a:pPr>
            <a:r>
              <a:rPr sz="1539" i="1" dirty="0">
                <a:latin typeface="Times New Roman"/>
                <a:cs typeface="Times New Roman"/>
              </a:rPr>
              <a:t>PAGE</a:t>
            </a:r>
            <a:r>
              <a:rPr sz="1539" i="1" spc="60" dirty="0">
                <a:latin typeface="Times New Roman"/>
                <a:cs typeface="Times New Roman"/>
              </a:rPr>
              <a:t>  </a:t>
            </a:r>
            <a:r>
              <a:rPr sz="1539" i="1" dirty="0">
                <a:latin typeface="Times New Roman"/>
                <a:cs typeface="Times New Roman"/>
              </a:rPr>
              <a:t>Descriptors</a:t>
            </a:r>
            <a:r>
              <a:rPr sz="1539" i="1" spc="291" dirty="0">
                <a:latin typeface="Times New Roman"/>
                <a:cs typeface="Times New Roman"/>
              </a:rPr>
              <a:t> </a:t>
            </a:r>
            <a:r>
              <a:rPr sz="1539" dirty="0">
                <a:latin typeface="Times New Roman"/>
                <a:cs typeface="Times New Roman"/>
              </a:rPr>
              <a:t>are</a:t>
            </a:r>
            <a:r>
              <a:rPr sz="1539" spc="278" dirty="0">
                <a:latin typeface="Times New Roman"/>
                <a:cs typeface="Times New Roman"/>
              </a:rPr>
              <a:t> </a:t>
            </a:r>
            <a:r>
              <a:rPr sz="1539" dirty="0">
                <a:latin typeface="Times New Roman"/>
                <a:cs typeface="Times New Roman"/>
              </a:rPr>
              <a:t>not</a:t>
            </a:r>
            <a:r>
              <a:rPr sz="1539" spc="274" dirty="0">
                <a:latin typeface="Times New Roman"/>
                <a:cs typeface="Times New Roman"/>
              </a:rPr>
              <a:t> </a:t>
            </a:r>
            <a:r>
              <a:rPr sz="1539" dirty="0">
                <a:latin typeface="Times New Roman"/>
                <a:cs typeface="Times New Roman"/>
              </a:rPr>
              <a:t>the</a:t>
            </a:r>
            <a:r>
              <a:rPr sz="1539" spc="274" dirty="0">
                <a:latin typeface="Times New Roman"/>
                <a:cs typeface="Times New Roman"/>
              </a:rPr>
              <a:t> </a:t>
            </a:r>
            <a:r>
              <a:rPr sz="1539" dirty="0">
                <a:latin typeface="Times New Roman"/>
                <a:cs typeface="Times New Roman"/>
              </a:rPr>
              <a:t>unique</a:t>
            </a:r>
            <a:r>
              <a:rPr sz="1539" spc="278" dirty="0">
                <a:latin typeface="Times New Roman"/>
                <a:cs typeface="Times New Roman"/>
              </a:rPr>
              <a:t> </a:t>
            </a:r>
            <a:r>
              <a:rPr sz="1539" dirty="0">
                <a:latin typeface="Times New Roman"/>
                <a:cs typeface="Times New Roman"/>
              </a:rPr>
              <a:t>way</a:t>
            </a:r>
            <a:r>
              <a:rPr sz="1539" spc="274" dirty="0">
                <a:latin typeface="Times New Roman"/>
                <a:cs typeface="Times New Roman"/>
              </a:rPr>
              <a:t> </a:t>
            </a:r>
            <a:r>
              <a:rPr sz="1539" dirty="0">
                <a:latin typeface="Times New Roman"/>
                <a:cs typeface="Times New Roman"/>
              </a:rPr>
              <a:t>of</a:t>
            </a:r>
            <a:r>
              <a:rPr sz="1539" spc="274" dirty="0">
                <a:latin typeface="Times New Roman"/>
                <a:cs typeface="Times New Roman"/>
              </a:rPr>
              <a:t> </a:t>
            </a:r>
            <a:r>
              <a:rPr sz="1539" dirty="0">
                <a:latin typeface="Times New Roman"/>
                <a:cs typeface="Times New Roman"/>
              </a:rPr>
              <a:t>describing</a:t>
            </a:r>
            <a:r>
              <a:rPr sz="1539" spc="278" dirty="0">
                <a:latin typeface="Times New Roman"/>
                <a:cs typeface="Times New Roman"/>
              </a:rPr>
              <a:t> </a:t>
            </a:r>
            <a:r>
              <a:rPr sz="1539" dirty="0">
                <a:latin typeface="Times New Roman"/>
                <a:cs typeface="Times New Roman"/>
              </a:rPr>
              <a:t>intelligent</a:t>
            </a:r>
            <a:r>
              <a:rPr sz="1539" spc="274" dirty="0">
                <a:latin typeface="Times New Roman"/>
                <a:cs typeface="Times New Roman"/>
              </a:rPr>
              <a:t> </a:t>
            </a:r>
            <a:r>
              <a:rPr sz="1539" spc="-9" dirty="0">
                <a:latin typeface="Times New Roman"/>
                <a:cs typeface="Times New Roman"/>
              </a:rPr>
              <a:t>systems.</a:t>
            </a:r>
            <a:r>
              <a:rPr sz="1539" dirty="0">
                <a:latin typeface="Times New Roman"/>
                <a:cs typeface="Times New Roman"/>
              </a:rPr>
              <a:t>	</a:t>
            </a:r>
            <a:r>
              <a:rPr sz="1539" spc="-21" dirty="0">
                <a:latin typeface="Times New Roman"/>
                <a:cs typeface="Times New Roman"/>
              </a:rPr>
              <a:t>One </a:t>
            </a:r>
            <a:r>
              <a:rPr sz="1539" dirty="0">
                <a:latin typeface="Times New Roman"/>
                <a:cs typeface="Times New Roman"/>
              </a:rPr>
              <a:t>popular</a:t>
            </a:r>
            <a:r>
              <a:rPr sz="1539" spc="-38" dirty="0">
                <a:latin typeface="Times New Roman"/>
                <a:cs typeface="Times New Roman"/>
              </a:rPr>
              <a:t> </a:t>
            </a:r>
            <a:r>
              <a:rPr sz="1539" dirty="0">
                <a:latin typeface="Times New Roman"/>
                <a:cs typeface="Times New Roman"/>
              </a:rPr>
              <a:t>alternative</a:t>
            </a:r>
            <a:r>
              <a:rPr sz="1539" spc="-38" dirty="0">
                <a:latin typeface="Times New Roman"/>
                <a:cs typeface="Times New Roman"/>
              </a:rPr>
              <a:t> </a:t>
            </a:r>
            <a:r>
              <a:rPr sz="1539" dirty="0">
                <a:latin typeface="Times New Roman"/>
                <a:cs typeface="Times New Roman"/>
              </a:rPr>
              <a:t>involves</a:t>
            </a:r>
            <a:r>
              <a:rPr sz="1539" spc="-38" dirty="0">
                <a:latin typeface="Times New Roman"/>
                <a:cs typeface="Times New Roman"/>
              </a:rPr>
              <a:t> </a:t>
            </a:r>
            <a:r>
              <a:rPr sz="1539" i="1" dirty="0">
                <a:latin typeface="Times New Roman"/>
                <a:cs typeface="Times New Roman"/>
              </a:rPr>
              <a:t>PEAS</a:t>
            </a:r>
            <a:r>
              <a:rPr sz="1539" i="1" spc="-38" dirty="0">
                <a:latin typeface="Times New Roman"/>
                <a:cs typeface="Times New Roman"/>
              </a:rPr>
              <a:t> </a:t>
            </a:r>
            <a:r>
              <a:rPr sz="1539" i="1" spc="-9" dirty="0">
                <a:latin typeface="Times New Roman"/>
                <a:cs typeface="Times New Roman"/>
              </a:rPr>
              <a:t>Descriptors</a:t>
            </a:r>
            <a:r>
              <a:rPr sz="1539" spc="-9" dirty="0">
                <a:latin typeface="Times New Roman"/>
                <a:cs typeface="Times New Roman"/>
              </a:rPr>
              <a:t>:</a:t>
            </a:r>
            <a:endParaRPr sz="1539" dirty="0">
              <a:latin typeface="Times New Roman"/>
              <a:cs typeface="Times New Roman"/>
            </a:endParaRPr>
          </a:p>
          <a:p>
            <a:pPr marL="242716" marR="1433490">
              <a:lnSpc>
                <a:spcPct val="148900"/>
              </a:lnSpc>
              <a:spcBef>
                <a:spcPts val="368"/>
              </a:spcBef>
              <a:tabLst>
                <a:tab pos="703713" algn="l"/>
              </a:tabLst>
            </a:pPr>
            <a:r>
              <a:rPr sz="1539" spc="-43" dirty="0">
                <a:solidFill>
                  <a:srgbClr val="0000FF"/>
                </a:solidFill>
                <a:latin typeface="Times New Roman"/>
                <a:cs typeface="Times New Roman"/>
              </a:rPr>
              <a:t>P</a:t>
            </a:r>
            <a:r>
              <a:rPr sz="1539" dirty="0">
                <a:solidFill>
                  <a:srgbClr val="0000FF"/>
                </a:solidFill>
                <a:latin typeface="Times New Roman"/>
                <a:cs typeface="Times New Roman"/>
              </a:rPr>
              <a:t>	</a:t>
            </a:r>
            <a:r>
              <a:rPr sz="1539" b="1" dirty="0">
                <a:solidFill>
                  <a:srgbClr val="0000FF"/>
                </a:solidFill>
                <a:latin typeface="Times New Roman"/>
                <a:cs typeface="Times New Roman"/>
              </a:rPr>
              <a:t>Performance</a:t>
            </a:r>
            <a:r>
              <a:rPr sz="1539" b="1" spc="-26" dirty="0">
                <a:solidFill>
                  <a:srgbClr val="0000FF"/>
                </a:solidFill>
                <a:latin typeface="Times New Roman"/>
                <a:cs typeface="Times New Roman"/>
              </a:rPr>
              <a:t> </a:t>
            </a:r>
            <a:r>
              <a:rPr sz="1539" dirty="0">
                <a:latin typeface="Times New Roman"/>
                <a:cs typeface="Times New Roman"/>
              </a:rPr>
              <a:t>–</a:t>
            </a:r>
            <a:r>
              <a:rPr sz="1539" spc="-26" dirty="0">
                <a:latin typeface="Times New Roman"/>
                <a:cs typeface="Times New Roman"/>
              </a:rPr>
              <a:t> </a:t>
            </a:r>
            <a:r>
              <a:rPr sz="1539" dirty="0">
                <a:latin typeface="Times New Roman"/>
                <a:cs typeface="Times New Roman"/>
              </a:rPr>
              <a:t>how</a:t>
            </a:r>
            <a:r>
              <a:rPr sz="1539" spc="-26" dirty="0">
                <a:latin typeface="Times New Roman"/>
                <a:cs typeface="Times New Roman"/>
              </a:rPr>
              <a:t> </a:t>
            </a:r>
            <a:r>
              <a:rPr sz="1539" dirty="0">
                <a:latin typeface="Times New Roman"/>
                <a:cs typeface="Times New Roman"/>
              </a:rPr>
              <a:t>we</a:t>
            </a:r>
            <a:r>
              <a:rPr sz="1539" spc="-26" dirty="0">
                <a:latin typeface="Times New Roman"/>
                <a:cs typeface="Times New Roman"/>
              </a:rPr>
              <a:t> </a:t>
            </a:r>
            <a:r>
              <a:rPr sz="1539" dirty="0">
                <a:latin typeface="Times New Roman"/>
                <a:cs typeface="Times New Roman"/>
              </a:rPr>
              <a:t>measure</a:t>
            </a:r>
            <a:r>
              <a:rPr sz="1539" spc="-21" dirty="0">
                <a:latin typeface="Times New Roman"/>
                <a:cs typeface="Times New Roman"/>
              </a:rPr>
              <a:t> </a:t>
            </a:r>
            <a:r>
              <a:rPr sz="1539" dirty="0">
                <a:latin typeface="Times New Roman"/>
                <a:cs typeface="Times New Roman"/>
              </a:rPr>
              <a:t>the</a:t>
            </a:r>
            <a:r>
              <a:rPr sz="1539" spc="-26" dirty="0">
                <a:latin typeface="Times New Roman"/>
                <a:cs typeface="Times New Roman"/>
              </a:rPr>
              <a:t> </a:t>
            </a:r>
            <a:r>
              <a:rPr sz="1539" dirty="0">
                <a:latin typeface="Times New Roman"/>
                <a:cs typeface="Times New Roman"/>
              </a:rPr>
              <a:t>system’s</a:t>
            </a:r>
            <a:r>
              <a:rPr sz="1539" spc="-26" dirty="0">
                <a:latin typeface="Times New Roman"/>
                <a:cs typeface="Times New Roman"/>
              </a:rPr>
              <a:t> </a:t>
            </a:r>
            <a:r>
              <a:rPr sz="1539" spc="-9" dirty="0">
                <a:latin typeface="Times New Roman"/>
                <a:cs typeface="Times New Roman"/>
              </a:rPr>
              <a:t>achievements </a:t>
            </a:r>
            <a:r>
              <a:rPr sz="1539" spc="-43" dirty="0">
                <a:solidFill>
                  <a:srgbClr val="0000FF"/>
                </a:solidFill>
                <a:latin typeface="Times New Roman"/>
                <a:cs typeface="Times New Roman"/>
              </a:rPr>
              <a:t>E</a:t>
            </a:r>
            <a:r>
              <a:rPr sz="1539" dirty="0">
                <a:solidFill>
                  <a:srgbClr val="0000FF"/>
                </a:solidFill>
                <a:latin typeface="Times New Roman"/>
                <a:cs typeface="Times New Roman"/>
              </a:rPr>
              <a:t>	</a:t>
            </a:r>
            <a:r>
              <a:rPr sz="1539" b="1" dirty="0">
                <a:solidFill>
                  <a:srgbClr val="0000FF"/>
                </a:solidFill>
                <a:latin typeface="Times New Roman"/>
                <a:cs typeface="Times New Roman"/>
              </a:rPr>
              <a:t>Environment</a:t>
            </a:r>
            <a:r>
              <a:rPr sz="1539" b="1" spc="-21" dirty="0">
                <a:solidFill>
                  <a:srgbClr val="0000FF"/>
                </a:solidFill>
                <a:latin typeface="Times New Roman"/>
                <a:cs typeface="Times New Roman"/>
              </a:rPr>
              <a:t> </a:t>
            </a:r>
            <a:r>
              <a:rPr sz="1539" dirty="0">
                <a:latin typeface="Times New Roman"/>
                <a:cs typeface="Times New Roman"/>
              </a:rPr>
              <a:t>–</a:t>
            </a:r>
            <a:r>
              <a:rPr sz="1539" spc="-21" dirty="0">
                <a:latin typeface="Times New Roman"/>
                <a:cs typeface="Times New Roman"/>
              </a:rPr>
              <a:t> </a:t>
            </a:r>
            <a:r>
              <a:rPr sz="1539" dirty="0">
                <a:latin typeface="Times New Roman"/>
                <a:cs typeface="Times New Roman"/>
              </a:rPr>
              <a:t>what</a:t>
            </a:r>
            <a:r>
              <a:rPr sz="1539" spc="-21" dirty="0">
                <a:latin typeface="Times New Roman"/>
                <a:cs typeface="Times New Roman"/>
              </a:rPr>
              <a:t> </a:t>
            </a:r>
            <a:r>
              <a:rPr sz="1539" dirty="0">
                <a:latin typeface="Times New Roman"/>
                <a:cs typeface="Times New Roman"/>
              </a:rPr>
              <a:t>the</a:t>
            </a:r>
            <a:r>
              <a:rPr sz="1539" spc="-21" dirty="0">
                <a:latin typeface="Times New Roman"/>
                <a:cs typeface="Times New Roman"/>
              </a:rPr>
              <a:t> </a:t>
            </a:r>
            <a:r>
              <a:rPr sz="1539" dirty="0">
                <a:latin typeface="Times New Roman"/>
                <a:cs typeface="Times New Roman"/>
              </a:rPr>
              <a:t>agent</a:t>
            </a:r>
            <a:r>
              <a:rPr sz="1539" spc="-21" dirty="0">
                <a:latin typeface="Times New Roman"/>
                <a:cs typeface="Times New Roman"/>
              </a:rPr>
              <a:t> </a:t>
            </a:r>
            <a:r>
              <a:rPr sz="1539" dirty="0">
                <a:latin typeface="Times New Roman"/>
                <a:cs typeface="Times New Roman"/>
              </a:rPr>
              <a:t>is</a:t>
            </a:r>
            <a:r>
              <a:rPr sz="1539" spc="-21" dirty="0">
                <a:latin typeface="Times New Roman"/>
                <a:cs typeface="Times New Roman"/>
              </a:rPr>
              <a:t> </a:t>
            </a:r>
            <a:r>
              <a:rPr sz="1539" dirty="0">
                <a:latin typeface="Times New Roman"/>
                <a:cs typeface="Times New Roman"/>
              </a:rPr>
              <a:t>interacting</a:t>
            </a:r>
            <a:r>
              <a:rPr sz="1539" spc="-21" dirty="0">
                <a:latin typeface="Times New Roman"/>
                <a:cs typeface="Times New Roman"/>
              </a:rPr>
              <a:t> </a:t>
            </a:r>
            <a:r>
              <a:rPr sz="1539" spc="-17" dirty="0">
                <a:latin typeface="Times New Roman"/>
                <a:cs typeface="Times New Roman"/>
              </a:rPr>
              <a:t>with</a:t>
            </a:r>
            <a:endParaRPr sz="1539" dirty="0">
              <a:latin typeface="Times New Roman"/>
              <a:cs typeface="Times New Roman"/>
            </a:endParaRPr>
          </a:p>
          <a:p>
            <a:pPr marL="242716" marR="2001456">
              <a:lnSpc>
                <a:spcPct val="147800"/>
              </a:lnSpc>
              <a:tabLst>
                <a:tab pos="703713" algn="l"/>
              </a:tabLst>
            </a:pPr>
            <a:r>
              <a:rPr sz="1539" spc="-43" dirty="0">
                <a:solidFill>
                  <a:srgbClr val="0000FF"/>
                </a:solidFill>
                <a:latin typeface="Times New Roman"/>
                <a:cs typeface="Times New Roman"/>
              </a:rPr>
              <a:t>A</a:t>
            </a:r>
            <a:r>
              <a:rPr sz="1539" dirty="0">
                <a:solidFill>
                  <a:srgbClr val="0000FF"/>
                </a:solidFill>
                <a:latin typeface="Times New Roman"/>
                <a:cs typeface="Times New Roman"/>
              </a:rPr>
              <a:t>	</a:t>
            </a:r>
            <a:r>
              <a:rPr sz="1539" b="1" dirty="0">
                <a:solidFill>
                  <a:srgbClr val="0000FF"/>
                </a:solidFill>
                <a:latin typeface="Times New Roman"/>
                <a:cs typeface="Times New Roman"/>
              </a:rPr>
              <a:t>Actuators</a:t>
            </a:r>
            <a:r>
              <a:rPr sz="1539" b="1" spc="-21" dirty="0">
                <a:solidFill>
                  <a:srgbClr val="0000FF"/>
                </a:solidFill>
                <a:latin typeface="Times New Roman"/>
                <a:cs typeface="Times New Roman"/>
              </a:rPr>
              <a:t> </a:t>
            </a:r>
            <a:r>
              <a:rPr sz="1539" dirty="0">
                <a:latin typeface="Times New Roman"/>
                <a:cs typeface="Times New Roman"/>
              </a:rPr>
              <a:t>–</a:t>
            </a:r>
            <a:r>
              <a:rPr sz="1539" spc="-26" dirty="0">
                <a:latin typeface="Times New Roman"/>
                <a:cs typeface="Times New Roman"/>
              </a:rPr>
              <a:t> </a:t>
            </a:r>
            <a:r>
              <a:rPr sz="1539" dirty="0">
                <a:latin typeface="Times New Roman"/>
                <a:cs typeface="Times New Roman"/>
              </a:rPr>
              <a:t>what</a:t>
            </a:r>
            <a:r>
              <a:rPr sz="1539" spc="-26" dirty="0">
                <a:latin typeface="Times New Roman"/>
                <a:cs typeface="Times New Roman"/>
              </a:rPr>
              <a:t> </a:t>
            </a:r>
            <a:r>
              <a:rPr sz="1539" dirty="0">
                <a:latin typeface="Times New Roman"/>
                <a:cs typeface="Times New Roman"/>
              </a:rPr>
              <a:t>produces</a:t>
            </a:r>
            <a:r>
              <a:rPr sz="1539" spc="-26" dirty="0">
                <a:latin typeface="Times New Roman"/>
                <a:cs typeface="Times New Roman"/>
              </a:rPr>
              <a:t> </a:t>
            </a:r>
            <a:r>
              <a:rPr sz="1539" dirty="0">
                <a:latin typeface="Times New Roman"/>
                <a:cs typeface="Times New Roman"/>
              </a:rPr>
              <a:t>the</a:t>
            </a:r>
            <a:r>
              <a:rPr sz="1539" spc="-26" dirty="0">
                <a:latin typeface="Times New Roman"/>
                <a:cs typeface="Times New Roman"/>
              </a:rPr>
              <a:t> </a:t>
            </a:r>
            <a:r>
              <a:rPr sz="1539" dirty="0">
                <a:latin typeface="Times New Roman"/>
                <a:cs typeface="Times New Roman"/>
              </a:rPr>
              <a:t>outputs</a:t>
            </a:r>
            <a:r>
              <a:rPr sz="1539" spc="-26" dirty="0">
                <a:latin typeface="Times New Roman"/>
                <a:cs typeface="Times New Roman"/>
              </a:rPr>
              <a:t> </a:t>
            </a:r>
            <a:r>
              <a:rPr sz="1539" dirty="0">
                <a:latin typeface="Times New Roman"/>
                <a:cs typeface="Times New Roman"/>
              </a:rPr>
              <a:t>of</a:t>
            </a:r>
            <a:r>
              <a:rPr sz="1539" spc="-26" dirty="0">
                <a:latin typeface="Times New Roman"/>
                <a:cs typeface="Times New Roman"/>
              </a:rPr>
              <a:t> </a:t>
            </a:r>
            <a:r>
              <a:rPr sz="1539" dirty="0">
                <a:latin typeface="Times New Roman"/>
                <a:cs typeface="Times New Roman"/>
              </a:rPr>
              <a:t>the</a:t>
            </a:r>
            <a:r>
              <a:rPr sz="1539" spc="-21" dirty="0">
                <a:latin typeface="Times New Roman"/>
                <a:cs typeface="Times New Roman"/>
              </a:rPr>
              <a:t> </a:t>
            </a:r>
            <a:r>
              <a:rPr sz="1539" spc="-9" dirty="0">
                <a:latin typeface="Times New Roman"/>
                <a:cs typeface="Times New Roman"/>
              </a:rPr>
              <a:t>system </a:t>
            </a:r>
            <a:r>
              <a:rPr sz="1539" spc="-43" dirty="0">
                <a:solidFill>
                  <a:srgbClr val="0000FF"/>
                </a:solidFill>
                <a:latin typeface="Times New Roman"/>
                <a:cs typeface="Times New Roman"/>
              </a:rPr>
              <a:t>S</a:t>
            </a:r>
            <a:r>
              <a:rPr sz="1539" dirty="0">
                <a:solidFill>
                  <a:srgbClr val="0000FF"/>
                </a:solidFill>
                <a:latin typeface="Times New Roman"/>
                <a:cs typeface="Times New Roman"/>
              </a:rPr>
              <a:t>	</a:t>
            </a:r>
            <a:r>
              <a:rPr sz="1539" b="1" dirty="0">
                <a:solidFill>
                  <a:srgbClr val="0000FF"/>
                </a:solidFill>
                <a:latin typeface="Times New Roman"/>
                <a:cs typeface="Times New Roman"/>
              </a:rPr>
              <a:t>Sensors</a:t>
            </a:r>
            <a:r>
              <a:rPr sz="1539" b="1" spc="-17" dirty="0">
                <a:solidFill>
                  <a:srgbClr val="0000FF"/>
                </a:solidFill>
                <a:latin typeface="Times New Roman"/>
                <a:cs typeface="Times New Roman"/>
              </a:rPr>
              <a:t> </a:t>
            </a:r>
            <a:r>
              <a:rPr sz="1539" dirty="0">
                <a:latin typeface="Times New Roman"/>
                <a:cs typeface="Times New Roman"/>
              </a:rPr>
              <a:t>–</a:t>
            </a:r>
            <a:r>
              <a:rPr sz="1539" spc="-17" dirty="0">
                <a:latin typeface="Times New Roman"/>
                <a:cs typeface="Times New Roman"/>
              </a:rPr>
              <a:t> </a:t>
            </a:r>
            <a:r>
              <a:rPr sz="1539" dirty="0">
                <a:latin typeface="Times New Roman"/>
                <a:cs typeface="Times New Roman"/>
              </a:rPr>
              <a:t>what</a:t>
            </a:r>
            <a:r>
              <a:rPr sz="1539" spc="-13" dirty="0">
                <a:latin typeface="Times New Roman"/>
                <a:cs typeface="Times New Roman"/>
              </a:rPr>
              <a:t> </a:t>
            </a:r>
            <a:r>
              <a:rPr sz="1539" dirty="0">
                <a:latin typeface="Times New Roman"/>
                <a:cs typeface="Times New Roman"/>
              </a:rPr>
              <a:t>provides</a:t>
            </a:r>
            <a:r>
              <a:rPr sz="1539" spc="-17" dirty="0">
                <a:latin typeface="Times New Roman"/>
                <a:cs typeface="Times New Roman"/>
              </a:rPr>
              <a:t> </a:t>
            </a:r>
            <a:r>
              <a:rPr sz="1539" dirty="0">
                <a:latin typeface="Times New Roman"/>
                <a:cs typeface="Times New Roman"/>
              </a:rPr>
              <a:t>the</a:t>
            </a:r>
            <a:r>
              <a:rPr sz="1539" spc="-13" dirty="0">
                <a:latin typeface="Times New Roman"/>
                <a:cs typeface="Times New Roman"/>
              </a:rPr>
              <a:t> </a:t>
            </a:r>
            <a:r>
              <a:rPr sz="1539" dirty="0">
                <a:latin typeface="Times New Roman"/>
                <a:cs typeface="Times New Roman"/>
              </a:rPr>
              <a:t>inputs</a:t>
            </a:r>
            <a:r>
              <a:rPr sz="1539" spc="-17" dirty="0">
                <a:latin typeface="Times New Roman"/>
                <a:cs typeface="Times New Roman"/>
              </a:rPr>
              <a:t> </a:t>
            </a:r>
            <a:r>
              <a:rPr sz="1539" dirty="0">
                <a:latin typeface="Times New Roman"/>
                <a:cs typeface="Times New Roman"/>
              </a:rPr>
              <a:t>to</a:t>
            </a:r>
            <a:r>
              <a:rPr sz="1539" spc="-13" dirty="0">
                <a:latin typeface="Times New Roman"/>
                <a:cs typeface="Times New Roman"/>
              </a:rPr>
              <a:t> </a:t>
            </a:r>
            <a:r>
              <a:rPr sz="1539" dirty="0">
                <a:latin typeface="Times New Roman"/>
                <a:cs typeface="Times New Roman"/>
              </a:rPr>
              <a:t>the</a:t>
            </a:r>
            <a:r>
              <a:rPr sz="1539" spc="-17" dirty="0">
                <a:latin typeface="Times New Roman"/>
                <a:cs typeface="Times New Roman"/>
              </a:rPr>
              <a:t> </a:t>
            </a:r>
            <a:r>
              <a:rPr sz="1539" spc="-9" dirty="0">
                <a:latin typeface="Times New Roman"/>
                <a:cs typeface="Times New Roman"/>
              </a:rPr>
              <a:t>system</a:t>
            </a:r>
            <a:endParaRPr sz="1539" dirty="0">
              <a:latin typeface="Times New Roman"/>
              <a:cs typeface="Times New Roman"/>
            </a:endParaRPr>
          </a:p>
          <a:p>
            <a:pPr marL="10860">
              <a:spcBef>
                <a:spcPts val="1539"/>
              </a:spcBef>
            </a:pPr>
            <a:r>
              <a:rPr sz="1539" dirty="0">
                <a:latin typeface="Times New Roman"/>
                <a:cs typeface="Times New Roman"/>
              </a:rPr>
              <a:t>We</a:t>
            </a:r>
            <a:r>
              <a:rPr sz="1539" spc="-26" dirty="0">
                <a:latin typeface="Times New Roman"/>
                <a:cs typeface="Times New Roman"/>
              </a:rPr>
              <a:t> </a:t>
            </a:r>
            <a:r>
              <a:rPr sz="1539" dirty="0">
                <a:latin typeface="Times New Roman"/>
                <a:cs typeface="Times New Roman"/>
              </a:rPr>
              <a:t>can</a:t>
            </a:r>
            <a:r>
              <a:rPr sz="1539" spc="-26" dirty="0">
                <a:latin typeface="Times New Roman"/>
                <a:cs typeface="Times New Roman"/>
              </a:rPr>
              <a:t> </a:t>
            </a:r>
            <a:r>
              <a:rPr sz="1539" dirty="0">
                <a:latin typeface="Times New Roman"/>
                <a:cs typeface="Times New Roman"/>
              </a:rPr>
              <a:t>see</a:t>
            </a:r>
            <a:r>
              <a:rPr sz="1539" spc="-26" dirty="0">
                <a:latin typeface="Times New Roman"/>
                <a:cs typeface="Times New Roman"/>
              </a:rPr>
              <a:t> </a:t>
            </a:r>
            <a:r>
              <a:rPr sz="1539" dirty="0">
                <a:latin typeface="Times New Roman"/>
                <a:cs typeface="Times New Roman"/>
              </a:rPr>
              <a:t>that</a:t>
            </a:r>
            <a:r>
              <a:rPr sz="1539" spc="-21" dirty="0">
                <a:latin typeface="Times New Roman"/>
                <a:cs typeface="Times New Roman"/>
              </a:rPr>
              <a:t> </a:t>
            </a:r>
            <a:r>
              <a:rPr sz="1539" dirty="0">
                <a:latin typeface="Times New Roman"/>
                <a:cs typeface="Times New Roman"/>
              </a:rPr>
              <a:t>there</a:t>
            </a:r>
            <a:r>
              <a:rPr sz="1539" spc="-26" dirty="0">
                <a:latin typeface="Times New Roman"/>
                <a:cs typeface="Times New Roman"/>
              </a:rPr>
              <a:t> </a:t>
            </a:r>
            <a:r>
              <a:rPr sz="1539" dirty="0">
                <a:latin typeface="Times New Roman"/>
                <a:cs typeface="Times New Roman"/>
              </a:rPr>
              <a:t>is</a:t>
            </a:r>
            <a:r>
              <a:rPr sz="1539" spc="-26" dirty="0">
                <a:latin typeface="Times New Roman"/>
                <a:cs typeface="Times New Roman"/>
              </a:rPr>
              <a:t> </a:t>
            </a:r>
            <a:r>
              <a:rPr sz="1539" dirty="0">
                <a:latin typeface="Times New Roman"/>
                <a:cs typeface="Times New Roman"/>
              </a:rPr>
              <a:t>a</a:t>
            </a:r>
            <a:r>
              <a:rPr sz="1539" spc="-21" dirty="0">
                <a:latin typeface="Times New Roman"/>
                <a:cs typeface="Times New Roman"/>
              </a:rPr>
              <a:t> </a:t>
            </a:r>
            <a:r>
              <a:rPr sz="1539" dirty="0">
                <a:latin typeface="Times New Roman"/>
                <a:cs typeface="Times New Roman"/>
              </a:rPr>
              <a:t>clear</a:t>
            </a:r>
            <a:r>
              <a:rPr sz="1539" spc="-26" dirty="0">
                <a:latin typeface="Times New Roman"/>
                <a:cs typeface="Times New Roman"/>
              </a:rPr>
              <a:t> </a:t>
            </a:r>
            <a:r>
              <a:rPr sz="1539" dirty="0">
                <a:latin typeface="Times New Roman"/>
                <a:cs typeface="Times New Roman"/>
              </a:rPr>
              <a:t>and</a:t>
            </a:r>
            <a:r>
              <a:rPr sz="1539" spc="-26" dirty="0">
                <a:latin typeface="Times New Roman"/>
                <a:cs typeface="Times New Roman"/>
              </a:rPr>
              <a:t> </a:t>
            </a:r>
            <a:r>
              <a:rPr sz="1539" dirty="0">
                <a:latin typeface="Times New Roman"/>
                <a:cs typeface="Times New Roman"/>
              </a:rPr>
              <a:t>simple</a:t>
            </a:r>
            <a:r>
              <a:rPr sz="1539" spc="-26" dirty="0">
                <a:latin typeface="Times New Roman"/>
                <a:cs typeface="Times New Roman"/>
              </a:rPr>
              <a:t> </a:t>
            </a:r>
            <a:r>
              <a:rPr sz="1539" dirty="0">
                <a:latin typeface="Times New Roman"/>
                <a:cs typeface="Times New Roman"/>
              </a:rPr>
              <a:t>mapping</a:t>
            </a:r>
            <a:r>
              <a:rPr sz="1539" spc="-21" dirty="0">
                <a:latin typeface="Times New Roman"/>
                <a:cs typeface="Times New Roman"/>
              </a:rPr>
              <a:t> </a:t>
            </a:r>
            <a:r>
              <a:rPr sz="1539" dirty="0">
                <a:latin typeface="Times New Roman"/>
                <a:cs typeface="Times New Roman"/>
              </a:rPr>
              <a:t>between</a:t>
            </a:r>
            <a:r>
              <a:rPr sz="1539" spc="-26" dirty="0">
                <a:latin typeface="Times New Roman"/>
                <a:cs typeface="Times New Roman"/>
              </a:rPr>
              <a:t> </a:t>
            </a:r>
            <a:r>
              <a:rPr sz="1539" i="1" dirty="0">
                <a:latin typeface="Times New Roman"/>
                <a:cs typeface="Times New Roman"/>
              </a:rPr>
              <a:t>PAGE</a:t>
            </a:r>
            <a:r>
              <a:rPr sz="1539" i="1" spc="-21" dirty="0">
                <a:latin typeface="Times New Roman"/>
                <a:cs typeface="Times New Roman"/>
              </a:rPr>
              <a:t> </a:t>
            </a:r>
            <a:r>
              <a:rPr sz="1539" dirty="0">
                <a:latin typeface="Times New Roman"/>
                <a:cs typeface="Times New Roman"/>
              </a:rPr>
              <a:t>and</a:t>
            </a:r>
            <a:r>
              <a:rPr sz="1539" spc="-17" dirty="0">
                <a:latin typeface="Times New Roman"/>
                <a:cs typeface="Times New Roman"/>
              </a:rPr>
              <a:t> </a:t>
            </a:r>
            <a:r>
              <a:rPr sz="1539" i="1" spc="-9" dirty="0">
                <a:latin typeface="Times New Roman"/>
                <a:cs typeface="Times New Roman"/>
              </a:rPr>
              <a:t>PEAS</a:t>
            </a:r>
            <a:r>
              <a:rPr sz="1539" spc="-9" dirty="0">
                <a:latin typeface="Times New Roman"/>
                <a:cs typeface="Times New Roman"/>
              </a:rPr>
              <a:t>:</a:t>
            </a:r>
            <a:endParaRPr sz="1539" dirty="0">
              <a:latin typeface="Times New Roman"/>
              <a:cs typeface="Times New Roman"/>
            </a:endParaRPr>
          </a:p>
        </p:txBody>
      </p:sp>
      <p:sp>
        <p:nvSpPr>
          <p:cNvPr id="4" name="object 4"/>
          <p:cNvSpPr txBox="1"/>
          <p:nvPr/>
        </p:nvSpPr>
        <p:spPr>
          <a:xfrm>
            <a:off x="2144615" y="4018702"/>
            <a:ext cx="1129968" cy="1381919"/>
          </a:xfrm>
          <a:prstGeom prst="rect">
            <a:avLst/>
          </a:prstGeom>
        </p:spPr>
        <p:txBody>
          <a:bodyPr vert="horz" wrap="square" lIns="0" tIns="10860" rIns="0" bIns="0" rtlCol="0">
            <a:spAutoFit/>
          </a:bodyPr>
          <a:lstStyle/>
          <a:p>
            <a:pPr marL="13032">
              <a:spcBef>
                <a:spcPts val="86"/>
              </a:spcBef>
            </a:pPr>
            <a:r>
              <a:rPr sz="1539" b="1" spc="-9" dirty="0">
                <a:solidFill>
                  <a:srgbClr val="0000FF"/>
                </a:solidFill>
                <a:latin typeface="Times New Roman"/>
                <a:cs typeface="Times New Roman"/>
              </a:rPr>
              <a:t>Performance</a:t>
            </a:r>
            <a:endParaRPr sz="1539">
              <a:latin typeface="Times New Roman"/>
              <a:cs typeface="Times New Roman"/>
            </a:endParaRPr>
          </a:p>
          <a:p>
            <a:pPr marL="10860" marR="4344">
              <a:lnSpc>
                <a:spcPct val="166700"/>
              </a:lnSpc>
            </a:pPr>
            <a:r>
              <a:rPr sz="1539" b="1" spc="-9" dirty="0">
                <a:solidFill>
                  <a:srgbClr val="0000FF"/>
                </a:solidFill>
                <a:latin typeface="Times New Roman"/>
                <a:cs typeface="Times New Roman"/>
              </a:rPr>
              <a:t>Environment Actuators Sensors</a:t>
            </a:r>
            <a:endParaRPr sz="1539">
              <a:latin typeface="Times New Roman"/>
              <a:cs typeface="Times New Roman"/>
            </a:endParaRPr>
          </a:p>
        </p:txBody>
      </p:sp>
      <p:sp>
        <p:nvSpPr>
          <p:cNvPr id="5" name="object 5"/>
          <p:cNvSpPr txBox="1"/>
          <p:nvPr/>
        </p:nvSpPr>
        <p:spPr>
          <a:xfrm>
            <a:off x="4917787" y="4018702"/>
            <a:ext cx="1129968" cy="1381919"/>
          </a:xfrm>
          <a:prstGeom prst="rect">
            <a:avLst/>
          </a:prstGeom>
        </p:spPr>
        <p:txBody>
          <a:bodyPr vert="horz" wrap="square" lIns="0" tIns="10860" rIns="0" bIns="0" rtlCol="0">
            <a:spAutoFit/>
          </a:bodyPr>
          <a:lstStyle/>
          <a:p>
            <a:pPr marL="10860">
              <a:spcBef>
                <a:spcPts val="86"/>
              </a:spcBef>
            </a:pPr>
            <a:r>
              <a:rPr sz="1539" b="1" spc="-9" dirty="0">
                <a:solidFill>
                  <a:srgbClr val="0000FF"/>
                </a:solidFill>
                <a:latin typeface="Times New Roman"/>
                <a:cs typeface="Times New Roman"/>
              </a:rPr>
              <a:t>Pecepts</a:t>
            </a:r>
            <a:endParaRPr sz="1539">
              <a:latin typeface="Times New Roman"/>
              <a:cs typeface="Times New Roman"/>
            </a:endParaRPr>
          </a:p>
          <a:p>
            <a:pPr marL="10860" marR="4344">
              <a:lnSpc>
                <a:spcPct val="166700"/>
              </a:lnSpc>
            </a:pPr>
            <a:r>
              <a:rPr sz="1539" b="1" spc="-9" dirty="0">
                <a:solidFill>
                  <a:srgbClr val="0000FF"/>
                </a:solidFill>
                <a:latin typeface="Times New Roman"/>
                <a:cs typeface="Times New Roman"/>
              </a:rPr>
              <a:t>Actions Goals Environment</a:t>
            </a:r>
            <a:endParaRPr sz="1539">
              <a:latin typeface="Times New Roman"/>
              <a:cs typeface="Times New Roman"/>
            </a:endParaRPr>
          </a:p>
        </p:txBody>
      </p:sp>
      <p:sp>
        <p:nvSpPr>
          <p:cNvPr id="6" name="object 6"/>
          <p:cNvSpPr txBox="1"/>
          <p:nvPr/>
        </p:nvSpPr>
        <p:spPr>
          <a:xfrm>
            <a:off x="1068186" y="5574702"/>
            <a:ext cx="5766041" cy="247826"/>
          </a:xfrm>
          <a:prstGeom prst="rect">
            <a:avLst/>
          </a:prstGeom>
        </p:spPr>
        <p:txBody>
          <a:bodyPr vert="horz" wrap="square" lIns="0" tIns="10860" rIns="0" bIns="0" rtlCol="0">
            <a:spAutoFit/>
          </a:bodyPr>
          <a:lstStyle/>
          <a:p>
            <a:pPr marL="10860">
              <a:spcBef>
                <a:spcPts val="86"/>
              </a:spcBef>
            </a:pPr>
            <a:r>
              <a:rPr sz="1539" dirty="0">
                <a:latin typeface="Times New Roman"/>
                <a:cs typeface="Times New Roman"/>
              </a:rPr>
              <a:t>Which</a:t>
            </a:r>
            <a:r>
              <a:rPr sz="1539" spc="-30" dirty="0">
                <a:latin typeface="Times New Roman"/>
                <a:cs typeface="Times New Roman"/>
              </a:rPr>
              <a:t> </a:t>
            </a:r>
            <a:r>
              <a:rPr sz="1539" dirty="0">
                <a:latin typeface="Times New Roman"/>
                <a:cs typeface="Times New Roman"/>
              </a:rPr>
              <a:t>descriptors</a:t>
            </a:r>
            <a:r>
              <a:rPr sz="1539" spc="-30" dirty="0">
                <a:latin typeface="Times New Roman"/>
                <a:cs typeface="Times New Roman"/>
              </a:rPr>
              <a:t> </a:t>
            </a:r>
            <a:r>
              <a:rPr sz="1539" dirty="0">
                <a:latin typeface="Times New Roman"/>
                <a:cs typeface="Times New Roman"/>
              </a:rPr>
              <a:t>we</a:t>
            </a:r>
            <a:r>
              <a:rPr sz="1539" spc="-30" dirty="0">
                <a:latin typeface="Times New Roman"/>
                <a:cs typeface="Times New Roman"/>
              </a:rPr>
              <a:t> </a:t>
            </a:r>
            <a:r>
              <a:rPr sz="1539" dirty="0">
                <a:latin typeface="Times New Roman"/>
                <a:cs typeface="Times New Roman"/>
              </a:rPr>
              <a:t>use</a:t>
            </a:r>
            <a:r>
              <a:rPr sz="1539" spc="-26" dirty="0">
                <a:latin typeface="Times New Roman"/>
                <a:cs typeface="Times New Roman"/>
              </a:rPr>
              <a:t> </a:t>
            </a:r>
            <a:r>
              <a:rPr sz="1539" dirty="0">
                <a:latin typeface="Times New Roman"/>
                <a:cs typeface="Times New Roman"/>
              </a:rPr>
              <a:t>makes</a:t>
            </a:r>
            <a:r>
              <a:rPr sz="1539" spc="-30" dirty="0">
                <a:latin typeface="Times New Roman"/>
                <a:cs typeface="Times New Roman"/>
              </a:rPr>
              <a:t> </a:t>
            </a:r>
            <a:r>
              <a:rPr sz="1539" dirty="0">
                <a:latin typeface="Times New Roman"/>
                <a:cs typeface="Times New Roman"/>
              </a:rPr>
              <a:t>little</a:t>
            </a:r>
            <a:r>
              <a:rPr sz="1539" spc="-30" dirty="0">
                <a:latin typeface="Times New Roman"/>
                <a:cs typeface="Times New Roman"/>
              </a:rPr>
              <a:t> </a:t>
            </a:r>
            <a:r>
              <a:rPr sz="1539" dirty="0">
                <a:latin typeface="Times New Roman"/>
                <a:cs typeface="Times New Roman"/>
              </a:rPr>
              <a:t>difference</a:t>
            </a:r>
            <a:r>
              <a:rPr sz="1539" spc="-26" dirty="0">
                <a:latin typeface="Times New Roman"/>
                <a:cs typeface="Times New Roman"/>
              </a:rPr>
              <a:t> </a:t>
            </a:r>
            <a:r>
              <a:rPr sz="1539" dirty="0">
                <a:latin typeface="Times New Roman"/>
                <a:cs typeface="Times New Roman"/>
              </a:rPr>
              <a:t>to</a:t>
            </a:r>
            <a:r>
              <a:rPr sz="1539" spc="-30" dirty="0">
                <a:latin typeface="Times New Roman"/>
                <a:cs typeface="Times New Roman"/>
              </a:rPr>
              <a:t> </a:t>
            </a:r>
            <a:r>
              <a:rPr sz="1539" dirty="0">
                <a:latin typeface="Times New Roman"/>
                <a:cs typeface="Times New Roman"/>
              </a:rPr>
              <a:t>the</a:t>
            </a:r>
            <a:r>
              <a:rPr sz="1539" spc="-30" dirty="0">
                <a:latin typeface="Times New Roman"/>
                <a:cs typeface="Times New Roman"/>
              </a:rPr>
              <a:t> </a:t>
            </a:r>
            <a:r>
              <a:rPr sz="1539" dirty="0">
                <a:latin typeface="Times New Roman"/>
                <a:cs typeface="Times New Roman"/>
              </a:rPr>
              <a:t>systems</a:t>
            </a:r>
            <a:r>
              <a:rPr sz="1539" spc="-26" dirty="0">
                <a:latin typeface="Times New Roman"/>
                <a:cs typeface="Times New Roman"/>
              </a:rPr>
              <a:t> </a:t>
            </a:r>
            <a:r>
              <a:rPr sz="1539" dirty="0">
                <a:latin typeface="Times New Roman"/>
                <a:cs typeface="Times New Roman"/>
              </a:rPr>
              <a:t>we</a:t>
            </a:r>
            <a:r>
              <a:rPr sz="1539" spc="-30" dirty="0">
                <a:latin typeface="Times New Roman"/>
                <a:cs typeface="Times New Roman"/>
              </a:rPr>
              <a:t> </a:t>
            </a:r>
            <a:r>
              <a:rPr sz="1539" spc="-9" dirty="0">
                <a:latin typeface="Times New Roman"/>
                <a:cs typeface="Times New Roman"/>
              </a:rPr>
              <a:t>build.</a:t>
            </a:r>
            <a:endParaRPr sz="1539">
              <a:latin typeface="Times New Roman"/>
              <a:cs typeface="Times New Roman"/>
            </a:endParaRPr>
          </a:p>
        </p:txBody>
      </p:sp>
      <p:sp>
        <p:nvSpPr>
          <p:cNvPr id="7" name="object 7"/>
          <p:cNvSpPr/>
          <p:nvPr/>
        </p:nvSpPr>
        <p:spPr>
          <a:xfrm>
            <a:off x="2848768" y="4162496"/>
            <a:ext cx="1991698" cy="1198928"/>
          </a:xfrm>
          <a:custGeom>
            <a:avLst/>
            <a:gdLst/>
            <a:ahLst/>
            <a:cxnLst/>
            <a:rect l="l" t="t" r="r" b="b"/>
            <a:pathLst>
              <a:path w="2329179" h="1402079">
                <a:moveTo>
                  <a:pt x="676656" y="481584"/>
                </a:moveTo>
                <a:lnTo>
                  <a:pt x="548640" y="484632"/>
                </a:lnTo>
                <a:lnTo>
                  <a:pt x="627888" y="585216"/>
                </a:lnTo>
                <a:lnTo>
                  <a:pt x="676656" y="481584"/>
                </a:lnTo>
                <a:close/>
              </a:path>
              <a:path w="2329179" h="1402079">
                <a:moveTo>
                  <a:pt x="676656" y="24384"/>
                </a:moveTo>
                <a:lnTo>
                  <a:pt x="548640" y="27432"/>
                </a:lnTo>
                <a:lnTo>
                  <a:pt x="627888" y="128016"/>
                </a:lnTo>
                <a:lnTo>
                  <a:pt x="676656" y="24384"/>
                </a:lnTo>
                <a:close/>
              </a:path>
              <a:path w="2329179" h="1402079">
                <a:moveTo>
                  <a:pt x="2328672" y="445008"/>
                </a:moveTo>
                <a:lnTo>
                  <a:pt x="2203704" y="414528"/>
                </a:lnTo>
                <a:lnTo>
                  <a:pt x="2214473" y="464388"/>
                </a:lnTo>
                <a:lnTo>
                  <a:pt x="1699539" y="590130"/>
                </a:lnTo>
                <a:lnTo>
                  <a:pt x="1674901" y="577862"/>
                </a:lnTo>
                <a:lnTo>
                  <a:pt x="1674901" y="596150"/>
                </a:lnTo>
                <a:lnTo>
                  <a:pt x="1126540" y="730059"/>
                </a:lnTo>
                <a:lnTo>
                  <a:pt x="1495082" y="506603"/>
                </a:lnTo>
                <a:lnTo>
                  <a:pt x="1674901" y="596150"/>
                </a:lnTo>
                <a:lnTo>
                  <a:pt x="1674901" y="577862"/>
                </a:lnTo>
                <a:lnTo>
                  <a:pt x="1511630" y="496557"/>
                </a:lnTo>
                <a:lnTo>
                  <a:pt x="2221331" y="66255"/>
                </a:lnTo>
                <a:lnTo>
                  <a:pt x="2246376" y="109728"/>
                </a:lnTo>
                <a:lnTo>
                  <a:pt x="2316480" y="0"/>
                </a:lnTo>
                <a:lnTo>
                  <a:pt x="2188464" y="9144"/>
                </a:lnTo>
                <a:lnTo>
                  <a:pt x="2213762" y="53111"/>
                </a:lnTo>
                <a:lnTo>
                  <a:pt x="1495577" y="488569"/>
                </a:lnTo>
                <a:lnTo>
                  <a:pt x="655320" y="70104"/>
                </a:lnTo>
                <a:lnTo>
                  <a:pt x="649224" y="85344"/>
                </a:lnTo>
                <a:lnTo>
                  <a:pt x="1479016" y="498602"/>
                </a:lnTo>
                <a:lnTo>
                  <a:pt x="1082306" y="739140"/>
                </a:lnTo>
                <a:lnTo>
                  <a:pt x="655320" y="527304"/>
                </a:lnTo>
                <a:lnTo>
                  <a:pt x="649224" y="542544"/>
                </a:lnTo>
                <a:lnTo>
                  <a:pt x="1059954" y="746302"/>
                </a:lnTo>
                <a:lnTo>
                  <a:pt x="386003" y="910882"/>
                </a:lnTo>
                <a:lnTo>
                  <a:pt x="374904" y="859536"/>
                </a:lnTo>
                <a:lnTo>
                  <a:pt x="274320" y="941832"/>
                </a:lnTo>
                <a:lnTo>
                  <a:pt x="399288" y="972312"/>
                </a:lnTo>
                <a:lnTo>
                  <a:pt x="389280" y="926058"/>
                </a:lnTo>
                <a:lnTo>
                  <a:pt x="1033411" y="768781"/>
                </a:lnTo>
                <a:lnTo>
                  <a:pt x="95923" y="1337208"/>
                </a:lnTo>
                <a:lnTo>
                  <a:pt x="70104" y="1292352"/>
                </a:lnTo>
                <a:lnTo>
                  <a:pt x="0" y="1402067"/>
                </a:lnTo>
                <a:lnTo>
                  <a:pt x="128016" y="1392936"/>
                </a:lnTo>
                <a:lnTo>
                  <a:pt x="102831" y="1349209"/>
                </a:lnTo>
                <a:lnTo>
                  <a:pt x="103632" y="1350264"/>
                </a:lnTo>
                <a:lnTo>
                  <a:pt x="1081824" y="757161"/>
                </a:lnTo>
                <a:lnTo>
                  <a:pt x="2196579" y="1310144"/>
                </a:lnTo>
                <a:lnTo>
                  <a:pt x="2176272" y="1353312"/>
                </a:lnTo>
                <a:lnTo>
                  <a:pt x="2304288" y="1350264"/>
                </a:lnTo>
                <a:lnTo>
                  <a:pt x="2225040" y="1249680"/>
                </a:lnTo>
                <a:lnTo>
                  <a:pt x="2203551" y="1295336"/>
                </a:lnTo>
                <a:lnTo>
                  <a:pt x="1106220" y="750989"/>
                </a:lnTo>
                <a:lnTo>
                  <a:pt x="1696440" y="606869"/>
                </a:lnTo>
                <a:lnTo>
                  <a:pt x="2166099" y="840752"/>
                </a:lnTo>
                <a:lnTo>
                  <a:pt x="2145792" y="883920"/>
                </a:lnTo>
                <a:lnTo>
                  <a:pt x="2273808" y="880872"/>
                </a:lnTo>
                <a:lnTo>
                  <a:pt x="2194560" y="780288"/>
                </a:lnTo>
                <a:lnTo>
                  <a:pt x="2173071" y="825944"/>
                </a:lnTo>
                <a:lnTo>
                  <a:pt x="1721078" y="600862"/>
                </a:lnTo>
                <a:lnTo>
                  <a:pt x="2217763" y="479577"/>
                </a:lnTo>
                <a:lnTo>
                  <a:pt x="2228088" y="527304"/>
                </a:lnTo>
                <a:lnTo>
                  <a:pt x="2328672" y="445008"/>
                </a:lnTo>
                <a:close/>
              </a:path>
            </a:pathLst>
          </a:custGeom>
          <a:solidFill>
            <a:srgbClr val="000000"/>
          </a:solid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3F5B-5ACC-48C4-914F-A630735CA3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01AF0B-ECFA-CBC9-C25F-DEDFDD436F37}"/>
              </a:ext>
            </a:extLst>
          </p:cNvPr>
          <p:cNvSpPr txBox="1">
            <a:spLocks noGrp="1"/>
          </p:cNvSpPr>
          <p:nvPr>
            <p:ph type="title"/>
          </p:nvPr>
        </p:nvSpPr>
        <p:spPr>
          <a:prstGeom prst="rect">
            <a:avLst/>
          </a:prstGeom>
        </p:spPr>
        <p:txBody>
          <a:bodyPr vert="horz" wrap="square" lIns="0" tIns="12700" rIns="0" bIns="0" rtlCol="0">
            <a:spAutoFit/>
          </a:bodyPr>
          <a:lstStyle/>
          <a:p>
            <a:pPr marL="1731645">
              <a:lnSpc>
                <a:spcPct val="100000"/>
              </a:lnSpc>
              <a:spcBef>
                <a:spcPts val="100"/>
              </a:spcBef>
            </a:pPr>
            <a:r>
              <a:rPr dirty="0"/>
              <a:t>Rational</a:t>
            </a:r>
            <a:r>
              <a:rPr spc="-155" dirty="0"/>
              <a:t> </a:t>
            </a:r>
            <a:r>
              <a:rPr spc="-10" dirty="0"/>
              <a:t>agents</a:t>
            </a:r>
          </a:p>
        </p:txBody>
      </p:sp>
      <p:sp>
        <p:nvSpPr>
          <p:cNvPr id="5" name="object 5">
            <a:extLst>
              <a:ext uri="{FF2B5EF4-FFF2-40B4-BE49-F238E27FC236}">
                <a16:creationId xmlns:a16="http://schemas.microsoft.com/office/drawing/2014/main" id="{33BE12DE-BE27-AE60-A815-17E913B2CA43}"/>
              </a:ext>
            </a:extLst>
          </p:cNvPr>
          <p:cNvSpPr txBox="1"/>
          <p:nvPr/>
        </p:nvSpPr>
        <p:spPr>
          <a:xfrm>
            <a:off x="380365" y="1459764"/>
            <a:ext cx="7647305" cy="1786386"/>
          </a:xfrm>
          <a:prstGeom prst="rect">
            <a:avLst/>
          </a:prstGeom>
        </p:spPr>
        <p:txBody>
          <a:bodyPr vert="horz" wrap="square" lIns="0" tIns="54610" rIns="0" bIns="0" rtlCol="0">
            <a:spAutoFit/>
          </a:bodyPr>
          <a:lstStyle/>
          <a:p>
            <a:pPr marL="354965" marR="5080" indent="-342900">
              <a:lnSpc>
                <a:spcPts val="2700"/>
              </a:lnSpc>
              <a:spcBef>
                <a:spcPts val="5"/>
              </a:spcBef>
              <a:buFont typeface="Arial"/>
              <a:buChar char="•"/>
              <a:tabLst>
                <a:tab pos="354965" algn="l"/>
              </a:tabLst>
            </a:pPr>
            <a:r>
              <a:rPr sz="2500" dirty="0">
                <a:solidFill>
                  <a:srgbClr val="FF0000"/>
                </a:solidFill>
                <a:latin typeface="Calibri"/>
                <a:cs typeface="Calibri"/>
              </a:rPr>
              <a:t>Rational</a:t>
            </a:r>
            <a:r>
              <a:rPr sz="2500" spc="-90" dirty="0">
                <a:solidFill>
                  <a:srgbClr val="FF0000"/>
                </a:solidFill>
                <a:latin typeface="Calibri"/>
                <a:cs typeface="Calibri"/>
              </a:rPr>
              <a:t> </a:t>
            </a:r>
            <a:r>
              <a:rPr sz="2500" dirty="0">
                <a:solidFill>
                  <a:srgbClr val="FF0000"/>
                </a:solidFill>
                <a:latin typeface="Calibri"/>
                <a:cs typeface="Calibri"/>
              </a:rPr>
              <a:t>Agent</a:t>
            </a:r>
            <a:r>
              <a:rPr sz="2500" dirty="0">
                <a:latin typeface="Calibri"/>
                <a:cs typeface="Calibri"/>
              </a:rPr>
              <a:t>:</a:t>
            </a:r>
            <a:r>
              <a:rPr sz="2500" spc="-80" dirty="0">
                <a:latin typeface="Calibri"/>
                <a:cs typeface="Calibri"/>
              </a:rPr>
              <a:t> </a:t>
            </a:r>
            <a:r>
              <a:rPr sz="2500" dirty="0">
                <a:latin typeface="Calibri"/>
                <a:cs typeface="Calibri"/>
              </a:rPr>
              <a:t>For</a:t>
            </a:r>
            <a:r>
              <a:rPr sz="2500" spc="-90" dirty="0">
                <a:latin typeface="Calibri"/>
                <a:cs typeface="Calibri"/>
              </a:rPr>
              <a:t> </a:t>
            </a:r>
            <a:r>
              <a:rPr sz="2500" dirty="0">
                <a:latin typeface="Calibri"/>
                <a:cs typeface="Calibri"/>
              </a:rPr>
              <a:t>each</a:t>
            </a:r>
            <a:r>
              <a:rPr sz="2500" spc="-85" dirty="0">
                <a:latin typeface="Calibri"/>
                <a:cs typeface="Calibri"/>
              </a:rPr>
              <a:t> </a:t>
            </a:r>
            <a:r>
              <a:rPr sz="2500" dirty="0">
                <a:latin typeface="Calibri"/>
                <a:cs typeface="Calibri"/>
              </a:rPr>
              <a:t>possible</a:t>
            </a:r>
            <a:r>
              <a:rPr sz="2500" spc="-85" dirty="0">
                <a:latin typeface="Calibri"/>
                <a:cs typeface="Calibri"/>
              </a:rPr>
              <a:t> </a:t>
            </a:r>
            <a:r>
              <a:rPr sz="2500" dirty="0">
                <a:latin typeface="Calibri"/>
                <a:cs typeface="Calibri"/>
              </a:rPr>
              <a:t>percept</a:t>
            </a:r>
            <a:r>
              <a:rPr sz="2500" spc="-80" dirty="0">
                <a:latin typeface="Calibri"/>
                <a:cs typeface="Calibri"/>
              </a:rPr>
              <a:t> </a:t>
            </a:r>
            <a:r>
              <a:rPr sz="2500" dirty="0">
                <a:latin typeface="Calibri"/>
                <a:cs typeface="Calibri"/>
              </a:rPr>
              <a:t>sequence,</a:t>
            </a:r>
            <a:r>
              <a:rPr sz="2500" spc="-60" dirty="0">
                <a:latin typeface="Calibri"/>
                <a:cs typeface="Calibri"/>
              </a:rPr>
              <a:t> </a:t>
            </a:r>
            <a:r>
              <a:rPr sz="2500" spc="-50" dirty="0">
                <a:latin typeface="Calibri"/>
                <a:cs typeface="Calibri"/>
              </a:rPr>
              <a:t>a </a:t>
            </a:r>
            <a:r>
              <a:rPr sz="2500" dirty="0">
                <a:latin typeface="Calibri"/>
                <a:cs typeface="Calibri"/>
              </a:rPr>
              <a:t>rational</a:t>
            </a:r>
            <a:r>
              <a:rPr sz="2500" spc="-75" dirty="0">
                <a:latin typeface="Calibri"/>
                <a:cs typeface="Calibri"/>
              </a:rPr>
              <a:t> </a:t>
            </a:r>
            <a:r>
              <a:rPr sz="2500" dirty="0">
                <a:latin typeface="Calibri"/>
                <a:cs typeface="Calibri"/>
              </a:rPr>
              <a:t>agent</a:t>
            </a:r>
            <a:r>
              <a:rPr sz="2500" spc="-60" dirty="0">
                <a:latin typeface="Calibri"/>
                <a:cs typeface="Calibri"/>
              </a:rPr>
              <a:t> </a:t>
            </a:r>
            <a:r>
              <a:rPr sz="2500" dirty="0">
                <a:latin typeface="Calibri"/>
                <a:cs typeface="Calibri"/>
              </a:rPr>
              <a:t>should</a:t>
            </a:r>
            <a:r>
              <a:rPr sz="2500" spc="-55" dirty="0">
                <a:latin typeface="Calibri"/>
                <a:cs typeface="Calibri"/>
              </a:rPr>
              <a:t> </a:t>
            </a:r>
            <a:r>
              <a:rPr sz="2500" dirty="0">
                <a:latin typeface="Calibri"/>
                <a:cs typeface="Calibri"/>
              </a:rPr>
              <a:t>select</a:t>
            </a:r>
            <a:r>
              <a:rPr sz="2500" spc="-50" dirty="0">
                <a:latin typeface="Calibri"/>
                <a:cs typeface="Calibri"/>
              </a:rPr>
              <a:t> </a:t>
            </a:r>
            <a:r>
              <a:rPr sz="2500" dirty="0">
                <a:latin typeface="Calibri"/>
                <a:cs typeface="Calibri"/>
              </a:rPr>
              <a:t>an</a:t>
            </a:r>
            <a:r>
              <a:rPr sz="2500" spc="-65" dirty="0">
                <a:latin typeface="Calibri"/>
                <a:cs typeface="Calibri"/>
              </a:rPr>
              <a:t> </a:t>
            </a:r>
            <a:r>
              <a:rPr sz="2500" dirty="0">
                <a:latin typeface="Calibri"/>
                <a:cs typeface="Calibri"/>
              </a:rPr>
              <a:t>action</a:t>
            </a:r>
            <a:r>
              <a:rPr sz="2500" spc="-65" dirty="0">
                <a:latin typeface="Calibri"/>
                <a:cs typeface="Calibri"/>
              </a:rPr>
              <a:t> </a:t>
            </a:r>
            <a:r>
              <a:rPr sz="2500" dirty="0">
                <a:latin typeface="Calibri"/>
                <a:cs typeface="Calibri"/>
              </a:rPr>
              <a:t>that</a:t>
            </a:r>
            <a:r>
              <a:rPr sz="2500" spc="-60" dirty="0">
                <a:latin typeface="Calibri"/>
                <a:cs typeface="Calibri"/>
              </a:rPr>
              <a:t> </a:t>
            </a:r>
            <a:r>
              <a:rPr sz="2500" dirty="0">
                <a:latin typeface="Calibri"/>
                <a:cs typeface="Calibri"/>
              </a:rPr>
              <a:t>is</a:t>
            </a:r>
            <a:r>
              <a:rPr sz="2500" spc="-70" dirty="0">
                <a:latin typeface="Calibri"/>
                <a:cs typeface="Calibri"/>
              </a:rPr>
              <a:t> </a:t>
            </a:r>
            <a:r>
              <a:rPr sz="2500" spc="-10" dirty="0">
                <a:latin typeface="Calibri"/>
                <a:cs typeface="Calibri"/>
              </a:rPr>
              <a:t>expected</a:t>
            </a:r>
            <a:r>
              <a:rPr sz="2500" spc="-60" dirty="0">
                <a:latin typeface="Calibri"/>
                <a:cs typeface="Calibri"/>
              </a:rPr>
              <a:t> </a:t>
            </a:r>
            <a:r>
              <a:rPr sz="2500" spc="-25" dirty="0">
                <a:latin typeface="Calibri"/>
                <a:cs typeface="Calibri"/>
              </a:rPr>
              <a:t>to </a:t>
            </a:r>
            <a:r>
              <a:rPr sz="2500" spc="-10" dirty="0">
                <a:latin typeface="Calibri"/>
                <a:cs typeface="Calibri"/>
              </a:rPr>
              <a:t>maximize</a:t>
            </a:r>
            <a:r>
              <a:rPr sz="2500" spc="-45" dirty="0">
                <a:latin typeface="Calibri"/>
                <a:cs typeface="Calibri"/>
              </a:rPr>
              <a:t> </a:t>
            </a:r>
            <a:r>
              <a:rPr sz="2500" dirty="0">
                <a:latin typeface="Calibri"/>
                <a:cs typeface="Calibri"/>
              </a:rPr>
              <a:t>its</a:t>
            </a:r>
            <a:r>
              <a:rPr sz="2500" spc="-90" dirty="0">
                <a:latin typeface="Calibri"/>
                <a:cs typeface="Calibri"/>
              </a:rPr>
              <a:t> </a:t>
            </a:r>
            <a:r>
              <a:rPr sz="2500" spc="-10" dirty="0">
                <a:solidFill>
                  <a:srgbClr val="FF0000"/>
                </a:solidFill>
                <a:latin typeface="Calibri"/>
                <a:cs typeface="Calibri"/>
              </a:rPr>
              <a:t>performance</a:t>
            </a:r>
            <a:r>
              <a:rPr sz="2500" spc="-50" dirty="0">
                <a:solidFill>
                  <a:srgbClr val="FF0000"/>
                </a:solidFill>
                <a:latin typeface="Calibri"/>
                <a:cs typeface="Calibri"/>
              </a:rPr>
              <a:t> </a:t>
            </a:r>
            <a:r>
              <a:rPr sz="2500" dirty="0">
                <a:solidFill>
                  <a:srgbClr val="FF0000"/>
                </a:solidFill>
                <a:latin typeface="Calibri"/>
                <a:cs typeface="Calibri"/>
              </a:rPr>
              <a:t>measure,</a:t>
            </a:r>
            <a:r>
              <a:rPr sz="2500" spc="-60" dirty="0">
                <a:solidFill>
                  <a:srgbClr val="FF0000"/>
                </a:solidFill>
                <a:latin typeface="Calibri"/>
                <a:cs typeface="Calibri"/>
              </a:rPr>
              <a:t> </a:t>
            </a:r>
            <a:r>
              <a:rPr sz="2500" dirty="0">
                <a:solidFill>
                  <a:srgbClr val="FF0000"/>
                </a:solidFill>
                <a:latin typeface="Calibri"/>
                <a:cs typeface="Calibri"/>
              </a:rPr>
              <a:t>given</a:t>
            </a:r>
            <a:r>
              <a:rPr sz="2500" spc="-75" dirty="0">
                <a:solidFill>
                  <a:srgbClr val="FF0000"/>
                </a:solidFill>
                <a:latin typeface="Calibri"/>
                <a:cs typeface="Calibri"/>
              </a:rPr>
              <a:t> </a:t>
            </a:r>
            <a:r>
              <a:rPr sz="2500" dirty="0">
                <a:solidFill>
                  <a:srgbClr val="FF0000"/>
                </a:solidFill>
                <a:latin typeface="Calibri"/>
                <a:cs typeface="Calibri"/>
              </a:rPr>
              <a:t>the</a:t>
            </a:r>
            <a:r>
              <a:rPr sz="2500" spc="-70" dirty="0">
                <a:solidFill>
                  <a:srgbClr val="FF0000"/>
                </a:solidFill>
                <a:latin typeface="Calibri"/>
                <a:cs typeface="Calibri"/>
              </a:rPr>
              <a:t> </a:t>
            </a:r>
            <a:r>
              <a:rPr sz="2500" spc="-10" dirty="0">
                <a:solidFill>
                  <a:srgbClr val="FF0000"/>
                </a:solidFill>
                <a:latin typeface="Calibri"/>
                <a:cs typeface="Calibri"/>
              </a:rPr>
              <a:t>evidence </a:t>
            </a:r>
            <a:r>
              <a:rPr sz="2500" dirty="0">
                <a:solidFill>
                  <a:srgbClr val="FF0000"/>
                </a:solidFill>
                <a:latin typeface="Calibri"/>
                <a:cs typeface="Calibri"/>
              </a:rPr>
              <a:t>provided</a:t>
            </a:r>
            <a:r>
              <a:rPr sz="2500" spc="-75" dirty="0">
                <a:solidFill>
                  <a:srgbClr val="FF0000"/>
                </a:solidFill>
                <a:latin typeface="Calibri"/>
                <a:cs typeface="Calibri"/>
              </a:rPr>
              <a:t> </a:t>
            </a:r>
            <a:r>
              <a:rPr sz="2500" dirty="0">
                <a:solidFill>
                  <a:srgbClr val="FF0000"/>
                </a:solidFill>
                <a:latin typeface="Calibri"/>
                <a:cs typeface="Calibri"/>
              </a:rPr>
              <a:t>by</a:t>
            </a:r>
            <a:r>
              <a:rPr sz="2500" spc="-65" dirty="0">
                <a:solidFill>
                  <a:srgbClr val="FF0000"/>
                </a:solidFill>
                <a:latin typeface="Calibri"/>
                <a:cs typeface="Calibri"/>
              </a:rPr>
              <a:t> </a:t>
            </a:r>
            <a:r>
              <a:rPr sz="2500" dirty="0">
                <a:solidFill>
                  <a:srgbClr val="FF0000"/>
                </a:solidFill>
                <a:latin typeface="Calibri"/>
                <a:cs typeface="Calibri"/>
              </a:rPr>
              <a:t>the</a:t>
            </a:r>
            <a:r>
              <a:rPr sz="2500" spc="-70" dirty="0">
                <a:solidFill>
                  <a:srgbClr val="FF0000"/>
                </a:solidFill>
                <a:latin typeface="Calibri"/>
                <a:cs typeface="Calibri"/>
              </a:rPr>
              <a:t> </a:t>
            </a:r>
            <a:r>
              <a:rPr sz="2500" dirty="0">
                <a:solidFill>
                  <a:srgbClr val="FF0000"/>
                </a:solidFill>
                <a:latin typeface="Calibri"/>
                <a:cs typeface="Calibri"/>
              </a:rPr>
              <a:t>percept</a:t>
            </a:r>
            <a:r>
              <a:rPr sz="2500" spc="-60" dirty="0">
                <a:solidFill>
                  <a:srgbClr val="FF0000"/>
                </a:solidFill>
                <a:latin typeface="Calibri"/>
                <a:cs typeface="Calibri"/>
              </a:rPr>
              <a:t> </a:t>
            </a:r>
            <a:r>
              <a:rPr sz="2500" dirty="0">
                <a:solidFill>
                  <a:srgbClr val="FF0000"/>
                </a:solidFill>
                <a:latin typeface="Calibri"/>
                <a:cs typeface="Calibri"/>
              </a:rPr>
              <a:t>sequence</a:t>
            </a:r>
            <a:r>
              <a:rPr sz="2500" spc="-35" dirty="0">
                <a:solidFill>
                  <a:srgbClr val="FF0000"/>
                </a:solidFill>
                <a:latin typeface="Calibri"/>
                <a:cs typeface="Calibri"/>
              </a:rPr>
              <a:t> </a:t>
            </a:r>
            <a:r>
              <a:rPr sz="2500" dirty="0">
                <a:solidFill>
                  <a:srgbClr val="FF0000"/>
                </a:solidFill>
                <a:latin typeface="Calibri"/>
                <a:cs typeface="Calibri"/>
              </a:rPr>
              <a:t>and</a:t>
            </a:r>
            <a:r>
              <a:rPr sz="2500" spc="-75" dirty="0">
                <a:solidFill>
                  <a:srgbClr val="FF0000"/>
                </a:solidFill>
                <a:latin typeface="Calibri"/>
                <a:cs typeface="Calibri"/>
              </a:rPr>
              <a:t> </a:t>
            </a:r>
            <a:r>
              <a:rPr sz="2500" spc="-10" dirty="0">
                <a:solidFill>
                  <a:srgbClr val="FF0000"/>
                </a:solidFill>
                <a:latin typeface="Calibri"/>
                <a:cs typeface="Calibri"/>
              </a:rPr>
              <a:t>whatever</a:t>
            </a:r>
            <a:r>
              <a:rPr sz="2500" spc="-70" dirty="0">
                <a:solidFill>
                  <a:srgbClr val="FF0000"/>
                </a:solidFill>
                <a:latin typeface="Calibri"/>
                <a:cs typeface="Calibri"/>
              </a:rPr>
              <a:t> </a:t>
            </a:r>
            <a:r>
              <a:rPr sz="2500" spc="-20" dirty="0">
                <a:solidFill>
                  <a:srgbClr val="FF0000"/>
                </a:solidFill>
                <a:latin typeface="Calibri"/>
                <a:cs typeface="Calibri"/>
              </a:rPr>
              <a:t>built-</a:t>
            </a:r>
            <a:r>
              <a:rPr sz="2500" spc="-25" dirty="0">
                <a:solidFill>
                  <a:srgbClr val="FF0000"/>
                </a:solidFill>
                <a:latin typeface="Calibri"/>
                <a:cs typeface="Calibri"/>
              </a:rPr>
              <a:t>in </a:t>
            </a:r>
            <a:r>
              <a:rPr sz="2500" dirty="0">
                <a:solidFill>
                  <a:srgbClr val="FF0000"/>
                </a:solidFill>
                <a:latin typeface="Calibri"/>
                <a:cs typeface="Calibri"/>
              </a:rPr>
              <a:t>knowledge</a:t>
            </a:r>
            <a:r>
              <a:rPr sz="2500" spc="-95" dirty="0">
                <a:solidFill>
                  <a:srgbClr val="FF0000"/>
                </a:solidFill>
                <a:latin typeface="Calibri"/>
                <a:cs typeface="Calibri"/>
              </a:rPr>
              <a:t> </a:t>
            </a:r>
            <a:r>
              <a:rPr sz="2500" dirty="0">
                <a:solidFill>
                  <a:srgbClr val="FF0000"/>
                </a:solidFill>
                <a:latin typeface="Calibri"/>
                <a:cs typeface="Calibri"/>
              </a:rPr>
              <a:t>the</a:t>
            </a:r>
            <a:r>
              <a:rPr sz="2500" spc="-80" dirty="0">
                <a:solidFill>
                  <a:srgbClr val="FF0000"/>
                </a:solidFill>
                <a:latin typeface="Calibri"/>
                <a:cs typeface="Calibri"/>
              </a:rPr>
              <a:t> </a:t>
            </a:r>
            <a:r>
              <a:rPr sz="2500" dirty="0">
                <a:solidFill>
                  <a:srgbClr val="FF0000"/>
                </a:solidFill>
                <a:latin typeface="Calibri"/>
                <a:cs typeface="Calibri"/>
              </a:rPr>
              <a:t>agent</a:t>
            </a:r>
            <a:r>
              <a:rPr sz="2500" spc="-95" dirty="0">
                <a:solidFill>
                  <a:srgbClr val="FF0000"/>
                </a:solidFill>
                <a:latin typeface="Calibri"/>
                <a:cs typeface="Calibri"/>
              </a:rPr>
              <a:t> </a:t>
            </a:r>
            <a:r>
              <a:rPr sz="2500" spc="-20" dirty="0">
                <a:solidFill>
                  <a:srgbClr val="FF0000"/>
                </a:solidFill>
                <a:latin typeface="Calibri"/>
                <a:cs typeface="Calibri"/>
              </a:rPr>
              <a:t>has</a:t>
            </a:r>
            <a:r>
              <a:rPr sz="2500" spc="-20" dirty="0">
                <a:latin typeface="Calibri"/>
                <a:cs typeface="Calibri"/>
              </a:rPr>
              <a:t>.</a:t>
            </a:r>
            <a:endParaRPr sz="2500" dirty="0">
              <a:latin typeface="Calibri"/>
              <a:cs typeface="Calibri"/>
            </a:endParaRPr>
          </a:p>
        </p:txBody>
      </p:sp>
    </p:spTree>
    <p:extLst>
      <p:ext uri="{BB962C8B-B14F-4D97-AF65-F5344CB8AC3E}">
        <p14:creationId xmlns:p14="http://schemas.microsoft.com/office/powerpoint/2010/main" val="1549174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9E81-4EDA-D9E2-EE38-25B64BD63E49}"/>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06674B06-137F-6E45-C15E-9BC9B8AA1DE4}"/>
              </a:ext>
            </a:extLst>
          </p:cNvPr>
          <p:cNvSpPr>
            <a:spLocks noGrp="1" noChangeArrowheads="1"/>
          </p:cNvSpPr>
          <p:nvPr>
            <p:ph type="title"/>
          </p:nvPr>
        </p:nvSpPr>
        <p:spPr>
          <a:xfrm>
            <a:off x="1828800" y="404946"/>
            <a:ext cx="3709258" cy="719519"/>
          </a:xfrm>
        </p:spPr>
        <p:txBody>
          <a:bodyPr/>
          <a:lstStyle/>
          <a:p>
            <a:r>
              <a:rPr lang="en-US" altLang="en-US" dirty="0"/>
              <a:t>Reactivity</a:t>
            </a:r>
          </a:p>
        </p:txBody>
      </p:sp>
      <p:sp>
        <p:nvSpPr>
          <p:cNvPr id="5123" name="Rectangle 3">
            <a:extLst>
              <a:ext uri="{FF2B5EF4-FFF2-40B4-BE49-F238E27FC236}">
                <a16:creationId xmlns:a16="http://schemas.microsoft.com/office/drawing/2014/main" id="{4A2743BB-1BC4-24BE-A88F-B849AA8E0D4C}"/>
              </a:ext>
            </a:extLst>
          </p:cNvPr>
          <p:cNvSpPr>
            <a:spLocks noGrp="1" noChangeArrowheads="1"/>
          </p:cNvSpPr>
          <p:nvPr>
            <p:ph type="body" idx="1"/>
          </p:nvPr>
        </p:nvSpPr>
        <p:spPr>
          <a:xfrm>
            <a:off x="381000" y="1295400"/>
            <a:ext cx="8382000" cy="4419600"/>
          </a:xfrm>
        </p:spPr>
        <p:txBody>
          <a:bodyPr/>
          <a:lstStyle/>
          <a:p>
            <a:r>
              <a:rPr lang="en-US" altLang="en-US" sz="2400" dirty="0"/>
              <a:t>If a program’s environment is guaranteed to be fixed, the program need never worry about its own success or failure – program just executes blindly</a:t>
            </a:r>
          </a:p>
          <a:p>
            <a:pPr lvl="1"/>
            <a:r>
              <a:rPr lang="en-US" altLang="en-US" sz="2000" dirty="0"/>
              <a:t>Example of fixed environment: compiler</a:t>
            </a:r>
          </a:p>
          <a:p>
            <a:r>
              <a:rPr lang="en-US" altLang="en-US" sz="2400" dirty="0"/>
              <a:t>The real world is not like that: things change, information is incomplete. Many (most?) interesting environments are </a:t>
            </a:r>
            <a:r>
              <a:rPr lang="en-US" altLang="en-US" sz="2400" i="1" dirty="0">
                <a:solidFill>
                  <a:srgbClr val="003399"/>
                </a:solidFill>
              </a:rPr>
              <a:t>dynamic</a:t>
            </a:r>
            <a:endParaRPr lang="en-US" altLang="en-US" sz="2400" dirty="0"/>
          </a:p>
          <a:p>
            <a:r>
              <a:rPr lang="en-US" altLang="en-US" sz="2400" dirty="0"/>
              <a:t>Software is hard to build for dynamic domains: program must take into account possibility of failure – ask itself whether it is worth executing!</a:t>
            </a:r>
          </a:p>
          <a:p>
            <a:r>
              <a:rPr lang="en-US" altLang="en-US" sz="2400" dirty="0"/>
              <a:t>A </a:t>
            </a:r>
            <a:r>
              <a:rPr lang="en-US" altLang="en-US" sz="2400" i="1" dirty="0">
                <a:solidFill>
                  <a:srgbClr val="003399"/>
                </a:solidFill>
              </a:rPr>
              <a:t>reactive</a:t>
            </a:r>
            <a:r>
              <a:rPr lang="en-US" altLang="en-US" sz="2400" i="1" dirty="0"/>
              <a:t> </a:t>
            </a:r>
            <a:r>
              <a:rPr lang="en-US" altLang="en-US" sz="2400" dirty="0"/>
              <a:t>system is one that maintains an ongoing interaction with its environment, and responds to changes that occur in it (in time for the response to be useful)</a:t>
            </a:r>
          </a:p>
        </p:txBody>
      </p:sp>
    </p:spTree>
    <p:extLst>
      <p:ext uri="{BB962C8B-B14F-4D97-AF65-F5344CB8AC3E}">
        <p14:creationId xmlns:p14="http://schemas.microsoft.com/office/powerpoint/2010/main" val="3687706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60F8B-A3C3-ADFF-57BE-458D374F6F33}"/>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40CA6C80-01BE-A2D9-6D70-1CA35654936E}"/>
              </a:ext>
            </a:extLst>
          </p:cNvPr>
          <p:cNvSpPr>
            <a:spLocks noGrp="1" noChangeArrowheads="1"/>
          </p:cNvSpPr>
          <p:nvPr>
            <p:ph type="title"/>
          </p:nvPr>
        </p:nvSpPr>
        <p:spPr>
          <a:xfrm>
            <a:off x="1905000" y="304800"/>
            <a:ext cx="4318858" cy="795719"/>
          </a:xfrm>
        </p:spPr>
        <p:txBody>
          <a:bodyPr/>
          <a:lstStyle/>
          <a:p>
            <a:r>
              <a:rPr lang="en-US" altLang="en-US" dirty="0"/>
              <a:t>Proactiveness</a:t>
            </a:r>
          </a:p>
        </p:txBody>
      </p:sp>
      <p:sp>
        <p:nvSpPr>
          <p:cNvPr id="6147" name="Rectangle 3">
            <a:extLst>
              <a:ext uri="{FF2B5EF4-FFF2-40B4-BE49-F238E27FC236}">
                <a16:creationId xmlns:a16="http://schemas.microsoft.com/office/drawing/2014/main" id="{4A4106AB-4290-F992-106E-BBE1B4045730}"/>
              </a:ext>
            </a:extLst>
          </p:cNvPr>
          <p:cNvSpPr>
            <a:spLocks noGrp="1" noChangeArrowheads="1"/>
          </p:cNvSpPr>
          <p:nvPr>
            <p:ph type="body" idx="1"/>
          </p:nvPr>
        </p:nvSpPr>
        <p:spPr>
          <a:xfrm>
            <a:off x="685800" y="1219200"/>
            <a:ext cx="7772400" cy="5029200"/>
          </a:xfrm>
        </p:spPr>
        <p:txBody>
          <a:bodyPr/>
          <a:lstStyle/>
          <a:p>
            <a:r>
              <a:rPr lang="en-US" altLang="en-US"/>
              <a:t>Reacting to an environment is easy (e.g., stimulus </a:t>
            </a:r>
            <a:r>
              <a:rPr lang="en-US" altLang="en-US">
                <a:sym typeface="Symbol" panose="05050102010706020507" pitchFamily="18" charset="2"/>
              </a:rPr>
              <a:t> </a:t>
            </a:r>
            <a:r>
              <a:rPr lang="en-US" altLang="en-US"/>
              <a:t>response rules)</a:t>
            </a:r>
          </a:p>
          <a:p>
            <a:r>
              <a:rPr lang="en-US" altLang="en-US"/>
              <a:t>But we generally want agents to </a:t>
            </a:r>
            <a:r>
              <a:rPr lang="en-US" altLang="en-US" i="1">
                <a:solidFill>
                  <a:srgbClr val="003399"/>
                </a:solidFill>
              </a:rPr>
              <a:t>do things for us</a:t>
            </a:r>
            <a:endParaRPr lang="en-US" altLang="en-US"/>
          </a:p>
          <a:p>
            <a:r>
              <a:rPr lang="en-US" altLang="en-US"/>
              <a:t>Hence </a:t>
            </a:r>
            <a:r>
              <a:rPr lang="en-US" altLang="en-US" i="1">
                <a:solidFill>
                  <a:srgbClr val="003399"/>
                </a:solidFill>
              </a:rPr>
              <a:t>goal directed behavior</a:t>
            </a:r>
            <a:endParaRPr lang="en-US" altLang="en-US"/>
          </a:p>
          <a:p>
            <a:r>
              <a:rPr lang="en-US" altLang="en-US"/>
              <a:t>Pro-activeness = generating and attempting to achieve goals; not driven solely by events; taking the initiative</a:t>
            </a:r>
          </a:p>
          <a:p>
            <a:r>
              <a:rPr lang="en-US" altLang="en-US"/>
              <a:t>Recognizing opportunities</a:t>
            </a:r>
          </a:p>
        </p:txBody>
      </p:sp>
    </p:spTree>
    <p:extLst>
      <p:ext uri="{BB962C8B-B14F-4D97-AF65-F5344CB8AC3E}">
        <p14:creationId xmlns:p14="http://schemas.microsoft.com/office/powerpoint/2010/main" val="2651065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12C3-FFE9-1E23-E251-D98FACB801D6}"/>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7AE1C13F-2028-9863-5003-0D8D33A57FA0}"/>
              </a:ext>
            </a:extLst>
          </p:cNvPr>
          <p:cNvSpPr>
            <a:spLocks noGrp="1" noChangeArrowheads="1"/>
          </p:cNvSpPr>
          <p:nvPr>
            <p:ph type="title"/>
          </p:nvPr>
        </p:nvSpPr>
        <p:spPr>
          <a:xfrm>
            <a:off x="990600" y="609600"/>
            <a:ext cx="6681058" cy="719519"/>
          </a:xfrm>
        </p:spPr>
        <p:txBody>
          <a:bodyPr/>
          <a:lstStyle/>
          <a:p>
            <a:r>
              <a:rPr lang="en-US" altLang="en-US" sz="3200" dirty="0"/>
              <a:t>Balancing Reactive and Goal-Oriented Behavior</a:t>
            </a:r>
          </a:p>
        </p:txBody>
      </p:sp>
      <p:sp>
        <p:nvSpPr>
          <p:cNvPr id="67587" name="Rectangle 3">
            <a:extLst>
              <a:ext uri="{FF2B5EF4-FFF2-40B4-BE49-F238E27FC236}">
                <a16:creationId xmlns:a16="http://schemas.microsoft.com/office/drawing/2014/main" id="{4467AB1B-BB17-69ED-8628-6638AB17BF12}"/>
              </a:ext>
            </a:extLst>
          </p:cNvPr>
          <p:cNvSpPr>
            <a:spLocks noGrp="1" noChangeArrowheads="1"/>
          </p:cNvSpPr>
          <p:nvPr>
            <p:ph type="body" idx="1"/>
          </p:nvPr>
        </p:nvSpPr>
        <p:spPr/>
        <p:txBody>
          <a:bodyPr/>
          <a:lstStyle/>
          <a:p>
            <a:r>
              <a:rPr lang="en-US" altLang="en-US"/>
              <a:t>We want our agents to be reactive, responding to changing conditions in an appropriate (timely) fashion</a:t>
            </a:r>
          </a:p>
          <a:p>
            <a:r>
              <a:rPr lang="en-US" altLang="en-US"/>
              <a:t>We want our agents to systematically work towards long-term goals</a:t>
            </a:r>
          </a:p>
          <a:p>
            <a:r>
              <a:rPr lang="en-US" altLang="en-US"/>
              <a:t>These two considerations can be at odds with one another</a:t>
            </a:r>
          </a:p>
          <a:p>
            <a:r>
              <a:rPr lang="en-US" altLang="en-US"/>
              <a:t>Designing an agent that can balance the two remains an open research problem</a:t>
            </a:r>
          </a:p>
        </p:txBody>
      </p:sp>
    </p:spTree>
    <p:extLst>
      <p:ext uri="{BB962C8B-B14F-4D97-AF65-F5344CB8AC3E}">
        <p14:creationId xmlns:p14="http://schemas.microsoft.com/office/powerpoint/2010/main" val="2642320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A3EB-30C1-B84A-F963-309BE8BA7426}"/>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9FE62194-32E6-BCD1-5573-430FF1066C4F}"/>
              </a:ext>
            </a:extLst>
          </p:cNvPr>
          <p:cNvSpPr>
            <a:spLocks noGrp="1" noChangeArrowheads="1"/>
          </p:cNvSpPr>
          <p:nvPr>
            <p:ph type="title"/>
          </p:nvPr>
        </p:nvSpPr>
        <p:spPr>
          <a:xfrm>
            <a:off x="2133600" y="381000"/>
            <a:ext cx="3785458" cy="719519"/>
          </a:xfrm>
        </p:spPr>
        <p:txBody>
          <a:bodyPr/>
          <a:lstStyle/>
          <a:p>
            <a:r>
              <a:rPr lang="en-US" altLang="en-US"/>
              <a:t>Social Ability</a:t>
            </a:r>
          </a:p>
        </p:txBody>
      </p:sp>
      <p:sp>
        <p:nvSpPr>
          <p:cNvPr id="7171" name="Rectangle 3">
            <a:extLst>
              <a:ext uri="{FF2B5EF4-FFF2-40B4-BE49-F238E27FC236}">
                <a16:creationId xmlns:a16="http://schemas.microsoft.com/office/drawing/2014/main" id="{2FC5DBAE-58AA-9983-F947-678D9251E5E1}"/>
              </a:ext>
            </a:extLst>
          </p:cNvPr>
          <p:cNvSpPr>
            <a:spLocks noGrp="1" noChangeArrowheads="1"/>
          </p:cNvSpPr>
          <p:nvPr>
            <p:ph type="body" idx="1"/>
          </p:nvPr>
        </p:nvSpPr>
        <p:spPr>
          <a:xfrm>
            <a:off x="685800" y="1295400"/>
            <a:ext cx="8001000" cy="4401205"/>
          </a:xfrm>
        </p:spPr>
        <p:txBody>
          <a:bodyPr/>
          <a:lstStyle/>
          <a:p>
            <a:r>
              <a:rPr lang="en-US" altLang="en-US" sz="2600" dirty="0"/>
              <a:t>The real world is a </a:t>
            </a:r>
            <a:r>
              <a:rPr lang="en-US" altLang="en-US" sz="2600" i="1" dirty="0">
                <a:solidFill>
                  <a:srgbClr val="003399"/>
                </a:solidFill>
              </a:rPr>
              <a:t>multi</a:t>
            </a:r>
            <a:r>
              <a:rPr lang="en-US" altLang="en-US" sz="2600" dirty="0"/>
              <a:t>-agent environment: we cannot go around attempting to achieve goals without taking others into account</a:t>
            </a:r>
          </a:p>
          <a:p>
            <a:r>
              <a:rPr lang="en-US" altLang="en-US" sz="2600" dirty="0"/>
              <a:t>Some goals can only be achieved with the cooperation of others</a:t>
            </a:r>
          </a:p>
          <a:p>
            <a:r>
              <a:rPr lang="en-US" altLang="en-US" sz="2600" dirty="0"/>
              <a:t>Similarly for many computer environments: witness the Internet</a:t>
            </a:r>
          </a:p>
          <a:p>
            <a:r>
              <a:rPr lang="en-US" altLang="en-US" sz="2600" i="1" dirty="0">
                <a:solidFill>
                  <a:srgbClr val="003399"/>
                </a:solidFill>
              </a:rPr>
              <a:t>Social ability</a:t>
            </a:r>
            <a:r>
              <a:rPr lang="en-US" altLang="en-US" sz="2600" dirty="0"/>
              <a:t> in agents is the ability to interact with other agents (and possibly humans) via some kind of </a:t>
            </a:r>
            <a:r>
              <a:rPr lang="en-US" altLang="en-US" sz="2600" i="1" dirty="0">
                <a:solidFill>
                  <a:srgbClr val="003399"/>
                </a:solidFill>
              </a:rPr>
              <a:t>agent-communication language</a:t>
            </a:r>
            <a:r>
              <a:rPr lang="en-US" altLang="en-US" sz="2600" dirty="0"/>
              <a:t>, and perhaps cooperate with others</a:t>
            </a:r>
            <a:endParaRPr lang="en-US" altLang="en-US" sz="2600" i="1" dirty="0"/>
          </a:p>
        </p:txBody>
      </p:sp>
    </p:spTree>
    <p:extLst>
      <p:ext uri="{BB962C8B-B14F-4D97-AF65-F5344CB8AC3E}">
        <p14:creationId xmlns:p14="http://schemas.microsoft.com/office/powerpoint/2010/main" val="121848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B7426-FB95-8C55-4559-D41635D4A0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B05EB5-AA88-8449-D3AD-B5100F5E4399}"/>
              </a:ext>
            </a:extLst>
          </p:cNvPr>
          <p:cNvSpPr txBox="1">
            <a:spLocks noGrp="1"/>
          </p:cNvSpPr>
          <p:nvPr>
            <p:ph type="title"/>
          </p:nvPr>
        </p:nvSpPr>
        <p:spPr>
          <a:xfrm>
            <a:off x="3372770" y="606044"/>
            <a:ext cx="2399030" cy="696595"/>
          </a:xfrm>
          <a:prstGeom prst="rect">
            <a:avLst/>
          </a:prstGeom>
        </p:spPr>
        <p:txBody>
          <a:bodyPr vert="horz" wrap="square" lIns="0" tIns="13335" rIns="0" bIns="0" rtlCol="0">
            <a:spAutoFit/>
          </a:bodyPr>
          <a:lstStyle/>
          <a:p>
            <a:pPr marL="12700">
              <a:lnSpc>
                <a:spcPct val="100000"/>
              </a:lnSpc>
              <a:spcBef>
                <a:spcPts val="105"/>
              </a:spcBef>
            </a:pPr>
            <a:r>
              <a:rPr spc="-10" dirty="0"/>
              <a:t>Autonomy</a:t>
            </a:r>
          </a:p>
        </p:txBody>
      </p:sp>
      <p:grpSp>
        <p:nvGrpSpPr>
          <p:cNvPr id="3" name="object 3">
            <a:extLst>
              <a:ext uri="{FF2B5EF4-FFF2-40B4-BE49-F238E27FC236}">
                <a16:creationId xmlns:a16="http://schemas.microsoft.com/office/drawing/2014/main" id="{5A7F38C5-8A41-E4F7-4D1D-2E65A9849C0D}"/>
              </a:ext>
            </a:extLst>
          </p:cNvPr>
          <p:cNvGrpSpPr/>
          <p:nvPr/>
        </p:nvGrpSpPr>
        <p:grpSpPr>
          <a:xfrm>
            <a:off x="472440" y="2119896"/>
            <a:ext cx="190500" cy="2682240"/>
            <a:chOff x="472440" y="2119896"/>
            <a:chExt cx="190500" cy="2682240"/>
          </a:xfrm>
        </p:grpSpPr>
        <p:pic>
          <p:nvPicPr>
            <p:cNvPr id="4" name="object 4">
              <a:extLst>
                <a:ext uri="{FF2B5EF4-FFF2-40B4-BE49-F238E27FC236}">
                  <a16:creationId xmlns:a16="http://schemas.microsoft.com/office/drawing/2014/main" id="{08FE74D6-7DE5-B07C-8035-35DA6702C7B8}"/>
                </a:ext>
              </a:extLst>
            </p:cNvPr>
            <p:cNvPicPr/>
            <p:nvPr/>
          </p:nvPicPr>
          <p:blipFill>
            <a:blip r:embed="rId3" cstate="print"/>
            <a:stretch>
              <a:fillRect/>
            </a:stretch>
          </p:blipFill>
          <p:spPr>
            <a:xfrm>
              <a:off x="472440" y="2119896"/>
              <a:ext cx="190499" cy="199631"/>
            </a:xfrm>
            <a:prstGeom prst="rect">
              <a:avLst/>
            </a:prstGeom>
          </p:spPr>
        </p:pic>
        <p:pic>
          <p:nvPicPr>
            <p:cNvPr id="5" name="object 5">
              <a:extLst>
                <a:ext uri="{FF2B5EF4-FFF2-40B4-BE49-F238E27FC236}">
                  <a16:creationId xmlns:a16="http://schemas.microsoft.com/office/drawing/2014/main" id="{6173C9F6-46D9-F6A4-03D8-AF21DAFBB404}"/>
                </a:ext>
              </a:extLst>
            </p:cNvPr>
            <p:cNvPicPr/>
            <p:nvPr/>
          </p:nvPicPr>
          <p:blipFill>
            <a:blip r:embed="rId3" cstate="print"/>
            <a:stretch>
              <a:fillRect/>
            </a:stretch>
          </p:blipFill>
          <p:spPr>
            <a:xfrm>
              <a:off x="472440" y="4602492"/>
              <a:ext cx="190499" cy="199631"/>
            </a:xfrm>
            <a:prstGeom prst="rect">
              <a:avLst/>
            </a:prstGeom>
          </p:spPr>
        </p:pic>
      </p:grpSp>
      <p:sp>
        <p:nvSpPr>
          <p:cNvPr id="6" name="object 6">
            <a:extLst>
              <a:ext uri="{FF2B5EF4-FFF2-40B4-BE49-F238E27FC236}">
                <a16:creationId xmlns:a16="http://schemas.microsoft.com/office/drawing/2014/main" id="{722F41E7-99A6-F656-5550-47B8C41850A5}"/>
              </a:ext>
            </a:extLst>
          </p:cNvPr>
          <p:cNvSpPr txBox="1"/>
          <p:nvPr/>
        </p:nvSpPr>
        <p:spPr>
          <a:xfrm>
            <a:off x="461263" y="1948687"/>
            <a:ext cx="7626984" cy="4154170"/>
          </a:xfrm>
          <a:prstGeom prst="rect">
            <a:avLst/>
          </a:prstGeom>
        </p:spPr>
        <p:txBody>
          <a:bodyPr vert="horz" wrap="square" lIns="0" tIns="60960" rIns="0" bIns="0" rtlCol="0">
            <a:spAutoFit/>
          </a:bodyPr>
          <a:lstStyle/>
          <a:p>
            <a:pPr marL="352425" marR="5080">
              <a:lnSpc>
                <a:spcPts val="3020"/>
              </a:lnSpc>
              <a:spcBef>
                <a:spcPts val="480"/>
              </a:spcBef>
            </a:pPr>
            <a:r>
              <a:rPr sz="2800" dirty="0">
                <a:latin typeface="Calibri"/>
                <a:cs typeface="Calibri"/>
              </a:rPr>
              <a:t>If</a:t>
            </a:r>
            <a:r>
              <a:rPr sz="2800" spc="-40" dirty="0">
                <a:latin typeface="Calibri"/>
                <a:cs typeface="Calibri"/>
              </a:rPr>
              <a:t> </a:t>
            </a:r>
            <a:r>
              <a:rPr sz="2800" dirty="0">
                <a:latin typeface="Calibri"/>
                <a:cs typeface="Calibri"/>
              </a:rPr>
              <a:t>an</a:t>
            </a:r>
            <a:r>
              <a:rPr sz="2800" spc="-35" dirty="0">
                <a:latin typeface="Calibri"/>
                <a:cs typeface="Calibri"/>
              </a:rPr>
              <a:t> </a:t>
            </a:r>
            <a:r>
              <a:rPr sz="2800" dirty="0">
                <a:latin typeface="Calibri"/>
                <a:cs typeface="Calibri"/>
              </a:rPr>
              <a:t>agent</a:t>
            </a:r>
            <a:r>
              <a:rPr sz="2800" spc="-35" dirty="0">
                <a:latin typeface="Calibri"/>
                <a:cs typeface="Calibri"/>
              </a:rPr>
              <a:t> </a:t>
            </a:r>
            <a:r>
              <a:rPr sz="2800" dirty="0">
                <a:latin typeface="Calibri"/>
                <a:cs typeface="Calibri"/>
              </a:rPr>
              <a:t>just</a:t>
            </a:r>
            <a:r>
              <a:rPr sz="2800" spc="-35" dirty="0">
                <a:latin typeface="Calibri"/>
                <a:cs typeface="Calibri"/>
              </a:rPr>
              <a:t> </a:t>
            </a:r>
            <a:r>
              <a:rPr sz="2800" dirty="0">
                <a:latin typeface="Calibri"/>
                <a:cs typeface="Calibri"/>
              </a:rPr>
              <a:t>relies</a:t>
            </a:r>
            <a:r>
              <a:rPr sz="2800" spc="-40" dirty="0">
                <a:latin typeface="Calibri"/>
                <a:cs typeface="Calibri"/>
              </a:rPr>
              <a:t> </a:t>
            </a:r>
            <a:r>
              <a:rPr sz="2800" dirty="0">
                <a:latin typeface="Calibri"/>
                <a:cs typeface="Calibri"/>
              </a:rPr>
              <a:t>on</a:t>
            </a:r>
            <a:r>
              <a:rPr sz="2800" spc="-35"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prior</a:t>
            </a:r>
            <a:r>
              <a:rPr sz="2800" spc="-35" dirty="0">
                <a:latin typeface="Calibri"/>
                <a:cs typeface="Calibri"/>
              </a:rPr>
              <a:t> </a:t>
            </a:r>
            <a:r>
              <a:rPr sz="2800" dirty="0">
                <a:latin typeface="Calibri"/>
                <a:cs typeface="Calibri"/>
              </a:rPr>
              <a:t>knowledge</a:t>
            </a:r>
            <a:r>
              <a:rPr sz="2800" spc="-40" dirty="0">
                <a:latin typeface="Calibri"/>
                <a:cs typeface="Calibri"/>
              </a:rPr>
              <a:t> </a:t>
            </a:r>
            <a:r>
              <a:rPr sz="2800" dirty="0">
                <a:latin typeface="Calibri"/>
                <a:cs typeface="Calibri"/>
              </a:rPr>
              <a:t>of</a:t>
            </a:r>
            <a:r>
              <a:rPr sz="2800" spc="-35" dirty="0">
                <a:latin typeface="Calibri"/>
                <a:cs typeface="Calibri"/>
              </a:rPr>
              <a:t> </a:t>
            </a:r>
            <a:r>
              <a:rPr sz="2800" spc="-25" dirty="0">
                <a:latin typeface="Calibri"/>
                <a:cs typeface="Calibri"/>
              </a:rPr>
              <a:t>its </a:t>
            </a:r>
            <a:r>
              <a:rPr sz="2800" dirty="0">
                <a:latin typeface="Calibri"/>
                <a:cs typeface="Calibri"/>
              </a:rPr>
              <a:t>designer</a:t>
            </a:r>
            <a:r>
              <a:rPr sz="2800" spc="-65" dirty="0">
                <a:latin typeface="Calibri"/>
                <a:cs typeface="Calibri"/>
              </a:rPr>
              <a:t> </a:t>
            </a:r>
            <a:r>
              <a:rPr sz="2800" dirty="0">
                <a:latin typeface="Calibri"/>
                <a:cs typeface="Calibri"/>
              </a:rPr>
              <a:t>rather</a:t>
            </a:r>
            <a:r>
              <a:rPr sz="2800" spc="-80" dirty="0">
                <a:latin typeface="Calibri"/>
                <a:cs typeface="Calibri"/>
              </a:rPr>
              <a:t> </a:t>
            </a:r>
            <a:r>
              <a:rPr sz="2800" dirty="0">
                <a:latin typeface="Calibri"/>
                <a:cs typeface="Calibri"/>
              </a:rPr>
              <a:t>than</a:t>
            </a:r>
            <a:r>
              <a:rPr sz="2800" spc="-60" dirty="0">
                <a:latin typeface="Calibri"/>
                <a:cs typeface="Calibri"/>
              </a:rPr>
              <a:t> </a:t>
            </a:r>
            <a:r>
              <a:rPr sz="2800" dirty="0">
                <a:latin typeface="Calibri"/>
                <a:cs typeface="Calibri"/>
              </a:rPr>
              <a:t>its</a:t>
            </a:r>
            <a:r>
              <a:rPr sz="2800" spc="-70" dirty="0">
                <a:latin typeface="Calibri"/>
                <a:cs typeface="Calibri"/>
              </a:rPr>
              <a:t> </a:t>
            </a:r>
            <a:r>
              <a:rPr sz="2800" dirty="0">
                <a:latin typeface="Calibri"/>
                <a:cs typeface="Calibri"/>
              </a:rPr>
              <a:t>own</a:t>
            </a:r>
            <a:r>
              <a:rPr sz="2800" spc="-70" dirty="0">
                <a:latin typeface="Calibri"/>
                <a:cs typeface="Calibri"/>
              </a:rPr>
              <a:t> </a:t>
            </a:r>
            <a:r>
              <a:rPr sz="2800" dirty="0">
                <a:latin typeface="Calibri"/>
                <a:cs typeface="Calibri"/>
              </a:rPr>
              <a:t>percepts</a:t>
            </a:r>
            <a:r>
              <a:rPr sz="2800" spc="-70" dirty="0">
                <a:latin typeface="Calibri"/>
                <a:cs typeface="Calibri"/>
              </a:rPr>
              <a:t> </a:t>
            </a:r>
            <a:r>
              <a:rPr sz="2800" dirty="0">
                <a:latin typeface="Calibri"/>
                <a:cs typeface="Calibri"/>
              </a:rPr>
              <a:t>then</a:t>
            </a:r>
            <a:r>
              <a:rPr sz="2800" spc="-65" dirty="0">
                <a:latin typeface="Calibri"/>
                <a:cs typeface="Calibri"/>
              </a:rPr>
              <a:t> </a:t>
            </a:r>
            <a:r>
              <a:rPr sz="2800" spc="-25" dirty="0">
                <a:latin typeface="Calibri"/>
                <a:cs typeface="Calibri"/>
              </a:rPr>
              <a:t>the </a:t>
            </a:r>
            <a:r>
              <a:rPr sz="2800" dirty="0">
                <a:latin typeface="Calibri"/>
                <a:cs typeface="Calibri"/>
              </a:rPr>
              <a:t>agent</a:t>
            </a:r>
            <a:r>
              <a:rPr sz="2800" spc="-90" dirty="0">
                <a:latin typeface="Calibri"/>
                <a:cs typeface="Calibri"/>
              </a:rPr>
              <a:t> </a:t>
            </a:r>
            <a:r>
              <a:rPr sz="2800" dirty="0">
                <a:solidFill>
                  <a:srgbClr val="C00000"/>
                </a:solidFill>
                <a:latin typeface="Calibri"/>
                <a:cs typeface="Calibri"/>
              </a:rPr>
              <a:t>lacks</a:t>
            </a:r>
            <a:r>
              <a:rPr sz="2800" spc="-90" dirty="0">
                <a:solidFill>
                  <a:srgbClr val="C00000"/>
                </a:solidFill>
                <a:latin typeface="Calibri"/>
                <a:cs typeface="Calibri"/>
              </a:rPr>
              <a:t> </a:t>
            </a:r>
            <a:r>
              <a:rPr sz="2800" b="1" i="1" u="sng" spc="-10" dirty="0">
                <a:solidFill>
                  <a:srgbClr val="C00000"/>
                </a:solidFill>
                <a:uFill>
                  <a:solidFill>
                    <a:srgbClr val="C00000"/>
                  </a:solidFill>
                </a:uFill>
                <a:latin typeface="Calibri"/>
                <a:cs typeface="Calibri"/>
              </a:rPr>
              <a:t>autonomy</a:t>
            </a:r>
            <a:endParaRPr sz="2800">
              <a:latin typeface="Calibri"/>
              <a:cs typeface="Calibri"/>
            </a:endParaRPr>
          </a:p>
          <a:p>
            <a:pPr marL="352425" marR="298450" indent="-340360">
              <a:lnSpc>
                <a:spcPts val="3020"/>
              </a:lnSpc>
              <a:spcBef>
                <a:spcPts val="720"/>
              </a:spcBef>
            </a:pPr>
            <a:r>
              <a:rPr sz="2800" b="1" i="1" u="sng" dirty="0">
                <a:uFill>
                  <a:solidFill>
                    <a:srgbClr val="000000"/>
                  </a:solidFill>
                </a:uFill>
                <a:latin typeface="Calibri"/>
                <a:cs typeface="Calibri"/>
              </a:rPr>
              <a:t>A</a:t>
            </a:r>
            <a:r>
              <a:rPr sz="2800" b="1" i="1" u="sng" spc="-50" dirty="0">
                <a:uFill>
                  <a:solidFill>
                    <a:srgbClr val="000000"/>
                  </a:solidFill>
                </a:uFill>
                <a:latin typeface="Calibri"/>
                <a:cs typeface="Calibri"/>
              </a:rPr>
              <a:t> </a:t>
            </a:r>
            <a:r>
              <a:rPr sz="2800" b="1" i="1" u="sng" dirty="0">
                <a:uFill>
                  <a:solidFill>
                    <a:srgbClr val="000000"/>
                  </a:solidFill>
                </a:uFill>
                <a:latin typeface="Calibri"/>
                <a:cs typeface="Calibri"/>
              </a:rPr>
              <a:t>rational</a:t>
            </a:r>
            <a:r>
              <a:rPr sz="2800" b="1" i="1" u="sng" spc="-50" dirty="0">
                <a:uFill>
                  <a:solidFill>
                    <a:srgbClr val="000000"/>
                  </a:solidFill>
                </a:uFill>
                <a:latin typeface="Calibri"/>
                <a:cs typeface="Calibri"/>
              </a:rPr>
              <a:t> </a:t>
            </a:r>
            <a:r>
              <a:rPr sz="2800" b="1" i="1" u="sng" dirty="0">
                <a:uFill>
                  <a:solidFill>
                    <a:srgbClr val="000000"/>
                  </a:solidFill>
                </a:uFill>
                <a:latin typeface="Calibri"/>
                <a:cs typeface="Calibri"/>
              </a:rPr>
              <a:t>agent</a:t>
            </a:r>
            <a:r>
              <a:rPr sz="2800" b="1" i="1" u="sng" spc="-55" dirty="0">
                <a:uFill>
                  <a:solidFill>
                    <a:srgbClr val="000000"/>
                  </a:solidFill>
                </a:uFill>
                <a:latin typeface="Calibri"/>
                <a:cs typeface="Calibri"/>
              </a:rPr>
              <a:t> </a:t>
            </a:r>
            <a:r>
              <a:rPr sz="2800" b="1" i="1" u="sng" dirty="0">
                <a:uFill>
                  <a:solidFill>
                    <a:srgbClr val="000000"/>
                  </a:solidFill>
                </a:uFill>
                <a:latin typeface="Calibri"/>
                <a:cs typeface="Calibri"/>
              </a:rPr>
              <a:t>should</a:t>
            </a:r>
            <a:r>
              <a:rPr sz="2800" b="1" i="1" u="sng" spc="-60" dirty="0">
                <a:uFill>
                  <a:solidFill>
                    <a:srgbClr val="000000"/>
                  </a:solidFill>
                </a:uFill>
                <a:latin typeface="Calibri"/>
                <a:cs typeface="Calibri"/>
              </a:rPr>
              <a:t> </a:t>
            </a:r>
            <a:r>
              <a:rPr sz="2800" b="1" i="1" u="sng" dirty="0">
                <a:uFill>
                  <a:solidFill>
                    <a:srgbClr val="000000"/>
                  </a:solidFill>
                </a:uFill>
                <a:latin typeface="Calibri"/>
                <a:cs typeface="Calibri"/>
              </a:rPr>
              <a:t>be</a:t>
            </a:r>
            <a:r>
              <a:rPr sz="2800" b="1" i="1" u="sng" spc="-55" dirty="0">
                <a:uFill>
                  <a:solidFill>
                    <a:srgbClr val="000000"/>
                  </a:solidFill>
                </a:uFill>
                <a:latin typeface="Calibri"/>
                <a:cs typeface="Calibri"/>
              </a:rPr>
              <a:t> </a:t>
            </a:r>
            <a:r>
              <a:rPr sz="2800" b="1" i="1" u="sng" dirty="0">
                <a:uFill>
                  <a:solidFill>
                    <a:srgbClr val="000000"/>
                  </a:solidFill>
                </a:uFill>
                <a:latin typeface="Calibri"/>
                <a:cs typeface="Calibri"/>
              </a:rPr>
              <a:t>autonomous-</a:t>
            </a:r>
            <a:r>
              <a:rPr sz="2800" b="1" i="1" u="sng" spc="-80" dirty="0">
                <a:uFill>
                  <a:solidFill>
                    <a:srgbClr val="000000"/>
                  </a:solidFill>
                </a:uFill>
                <a:latin typeface="Calibri"/>
                <a:cs typeface="Calibri"/>
              </a:rPr>
              <a:t> </a:t>
            </a:r>
            <a:r>
              <a:rPr sz="2800" b="1" i="1" u="sng" dirty="0">
                <a:uFill>
                  <a:solidFill>
                    <a:srgbClr val="000000"/>
                  </a:solidFill>
                </a:uFill>
                <a:latin typeface="Calibri"/>
                <a:cs typeface="Calibri"/>
              </a:rPr>
              <a:t>it</a:t>
            </a:r>
            <a:r>
              <a:rPr sz="2800" b="1" i="1" u="sng" spc="-50" dirty="0">
                <a:uFill>
                  <a:solidFill>
                    <a:srgbClr val="000000"/>
                  </a:solidFill>
                </a:uFill>
                <a:latin typeface="Calibri"/>
                <a:cs typeface="Calibri"/>
              </a:rPr>
              <a:t> </a:t>
            </a:r>
            <a:r>
              <a:rPr sz="2800" b="1" i="1" u="sng" spc="-10" dirty="0">
                <a:uFill>
                  <a:solidFill>
                    <a:srgbClr val="000000"/>
                  </a:solidFill>
                </a:uFill>
                <a:latin typeface="Calibri"/>
                <a:cs typeface="Calibri"/>
              </a:rPr>
              <a:t>should</a:t>
            </a:r>
            <a:r>
              <a:rPr sz="2800" b="1" i="1" spc="-10" dirty="0">
                <a:latin typeface="Calibri"/>
                <a:cs typeface="Calibri"/>
              </a:rPr>
              <a:t> </a:t>
            </a:r>
            <a:r>
              <a:rPr sz="2800" b="1" i="1" u="sng" dirty="0">
                <a:uFill>
                  <a:solidFill>
                    <a:srgbClr val="000000"/>
                  </a:solidFill>
                </a:uFill>
                <a:latin typeface="Calibri"/>
                <a:cs typeface="Calibri"/>
              </a:rPr>
              <a:t>learn</a:t>
            </a:r>
            <a:r>
              <a:rPr sz="2800" b="1" i="1" u="sng" spc="-45" dirty="0">
                <a:uFill>
                  <a:solidFill>
                    <a:srgbClr val="000000"/>
                  </a:solidFill>
                </a:uFill>
                <a:latin typeface="Calibri"/>
                <a:cs typeface="Calibri"/>
              </a:rPr>
              <a:t> </a:t>
            </a:r>
            <a:r>
              <a:rPr sz="2800" b="1" i="1" u="sng" dirty="0">
                <a:uFill>
                  <a:solidFill>
                    <a:srgbClr val="000000"/>
                  </a:solidFill>
                </a:uFill>
                <a:latin typeface="Calibri"/>
                <a:cs typeface="Calibri"/>
              </a:rPr>
              <a:t>what</a:t>
            </a:r>
            <a:r>
              <a:rPr sz="2800" b="1" i="1" u="sng" spc="-60" dirty="0">
                <a:uFill>
                  <a:solidFill>
                    <a:srgbClr val="000000"/>
                  </a:solidFill>
                </a:uFill>
                <a:latin typeface="Calibri"/>
                <a:cs typeface="Calibri"/>
              </a:rPr>
              <a:t> </a:t>
            </a:r>
            <a:r>
              <a:rPr sz="2800" b="1" i="1" u="sng" dirty="0">
                <a:uFill>
                  <a:solidFill>
                    <a:srgbClr val="000000"/>
                  </a:solidFill>
                </a:uFill>
                <a:latin typeface="Calibri"/>
                <a:cs typeface="Calibri"/>
              </a:rPr>
              <a:t>it</a:t>
            </a:r>
            <a:r>
              <a:rPr sz="2800" b="1" i="1" u="sng" spc="-40" dirty="0">
                <a:uFill>
                  <a:solidFill>
                    <a:srgbClr val="000000"/>
                  </a:solidFill>
                </a:uFill>
                <a:latin typeface="Calibri"/>
                <a:cs typeface="Calibri"/>
              </a:rPr>
              <a:t> </a:t>
            </a:r>
            <a:r>
              <a:rPr sz="2800" b="1" i="1" u="sng" dirty="0">
                <a:uFill>
                  <a:solidFill>
                    <a:srgbClr val="000000"/>
                  </a:solidFill>
                </a:uFill>
                <a:latin typeface="Calibri"/>
                <a:cs typeface="Calibri"/>
              </a:rPr>
              <a:t>can</a:t>
            </a:r>
            <a:r>
              <a:rPr sz="2800" b="1" i="1" u="sng" spc="-60" dirty="0">
                <a:uFill>
                  <a:solidFill>
                    <a:srgbClr val="000000"/>
                  </a:solidFill>
                </a:uFill>
                <a:latin typeface="Calibri"/>
                <a:cs typeface="Calibri"/>
              </a:rPr>
              <a:t> </a:t>
            </a:r>
            <a:r>
              <a:rPr sz="2800" b="1" i="1" u="sng" dirty="0">
                <a:uFill>
                  <a:solidFill>
                    <a:srgbClr val="000000"/>
                  </a:solidFill>
                </a:uFill>
                <a:latin typeface="Calibri"/>
                <a:cs typeface="Calibri"/>
              </a:rPr>
              <a:t>to</a:t>
            </a:r>
            <a:r>
              <a:rPr sz="2800" b="1" i="1" u="sng" spc="-55" dirty="0">
                <a:uFill>
                  <a:solidFill>
                    <a:srgbClr val="000000"/>
                  </a:solidFill>
                </a:uFill>
                <a:latin typeface="Calibri"/>
                <a:cs typeface="Calibri"/>
              </a:rPr>
              <a:t> </a:t>
            </a:r>
            <a:r>
              <a:rPr sz="2800" b="1" i="1" u="sng" spc="-10" dirty="0">
                <a:uFill>
                  <a:solidFill>
                    <a:srgbClr val="000000"/>
                  </a:solidFill>
                </a:uFill>
                <a:latin typeface="Calibri"/>
                <a:cs typeface="Calibri"/>
              </a:rPr>
              <a:t>compensate</a:t>
            </a:r>
            <a:r>
              <a:rPr sz="2800" b="1" i="1" u="sng" spc="-55" dirty="0">
                <a:uFill>
                  <a:solidFill>
                    <a:srgbClr val="000000"/>
                  </a:solidFill>
                </a:uFill>
                <a:latin typeface="Calibri"/>
                <a:cs typeface="Calibri"/>
              </a:rPr>
              <a:t> </a:t>
            </a:r>
            <a:r>
              <a:rPr sz="2800" b="1" i="1" u="sng" dirty="0">
                <a:uFill>
                  <a:solidFill>
                    <a:srgbClr val="000000"/>
                  </a:solidFill>
                </a:uFill>
                <a:latin typeface="Calibri"/>
                <a:cs typeface="Calibri"/>
              </a:rPr>
              <a:t>for</a:t>
            </a:r>
            <a:r>
              <a:rPr sz="2800" b="1" i="1" u="sng" spc="-55" dirty="0">
                <a:uFill>
                  <a:solidFill>
                    <a:srgbClr val="000000"/>
                  </a:solidFill>
                </a:uFill>
                <a:latin typeface="Calibri"/>
                <a:cs typeface="Calibri"/>
              </a:rPr>
              <a:t> </a:t>
            </a:r>
            <a:r>
              <a:rPr sz="2800" b="1" i="1" u="sng" dirty="0">
                <a:uFill>
                  <a:solidFill>
                    <a:srgbClr val="000000"/>
                  </a:solidFill>
                </a:uFill>
                <a:latin typeface="Calibri"/>
                <a:cs typeface="Calibri"/>
              </a:rPr>
              <a:t>partial</a:t>
            </a:r>
            <a:r>
              <a:rPr sz="2800" b="1" i="1" u="sng" spc="-50" dirty="0">
                <a:uFill>
                  <a:solidFill>
                    <a:srgbClr val="000000"/>
                  </a:solidFill>
                </a:uFill>
                <a:latin typeface="Calibri"/>
                <a:cs typeface="Calibri"/>
              </a:rPr>
              <a:t> </a:t>
            </a:r>
            <a:r>
              <a:rPr sz="2800" b="1" i="1" u="sng" spc="-25" dirty="0">
                <a:uFill>
                  <a:solidFill>
                    <a:srgbClr val="000000"/>
                  </a:solidFill>
                </a:uFill>
                <a:latin typeface="Calibri"/>
                <a:cs typeface="Calibri"/>
              </a:rPr>
              <a:t>or</a:t>
            </a:r>
            <a:r>
              <a:rPr sz="2800" b="1" i="1" spc="-25" dirty="0">
                <a:latin typeface="Calibri"/>
                <a:cs typeface="Calibri"/>
              </a:rPr>
              <a:t> </a:t>
            </a:r>
            <a:r>
              <a:rPr sz="2800" b="1" i="1" u="sng" dirty="0">
                <a:uFill>
                  <a:solidFill>
                    <a:srgbClr val="000000"/>
                  </a:solidFill>
                </a:uFill>
                <a:latin typeface="Calibri"/>
                <a:cs typeface="Calibri"/>
              </a:rPr>
              <a:t>incorrect</a:t>
            </a:r>
            <a:r>
              <a:rPr sz="2800" b="1" i="1" u="sng" spc="-85" dirty="0">
                <a:uFill>
                  <a:solidFill>
                    <a:srgbClr val="000000"/>
                  </a:solidFill>
                </a:uFill>
                <a:latin typeface="Calibri"/>
                <a:cs typeface="Calibri"/>
              </a:rPr>
              <a:t> </a:t>
            </a:r>
            <a:r>
              <a:rPr sz="2800" b="1" i="1" u="sng" dirty="0">
                <a:uFill>
                  <a:solidFill>
                    <a:srgbClr val="000000"/>
                  </a:solidFill>
                </a:uFill>
                <a:latin typeface="Calibri"/>
                <a:cs typeface="Calibri"/>
              </a:rPr>
              <a:t>prior</a:t>
            </a:r>
            <a:r>
              <a:rPr sz="2800" b="1" i="1" u="sng" spc="-80" dirty="0">
                <a:uFill>
                  <a:solidFill>
                    <a:srgbClr val="000000"/>
                  </a:solidFill>
                </a:uFill>
                <a:latin typeface="Calibri"/>
                <a:cs typeface="Calibri"/>
              </a:rPr>
              <a:t> </a:t>
            </a:r>
            <a:r>
              <a:rPr sz="2800" b="1" i="1" u="sng" spc="-10" dirty="0">
                <a:uFill>
                  <a:solidFill>
                    <a:srgbClr val="000000"/>
                  </a:solidFill>
                </a:uFill>
                <a:latin typeface="Calibri"/>
                <a:cs typeface="Calibri"/>
              </a:rPr>
              <a:t>knowledge.</a:t>
            </a:r>
            <a:endParaRPr sz="2800">
              <a:latin typeface="Calibri"/>
              <a:cs typeface="Calibri"/>
            </a:endParaRPr>
          </a:p>
          <a:p>
            <a:pPr marL="352425">
              <a:lnSpc>
                <a:spcPct val="100000"/>
              </a:lnSpc>
              <a:spcBef>
                <a:spcPts val="325"/>
              </a:spcBef>
            </a:pPr>
            <a:r>
              <a:rPr sz="2800" dirty="0">
                <a:latin typeface="Calibri"/>
                <a:cs typeface="Calibri"/>
              </a:rPr>
              <a:t>E.g.,</a:t>
            </a:r>
            <a:r>
              <a:rPr sz="2800" spc="-35" dirty="0">
                <a:latin typeface="Calibri"/>
                <a:cs typeface="Calibri"/>
              </a:rPr>
              <a:t> </a:t>
            </a:r>
            <a:r>
              <a:rPr sz="2800" dirty="0">
                <a:latin typeface="Calibri"/>
                <a:cs typeface="Calibri"/>
              </a:rPr>
              <a:t>a</a:t>
            </a:r>
            <a:r>
              <a:rPr sz="2800" spc="-35" dirty="0">
                <a:latin typeface="Calibri"/>
                <a:cs typeface="Calibri"/>
              </a:rPr>
              <a:t> </a:t>
            </a:r>
            <a:r>
              <a:rPr sz="2800" spc="-20" dirty="0">
                <a:latin typeface="Calibri"/>
                <a:cs typeface="Calibri"/>
              </a:rPr>
              <a:t>clock</a:t>
            </a:r>
            <a:endParaRPr sz="2800">
              <a:latin typeface="Calibri"/>
              <a:cs typeface="Calibri"/>
            </a:endParaRPr>
          </a:p>
          <a:p>
            <a:pPr marL="751840" indent="-283845">
              <a:lnSpc>
                <a:spcPct val="100000"/>
              </a:lnSpc>
              <a:spcBef>
                <a:spcPts val="340"/>
              </a:spcBef>
              <a:buClr>
                <a:srgbClr val="C09E4A"/>
              </a:buClr>
              <a:buSzPct val="68750"/>
              <a:buFont typeface="Wingdings"/>
              <a:buChar char=""/>
              <a:tabLst>
                <a:tab pos="751840" algn="l"/>
              </a:tabLst>
            </a:pPr>
            <a:r>
              <a:rPr sz="2400" dirty="0">
                <a:latin typeface="Calibri"/>
                <a:cs typeface="Calibri"/>
              </a:rPr>
              <a:t>No</a:t>
            </a:r>
            <a:r>
              <a:rPr sz="2400" spc="-45" dirty="0">
                <a:latin typeface="Calibri"/>
                <a:cs typeface="Calibri"/>
              </a:rPr>
              <a:t> </a:t>
            </a:r>
            <a:r>
              <a:rPr sz="2400" dirty="0">
                <a:latin typeface="Calibri"/>
                <a:cs typeface="Calibri"/>
              </a:rPr>
              <a:t>input</a:t>
            </a:r>
            <a:r>
              <a:rPr sz="2400" spc="-40" dirty="0">
                <a:latin typeface="Calibri"/>
                <a:cs typeface="Calibri"/>
              </a:rPr>
              <a:t> </a:t>
            </a:r>
            <a:r>
              <a:rPr sz="2400" spc="-10" dirty="0">
                <a:latin typeface="Calibri"/>
                <a:cs typeface="Calibri"/>
              </a:rPr>
              <a:t>(percepts)</a:t>
            </a:r>
            <a:endParaRPr sz="2400">
              <a:latin typeface="Calibri"/>
              <a:cs typeface="Calibri"/>
            </a:endParaRPr>
          </a:p>
          <a:p>
            <a:pPr marL="751840" indent="-283845">
              <a:lnSpc>
                <a:spcPct val="100000"/>
              </a:lnSpc>
              <a:spcBef>
                <a:spcPts val="310"/>
              </a:spcBef>
              <a:buClr>
                <a:srgbClr val="C09E4A"/>
              </a:buClr>
              <a:buSzPct val="68750"/>
              <a:buFont typeface="Wingdings"/>
              <a:buChar char=""/>
              <a:tabLst>
                <a:tab pos="751840" algn="l"/>
              </a:tabLst>
            </a:pPr>
            <a:r>
              <a:rPr sz="2400" dirty="0">
                <a:latin typeface="Calibri"/>
                <a:cs typeface="Calibri"/>
              </a:rPr>
              <a:t>Run</a:t>
            </a:r>
            <a:r>
              <a:rPr sz="2400" spc="-35" dirty="0">
                <a:latin typeface="Calibri"/>
                <a:cs typeface="Calibri"/>
              </a:rPr>
              <a:t> </a:t>
            </a:r>
            <a:r>
              <a:rPr sz="2400" dirty="0">
                <a:latin typeface="Calibri"/>
                <a:cs typeface="Calibri"/>
              </a:rPr>
              <a:t>only</a:t>
            </a:r>
            <a:r>
              <a:rPr sz="2400" spc="-35" dirty="0">
                <a:latin typeface="Calibri"/>
                <a:cs typeface="Calibri"/>
              </a:rPr>
              <a:t> </a:t>
            </a:r>
            <a:r>
              <a:rPr sz="2400" dirty="0">
                <a:latin typeface="Calibri"/>
                <a:cs typeface="Calibri"/>
              </a:rPr>
              <a:t>but</a:t>
            </a:r>
            <a:r>
              <a:rPr sz="2400" spc="-35" dirty="0">
                <a:latin typeface="Calibri"/>
                <a:cs typeface="Calibri"/>
              </a:rPr>
              <a:t> </a:t>
            </a:r>
            <a:r>
              <a:rPr sz="2400" dirty="0">
                <a:latin typeface="Calibri"/>
                <a:cs typeface="Calibri"/>
              </a:rPr>
              <a:t>its</a:t>
            </a:r>
            <a:r>
              <a:rPr sz="2400" spc="-35" dirty="0">
                <a:latin typeface="Calibri"/>
                <a:cs typeface="Calibri"/>
              </a:rPr>
              <a:t> </a:t>
            </a:r>
            <a:r>
              <a:rPr sz="2400" dirty="0">
                <a:latin typeface="Calibri"/>
                <a:cs typeface="Calibri"/>
              </a:rPr>
              <a:t>own</a:t>
            </a:r>
            <a:r>
              <a:rPr sz="2400" spc="-35" dirty="0">
                <a:latin typeface="Calibri"/>
                <a:cs typeface="Calibri"/>
              </a:rPr>
              <a:t> </a:t>
            </a:r>
            <a:r>
              <a:rPr sz="2400" dirty="0">
                <a:latin typeface="Calibri"/>
                <a:cs typeface="Calibri"/>
              </a:rPr>
              <a:t>algorithm</a:t>
            </a:r>
            <a:r>
              <a:rPr sz="2400" spc="-50" dirty="0">
                <a:latin typeface="Calibri"/>
                <a:cs typeface="Calibri"/>
              </a:rPr>
              <a:t> </a:t>
            </a:r>
            <a:r>
              <a:rPr sz="2400" dirty="0">
                <a:latin typeface="Calibri"/>
                <a:cs typeface="Calibri"/>
              </a:rPr>
              <a:t>(prior</a:t>
            </a:r>
            <a:r>
              <a:rPr sz="2400" spc="-40" dirty="0">
                <a:latin typeface="Calibri"/>
                <a:cs typeface="Calibri"/>
              </a:rPr>
              <a:t> </a:t>
            </a:r>
            <a:r>
              <a:rPr sz="2400" spc="-10" dirty="0">
                <a:latin typeface="Calibri"/>
                <a:cs typeface="Calibri"/>
              </a:rPr>
              <a:t>knowledge)</a:t>
            </a:r>
            <a:endParaRPr sz="2400">
              <a:latin typeface="Calibri"/>
              <a:cs typeface="Calibri"/>
            </a:endParaRPr>
          </a:p>
          <a:p>
            <a:pPr marL="751840" indent="-283845">
              <a:lnSpc>
                <a:spcPct val="100000"/>
              </a:lnSpc>
              <a:spcBef>
                <a:spcPts val="310"/>
              </a:spcBef>
              <a:buClr>
                <a:srgbClr val="C09E4A"/>
              </a:buClr>
              <a:buSzPct val="68750"/>
              <a:buFont typeface="Wingdings"/>
              <a:buChar char=""/>
              <a:tabLst>
                <a:tab pos="751840" algn="l"/>
              </a:tabLst>
            </a:pPr>
            <a:r>
              <a:rPr sz="2400" dirty="0">
                <a:latin typeface="Calibri"/>
                <a:cs typeface="Calibri"/>
              </a:rPr>
              <a:t>No</a:t>
            </a:r>
            <a:r>
              <a:rPr sz="2400" spc="-65" dirty="0">
                <a:latin typeface="Calibri"/>
                <a:cs typeface="Calibri"/>
              </a:rPr>
              <a:t> </a:t>
            </a:r>
            <a:r>
              <a:rPr sz="2400" dirty="0">
                <a:latin typeface="Calibri"/>
                <a:cs typeface="Calibri"/>
              </a:rPr>
              <a:t>learning,</a:t>
            </a:r>
            <a:r>
              <a:rPr sz="2400" spc="-60" dirty="0">
                <a:latin typeface="Calibri"/>
                <a:cs typeface="Calibri"/>
              </a:rPr>
              <a:t> </a:t>
            </a:r>
            <a:r>
              <a:rPr sz="2400" dirty="0">
                <a:latin typeface="Calibri"/>
                <a:cs typeface="Calibri"/>
              </a:rPr>
              <a:t>no</a:t>
            </a:r>
            <a:r>
              <a:rPr sz="2400" spc="-65" dirty="0">
                <a:latin typeface="Calibri"/>
                <a:cs typeface="Calibri"/>
              </a:rPr>
              <a:t> </a:t>
            </a:r>
            <a:r>
              <a:rPr sz="2400" dirty="0">
                <a:latin typeface="Calibri"/>
                <a:cs typeface="Calibri"/>
              </a:rPr>
              <a:t>experience,</a:t>
            </a:r>
            <a:r>
              <a:rPr sz="2400" spc="-70" dirty="0">
                <a:latin typeface="Calibri"/>
                <a:cs typeface="Calibri"/>
              </a:rPr>
              <a:t> </a:t>
            </a:r>
            <a:r>
              <a:rPr sz="2400" spc="-20" dirty="0">
                <a:latin typeface="Calibri"/>
                <a:cs typeface="Calibri"/>
              </a:rPr>
              <a:t>etc.</a:t>
            </a:r>
            <a:endParaRPr sz="2400">
              <a:latin typeface="Calibri"/>
              <a:cs typeface="Calibri"/>
            </a:endParaRPr>
          </a:p>
        </p:txBody>
      </p:sp>
    </p:spTree>
    <p:extLst>
      <p:ext uri="{BB962C8B-B14F-4D97-AF65-F5344CB8AC3E}">
        <p14:creationId xmlns:p14="http://schemas.microsoft.com/office/powerpoint/2010/main" val="1570393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E396-9B23-E146-0157-361F9A3B8AA6}"/>
            </a:ext>
          </a:extLst>
        </p:cNvPr>
        <p:cNvGrpSpPr/>
        <p:nvPr/>
      </p:nvGrpSpPr>
      <p:grpSpPr>
        <a:xfrm>
          <a:off x="0" y="0"/>
          <a:ext cx="0" cy="0"/>
          <a:chOff x="0" y="0"/>
          <a:chExt cx="0" cy="0"/>
        </a:xfrm>
      </p:grpSpPr>
      <p:grpSp>
        <p:nvGrpSpPr>
          <p:cNvPr id="16386" name="Group 2">
            <a:extLst>
              <a:ext uri="{FF2B5EF4-FFF2-40B4-BE49-F238E27FC236}">
                <a16:creationId xmlns:a16="http://schemas.microsoft.com/office/drawing/2014/main" id="{9FE410D8-AA7C-6EFA-1D12-1F07F16BBE1A}"/>
              </a:ext>
            </a:extLst>
          </p:cNvPr>
          <p:cNvGrpSpPr>
            <a:grpSpLocks/>
          </p:cNvGrpSpPr>
          <p:nvPr/>
        </p:nvGrpSpPr>
        <p:grpSpPr bwMode="auto">
          <a:xfrm>
            <a:off x="473075" y="990600"/>
            <a:ext cx="8289925" cy="5635625"/>
            <a:chOff x="0" y="0"/>
            <a:chExt cx="3680" cy="3514"/>
          </a:xfrm>
        </p:grpSpPr>
        <p:grpSp>
          <p:nvGrpSpPr>
            <p:cNvPr id="16388" name="Group 3">
              <a:extLst>
                <a:ext uri="{FF2B5EF4-FFF2-40B4-BE49-F238E27FC236}">
                  <a16:creationId xmlns:a16="http://schemas.microsoft.com/office/drawing/2014/main" id="{D01FD592-3215-F069-0569-2BABE4F0BF3B}"/>
                </a:ext>
              </a:extLst>
            </p:cNvPr>
            <p:cNvGrpSpPr>
              <a:grpSpLocks/>
            </p:cNvGrpSpPr>
            <p:nvPr/>
          </p:nvGrpSpPr>
          <p:grpSpPr bwMode="auto">
            <a:xfrm>
              <a:off x="0" y="0"/>
              <a:ext cx="804" cy="384"/>
              <a:chOff x="0" y="0"/>
              <a:chExt cx="804" cy="384"/>
            </a:xfrm>
          </p:grpSpPr>
          <p:sp>
            <p:nvSpPr>
              <p:cNvPr id="16476" name="Rectangle 4">
                <a:extLst>
                  <a:ext uri="{FF2B5EF4-FFF2-40B4-BE49-F238E27FC236}">
                    <a16:creationId xmlns:a16="http://schemas.microsoft.com/office/drawing/2014/main" id="{9F6D4E57-FB54-A925-8084-274B65F5FE47}"/>
                  </a:ext>
                </a:extLst>
              </p:cNvPr>
              <p:cNvSpPr>
                <a:spLocks noChangeArrowheads="1"/>
              </p:cNvSpPr>
              <p:nvPr/>
            </p:nvSpPr>
            <p:spPr bwMode="auto">
              <a:xfrm>
                <a:off x="4" y="4"/>
                <a:ext cx="796"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b="1" dirty="0">
                    <a:latin typeface="Arial" panose="020B0604020202020204" pitchFamily="34" charset="0"/>
                    <a:cs typeface="Arial" panose="020B0604020202020204" pitchFamily="34" charset="0"/>
                  </a:rPr>
                  <a:t>Agent </a:t>
                </a:r>
                <a:r>
                  <a:rPr lang="en-US" altLang="en-US" sz="1600" b="1" dirty="0">
                    <a:latin typeface="Arial" panose="020B0604020202020204" pitchFamily="34" charset="0"/>
                    <a:cs typeface="Arial" panose="020B0604020202020204" pitchFamily="34" charset="0"/>
                  </a:rPr>
                  <a:t>type</a:t>
                </a:r>
                <a:endParaRPr lang="en-US" altLang="en-US" sz="1600" b="1" dirty="0">
                  <a:cs typeface="Times New Roman" panose="02020603050405020304" pitchFamily="18" charset="0"/>
                </a:endParaRPr>
              </a:p>
              <a:p>
                <a:endParaRPr lang="en-US" altLang="en-US" sz="1200" b="1" dirty="0"/>
              </a:p>
            </p:txBody>
          </p:sp>
          <p:sp>
            <p:nvSpPr>
              <p:cNvPr id="16477" name="Rectangle 5">
                <a:extLst>
                  <a:ext uri="{FF2B5EF4-FFF2-40B4-BE49-F238E27FC236}">
                    <a16:creationId xmlns:a16="http://schemas.microsoft.com/office/drawing/2014/main" id="{5E805508-5516-7CFD-58C9-F4B9CE9BB987}"/>
                  </a:ext>
                </a:extLst>
              </p:cNvPr>
              <p:cNvSpPr>
                <a:spLocks noChangeArrowheads="1"/>
              </p:cNvSpPr>
              <p:nvPr/>
            </p:nvSpPr>
            <p:spPr bwMode="auto">
              <a:xfrm>
                <a:off x="0" y="0"/>
                <a:ext cx="80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89" name="Group 6">
              <a:extLst>
                <a:ext uri="{FF2B5EF4-FFF2-40B4-BE49-F238E27FC236}">
                  <a16:creationId xmlns:a16="http://schemas.microsoft.com/office/drawing/2014/main" id="{E8E5BFA3-018F-72C3-9296-262866DFE218}"/>
                </a:ext>
              </a:extLst>
            </p:cNvPr>
            <p:cNvGrpSpPr>
              <a:grpSpLocks/>
            </p:cNvGrpSpPr>
            <p:nvPr/>
          </p:nvGrpSpPr>
          <p:grpSpPr bwMode="auto">
            <a:xfrm>
              <a:off x="804" y="0"/>
              <a:ext cx="656" cy="384"/>
              <a:chOff x="804" y="0"/>
              <a:chExt cx="656" cy="384"/>
            </a:xfrm>
          </p:grpSpPr>
          <p:sp>
            <p:nvSpPr>
              <p:cNvPr id="16474" name="Rectangle 7">
                <a:extLst>
                  <a:ext uri="{FF2B5EF4-FFF2-40B4-BE49-F238E27FC236}">
                    <a16:creationId xmlns:a16="http://schemas.microsoft.com/office/drawing/2014/main" id="{5D644D20-B6A6-7EC4-9850-58488DB9A873}"/>
                  </a:ext>
                </a:extLst>
              </p:cNvPr>
              <p:cNvSpPr>
                <a:spLocks noChangeArrowheads="1"/>
              </p:cNvSpPr>
              <p:nvPr/>
            </p:nvSpPr>
            <p:spPr bwMode="auto">
              <a:xfrm>
                <a:off x="808" y="4"/>
                <a:ext cx="64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b="1" dirty="0">
                    <a:latin typeface="Arial" panose="020B0604020202020204" pitchFamily="34" charset="0"/>
                    <a:cs typeface="Arial" panose="020B0604020202020204" pitchFamily="34" charset="0"/>
                  </a:rPr>
                  <a:t>Percepts</a:t>
                </a:r>
                <a:endParaRPr lang="en-US" altLang="en-US" sz="1600" b="1" dirty="0">
                  <a:cs typeface="Times New Roman" panose="02020603050405020304" pitchFamily="18" charset="0"/>
                </a:endParaRPr>
              </a:p>
              <a:p>
                <a:endParaRPr lang="en-US" altLang="en-US" sz="1000" b="1" dirty="0"/>
              </a:p>
            </p:txBody>
          </p:sp>
          <p:sp>
            <p:nvSpPr>
              <p:cNvPr id="16475" name="Rectangle 8">
                <a:extLst>
                  <a:ext uri="{FF2B5EF4-FFF2-40B4-BE49-F238E27FC236}">
                    <a16:creationId xmlns:a16="http://schemas.microsoft.com/office/drawing/2014/main" id="{59B4AC7C-63CE-09F0-CBFE-6FB4098743CB}"/>
                  </a:ext>
                </a:extLst>
              </p:cNvPr>
              <p:cNvSpPr>
                <a:spLocks noChangeArrowheads="1"/>
              </p:cNvSpPr>
              <p:nvPr/>
            </p:nvSpPr>
            <p:spPr bwMode="auto">
              <a:xfrm>
                <a:off x="804" y="0"/>
                <a:ext cx="6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0" name="Group 9">
              <a:extLst>
                <a:ext uri="{FF2B5EF4-FFF2-40B4-BE49-F238E27FC236}">
                  <a16:creationId xmlns:a16="http://schemas.microsoft.com/office/drawing/2014/main" id="{216830D5-222B-DD99-962D-A02F705D3E94}"/>
                </a:ext>
              </a:extLst>
            </p:cNvPr>
            <p:cNvGrpSpPr>
              <a:grpSpLocks/>
            </p:cNvGrpSpPr>
            <p:nvPr/>
          </p:nvGrpSpPr>
          <p:grpSpPr bwMode="auto">
            <a:xfrm>
              <a:off x="1460" y="0"/>
              <a:ext cx="872" cy="384"/>
              <a:chOff x="1460" y="0"/>
              <a:chExt cx="872" cy="384"/>
            </a:xfrm>
          </p:grpSpPr>
          <p:sp>
            <p:nvSpPr>
              <p:cNvPr id="16472" name="Rectangle 10">
                <a:extLst>
                  <a:ext uri="{FF2B5EF4-FFF2-40B4-BE49-F238E27FC236}">
                    <a16:creationId xmlns:a16="http://schemas.microsoft.com/office/drawing/2014/main" id="{83EF93C1-A8CF-FEE0-2D12-3DF98DD0BDCF}"/>
                  </a:ext>
                </a:extLst>
              </p:cNvPr>
              <p:cNvSpPr>
                <a:spLocks noChangeArrowheads="1"/>
              </p:cNvSpPr>
              <p:nvPr/>
            </p:nvSpPr>
            <p:spPr bwMode="auto">
              <a:xfrm>
                <a:off x="1464" y="4"/>
                <a:ext cx="86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b="1" dirty="0">
                    <a:latin typeface="Arial" panose="020B0604020202020204" pitchFamily="34" charset="0"/>
                    <a:cs typeface="Arial" panose="020B0604020202020204" pitchFamily="34" charset="0"/>
                  </a:rPr>
                  <a:t>Actions</a:t>
                </a:r>
                <a:endParaRPr lang="en-US" altLang="en-US" sz="1600" b="1" dirty="0">
                  <a:cs typeface="Times New Roman" panose="02020603050405020304" pitchFamily="18" charset="0"/>
                </a:endParaRPr>
              </a:p>
              <a:p>
                <a:endParaRPr lang="en-US" altLang="en-US" sz="1000" b="1" dirty="0"/>
              </a:p>
            </p:txBody>
          </p:sp>
          <p:sp>
            <p:nvSpPr>
              <p:cNvPr id="16473" name="Rectangle 11">
                <a:extLst>
                  <a:ext uri="{FF2B5EF4-FFF2-40B4-BE49-F238E27FC236}">
                    <a16:creationId xmlns:a16="http://schemas.microsoft.com/office/drawing/2014/main" id="{C0BC83AC-5C54-B33B-468C-F4AEC046BA02}"/>
                  </a:ext>
                </a:extLst>
              </p:cNvPr>
              <p:cNvSpPr>
                <a:spLocks noChangeArrowheads="1"/>
              </p:cNvSpPr>
              <p:nvPr/>
            </p:nvSpPr>
            <p:spPr bwMode="auto">
              <a:xfrm>
                <a:off x="1460" y="0"/>
                <a:ext cx="87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1" name="Group 12">
              <a:extLst>
                <a:ext uri="{FF2B5EF4-FFF2-40B4-BE49-F238E27FC236}">
                  <a16:creationId xmlns:a16="http://schemas.microsoft.com/office/drawing/2014/main" id="{A1775795-4F06-A8AF-79CD-B860995B9720}"/>
                </a:ext>
              </a:extLst>
            </p:cNvPr>
            <p:cNvGrpSpPr>
              <a:grpSpLocks/>
            </p:cNvGrpSpPr>
            <p:nvPr/>
          </p:nvGrpSpPr>
          <p:grpSpPr bwMode="auto">
            <a:xfrm>
              <a:off x="2332" y="0"/>
              <a:ext cx="656" cy="384"/>
              <a:chOff x="2332" y="0"/>
              <a:chExt cx="656" cy="384"/>
            </a:xfrm>
          </p:grpSpPr>
          <p:sp>
            <p:nvSpPr>
              <p:cNvPr id="16470" name="Rectangle 13">
                <a:extLst>
                  <a:ext uri="{FF2B5EF4-FFF2-40B4-BE49-F238E27FC236}">
                    <a16:creationId xmlns:a16="http://schemas.microsoft.com/office/drawing/2014/main" id="{5E63D6DB-D5B9-6BCE-B58F-8132FD1A5C62}"/>
                  </a:ext>
                </a:extLst>
              </p:cNvPr>
              <p:cNvSpPr>
                <a:spLocks noChangeArrowheads="1"/>
              </p:cNvSpPr>
              <p:nvPr/>
            </p:nvSpPr>
            <p:spPr bwMode="auto">
              <a:xfrm>
                <a:off x="2336" y="4"/>
                <a:ext cx="64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b="1" dirty="0">
                    <a:latin typeface="Arial" panose="020B0604020202020204" pitchFamily="34" charset="0"/>
                    <a:cs typeface="Arial" panose="020B0604020202020204" pitchFamily="34" charset="0"/>
                  </a:rPr>
                  <a:t>Goals</a:t>
                </a:r>
                <a:endParaRPr lang="en-US" altLang="en-US" sz="1600" b="1" dirty="0">
                  <a:cs typeface="Times New Roman" panose="02020603050405020304" pitchFamily="18" charset="0"/>
                </a:endParaRPr>
              </a:p>
              <a:p>
                <a:endParaRPr lang="en-US" altLang="en-US" sz="1000" b="1" dirty="0"/>
              </a:p>
            </p:txBody>
          </p:sp>
          <p:sp>
            <p:nvSpPr>
              <p:cNvPr id="16471" name="Rectangle 14">
                <a:extLst>
                  <a:ext uri="{FF2B5EF4-FFF2-40B4-BE49-F238E27FC236}">
                    <a16:creationId xmlns:a16="http://schemas.microsoft.com/office/drawing/2014/main" id="{D8ED9906-9914-72B2-0B02-1F8AA72DAB9C}"/>
                  </a:ext>
                </a:extLst>
              </p:cNvPr>
              <p:cNvSpPr>
                <a:spLocks noChangeArrowheads="1"/>
              </p:cNvSpPr>
              <p:nvPr/>
            </p:nvSpPr>
            <p:spPr bwMode="auto">
              <a:xfrm>
                <a:off x="2332" y="0"/>
                <a:ext cx="6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2" name="Group 15">
              <a:extLst>
                <a:ext uri="{FF2B5EF4-FFF2-40B4-BE49-F238E27FC236}">
                  <a16:creationId xmlns:a16="http://schemas.microsoft.com/office/drawing/2014/main" id="{DD6493D5-9EEB-9CE9-2600-0B795865845D}"/>
                </a:ext>
              </a:extLst>
            </p:cNvPr>
            <p:cNvGrpSpPr>
              <a:grpSpLocks/>
            </p:cNvGrpSpPr>
            <p:nvPr/>
          </p:nvGrpSpPr>
          <p:grpSpPr bwMode="auto">
            <a:xfrm>
              <a:off x="2988" y="0"/>
              <a:ext cx="692" cy="384"/>
              <a:chOff x="2988" y="0"/>
              <a:chExt cx="692" cy="384"/>
            </a:xfrm>
          </p:grpSpPr>
          <p:sp>
            <p:nvSpPr>
              <p:cNvPr id="16468" name="Rectangle 16">
                <a:extLst>
                  <a:ext uri="{FF2B5EF4-FFF2-40B4-BE49-F238E27FC236}">
                    <a16:creationId xmlns:a16="http://schemas.microsoft.com/office/drawing/2014/main" id="{0D507AB3-F24F-4920-4863-664D7FC8199B}"/>
                  </a:ext>
                </a:extLst>
              </p:cNvPr>
              <p:cNvSpPr>
                <a:spLocks noChangeArrowheads="1"/>
              </p:cNvSpPr>
              <p:nvPr/>
            </p:nvSpPr>
            <p:spPr bwMode="auto">
              <a:xfrm>
                <a:off x="2992" y="4"/>
                <a:ext cx="68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b="1" dirty="0">
                    <a:latin typeface="Arial" panose="020B0604020202020204" pitchFamily="34" charset="0"/>
                    <a:cs typeface="Arial" panose="020B0604020202020204" pitchFamily="34" charset="0"/>
                  </a:rPr>
                  <a:t>Environment</a:t>
                </a:r>
                <a:endParaRPr lang="en-US" altLang="en-US" sz="1600" b="1" dirty="0">
                  <a:cs typeface="Times New Roman" panose="02020603050405020304" pitchFamily="18" charset="0"/>
                </a:endParaRPr>
              </a:p>
              <a:p>
                <a:endParaRPr lang="en-US" altLang="en-US" sz="1000" b="1" dirty="0"/>
              </a:p>
            </p:txBody>
          </p:sp>
          <p:sp>
            <p:nvSpPr>
              <p:cNvPr id="16469" name="Rectangle 17">
                <a:extLst>
                  <a:ext uri="{FF2B5EF4-FFF2-40B4-BE49-F238E27FC236}">
                    <a16:creationId xmlns:a16="http://schemas.microsoft.com/office/drawing/2014/main" id="{01D8EEEA-2F09-4452-516A-9331A2330068}"/>
                  </a:ext>
                </a:extLst>
              </p:cNvPr>
              <p:cNvSpPr>
                <a:spLocks noChangeArrowheads="1"/>
              </p:cNvSpPr>
              <p:nvPr/>
            </p:nvSpPr>
            <p:spPr bwMode="auto">
              <a:xfrm>
                <a:off x="2988" y="0"/>
                <a:ext cx="69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3" name="Group 18">
              <a:extLst>
                <a:ext uri="{FF2B5EF4-FFF2-40B4-BE49-F238E27FC236}">
                  <a16:creationId xmlns:a16="http://schemas.microsoft.com/office/drawing/2014/main" id="{13419BEF-2034-94F6-4429-5BDACB4753B0}"/>
                </a:ext>
              </a:extLst>
            </p:cNvPr>
            <p:cNvGrpSpPr>
              <a:grpSpLocks/>
            </p:cNvGrpSpPr>
            <p:nvPr/>
          </p:nvGrpSpPr>
          <p:grpSpPr bwMode="auto">
            <a:xfrm>
              <a:off x="0" y="388"/>
              <a:ext cx="804" cy="672"/>
              <a:chOff x="0" y="388"/>
              <a:chExt cx="804" cy="672"/>
            </a:xfrm>
          </p:grpSpPr>
          <p:sp>
            <p:nvSpPr>
              <p:cNvPr id="16466" name="Rectangle 19">
                <a:extLst>
                  <a:ext uri="{FF2B5EF4-FFF2-40B4-BE49-F238E27FC236}">
                    <a16:creationId xmlns:a16="http://schemas.microsoft.com/office/drawing/2014/main" id="{2D3241E8-780B-B0FC-9969-8AB239E3DAA4}"/>
                  </a:ext>
                </a:extLst>
              </p:cNvPr>
              <p:cNvSpPr>
                <a:spLocks noChangeArrowheads="1"/>
              </p:cNvSpPr>
              <p:nvPr/>
            </p:nvSpPr>
            <p:spPr bwMode="auto">
              <a:xfrm>
                <a:off x="4" y="392"/>
                <a:ext cx="796" cy="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Medical diagnosis system</a:t>
                </a:r>
                <a:endParaRPr lang="en-US" altLang="en-US" sz="1200" b="1" dirty="0">
                  <a:cs typeface="Times New Roman" panose="02020603050405020304" pitchFamily="18" charset="0"/>
                </a:endParaRPr>
              </a:p>
              <a:p>
                <a:endParaRPr lang="en-US" altLang="en-US" sz="1000" b="1" dirty="0"/>
              </a:p>
              <a:p>
                <a:endParaRPr lang="en-US" altLang="en-US" sz="1000" b="1" dirty="0"/>
              </a:p>
            </p:txBody>
          </p:sp>
          <p:sp>
            <p:nvSpPr>
              <p:cNvPr id="16467" name="Rectangle 20">
                <a:extLst>
                  <a:ext uri="{FF2B5EF4-FFF2-40B4-BE49-F238E27FC236}">
                    <a16:creationId xmlns:a16="http://schemas.microsoft.com/office/drawing/2014/main" id="{EF29A3A0-6848-0804-E7C3-3E87BA106B31}"/>
                  </a:ext>
                </a:extLst>
              </p:cNvPr>
              <p:cNvSpPr>
                <a:spLocks noChangeArrowheads="1"/>
              </p:cNvSpPr>
              <p:nvPr/>
            </p:nvSpPr>
            <p:spPr bwMode="auto">
              <a:xfrm>
                <a:off x="0" y="388"/>
                <a:ext cx="804" cy="67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4" name="Group 21">
              <a:extLst>
                <a:ext uri="{FF2B5EF4-FFF2-40B4-BE49-F238E27FC236}">
                  <a16:creationId xmlns:a16="http://schemas.microsoft.com/office/drawing/2014/main" id="{3459295A-9081-6D29-CC38-CDA140E034DA}"/>
                </a:ext>
              </a:extLst>
            </p:cNvPr>
            <p:cNvGrpSpPr>
              <a:grpSpLocks/>
            </p:cNvGrpSpPr>
            <p:nvPr/>
          </p:nvGrpSpPr>
          <p:grpSpPr bwMode="auto">
            <a:xfrm>
              <a:off x="804" y="388"/>
              <a:ext cx="656" cy="672"/>
              <a:chOff x="804" y="388"/>
              <a:chExt cx="656" cy="672"/>
            </a:xfrm>
          </p:grpSpPr>
          <p:sp>
            <p:nvSpPr>
              <p:cNvPr id="16464" name="Rectangle 22">
                <a:extLst>
                  <a:ext uri="{FF2B5EF4-FFF2-40B4-BE49-F238E27FC236}">
                    <a16:creationId xmlns:a16="http://schemas.microsoft.com/office/drawing/2014/main" id="{A16581E4-44CA-751B-DFB2-D2EEC85F5168}"/>
                  </a:ext>
                </a:extLst>
              </p:cNvPr>
              <p:cNvSpPr>
                <a:spLocks noChangeArrowheads="1"/>
              </p:cNvSpPr>
              <p:nvPr/>
            </p:nvSpPr>
            <p:spPr bwMode="auto">
              <a:xfrm>
                <a:off x="808" y="392"/>
                <a:ext cx="648" cy="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Symptoms, findings, patient's answers</a:t>
                </a:r>
                <a:endParaRPr lang="en-US" altLang="en-US" sz="1200" b="1" dirty="0">
                  <a:cs typeface="Times New Roman" panose="02020603050405020304" pitchFamily="18" charset="0"/>
                </a:endParaRPr>
              </a:p>
              <a:p>
                <a:endParaRPr lang="en-US" altLang="en-US" sz="1000" b="1" dirty="0"/>
              </a:p>
            </p:txBody>
          </p:sp>
          <p:sp>
            <p:nvSpPr>
              <p:cNvPr id="16465" name="Rectangle 23">
                <a:extLst>
                  <a:ext uri="{FF2B5EF4-FFF2-40B4-BE49-F238E27FC236}">
                    <a16:creationId xmlns:a16="http://schemas.microsoft.com/office/drawing/2014/main" id="{83901D12-8A78-D999-7DF5-74BADF7B336D}"/>
                  </a:ext>
                </a:extLst>
              </p:cNvPr>
              <p:cNvSpPr>
                <a:spLocks noChangeArrowheads="1"/>
              </p:cNvSpPr>
              <p:nvPr/>
            </p:nvSpPr>
            <p:spPr bwMode="auto">
              <a:xfrm>
                <a:off x="804" y="388"/>
                <a:ext cx="656" cy="67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5" name="Group 24">
              <a:extLst>
                <a:ext uri="{FF2B5EF4-FFF2-40B4-BE49-F238E27FC236}">
                  <a16:creationId xmlns:a16="http://schemas.microsoft.com/office/drawing/2014/main" id="{33771D82-496F-94BA-AAE1-9C5B79F590F9}"/>
                </a:ext>
              </a:extLst>
            </p:cNvPr>
            <p:cNvGrpSpPr>
              <a:grpSpLocks/>
            </p:cNvGrpSpPr>
            <p:nvPr/>
          </p:nvGrpSpPr>
          <p:grpSpPr bwMode="auto">
            <a:xfrm>
              <a:off x="1460" y="388"/>
              <a:ext cx="872" cy="672"/>
              <a:chOff x="1460" y="388"/>
              <a:chExt cx="872" cy="672"/>
            </a:xfrm>
          </p:grpSpPr>
          <p:sp>
            <p:nvSpPr>
              <p:cNvPr id="16462" name="Rectangle 25">
                <a:extLst>
                  <a:ext uri="{FF2B5EF4-FFF2-40B4-BE49-F238E27FC236}">
                    <a16:creationId xmlns:a16="http://schemas.microsoft.com/office/drawing/2014/main" id="{ECF2B2AB-76FC-018A-7E18-A4321DC4BA78}"/>
                  </a:ext>
                </a:extLst>
              </p:cNvPr>
              <p:cNvSpPr>
                <a:spLocks noChangeArrowheads="1"/>
              </p:cNvSpPr>
              <p:nvPr/>
            </p:nvSpPr>
            <p:spPr bwMode="auto">
              <a:xfrm>
                <a:off x="1464" y="392"/>
                <a:ext cx="864" cy="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Questions, tests, treatments</a:t>
                </a:r>
                <a:endParaRPr lang="en-US" altLang="en-US" sz="1200" b="1" dirty="0">
                  <a:cs typeface="Times New Roman" panose="02020603050405020304" pitchFamily="18" charset="0"/>
                </a:endParaRPr>
              </a:p>
              <a:p>
                <a:pPr eaLnBrk="1" hangingPunct="1"/>
                <a:endParaRPr lang="en-US" altLang="en-US" sz="1200" b="1" dirty="0">
                  <a:cs typeface="Times New Roman" panose="02020603050405020304" pitchFamily="18" charset="0"/>
                </a:endParaRPr>
              </a:p>
              <a:p>
                <a:pPr eaLnBrk="1" hangingPunct="1"/>
                <a:endParaRPr lang="en-US" altLang="en-US" sz="1000" b="1" dirty="0"/>
              </a:p>
            </p:txBody>
          </p:sp>
          <p:sp>
            <p:nvSpPr>
              <p:cNvPr id="16463" name="Rectangle 26">
                <a:extLst>
                  <a:ext uri="{FF2B5EF4-FFF2-40B4-BE49-F238E27FC236}">
                    <a16:creationId xmlns:a16="http://schemas.microsoft.com/office/drawing/2014/main" id="{41A2405D-FC9E-80FC-4201-C2AF7B4BEA79}"/>
                  </a:ext>
                </a:extLst>
              </p:cNvPr>
              <p:cNvSpPr>
                <a:spLocks noChangeArrowheads="1"/>
              </p:cNvSpPr>
              <p:nvPr/>
            </p:nvSpPr>
            <p:spPr bwMode="auto">
              <a:xfrm>
                <a:off x="1460" y="388"/>
                <a:ext cx="872" cy="67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6" name="Group 27">
              <a:extLst>
                <a:ext uri="{FF2B5EF4-FFF2-40B4-BE49-F238E27FC236}">
                  <a16:creationId xmlns:a16="http://schemas.microsoft.com/office/drawing/2014/main" id="{DB86B5AE-F7BC-2A1B-07E5-C0C2219C1621}"/>
                </a:ext>
              </a:extLst>
            </p:cNvPr>
            <p:cNvGrpSpPr>
              <a:grpSpLocks/>
            </p:cNvGrpSpPr>
            <p:nvPr/>
          </p:nvGrpSpPr>
          <p:grpSpPr bwMode="auto">
            <a:xfrm>
              <a:off x="2332" y="388"/>
              <a:ext cx="656" cy="672"/>
              <a:chOff x="2332" y="388"/>
              <a:chExt cx="656" cy="672"/>
            </a:xfrm>
          </p:grpSpPr>
          <p:sp>
            <p:nvSpPr>
              <p:cNvPr id="16460" name="Rectangle 28">
                <a:extLst>
                  <a:ext uri="{FF2B5EF4-FFF2-40B4-BE49-F238E27FC236}">
                    <a16:creationId xmlns:a16="http://schemas.microsoft.com/office/drawing/2014/main" id="{2947FF7C-36D3-9880-5AA7-C5B3BC580322}"/>
                  </a:ext>
                </a:extLst>
              </p:cNvPr>
              <p:cNvSpPr>
                <a:spLocks noChangeArrowheads="1"/>
              </p:cNvSpPr>
              <p:nvPr/>
            </p:nvSpPr>
            <p:spPr bwMode="auto">
              <a:xfrm>
                <a:off x="2336" y="392"/>
                <a:ext cx="648" cy="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Healthy patients, minimize costs</a:t>
                </a:r>
                <a:endParaRPr lang="en-US" altLang="en-US" sz="1200" b="1" dirty="0">
                  <a:cs typeface="Times New Roman" panose="02020603050405020304" pitchFamily="18" charset="0"/>
                </a:endParaRPr>
              </a:p>
              <a:p>
                <a:endParaRPr lang="en-US" altLang="en-US" sz="1000" b="1" dirty="0"/>
              </a:p>
              <a:p>
                <a:endParaRPr lang="en-US" altLang="en-US" sz="1000" b="1" dirty="0"/>
              </a:p>
            </p:txBody>
          </p:sp>
          <p:sp>
            <p:nvSpPr>
              <p:cNvPr id="16461" name="Rectangle 29">
                <a:extLst>
                  <a:ext uri="{FF2B5EF4-FFF2-40B4-BE49-F238E27FC236}">
                    <a16:creationId xmlns:a16="http://schemas.microsoft.com/office/drawing/2014/main" id="{C998A568-609C-D4F9-4695-9920D1F70068}"/>
                  </a:ext>
                </a:extLst>
              </p:cNvPr>
              <p:cNvSpPr>
                <a:spLocks noChangeArrowheads="1"/>
              </p:cNvSpPr>
              <p:nvPr/>
            </p:nvSpPr>
            <p:spPr bwMode="auto">
              <a:xfrm>
                <a:off x="2332" y="388"/>
                <a:ext cx="656" cy="67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7" name="Group 30">
              <a:extLst>
                <a:ext uri="{FF2B5EF4-FFF2-40B4-BE49-F238E27FC236}">
                  <a16:creationId xmlns:a16="http://schemas.microsoft.com/office/drawing/2014/main" id="{4CA71D6D-1B7B-688F-CD20-20DC92FFE556}"/>
                </a:ext>
              </a:extLst>
            </p:cNvPr>
            <p:cNvGrpSpPr>
              <a:grpSpLocks/>
            </p:cNvGrpSpPr>
            <p:nvPr/>
          </p:nvGrpSpPr>
          <p:grpSpPr bwMode="auto">
            <a:xfrm>
              <a:off x="2988" y="388"/>
              <a:ext cx="692" cy="672"/>
              <a:chOff x="2988" y="388"/>
              <a:chExt cx="692" cy="672"/>
            </a:xfrm>
          </p:grpSpPr>
          <p:sp>
            <p:nvSpPr>
              <p:cNvPr id="16458" name="Rectangle 31">
                <a:extLst>
                  <a:ext uri="{FF2B5EF4-FFF2-40B4-BE49-F238E27FC236}">
                    <a16:creationId xmlns:a16="http://schemas.microsoft.com/office/drawing/2014/main" id="{04309618-A376-724A-C02A-A7ADF09E3066}"/>
                  </a:ext>
                </a:extLst>
              </p:cNvPr>
              <p:cNvSpPr>
                <a:spLocks noChangeArrowheads="1"/>
              </p:cNvSpPr>
              <p:nvPr/>
            </p:nvSpPr>
            <p:spPr bwMode="auto">
              <a:xfrm>
                <a:off x="2992" y="392"/>
                <a:ext cx="684" cy="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Patient, hospital</a:t>
                </a:r>
                <a:endParaRPr lang="en-US" altLang="en-US" sz="1200" b="1" dirty="0">
                  <a:cs typeface="Times New Roman" panose="02020603050405020304" pitchFamily="18" charset="0"/>
                </a:endParaRPr>
              </a:p>
              <a:p>
                <a:endParaRPr lang="en-US" altLang="en-US" sz="1000" b="1" dirty="0"/>
              </a:p>
              <a:p>
                <a:endParaRPr lang="en-US" altLang="en-US" sz="1000" b="1" dirty="0"/>
              </a:p>
            </p:txBody>
          </p:sp>
          <p:sp>
            <p:nvSpPr>
              <p:cNvPr id="16459" name="Rectangle 32">
                <a:extLst>
                  <a:ext uri="{FF2B5EF4-FFF2-40B4-BE49-F238E27FC236}">
                    <a16:creationId xmlns:a16="http://schemas.microsoft.com/office/drawing/2014/main" id="{289B678A-07F6-171F-E168-A00B39191612}"/>
                  </a:ext>
                </a:extLst>
              </p:cNvPr>
              <p:cNvSpPr>
                <a:spLocks noChangeArrowheads="1"/>
              </p:cNvSpPr>
              <p:nvPr/>
            </p:nvSpPr>
            <p:spPr bwMode="auto">
              <a:xfrm>
                <a:off x="2988" y="388"/>
                <a:ext cx="692" cy="67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8" name="Group 33">
              <a:extLst>
                <a:ext uri="{FF2B5EF4-FFF2-40B4-BE49-F238E27FC236}">
                  <a16:creationId xmlns:a16="http://schemas.microsoft.com/office/drawing/2014/main" id="{10228F4C-799E-F751-61C3-48ED93E74F8F}"/>
                </a:ext>
              </a:extLst>
            </p:cNvPr>
            <p:cNvGrpSpPr>
              <a:grpSpLocks/>
            </p:cNvGrpSpPr>
            <p:nvPr/>
          </p:nvGrpSpPr>
          <p:grpSpPr bwMode="auto">
            <a:xfrm>
              <a:off x="0" y="1064"/>
              <a:ext cx="804" cy="576"/>
              <a:chOff x="0" y="1064"/>
              <a:chExt cx="804" cy="576"/>
            </a:xfrm>
          </p:grpSpPr>
          <p:sp>
            <p:nvSpPr>
              <p:cNvPr id="16456" name="Rectangle 34">
                <a:extLst>
                  <a:ext uri="{FF2B5EF4-FFF2-40B4-BE49-F238E27FC236}">
                    <a16:creationId xmlns:a16="http://schemas.microsoft.com/office/drawing/2014/main" id="{59CFEB9B-6581-6292-D35F-69C3B89D5C95}"/>
                  </a:ext>
                </a:extLst>
              </p:cNvPr>
              <p:cNvSpPr>
                <a:spLocks noChangeArrowheads="1"/>
              </p:cNvSpPr>
              <p:nvPr/>
            </p:nvSpPr>
            <p:spPr bwMode="auto">
              <a:xfrm>
                <a:off x="4" y="1068"/>
                <a:ext cx="796"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Satellite image analysis system</a:t>
                </a:r>
                <a:endParaRPr lang="en-US" altLang="en-US" sz="1200" b="1" dirty="0">
                  <a:cs typeface="Times New Roman" panose="02020603050405020304" pitchFamily="18" charset="0"/>
                </a:endParaRPr>
              </a:p>
              <a:p>
                <a:endParaRPr lang="en-US" altLang="en-US" sz="1000" b="1" dirty="0"/>
              </a:p>
            </p:txBody>
          </p:sp>
          <p:sp>
            <p:nvSpPr>
              <p:cNvPr id="16457" name="Rectangle 35">
                <a:extLst>
                  <a:ext uri="{FF2B5EF4-FFF2-40B4-BE49-F238E27FC236}">
                    <a16:creationId xmlns:a16="http://schemas.microsoft.com/office/drawing/2014/main" id="{4B5E9B70-D90A-311D-B0D4-F41ECBF3221E}"/>
                  </a:ext>
                </a:extLst>
              </p:cNvPr>
              <p:cNvSpPr>
                <a:spLocks noChangeArrowheads="1"/>
              </p:cNvSpPr>
              <p:nvPr/>
            </p:nvSpPr>
            <p:spPr bwMode="auto">
              <a:xfrm>
                <a:off x="0" y="1064"/>
                <a:ext cx="804"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399" name="Group 36">
              <a:extLst>
                <a:ext uri="{FF2B5EF4-FFF2-40B4-BE49-F238E27FC236}">
                  <a16:creationId xmlns:a16="http://schemas.microsoft.com/office/drawing/2014/main" id="{9EA712A4-7119-4F80-B840-015B320BD813}"/>
                </a:ext>
              </a:extLst>
            </p:cNvPr>
            <p:cNvGrpSpPr>
              <a:grpSpLocks/>
            </p:cNvGrpSpPr>
            <p:nvPr/>
          </p:nvGrpSpPr>
          <p:grpSpPr bwMode="auto">
            <a:xfrm>
              <a:off x="804" y="1064"/>
              <a:ext cx="656" cy="576"/>
              <a:chOff x="804" y="1064"/>
              <a:chExt cx="656" cy="576"/>
            </a:xfrm>
          </p:grpSpPr>
          <p:sp>
            <p:nvSpPr>
              <p:cNvPr id="16454" name="Rectangle 37">
                <a:extLst>
                  <a:ext uri="{FF2B5EF4-FFF2-40B4-BE49-F238E27FC236}">
                    <a16:creationId xmlns:a16="http://schemas.microsoft.com/office/drawing/2014/main" id="{0C3B6ED3-9A13-1CD0-3392-4229D467BA88}"/>
                  </a:ext>
                </a:extLst>
              </p:cNvPr>
              <p:cNvSpPr>
                <a:spLocks noChangeArrowheads="1"/>
              </p:cNvSpPr>
              <p:nvPr/>
            </p:nvSpPr>
            <p:spPr bwMode="auto">
              <a:xfrm>
                <a:off x="808" y="1068"/>
                <a:ext cx="648"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Pixels of varying intensity, color</a:t>
                </a:r>
                <a:endParaRPr lang="en-US" altLang="en-US" sz="1200" b="1" dirty="0">
                  <a:cs typeface="Times New Roman" panose="02020603050405020304" pitchFamily="18" charset="0"/>
                </a:endParaRPr>
              </a:p>
              <a:p>
                <a:endParaRPr lang="en-US" altLang="en-US" sz="1000" b="1" dirty="0"/>
              </a:p>
            </p:txBody>
          </p:sp>
          <p:sp>
            <p:nvSpPr>
              <p:cNvPr id="16455" name="Rectangle 38">
                <a:extLst>
                  <a:ext uri="{FF2B5EF4-FFF2-40B4-BE49-F238E27FC236}">
                    <a16:creationId xmlns:a16="http://schemas.microsoft.com/office/drawing/2014/main" id="{80DA12BC-3327-5FBC-4AE2-B4778BA09575}"/>
                  </a:ext>
                </a:extLst>
              </p:cNvPr>
              <p:cNvSpPr>
                <a:spLocks noChangeArrowheads="1"/>
              </p:cNvSpPr>
              <p:nvPr/>
            </p:nvSpPr>
            <p:spPr bwMode="auto">
              <a:xfrm>
                <a:off x="804" y="1064"/>
                <a:ext cx="656"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0" name="Group 39">
              <a:extLst>
                <a:ext uri="{FF2B5EF4-FFF2-40B4-BE49-F238E27FC236}">
                  <a16:creationId xmlns:a16="http://schemas.microsoft.com/office/drawing/2014/main" id="{B8617D70-7A78-9A3C-14ED-6271B2D6EE42}"/>
                </a:ext>
              </a:extLst>
            </p:cNvPr>
            <p:cNvGrpSpPr>
              <a:grpSpLocks/>
            </p:cNvGrpSpPr>
            <p:nvPr/>
          </p:nvGrpSpPr>
          <p:grpSpPr bwMode="auto">
            <a:xfrm>
              <a:off x="1460" y="1064"/>
              <a:ext cx="872" cy="576"/>
              <a:chOff x="1460" y="1064"/>
              <a:chExt cx="872" cy="576"/>
            </a:xfrm>
          </p:grpSpPr>
          <p:sp>
            <p:nvSpPr>
              <p:cNvPr id="16452" name="Rectangle 40">
                <a:extLst>
                  <a:ext uri="{FF2B5EF4-FFF2-40B4-BE49-F238E27FC236}">
                    <a16:creationId xmlns:a16="http://schemas.microsoft.com/office/drawing/2014/main" id="{8A8B4BAB-DDA4-B981-1C2C-7DFECFE6A1A0}"/>
                  </a:ext>
                </a:extLst>
              </p:cNvPr>
              <p:cNvSpPr>
                <a:spLocks noChangeArrowheads="1"/>
              </p:cNvSpPr>
              <p:nvPr/>
            </p:nvSpPr>
            <p:spPr bwMode="auto">
              <a:xfrm>
                <a:off x="1464" y="1068"/>
                <a:ext cx="864"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Print a categorization of scene</a:t>
                </a:r>
                <a:endParaRPr lang="en-US" altLang="en-US" sz="1200" b="1" dirty="0">
                  <a:cs typeface="Times New Roman" panose="02020603050405020304" pitchFamily="18" charset="0"/>
                </a:endParaRPr>
              </a:p>
              <a:p>
                <a:endParaRPr lang="en-US" altLang="en-US" sz="1000" b="1" dirty="0"/>
              </a:p>
            </p:txBody>
          </p:sp>
          <p:sp>
            <p:nvSpPr>
              <p:cNvPr id="16453" name="Rectangle 41">
                <a:extLst>
                  <a:ext uri="{FF2B5EF4-FFF2-40B4-BE49-F238E27FC236}">
                    <a16:creationId xmlns:a16="http://schemas.microsoft.com/office/drawing/2014/main" id="{68453C43-0909-347F-BFEA-68ED57E0E2D7}"/>
                  </a:ext>
                </a:extLst>
              </p:cNvPr>
              <p:cNvSpPr>
                <a:spLocks noChangeArrowheads="1"/>
              </p:cNvSpPr>
              <p:nvPr/>
            </p:nvSpPr>
            <p:spPr bwMode="auto">
              <a:xfrm>
                <a:off x="1460" y="1064"/>
                <a:ext cx="872"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1" name="Group 42">
              <a:extLst>
                <a:ext uri="{FF2B5EF4-FFF2-40B4-BE49-F238E27FC236}">
                  <a16:creationId xmlns:a16="http://schemas.microsoft.com/office/drawing/2014/main" id="{A9A1E6CC-69D5-AD60-E7D5-559BD0DA5020}"/>
                </a:ext>
              </a:extLst>
            </p:cNvPr>
            <p:cNvGrpSpPr>
              <a:grpSpLocks/>
            </p:cNvGrpSpPr>
            <p:nvPr/>
          </p:nvGrpSpPr>
          <p:grpSpPr bwMode="auto">
            <a:xfrm>
              <a:off x="2332" y="1064"/>
              <a:ext cx="656" cy="576"/>
              <a:chOff x="2332" y="1064"/>
              <a:chExt cx="656" cy="576"/>
            </a:xfrm>
          </p:grpSpPr>
          <p:sp>
            <p:nvSpPr>
              <p:cNvPr id="16450" name="Rectangle 43">
                <a:extLst>
                  <a:ext uri="{FF2B5EF4-FFF2-40B4-BE49-F238E27FC236}">
                    <a16:creationId xmlns:a16="http://schemas.microsoft.com/office/drawing/2014/main" id="{ADBB206B-7958-E969-A2F9-4AB3F128D521}"/>
                  </a:ext>
                </a:extLst>
              </p:cNvPr>
              <p:cNvSpPr>
                <a:spLocks noChangeArrowheads="1"/>
              </p:cNvSpPr>
              <p:nvPr/>
            </p:nvSpPr>
            <p:spPr bwMode="auto">
              <a:xfrm>
                <a:off x="2336" y="1068"/>
                <a:ext cx="648"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Correct categorization</a:t>
                </a:r>
                <a:endParaRPr lang="en-US" altLang="en-US" sz="1200" b="1" dirty="0">
                  <a:cs typeface="Times New Roman" panose="02020603050405020304" pitchFamily="18" charset="0"/>
                </a:endParaRPr>
              </a:p>
              <a:p>
                <a:endParaRPr lang="en-US" altLang="en-US" sz="1000" b="1" dirty="0"/>
              </a:p>
            </p:txBody>
          </p:sp>
          <p:sp>
            <p:nvSpPr>
              <p:cNvPr id="16451" name="Rectangle 44">
                <a:extLst>
                  <a:ext uri="{FF2B5EF4-FFF2-40B4-BE49-F238E27FC236}">
                    <a16:creationId xmlns:a16="http://schemas.microsoft.com/office/drawing/2014/main" id="{493EBCD2-0FA2-2DA4-FDE6-FAD712CA17D7}"/>
                  </a:ext>
                </a:extLst>
              </p:cNvPr>
              <p:cNvSpPr>
                <a:spLocks noChangeArrowheads="1"/>
              </p:cNvSpPr>
              <p:nvPr/>
            </p:nvSpPr>
            <p:spPr bwMode="auto">
              <a:xfrm>
                <a:off x="2332" y="1064"/>
                <a:ext cx="656"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2" name="Group 45">
              <a:extLst>
                <a:ext uri="{FF2B5EF4-FFF2-40B4-BE49-F238E27FC236}">
                  <a16:creationId xmlns:a16="http://schemas.microsoft.com/office/drawing/2014/main" id="{36020211-3214-ED43-CA7A-A6F596D96180}"/>
                </a:ext>
              </a:extLst>
            </p:cNvPr>
            <p:cNvGrpSpPr>
              <a:grpSpLocks/>
            </p:cNvGrpSpPr>
            <p:nvPr/>
          </p:nvGrpSpPr>
          <p:grpSpPr bwMode="auto">
            <a:xfrm>
              <a:off x="2988" y="1064"/>
              <a:ext cx="692" cy="576"/>
              <a:chOff x="2988" y="1064"/>
              <a:chExt cx="692" cy="576"/>
            </a:xfrm>
          </p:grpSpPr>
          <p:sp>
            <p:nvSpPr>
              <p:cNvPr id="16448" name="Rectangle 46">
                <a:extLst>
                  <a:ext uri="{FF2B5EF4-FFF2-40B4-BE49-F238E27FC236}">
                    <a16:creationId xmlns:a16="http://schemas.microsoft.com/office/drawing/2014/main" id="{6FE6F78C-FCEA-7A72-B7C2-0C8AC1B20492}"/>
                  </a:ext>
                </a:extLst>
              </p:cNvPr>
              <p:cNvSpPr>
                <a:spLocks noChangeArrowheads="1"/>
              </p:cNvSpPr>
              <p:nvPr/>
            </p:nvSpPr>
            <p:spPr bwMode="auto">
              <a:xfrm>
                <a:off x="2992" y="1068"/>
                <a:ext cx="684"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Images from orbiting satellite</a:t>
                </a:r>
                <a:endParaRPr lang="en-US" altLang="en-US" sz="1200" b="1" dirty="0">
                  <a:cs typeface="Times New Roman" panose="02020603050405020304" pitchFamily="18" charset="0"/>
                </a:endParaRPr>
              </a:p>
              <a:p>
                <a:endParaRPr lang="en-US" altLang="en-US" sz="1000" b="1" dirty="0"/>
              </a:p>
            </p:txBody>
          </p:sp>
          <p:sp>
            <p:nvSpPr>
              <p:cNvPr id="16449" name="Rectangle 47">
                <a:extLst>
                  <a:ext uri="{FF2B5EF4-FFF2-40B4-BE49-F238E27FC236}">
                    <a16:creationId xmlns:a16="http://schemas.microsoft.com/office/drawing/2014/main" id="{58585400-E805-73F3-0556-A1CA911389A2}"/>
                  </a:ext>
                </a:extLst>
              </p:cNvPr>
              <p:cNvSpPr>
                <a:spLocks noChangeArrowheads="1"/>
              </p:cNvSpPr>
              <p:nvPr/>
            </p:nvSpPr>
            <p:spPr bwMode="auto">
              <a:xfrm>
                <a:off x="2988" y="1064"/>
                <a:ext cx="692"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3" name="Group 48">
              <a:extLst>
                <a:ext uri="{FF2B5EF4-FFF2-40B4-BE49-F238E27FC236}">
                  <a16:creationId xmlns:a16="http://schemas.microsoft.com/office/drawing/2014/main" id="{C1BA242B-0419-DD37-E458-AA59776BE061}"/>
                </a:ext>
              </a:extLst>
            </p:cNvPr>
            <p:cNvGrpSpPr>
              <a:grpSpLocks/>
            </p:cNvGrpSpPr>
            <p:nvPr/>
          </p:nvGrpSpPr>
          <p:grpSpPr bwMode="auto">
            <a:xfrm>
              <a:off x="0" y="1644"/>
              <a:ext cx="804" cy="576"/>
              <a:chOff x="0" y="1644"/>
              <a:chExt cx="804" cy="576"/>
            </a:xfrm>
          </p:grpSpPr>
          <p:sp>
            <p:nvSpPr>
              <p:cNvPr id="16446" name="Rectangle 49">
                <a:extLst>
                  <a:ext uri="{FF2B5EF4-FFF2-40B4-BE49-F238E27FC236}">
                    <a16:creationId xmlns:a16="http://schemas.microsoft.com/office/drawing/2014/main" id="{E027223A-0140-97DA-7344-AE172A884309}"/>
                  </a:ext>
                </a:extLst>
              </p:cNvPr>
              <p:cNvSpPr>
                <a:spLocks noChangeArrowheads="1"/>
              </p:cNvSpPr>
              <p:nvPr/>
            </p:nvSpPr>
            <p:spPr bwMode="auto">
              <a:xfrm>
                <a:off x="4" y="1648"/>
                <a:ext cx="796"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Part-picking robot</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47" name="Rectangle 50">
                <a:extLst>
                  <a:ext uri="{FF2B5EF4-FFF2-40B4-BE49-F238E27FC236}">
                    <a16:creationId xmlns:a16="http://schemas.microsoft.com/office/drawing/2014/main" id="{92667698-8435-A1C1-7587-F226324D2E6F}"/>
                  </a:ext>
                </a:extLst>
              </p:cNvPr>
              <p:cNvSpPr>
                <a:spLocks noChangeArrowheads="1"/>
              </p:cNvSpPr>
              <p:nvPr/>
            </p:nvSpPr>
            <p:spPr bwMode="auto">
              <a:xfrm>
                <a:off x="0" y="1644"/>
                <a:ext cx="804"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4" name="Group 51">
              <a:extLst>
                <a:ext uri="{FF2B5EF4-FFF2-40B4-BE49-F238E27FC236}">
                  <a16:creationId xmlns:a16="http://schemas.microsoft.com/office/drawing/2014/main" id="{44791C49-4C33-46B0-A9C4-AA27B41827AA}"/>
                </a:ext>
              </a:extLst>
            </p:cNvPr>
            <p:cNvGrpSpPr>
              <a:grpSpLocks/>
            </p:cNvGrpSpPr>
            <p:nvPr/>
          </p:nvGrpSpPr>
          <p:grpSpPr bwMode="auto">
            <a:xfrm>
              <a:off x="804" y="1644"/>
              <a:ext cx="656" cy="576"/>
              <a:chOff x="804" y="1644"/>
              <a:chExt cx="656" cy="576"/>
            </a:xfrm>
          </p:grpSpPr>
          <p:sp>
            <p:nvSpPr>
              <p:cNvPr id="16444" name="Rectangle 52">
                <a:extLst>
                  <a:ext uri="{FF2B5EF4-FFF2-40B4-BE49-F238E27FC236}">
                    <a16:creationId xmlns:a16="http://schemas.microsoft.com/office/drawing/2014/main" id="{90CF2AB6-9BE3-734D-E8FA-93F18695DF79}"/>
                  </a:ext>
                </a:extLst>
              </p:cNvPr>
              <p:cNvSpPr>
                <a:spLocks noChangeArrowheads="1"/>
              </p:cNvSpPr>
              <p:nvPr/>
            </p:nvSpPr>
            <p:spPr bwMode="auto">
              <a:xfrm>
                <a:off x="808" y="1648"/>
                <a:ext cx="648"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Pixels of varying intensity</a:t>
                </a:r>
                <a:endParaRPr lang="en-US" altLang="en-US" sz="1200" b="1" dirty="0">
                  <a:cs typeface="Times New Roman" panose="02020603050405020304" pitchFamily="18" charset="0"/>
                </a:endParaRPr>
              </a:p>
              <a:p>
                <a:endParaRPr lang="en-US" altLang="en-US" sz="1000" b="1" dirty="0"/>
              </a:p>
            </p:txBody>
          </p:sp>
          <p:sp>
            <p:nvSpPr>
              <p:cNvPr id="16445" name="Rectangle 53">
                <a:extLst>
                  <a:ext uri="{FF2B5EF4-FFF2-40B4-BE49-F238E27FC236}">
                    <a16:creationId xmlns:a16="http://schemas.microsoft.com/office/drawing/2014/main" id="{94A37544-E73C-67DB-F824-126213FFA53B}"/>
                  </a:ext>
                </a:extLst>
              </p:cNvPr>
              <p:cNvSpPr>
                <a:spLocks noChangeArrowheads="1"/>
              </p:cNvSpPr>
              <p:nvPr/>
            </p:nvSpPr>
            <p:spPr bwMode="auto">
              <a:xfrm>
                <a:off x="804" y="1644"/>
                <a:ext cx="656"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5" name="Group 54">
              <a:extLst>
                <a:ext uri="{FF2B5EF4-FFF2-40B4-BE49-F238E27FC236}">
                  <a16:creationId xmlns:a16="http://schemas.microsoft.com/office/drawing/2014/main" id="{3691DB1A-F869-E888-64E8-2A7C2292B58C}"/>
                </a:ext>
              </a:extLst>
            </p:cNvPr>
            <p:cNvGrpSpPr>
              <a:grpSpLocks/>
            </p:cNvGrpSpPr>
            <p:nvPr/>
          </p:nvGrpSpPr>
          <p:grpSpPr bwMode="auto">
            <a:xfrm>
              <a:off x="1460" y="1644"/>
              <a:ext cx="872" cy="576"/>
              <a:chOff x="1460" y="1644"/>
              <a:chExt cx="872" cy="576"/>
            </a:xfrm>
          </p:grpSpPr>
          <p:sp>
            <p:nvSpPr>
              <p:cNvPr id="16442" name="Rectangle 55">
                <a:extLst>
                  <a:ext uri="{FF2B5EF4-FFF2-40B4-BE49-F238E27FC236}">
                    <a16:creationId xmlns:a16="http://schemas.microsoft.com/office/drawing/2014/main" id="{4352850E-D773-9E81-043F-011521910CC7}"/>
                  </a:ext>
                </a:extLst>
              </p:cNvPr>
              <p:cNvSpPr>
                <a:spLocks noChangeArrowheads="1"/>
              </p:cNvSpPr>
              <p:nvPr/>
            </p:nvSpPr>
            <p:spPr bwMode="auto">
              <a:xfrm>
                <a:off x="1464" y="1648"/>
                <a:ext cx="864"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Pick up parts and sort into bins</a:t>
                </a:r>
                <a:endParaRPr lang="en-US" altLang="en-US" sz="1200" b="1" dirty="0">
                  <a:cs typeface="Times New Roman" panose="02020603050405020304" pitchFamily="18" charset="0"/>
                </a:endParaRPr>
              </a:p>
              <a:p>
                <a:endParaRPr lang="en-US" altLang="en-US" sz="1000" b="1" dirty="0"/>
              </a:p>
            </p:txBody>
          </p:sp>
          <p:sp>
            <p:nvSpPr>
              <p:cNvPr id="16443" name="Rectangle 56">
                <a:extLst>
                  <a:ext uri="{FF2B5EF4-FFF2-40B4-BE49-F238E27FC236}">
                    <a16:creationId xmlns:a16="http://schemas.microsoft.com/office/drawing/2014/main" id="{E1E5FA03-A911-A6A6-8148-A7B0968A6DE7}"/>
                  </a:ext>
                </a:extLst>
              </p:cNvPr>
              <p:cNvSpPr>
                <a:spLocks noChangeArrowheads="1"/>
              </p:cNvSpPr>
              <p:nvPr/>
            </p:nvSpPr>
            <p:spPr bwMode="auto">
              <a:xfrm>
                <a:off x="1460" y="1644"/>
                <a:ext cx="872"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6" name="Group 57">
              <a:extLst>
                <a:ext uri="{FF2B5EF4-FFF2-40B4-BE49-F238E27FC236}">
                  <a16:creationId xmlns:a16="http://schemas.microsoft.com/office/drawing/2014/main" id="{692164D7-6E07-1449-2FA7-54E34F310E21}"/>
                </a:ext>
              </a:extLst>
            </p:cNvPr>
            <p:cNvGrpSpPr>
              <a:grpSpLocks/>
            </p:cNvGrpSpPr>
            <p:nvPr/>
          </p:nvGrpSpPr>
          <p:grpSpPr bwMode="auto">
            <a:xfrm>
              <a:off x="2332" y="1644"/>
              <a:ext cx="656" cy="576"/>
              <a:chOff x="2332" y="1644"/>
              <a:chExt cx="656" cy="576"/>
            </a:xfrm>
          </p:grpSpPr>
          <p:sp>
            <p:nvSpPr>
              <p:cNvPr id="16440" name="Rectangle 58">
                <a:extLst>
                  <a:ext uri="{FF2B5EF4-FFF2-40B4-BE49-F238E27FC236}">
                    <a16:creationId xmlns:a16="http://schemas.microsoft.com/office/drawing/2014/main" id="{17C4B426-2A9D-8E91-98C0-2EE52B975D21}"/>
                  </a:ext>
                </a:extLst>
              </p:cNvPr>
              <p:cNvSpPr>
                <a:spLocks noChangeArrowheads="1"/>
              </p:cNvSpPr>
              <p:nvPr/>
            </p:nvSpPr>
            <p:spPr bwMode="auto">
              <a:xfrm>
                <a:off x="2336" y="1648"/>
                <a:ext cx="648"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Place parts in correct bins</a:t>
                </a:r>
                <a:endParaRPr lang="en-US" altLang="en-US" sz="1200" b="1" dirty="0">
                  <a:cs typeface="Times New Roman" panose="02020603050405020304" pitchFamily="18" charset="0"/>
                </a:endParaRPr>
              </a:p>
              <a:p>
                <a:endParaRPr lang="en-US" altLang="en-US" sz="1000" b="1" dirty="0"/>
              </a:p>
            </p:txBody>
          </p:sp>
          <p:sp>
            <p:nvSpPr>
              <p:cNvPr id="16441" name="Rectangle 59">
                <a:extLst>
                  <a:ext uri="{FF2B5EF4-FFF2-40B4-BE49-F238E27FC236}">
                    <a16:creationId xmlns:a16="http://schemas.microsoft.com/office/drawing/2014/main" id="{22C73AF2-40FC-EA60-EE37-B5728780F371}"/>
                  </a:ext>
                </a:extLst>
              </p:cNvPr>
              <p:cNvSpPr>
                <a:spLocks noChangeArrowheads="1"/>
              </p:cNvSpPr>
              <p:nvPr/>
            </p:nvSpPr>
            <p:spPr bwMode="auto">
              <a:xfrm>
                <a:off x="2332" y="1644"/>
                <a:ext cx="656"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7" name="Group 60">
              <a:extLst>
                <a:ext uri="{FF2B5EF4-FFF2-40B4-BE49-F238E27FC236}">
                  <a16:creationId xmlns:a16="http://schemas.microsoft.com/office/drawing/2014/main" id="{25B60F78-D71B-A21D-951B-55537E7FCBDB}"/>
                </a:ext>
              </a:extLst>
            </p:cNvPr>
            <p:cNvGrpSpPr>
              <a:grpSpLocks/>
            </p:cNvGrpSpPr>
            <p:nvPr/>
          </p:nvGrpSpPr>
          <p:grpSpPr bwMode="auto">
            <a:xfrm>
              <a:off x="2988" y="1644"/>
              <a:ext cx="692" cy="576"/>
              <a:chOff x="2988" y="1644"/>
              <a:chExt cx="692" cy="576"/>
            </a:xfrm>
          </p:grpSpPr>
          <p:sp>
            <p:nvSpPr>
              <p:cNvPr id="16438" name="Rectangle 61">
                <a:extLst>
                  <a:ext uri="{FF2B5EF4-FFF2-40B4-BE49-F238E27FC236}">
                    <a16:creationId xmlns:a16="http://schemas.microsoft.com/office/drawing/2014/main" id="{10B3C56C-E827-8E18-6695-F14B94A94E63}"/>
                  </a:ext>
                </a:extLst>
              </p:cNvPr>
              <p:cNvSpPr>
                <a:spLocks noChangeArrowheads="1"/>
              </p:cNvSpPr>
              <p:nvPr/>
            </p:nvSpPr>
            <p:spPr bwMode="auto">
              <a:xfrm>
                <a:off x="2992" y="1648"/>
                <a:ext cx="684"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Conveyor belts with parts</a:t>
                </a:r>
                <a:endParaRPr lang="en-US" altLang="en-US" sz="1200" b="1" dirty="0">
                  <a:cs typeface="Times New Roman" panose="02020603050405020304" pitchFamily="18" charset="0"/>
                </a:endParaRPr>
              </a:p>
              <a:p>
                <a:endParaRPr lang="en-US" altLang="en-US" sz="1000" b="1" dirty="0"/>
              </a:p>
            </p:txBody>
          </p:sp>
          <p:sp>
            <p:nvSpPr>
              <p:cNvPr id="16439" name="Rectangle 62">
                <a:extLst>
                  <a:ext uri="{FF2B5EF4-FFF2-40B4-BE49-F238E27FC236}">
                    <a16:creationId xmlns:a16="http://schemas.microsoft.com/office/drawing/2014/main" id="{D1DF3D00-6AE4-F590-62CF-6D50B0146C34}"/>
                  </a:ext>
                </a:extLst>
              </p:cNvPr>
              <p:cNvSpPr>
                <a:spLocks noChangeArrowheads="1"/>
              </p:cNvSpPr>
              <p:nvPr/>
            </p:nvSpPr>
            <p:spPr bwMode="auto">
              <a:xfrm>
                <a:off x="2988" y="1644"/>
                <a:ext cx="692" cy="57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8" name="Group 63">
              <a:extLst>
                <a:ext uri="{FF2B5EF4-FFF2-40B4-BE49-F238E27FC236}">
                  <a16:creationId xmlns:a16="http://schemas.microsoft.com/office/drawing/2014/main" id="{07E780F5-2F77-7D26-3269-583E3F8C8FDE}"/>
                </a:ext>
              </a:extLst>
            </p:cNvPr>
            <p:cNvGrpSpPr>
              <a:grpSpLocks/>
            </p:cNvGrpSpPr>
            <p:nvPr/>
          </p:nvGrpSpPr>
          <p:grpSpPr bwMode="auto">
            <a:xfrm>
              <a:off x="0" y="2224"/>
              <a:ext cx="804" cy="691"/>
              <a:chOff x="0" y="2224"/>
              <a:chExt cx="804" cy="691"/>
            </a:xfrm>
          </p:grpSpPr>
          <p:sp>
            <p:nvSpPr>
              <p:cNvPr id="16436" name="Rectangle 64">
                <a:extLst>
                  <a:ext uri="{FF2B5EF4-FFF2-40B4-BE49-F238E27FC236}">
                    <a16:creationId xmlns:a16="http://schemas.microsoft.com/office/drawing/2014/main" id="{E7336C96-2350-9B04-3723-0A614CFCA239}"/>
                  </a:ext>
                </a:extLst>
              </p:cNvPr>
              <p:cNvSpPr>
                <a:spLocks noChangeArrowheads="1"/>
              </p:cNvSpPr>
              <p:nvPr/>
            </p:nvSpPr>
            <p:spPr bwMode="auto">
              <a:xfrm>
                <a:off x="4" y="2228"/>
                <a:ext cx="796"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Refinery controller</a:t>
                </a:r>
                <a:endParaRPr lang="en-US" altLang="en-US" sz="1200" b="1" dirty="0">
                  <a:cs typeface="Times New Roman" panose="02020603050405020304" pitchFamily="18" charset="0"/>
                </a:endParaRPr>
              </a:p>
              <a:p>
                <a:r>
                  <a:rPr lang="en-US" altLang="en-US" sz="1000" b="1" dirty="0">
                    <a:latin typeface="Arial" panose="020B0604020202020204" pitchFamily="34" charset="0"/>
                    <a:cs typeface="Arial" panose="020B0604020202020204" pitchFamily="34" charset="0"/>
                  </a:rPr>
                  <a:t> </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37" name="Rectangle 65">
                <a:extLst>
                  <a:ext uri="{FF2B5EF4-FFF2-40B4-BE49-F238E27FC236}">
                    <a16:creationId xmlns:a16="http://schemas.microsoft.com/office/drawing/2014/main" id="{5A205007-BE04-91C6-DE87-B36846A5D08D}"/>
                  </a:ext>
                </a:extLst>
              </p:cNvPr>
              <p:cNvSpPr>
                <a:spLocks noChangeArrowheads="1"/>
              </p:cNvSpPr>
              <p:nvPr/>
            </p:nvSpPr>
            <p:spPr bwMode="auto">
              <a:xfrm>
                <a:off x="0" y="2224"/>
                <a:ext cx="804" cy="69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09" name="Group 66">
              <a:extLst>
                <a:ext uri="{FF2B5EF4-FFF2-40B4-BE49-F238E27FC236}">
                  <a16:creationId xmlns:a16="http://schemas.microsoft.com/office/drawing/2014/main" id="{ACB88CE8-17DE-5217-AD7D-576B1EE23D7E}"/>
                </a:ext>
              </a:extLst>
            </p:cNvPr>
            <p:cNvGrpSpPr>
              <a:grpSpLocks/>
            </p:cNvGrpSpPr>
            <p:nvPr/>
          </p:nvGrpSpPr>
          <p:grpSpPr bwMode="auto">
            <a:xfrm>
              <a:off x="804" y="2224"/>
              <a:ext cx="656" cy="691"/>
              <a:chOff x="804" y="2224"/>
              <a:chExt cx="656" cy="691"/>
            </a:xfrm>
          </p:grpSpPr>
          <p:sp>
            <p:nvSpPr>
              <p:cNvPr id="16434" name="Rectangle 67">
                <a:extLst>
                  <a:ext uri="{FF2B5EF4-FFF2-40B4-BE49-F238E27FC236}">
                    <a16:creationId xmlns:a16="http://schemas.microsoft.com/office/drawing/2014/main" id="{1AADB0BB-68EF-A04E-7A3F-01C9F327C002}"/>
                  </a:ext>
                </a:extLst>
              </p:cNvPr>
              <p:cNvSpPr>
                <a:spLocks noChangeArrowheads="1"/>
              </p:cNvSpPr>
              <p:nvPr/>
            </p:nvSpPr>
            <p:spPr bwMode="auto">
              <a:xfrm>
                <a:off x="808" y="2228"/>
                <a:ext cx="648"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Temperature, pressure readings</a:t>
                </a:r>
              </a:p>
              <a:p>
                <a:pPr eaLnBrk="1" hangingPunct="1"/>
                <a:endParaRPr lang="en-US" altLang="en-US" sz="1200" b="1" dirty="0">
                  <a:cs typeface="Times New Roman" panose="02020603050405020304" pitchFamily="18" charset="0"/>
                </a:endParaRPr>
              </a:p>
              <a:p>
                <a:endParaRPr lang="en-US" altLang="en-US" sz="1000" b="1" dirty="0"/>
              </a:p>
            </p:txBody>
          </p:sp>
          <p:sp>
            <p:nvSpPr>
              <p:cNvPr id="16435" name="Rectangle 68">
                <a:extLst>
                  <a:ext uri="{FF2B5EF4-FFF2-40B4-BE49-F238E27FC236}">
                    <a16:creationId xmlns:a16="http://schemas.microsoft.com/office/drawing/2014/main" id="{64E0B13C-B03F-8069-7B42-ECD9452756C6}"/>
                  </a:ext>
                </a:extLst>
              </p:cNvPr>
              <p:cNvSpPr>
                <a:spLocks noChangeArrowheads="1"/>
              </p:cNvSpPr>
              <p:nvPr/>
            </p:nvSpPr>
            <p:spPr bwMode="auto">
              <a:xfrm>
                <a:off x="804" y="2224"/>
                <a:ext cx="656" cy="69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0" name="Group 69">
              <a:extLst>
                <a:ext uri="{FF2B5EF4-FFF2-40B4-BE49-F238E27FC236}">
                  <a16:creationId xmlns:a16="http://schemas.microsoft.com/office/drawing/2014/main" id="{FA851EAC-E098-60AB-A755-17CC598CCA10}"/>
                </a:ext>
              </a:extLst>
            </p:cNvPr>
            <p:cNvGrpSpPr>
              <a:grpSpLocks/>
            </p:cNvGrpSpPr>
            <p:nvPr/>
          </p:nvGrpSpPr>
          <p:grpSpPr bwMode="auto">
            <a:xfrm>
              <a:off x="1460" y="2224"/>
              <a:ext cx="872" cy="691"/>
              <a:chOff x="1460" y="2224"/>
              <a:chExt cx="872" cy="691"/>
            </a:xfrm>
          </p:grpSpPr>
          <p:sp>
            <p:nvSpPr>
              <p:cNvPr id="16432" name="Rectangle 70">
                <a:extLst>
                  <a:ext uri="{FF2B5EF4-FFF2-40B4-BE49-F238E27FC236}">
                    <a16:creationId xmlns:a16="http://schemas.microsoft.com/office/drawing/2014/main" id="{99669F2E-B30A-FB46-5CB8-907949BA4F71}"/>
                  </a:ext>
                </a:extLst>
              </p:cNvPr>
              <p:cNvSpPr>
                <a:spLocks noChangeArrowheads="1"/>
              </p:cNvSpPr>
              <p:nvPr/>
            </p:nvSpPr>
            <p:spPr bwMode="auto">
              <a:xfrm>
                <a:off x="1464" y="2228"/>
                <a:ext cx="864"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Open, close valves; adjust temperature</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33" name="Rectangle 71">
                <a:extLst>
                  <a:ext uri="{FF2B5EF4-FFF2-40B4-BE49-F238E27FC236}">
                    <a16:creationId xmlns:a16="http://schemas.microsoft.com/office/drawing/2014/main" id="{17EF84B2-0292-C240-CAE2-4C4382547A9A}"/>
                  </a:ext>
                </a:extLst>
              </p:cNvPr>
              <p:cNvSpPr>
                <a:spLocks noChangeArrowheads="1"/>
              </p:cNvSpPr>
              <p:nvPr/>
            </p:nvSpPr>
            <p:spPr bwMode="auto">
              <a:xfrm>
                <a:off x="1460" y="2224"/>
                <a:ext cx="872" cy="69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1" name="Group 72">
              <a:extLst>
                <a:ext uri="{FF2B5EF4-FFF2-40B4-BE49-F238E27FC236}">
                  <a16:creationId xmlns:a16="http://schemas.microsoft.com/office/drawing/2014/main" id="{3F552832-D7EC-058D-8678-980F6694C03A}"/>
                </a:ext>
              </a:extLst>
            </p:cNvPr>
            <p:cNvGrpSpPr>
              <a:grpSpLocks/>
            </p:cNvGrpSpPr>
            <p:nvPr/>
          </p:nvGrpSpPr>
          <p:grpSpPr bwMode="auto">
            <a:xfrm>
              <a:off x="2332" y="2224"/>
              <a:ext cx="656" cy="691"/>
              <a:chOff x="2332" y="2224"/>
              <a:chExt cx="656" cy="691"/>
            </a:xfrm>
          </p:grpSpPr>
          <p:sp>
            <p:nvSpPr>
              <p:cNvPr id="16430" name="Rectangle 73">
                <a:extLst>
                  <a:ext uri="{FF2B5EF4-FFF2-40B4-BE49-F238E27FC236}">
                    <a16:creationId xmlns:a16="http://schemas.microsoft.com/office/drawing/2014/main" id="{6A1E1061-54D2-EF11-9BED-BA0B9A547C46}"/>
                  </a:ext>
                </a:extLst>
              </p:cNvPr>
              <p:cNvSpPr>
                <a:spLocks noChangeArrowheads="1"/>
              </p:cNvSpPr>
              <p:nvPr/>
            </p:nvSpPr>
            <p:spPr bwMode="auto">
              <a:xfrm>
                <a:off x="2336" y="2228"/>
                <a:ext cx="648"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Maximize purity, yield, safety</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31" name="Rectangle 74">
                <a:extLst>
                  <a:ext uri="{FF2B5EF4-FFF2-40B4-BE49-F238E27FC236}">
                    <a16:creationId xmlns:a16="http://schemas.microsoft.com/office/drawing/2014/main" id="{26372F44-A0DE-BCAA-833E-BF40B37AB8F2}"/>
                  </a:ext>
                </a:extLst>
              </p:cNvPr>
              <p:cNvSpPr>
                <a:spLocks noChangeArrowheads="1"/>
              </p:cNvSpPr>
              <p:nvPr/>
            </p:nvSpPr>
            <p:spPr bwMode="auto">
              <a:xfrm>
                <a:off x="2332" y="2224"/>
                <a:ext cx="656" cy="69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2" name="Group 75">
              <a:extLst>
                <a:ext uri="{FF2B5EF4-FFF2-40B4-BE49-F238E27FC236}">
                  <a16:creationId xmlns:a16="http://schemas.microsoft.com/office/drawing/2014/main" id="{4E09E256-5EB9-6272-B1A6-0400ED83A64D}"/>
                </a:ext>
              </a:extLst>
            </p:cNvPr>
            <p:cNvGrpSpPr>
              <a:grpSpLocks/>
            </p:cNvGrpSpPr>
            <p:nvPr/>
          </p:nvGrpSpPr>
          <p:grpSpPr bwMode="auto">
            <a:xfrm>
              <a:off x="2988" y="2224"/>
              <a:ext cx="692" cy="691"/>
              <a:chOff x="2988" y="2224"/>
              <a:chExt cx="692" cy="691"/>
            </a:xfrm>
          </p:grpSpPr>
          <p:sp>
            <p:nvSpPr>
              <p:cNvPr id="16428" name="Rectangle 76">
                <a:extLst>
                  <a:ext uri="{FF2B5EF4-FFF2-40B4-BE49-F238E27FC236}">
                    <a16:creationId xmlns:a16="http://schemas.microsoft.com/office/drawing/2014/main" id="{15609561-8CA6-15A3-B0D4-D8DC9B4D8EDD}"/>
                  </a:ext>
                </a:extLst>
              </p:cNvPr>
              <p:cNvSpPr>
                <a:spLocks noChangeArrowheads="1"/>
              </p:cNvSpPr>
              <p:nvPr/>
            </p:nvSpPr>
            <p:spPr bwMode="auto">
              <a:xfrm>
                <a:off x="2992" y="2228"/>
                <a:ext cx="684"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Refinery</a:t>
                </a:r>
                <a:endParaRPr lang="en-US" altLang="en-US" sz="1200" b="1" dirty="0">
                  <a:cs typeface="Times New Roman" panose="02020603050405020304" pitchFamily="18" charset="0"/>
                </a:endParaRPr>
              </a:p>
              <a:p>
                <a:r>
                  <a:rPr lang="en-US" altLang="en-US" sz="1000" b="1" dirty="0">
                    <a:latin typeface="Arial" panose="020B0604020202020204" pitchFamily="34" charset="0"/>
                    <a:cs typeface="Arial" panose="020B0604020202020204" pitchFamily="34" charset="0"/>
                  </a:rPr>
                  <a:t> </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29" name="Rectangle 77">
                <a:extLst>
                  <a:ext uri="{FF2B5EF4-FFF2-40B4-BE49-F238E27FC236}">
                    <a16:creationId xmlns:a16="http://schemas.microsoft.com/office/drawing/2014/main" id="{47644705-EA6C-A5A9-E060-597F1FA69421}"/>
                  </a:ext>
                </a:extLst>
              </p:cNvPr>
              <p:cNvSpPr>
                <a:spLocks noChangeArrowheads="1"/>
              </p:cNvSpPr>
              <p:nvPr/>
            </p:nvSpPr>
            <p:spPr bwMode="auto">
              <a:xfrm>
                <a:off x="2988" y="2224"/>
                <a:ext cx="692" cy="69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3" name="Group 78">
              <a:extLst>
                <a:ext uri="{FF2B5EF4-FFF2-40B4-BE49-F238E27FC236}">
                  <a16:creationId xmlns:a16="http://schemas.microsoft.com/office/drawing/2014/main" id="{418ABD4D-6811-543D-2C40-31FED5932AFE}"/>
                </a:ext>
              </a:extLst>
            </p:cNvPr>
            <p:cNvGrpSpPr>
              <a:grpSpLocks/>
            </p:cNvGrpSpPr>
            <p:nvPr/>
          </p:nvGrpSpPr>
          <p:grpSpPr bwMode="auto">
            <a:xfrm>
              <a:off x="0" y="2919"/>
              <a:ext cx="804" cy="595"/>
              <a:chOff x="0" y="2919"/>
              <a:chExt cx="804" cy="595"/>
            </a:xfrm>
          </p:grpSpPr>
          <p:sp>
            <p:nvSpPr>
              <p:cNvPr id="16426" name="Rectangle 79">
                <a:extLst>
                  <a:ext uri="{FF2B5EF4-FFF2-40B4-BE49-F238E27FC236}">
                    <a16:creationId xmlns:a16="http://schemas.microsoft.com/office/drawing/2014/main" id="{3F886617-9449-8C89-3FD9-22412AF026C5}"/>
                  </a:ext>
                </a:extLst>
              </p:cNvPr>
              <p:cNvSpPr>
                <a:spLocks noChangeArrowheads="1"/>
              </p:cNvSpPr>
              <p:nvPr/>
            </p:nvSpPr>
            <p:spPr bwMode="auto">
              <a:xfrm>
                <a:off x="4" y="2923"/>
                <a:ext cx="796"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Interactive English tutor</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200" b="1" dirty="0">
                  <a:cs typeface="Times New Roman" panose="02020603050405020304" pitchFamily="18" charset="0"/>
                </a:endParaRPr>
              </a:p>
              <a:p>
                <a:endParaRPr lang="en-US" altLang="en-US" sz="1000" b="1" dirty="0"/>
              </a:p>
            </p:txBody>
          </p:sp>
          <p:sp>
            <p:nvSpPr>
              <p:cNvPr id="16427" name="Rectangle 80">
                <a:extLst>
                  <a:ext uri="{FF2B5EF4-FFF2-40B4-BE49-F238E27FC236}">
                    <a16:creationId xmlns:a16="http://schemas.microsoft.com/office/drawing/2014/main" id="{2C255D8D-AF3A-2A53-708E-71A2E614840E}"/>
                  </a:ext>
                </a:extLst>
              </p:cNvPr>
              <p:cNvSpPr>
                <a:spLocks noChangeArrowheads="1"/>
              </p:cNvSpPr>
              <p:nvPr/>
            </p:nvSpPr>
            <p:spPr bwMode="auto">
              <a:xfrm>
                <a:off x="0" y="2919"/>
                <a:ext cx="804" cy="59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4" name="Group 81">
              <a:extLst>
                <a:ext uri="{FF2B5EF4-FFF2-40B4-BE49-F238E27FC236}">
                  <a16:creationId xmlns:a16="http://schemas.microsoft.com/office/drawing/2014/main" id="{9EE5D8D2-D513-10B5-D8BA-BD06BEED7EC6}"/>
                </a:ext>
              </a:extLst>
            </p:cNvPr>
            <p:cNvGrpSpPr>
              <a:grpSpLocks/>
            </p:cNvGrpSpPr>
            <p:nvPr/>
          </p:nvGrpSpPr>
          <p:grpSpPr bwMode="auto">
            <a:xfrm>
              <a:off x="804" y="2919"/>
              <a:ext cx="656" cy="595"/>
              <a:chOff x="804" y="2919"/>
              <a:chExt cx="656" cy="595"/>
            </a:xfrm>
          </p:grpSpPr>
          <p:sp>
            <p:nvSpPr>
              <p:cNvPr id="16424" name="Rectangle 82">
                <a:extLst>
                  <a:ext uri="{FF2B5EF4-FFF2-40B4-BE49-F238E27FC236}">
                    <a16:creationId xmlns:a16="http://schemas.microsoft.com/office/drawing/2014/main" id="{8E33625E-56FB-66D0-499D-CAD23F09C1DD}"/>
                  </a:ext>
                </a:extLst>
              </p:cNvPr>
              <p:cNvSpPr>
                <a:spLocks noChangeArrowheads="1"/>
              </p:cNvSpPr>
              <p:nvPr/>
            </p:nvSpPr>
            <p:spPr bwMode="auto">
              <a:xfrm>
                <a:off x="808" y="2923"/>
                <a:ext cx="648"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Typed words</a:t>
                </a:r>
                <a:endParaRPr lang="en-US" altLang="en-US" sz="1200" b="1" dirty="0">
                  <a:cs typeface="Times New Roman" panose="02020603050405020304" pitchFamily="18" charset="0"/>
                </a:endParaRPr>
              </a:p>
              <a:p>
                <a:r>
                  <a:rPr lang="en-US" altLang="en-US" sz="1000" b="1" dirty="0">
                    <a:latin typeface="Arial" panose="020B0604020202020204" pitchFamily="34" charset="0"/>
                    <a:cs typeface="Arial" panose="020B0604020202020204" pitchFamily="34" charset="0"/>
                  </a:rPr>
                  <a:t> </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25" name="Rectangle 83">
                <a:extLst>
                  <a:ext uri="{FF2B5EF4-FFF2-40B4-BE49-F238E27FC236}">
                    <a16:creationId xmlns:a16="http://schemas.microsoft.com/office/drawing/2014/main" id="{FF1720BF-786D-4D50-7B29-D74CEE9D264C}"/>
                  </a:ext>
                </a:extLst>
              </p:cNvPr>
              <p:cNvSpPr>
                <a:spLocks noChangeArrowheads="1"/>
              </p:cNvSpPr>
              <p:nvPr/>
            </p:nvSpPr>
            <p:spPr bwMode="auto">
              <a:xfrm>
                <a:off x="804" y="2919"/>
                <a:ext cx="656" cy="59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5" name="Group 84">
              <a:extLst>
                <a:ext uri="{FF2B5EF4-FFF2-40B4-BE49-F238E27FC236}">
                  <a16:creationId xmlns:a16="http://schemas.microsoft.com/office/drawing/2014/main" id="{40476260-8ABB-B49E-59C0-56471261D884}"/>
                </a:ext>
              </a:extLst>
            </p:cNvPr>
            <p:cNvGrpSpPr>
              <a:grpSpLocks/>
            </p:cNvGrpSpPr>
            <p:nvPr/>
          </p:nvGrpSpPr>
          <p:grpSpPr bwMode="auto">
            <a:xfrm>
              <a:off x="1460" y="2919"/>
              <a:ext cx="872" cy="595"/>
              <a:chOff x="1460" y="2919"/>
              <a:chExt cx="872" cy="595"/>
            </a:xfrm>
          </p:grpSpPr>
          <p:sp>
            <p:nvSpPr>
              <p:cNvPr id="16422" name="Rectangle 85">
                <a:extLst>
                  <a:ext uri="{FF2B5EF4-FFF2-40B4-BE49-F238E27FC236}">
                    <a16:creationId xmlns:a16="http://schemas.microsoft.com/office/drawing/2014/main" id="{A97297B6-6B77-2C6A-6C6C-35035A7FD141}"/>
                  </a:ext>
                </a:extLst>
              </p:cNvPr>
              <p:cNvSpPr>
                <a:spLocks noChangeArrowheads="1"/>
              </p:cNvSpPr>
              <p:nvPr/>
            </p:nvSpPr>
            <p:spPr bwMode="auto">
              <a:xfrm>
                <a:off x="1464" y="2923"/>
                <a:ext cx="864"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Print exercises, suggestions, corrections</a:t>
                </a:r>
                <a:endParaRPr lang="en-US" altLang="en-US" sz="1200" b="1" dirty="0">
                  <a:cs typeface="Times New Roman" panose="02020603050405020304" pitchFamily="18" charset="0"/>
                </a:endParaRPr>
              </a:p>
              <a:p>
                <a:endParaRPr lang="en-US" altLang="en-US" sz="1000" b="1" dirty="0"/>
              </a:p>
              <a:p>
                <a:endParaRPr lang="en-US" altLang="en-US" sz="1000" b="1" dirty="0"/>
              </a:p>
            </p:txBody>
          </p:sp>
          <p:sp>
            <p:nvSpPr>
              <p:cNvPr id="16423" name="Rectangle 86">
                <a:extLst>
                  <a:ext uri="{FF2B5EF4-FFF2-40B4-BE49-F238E27FC236}">
                    <a16:creationId xmlns:a16="http://schemas.microsoft.com/office/drawing/2014/main" id="{003F2382-581F-CF31-61E1-B33D8D6848B0}"/>
                  </a:ext>
                </a:extLst>
              </p:cNvPr>
              <p:cNvSpPr>
                <a:spLocks noChangeArrowheads="1"/>
              </p:cNvSpPr>
              <p:nvPr/>
            </p:nvSpPr>
            <p:spPr bwMode="auto">
              <a:xfrm>
                <a:off x="1460" y="2919"/>
                <a:ext cx="872" cy="59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6" name="Group 87">
              <a:extLst>
                <a:ext uri="{FF2B5EF4-FFF2-40B4-BE49-F238E27FC236}">
                  <a16:creationId xmlns:a16="http://schemas.microsoft.com/office/drawing/2014/main" id="{E9DEF323-E73C-979E-7154-871432C390BA}"/>
                </a:ext>
              </a:extLst>
            </p:cNvPr>
            <p:cNvGrpSpPr>
              <a:grpSpLocks/>
            </p:cNvGrpSpPr>
            <p:nvPr/>
          </p:nvGrpSpPr>
          <p:grpSpPr bwMode="auto">
            <a:xfrm>
              <a:off x="2332" y="2919"/>
              <a:ext cx="656" cy="595"/>
              <a:chOff x="2332" y="2919"/>
              <a:chExt cx="656" cy="595"/>
            </a:xfrm>
          </p:grpSpPr>
          <p:sp>
            <p:nvSpPr>
              <p:cNvPr id="16420" name="Rectangle 88">
                <a:extLst>
                  <a:ext uri="{FF2B5EF4-FFF2-40B4-BE49-F238E27FC236}">
                    <a16:creationId xmlns:a16="http://schemas.microsoft.com/office/drawing/2014/main" id="{0577C089-D3A4-AD13-D26D-5F5BA7F620F8}"/>
                  </a:ext>
                </a:extLst>
              </p:cNvPr>
              <p:cNvSpPr>
                <a:spLocks noChangeArrowheads="1"/>
              </p:cNvSpPr>
              <p:nvPr/>
            </p:nvSpPr>
            <p:spPr bwMode="auto">
              <a:xfrm>
                <a:off x="2336" y="2923"/>
                <a:ext cx="648"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Maximize student's score on test</a:t>
                </a:r>
                <a:endParaRPr lang="en-US" altLang="en-US" sz="1200" b="1" dirty="0">
                  <a:cs typeface="Times New Roman" panose="02020603050405020304" pitchFamily="18" charset="0"/>
                </a:endParaRPr>
              </a:p>
              <a:p>
                <a:endParaRPr lang="en-US" altLang="en-US" sz="1000" b="1" dirty="0"/>
              </a:p>
            </p:txBody>
          </p:sp>
          <p:sp>
            <p:nvSpPr>
              <p:cNvPr id="16421" name="Rectangle 89">
                <a:extLst>
                  <a:ext uri="{FF2B5EF4-FFF2-40B4-BE49-F238E27FC236}">
                    <a16:creationId xmlns:a16="http://schemas.microsoft.com/office/drawing/2014/main" id="{85356B66-78C3-810D-9011-E64A4780A82B}"/>
                  </a:ext>
                </a:extLst>
              </p:cNvPr>
              <p:cNvSpPr>
                <a:spLocks noChangeArrowheads="1"/>
              </p:cNvSpPr>
              <p:nvPr/>
            </p:nvSpPr>
            <p:spPr bwMode="auto">
              <a:xfrm>
                <a:off x="2332" y="2919"/>
                <a:ext cx="656" cy="59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nvGrpSpPr>
            <p:cNvPr id="16417" name="Group 90">
              <a:extLst>
                <a:ext uri="{FF2B5EF4-FFF2-40B4-BE49-F238E27FC236}">
                  <a16:creationId xmlns:a16="http://schemas.microsoft.com/office/drawing/2014/main" id="{89ECE56E-811C-1FCA-EEE5-B01C41B2CFA2}"/>
                </a:ext>
              </a:extLst>
            </p:cNvPr>
            <p:cNvGrpSpPr>
              <a:grpSpLocks/>
            </p:cNvGrpSpPr>
            <p:nvPr/>
          </p:nvGrpSpPr>
          <p:grpSpPr bwMode="auto">
            <a:xfrm>
              <a:off x="2988" y="2919"/>
              <a:ext cx="692" cy="595"/>
              <a:chOff x="2988" y="2919"/>
              <a:chExt cx="692" cy="595"/>
            </a:xfrm>
          </p:grpSpPr>
          <p:sp>
            <p:nvSpPr>
              <p:cNvPr id="16418" name="Rectangle 91">
                <a:extLst>
                  <a:ext uri="{FF2B5EF4-FFF2-40B4-BE49-F238E27FC236}">
                    <a16:creationId xmlns:a16="http://schemas.microsoft.com/office/drawing/2014/main" id="{FE979608-8124-32E3-3ED3-CEC03E6ED31D}"/>
                  </a:ext>
                </a:extLst>
              </p:cNvPr>
              <p:cNvSpPr>
                <a:spLocks noChangeArrowheads="1"/>
              </p:cNvSpPr>
              <p:nvPr/>
            </p:nvSpPr>
            <p:spPr bwMode="auto">
              <a:xfrm>
                <a:off x="2992" y="2923"/>
                <a:ext cx="684"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b="1" dirty="0">
                    <a:latin typeface="Arial" panose="020B0604020202020204" pitchFamily="34" charset="0"/>
                    <a:cs typeface="Arial" panose="020B0604020202020204" pitchFamily="34" charset="0"/>
                  </a:rPr>
                  <a:t>Set of students</a:t>
                </a:r>
                <a:endParaRPr lang="en-US" altLang="en-US" sz="1200" b="1" dirty="0">
                  <a:cs typeface="Times New Roman" panose="02020603050405020304" pitchFamily="18" charset="0"/>
                </a:endParaRPr>
              </a:p>
              <a:p>
                <a:r>
                  <a:rPr lang="en-US" altLang="en-US" sz="1000" b="1" dirty="0">
                    <a:latin typeface="Arial" panose="020B0604020202020204" pitchFamily="34" charset="0"/>
                    <a:cs typeface="Arial" panose="020B0604020202020204" pitchFamily="34" charset="0"/>
                  </a:rPr>
                  <a:t> </a:t>
                </a:r>
                <a:endParaRPr lang="en-US" altLang="en-US" sz="1200" b="1" dirty="0">
                  <a:cs typeface="Times New Roman" panose="02020603050405020304" pitchFamily="18" charset="0"/>
                </a:endParaRPr>
              </a:p>
              <a:p>
                <a:r>
                  <a:rPr lang="en-US" altLang="en-US" sz="1200" b="1" dirty="0">
                    <a:cs typeface="Times New Roman" panose="02020603050405020304" pitchFamily="18" charset="0"/>
                  </a:rPr>
                  <a:t> </a:t>
                </a:r>
              </a:p>
              <a:p>
                <a:endParaRPr lang="en-US" altLang="en-US" sz="1000" b="1" dirty="0"/>
              </a:p>
            </p:txBody>
          </p:sp>
          <p:sp>
            <p:nvSpPr>
              <p:cNvPr id="16419" name="Rectangle 92">
                <a:extLst>
                  <a:ext uri="{FF2B5EF4-FFF2-40B4-BE49-F238E27FC236}">
                    <a16:creationId xmlns:a16="http://schemas.microsoft.com/office/drawing/2014/main" id="{B6451542-AE85-A5B0-3445-96FFB288E432}"/>
                  </a:ext>
                </a:extLst>
              </p:cNvPr>
              <p:cNvSpPr>
                <a:spLocks noChangeArrowheads="1"/>
              </p:cNvSpPr>
              <p:nvPr/>
            </p:nvSpPr>
            <p:spPr bwMode="auto">
              <a:xfrm>
                <a:off x="2988" y="2919"/>
                <a:ext cx="692" cy="59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ZA" altLang="en-US" dirty="0"/>
              </a:p>
            </p:txBody>
          </p:sp>
        </p:grpSp>
      </p:grpSp>
      <p:sp>
        <p:nvSpPr>
          <p:cNvPr id="16387" name="Rectangle 94">
            <a:extLst>
              <a:ext uri="{FF2B5EF4-FFF2-40B4-BE49-F238E27FC236}">
                <a16:creationId xmlns:a16="http://schemas.microsoft.com/office/drawing/2014/main" id="{50E3A1EC-2EA8-2735-0F7A-FE56D9B36CF8}"/>
              </a:ext>
            </a:extLst>
          </p:cNvPr>
          <p:cNvSpPr>
            <a:spLocks noGrp="1" noChangeArrowheads="1"/>
          </p:cNvSpPr>
          <p:nvPr>
            <p:ph type="title" idx="4294967295"/>
          </p:nvPr>
        </p:nvSpPr>
        <p:spPr>
          <a:xfrm>
            <a:off x="1600200" y="94810"/>
            <a:ext cx="6934200" cy="492443"/>
          </a:xfrm>
        </p:spPr>
        <p:txBody>
          <a:bodyPr/>
          <a:lstStyle/>
          <a:p>
            <a:pPr eaLnBrk="1" hangingPunct="1"/>
            <a:r>
              <a:rPr lang="en-US" altLang="en-US" sz="3200" dirty="0"/>
              <a:t>Examples of agents</a:t>
            </a:r>
          </a:p>
        </p:txBody>
      </p:sp>
    </p:spTree>
    <p:extLst>
      <p:ext uri="{BB962C8B-B14F-4D97-AF65-F5344CB8AC3E}">
        <p14:creationId xmlns:p14="http://schemas.microsoft.com/office/powerpoint/2010/main" val="4132152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5130-DD12-BB24-2E57-90367C17F0A8}"/>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77D81105-5F74-8D52-DFEE-061E75215F7D}"/>
              </a:ext>
            </a:extLst>
          </p:cNvPr>
          <p:cNvSpPr>
            <a:spLocks noGrp="1" noChangeArrowheads="1"/>
          </p:cNvSpPr>
          <p:nvPr>
            <p:ph type="title"/>
          </p:nvPr>
        </p:nvSpPr>
        <p:spPr>
          <a:xfrm>
            <a:off x="2133600" y="533400"/>
            <a:ext cx="4014058" cy="719519"/>
          </a:xfrm>
        </p:spPr>
        <p:txBody>
          <a:bodyPr/>
          <a:lstStyle/>
          <a:p>
            <a:r>
              <a:rPr lang="en-US" altLang="en-US" dirty="0"/>
              <a:t>Agent types</a:t>
            </a:r>
          </a:p>
        </p:txBody>
      </p:sp>
      <p:sp>
        <p:nvSpPr>
          <p:cNvPr id="23555" name="Rectangle 3">
            <a:extLst>
              <a:ext uri="{FF2B5EF4-FFF2-40B4-BE49-F238E27FC236}">
                <a16:creationId xmlns:a16="http://schemas.microsoft.com/office/drawing/2014/main" id="{DE37508B-D234-C5CC-400D-A8A438A62F55}"/>
              </a:ext>
            </a:extLst>
          </p:cNvPr>
          <p:cNvSpPr>
            <a:spLocks noGrp="1" noChangeArrowheads="1"/>
          </p:cNvSpPr>
          <p:nvPr>
            <p:ph type="body" idx="1"/>
          </p:nvPr>
        </p:nvSpPr>
        <p:spPr>
          <a:xfrm>
            <a:off x="380365" y="1461135"/>
            <a:ext cx="8130540" cy="3339465"/>
          </a:xfrm>
        </p:spPr>
        <p:txBody>
          <a:bodyPr/>
          <a:lstStyle/>
          <a:p>
            <a:r>
              <a:rPr lang="en-US" altLang="en-US" dirty="0"/>
              <a:t>Four basic types in order of increasing generality:
</a:t>
            </a:r>
          </a:p>
          <a:p>
            <a:r>
              <a:rPr lang="en-US" altLang="en-US" dirty="0"/>
              <a:t>Simple reflex agents</a:t>
            </a:r>
          </a:p>
          <a:p>
            <a:r>
              <a:rPr lang="en-US" altLang="en-US" dirty="0"/>
              <a:t>Model-based reflex agents</a:t>
            </a:r>
          </a:p>
          <a:p>
            <a:r>
              <a:rPr lang="en-US" altLang="en-US" dirty="0"/>
              <a:t>Goal-based agents</a:t>
            </a:r>
          </a:p>
          <a:p>
            <a:r>
              <a:rPr lang="en-US" altLang="en-US" dirty="0"/>
              <a:t>Utility-based agents</a:t>
            </a:r>
          </a:p>
        </p:txBody>
      </p:sp>
    </p:spTree>
    <p:extLst>
      <p:ext uri="{BB962C8B-B14F-4D97-AF65-F5344CB8AC3E}">
        <p14:creationId xmlns:p14="http://schemas.microsoft.com/office/powerpoint/2010/main" val="2079490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DEFD10C-A377-BFEE-E17E-A0DFC8689DB4}"/>
              </a:ext>
            </a:extLst>
          </p:cNvPr>
          <p:cNvSpPr>
            <a:spLocks noGrp="1" noChangeArrowheads="1"/>
          </p:cNvSpPr>
          <p:nvPr>
            <p:ph type="title"/>
          </p:nvPr>
        </p:nvSpPr>
        <p:spPr/>
        <p:txBody>
          <a:bodyPr/>
          <a:lstStyle/>
          <a:p>
            <a:r>
              <a:rPr lang="en-US" altLang="en-US" dirty="0"/>
              <a:t>Simple reflex agents</a:t>
            </a:r>
          </a:p>
        </p:txBody>
      </p:sp>
      <p:pic>
        <p:nvPicPr>
          <p:cNvPr id="24580" name="Picture 4">
            <a:extLst>
              <a:ext uri="{FF2B5EF4-FFF2-40B4-BE49-F238E27FC236}">
                <a16:creationId xmlns:a16="http://schemas.microsoft.com/office/drawing/2014/main" id="{BDB881C3-C69C-7336-544E-1D8AD81733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371600"/>
            <a:ext cx="8153400" cy="5191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B79F15B-44C4-A609-D429-4AB450408EEE}"/>
              </a:ext>
            </a:extLst>
          </p:cNvPr>
          <p:cNvSpPr>
            <a:spLocks noGrp="1" noChangeArrowheads="1"/>
          </p:cNvSpPr>
          <p:nvPr>
            <p:ph type="title"/>
          </p:nvPr>
        </p:nvSpPr>
        <p:spPr>
          <a:xfrm>
            <a:off x="1447800" y="304800"/>
            <a:ext cx="5614258" cy="615553"/>
          </a:xfrm>
        </p:spPr>
        <p:txBody>
          <a:bodyPr/>
          <a:lstStyle/>
          <a:p>
            <a:r>
              <a:rPr lang="en-US" altLang="en-US" sz="4000" dirty="0"/>
              <a:t>Model-based reflex agents</a:t>
            </a:r>
          </a:p>
        </p:txBody>
      </p:sp>
      <p:pic>
        <p:nvPicPr>
          <p:cNvPr id="26628" name="Picture 4">
            <a:extLst>
              <a:ext uri="{FF2B5EF4-FFF2-40B4-BE49-F238E27FC236}">
                <a16:creationId xmlns:a16="http://schemas.microsoft.com/office/drawing/2014/main" id="{8CAE6970-3338-28D5-48F9-31738414BE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219200"/>
            <a:ext cx="8001000" cy="5092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7CCD3AA-A301-5807-F9AF-112070EDC01C}"/>
              </a:ext>
            </a:extLst>
          </p:cNvPr>
          <p:cNvSpPr>
            <a:spLocks noGrp="1" noChangeArrowheads="1"/>
          </p:cNvSpPr>
          <p:nvPr>
            <p:ph type="title"/>
          </p:nvPr>
        </p:nvSpPr>
        <p:spPr>
          <a:xfrm>
            <a:off x="1828800" y="227012"/>
            <a:ext cx="4699858" cy="795719"/>
          </a:xfrm>
        </p:spPr>
        <p:txBody>
          <a:bodyPr/>
          <a:lstStyle/>
          <a:p>
            <a:r>
              <a:rPr lang="en-US" altLang="en-US" dirty="0"/>
              <a:t>Utility-based agents</a:t>
            </a:r>
          </a:p>
        </p:txBody>
      </p:sp>
      <p:pic>
        <p:nvPicPr>
          <p:cNvPr id="29701" name="Picture 5">
            <a:extLst>
              <a:ext uri="{FF2B5EF4-FFF2-40B4-BE49-F238E27FC236}">
                <a16:creationId xmlns:a16="http://schemas.microsoft.com/office/drawing/2014/main" id="{BFF834A9-D88F-974C-EAEC-05BF8011AC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295400"/>
            <a:ext cx="8382000" cy="5335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304F165-FD58-22C4-7D5F-FAF682A492E1}"/>
              </a:ext>
            </a:extLst>
          </p:cNvPr>
          <p:cNvSpPr>
            <a:spLocks noGrp="1" noChangeArrowheads="1"/>
          </p:cNvSpPr>
          <p:nvPr>
            <p:ph type="title"/>
          </p:nvPr>
        </p:nvSpPr>
        <p:spPr>
          <a:xfrm>
            <a:off x="1981200" y="323850"/>
            <a:ext cx="4547458" cy="921132"/>
          </a:xfrm>
        </p:spPr>
        <p:txBody>
          <a:bodyPr/>
          <a:lstStyle/>
          <a:p>
            <a:r>
              <a:rPr lang="en-US" altLang="en-US" dirty="0"/>
              <a:t>Goal-based agents</a:t>
            </a:r>
          </a:p>
        </p:txBody>
      </p:sp>
      <p:sp>
        <p:nvSpPr>
          <p:cNvPr id="28675" name="Rectangle 3">
            <a:extLst>
              <a:ext uri="{FF2B5EF4-FFF2-40B4-BE49-F238E27FC236}">
                <a16:creationId xmlns:a16="http://schemas.microsoft.com/office/drawing/2014/main" id="{21B57AB0-BD2B-C6E0-86D1-E765673BA620}"/>
              </a:ext>
            </a:extLst>
          </p:cNvPr>
          <p:cNvSpPr>
            <a:spLocks noGrp="1" noChangeArrowheads="1"/>
          </p:cNvSpPr>
          <p:nvPr>
            <p:ph type="body" idx="4294967295"/>
          </p:nvPr>
        </p:nvSpPr>
        <p:spPr>
          <a:xfrm>
            <a:off x="0" y="1600200"/>
            <a:ext cx="8229600" cy="4525963"/>
          </a:xfrm>
        </p:spPr>
        <p:txBody>
          <a:bodyPr/>
          <a:lstStyle/>
          <a:p>
            <a:pPr>
              <a:buFontTx/>
              <a:buNone/>
            </a:pPr>
            <a:r>
              <a:rPr lang="en-US" altLang="en-US" dirty="0"/>
              <a:t>
</a:t>
            </a:r>
          </a:p>
        </p:txBody>
      </p:sp>
      <p:pic>
        <p:nvPicPr>
          <p:cNvPr id="28677" name="Picture 5">
            <a:extLst>
              <a:ext uri="{FF2B5EF4-FFF2-40B4-BE49-F238E27FC236}">
                <a16:creationId xmlns:a16="http://schemas.microsoft.com/office/drawing/2014/main" id="{ADEFCFB6-CE79-0160-516D-B2D0D25927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295400"/>
            <a:ext cx="8229600" cy="5238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104CA14-BD48-9DB4-6ADF-88DB2A415239}"/>
              </a:ext>
            </a:extLst>
          </p:cNvPr>
          <p:cNvSpPr>
            <a:spLocks noGrp="1" noChangeArrowheads="1"/>
          </p:cNvSpPr>
          <p:nvPr>
            <p:ph type="title"/>
          </p:nvPr>
        </p:nvSpPr>
        <p:spPr>
          <a:xfrm>
            <a:off x="2133600" y="304800"/>
            <a:ext cx="4318858" cy="719519"/>
          </a:xfrm>
        </p:spPr>
        <p:txBody>
          <a:bodyPr/>
          <a:lstStyle/>
          <a:p>
            <a:r>
              <a:rPr lang="en-US" altLang="en-US" dirty="0"/>
              <a:t>Learning agents</a:t>
            </a:r>
          </a:p>
        </p:txBody>
      </p:sp>
      <p:pic>
        <p:nvPicPr>
          <p:cNvPr id="30729" name="Picture 9">
            <a:extLst>
              <a:ext uri="{FF2B5EF4-FFF2-40B4-BE49-F238E27FC236}">
                <a16:creationId xmlns:a16="http://schemas.microsoft.com/office/drawing/2014/main" id="{17189081-F059-F03E-E319-685E96AA94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0" y="1295400"/>
            <a:ext cx="7620000" cy="535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C60E4-B25F-F850-41AC-0C698AB688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2FC682-CED0-7A05-69DF-64057CF2C32D}"/>
              </a:ext>
            </a:extLst>
          </p:cNvPr>
          <p:cNvSpPr txBox="1">
            <a:spLocks noGrp="1"/>
          </p:cNvSpPr>
          <p:nvPr>
            <p:ph type="title"/>
          </p:nvPr>
        </p:nvSpPr>
        <p:spPr>
          <a:prstGeom prst="rect">
            <a:avLst/>
          </a:prstGeom>
        </p:spPr>
        <p:txBody>
          <a:bodyPr vert="horz" wrap="square" lIns="0" tIns="348297" rIns="0" bIns="0" rtlCol="0">
            <a:spAutoFit/>
          </a:bodyPr>
          <a:lstStyle/>
          <a:p>
            <a:pPr marL="1007744">
              <a:lnSpc>
                <a:spcPct val="100000"/>
              </a:lnSpc>
              <a:spcBef>
                <a:spcPts val="105"/>
              </a:spcBef>
            </a:pPr>
            <a:r>
              <a:rPr dirty="0"/>
              <a:t>Simple</a:t>
            </a:r>
            <a:r>
              <a:rPr spc="-130" dirty="0"/>
              <a:t> </a:t>
            </a:r>
            <a:r>
              <a:rPr dirty="0"/>
              <a:t>reflex</a:t>
            </a:r>
            <a:r>
              <a:rPr spc="-150" dirty="0"/>
              <a:t> </a:t>
            </a:r>
            <a:r>
              <a:rPr spc="-10" dirty="0"/>
              <a:t>agents…</a:t>
            </a:r>
          </a:p>
        </p:txBody>
      </p:sp>
      <p:pic>
        <p:nvPicPr>
          <p:cNvPr id="3" name="object 3">
            <a:extLst>
              <a:ext uri="{FF2B5EF4-FFF2-40B4-BE49-F238E27FC236}">
                <a16:creationId xmlns:a16="http://schemas.microsoft.com/office/drawing/2014/main" id="{B9FD5667-7B9C-4D4A-D00D-C4B616A86E41}"/>
              </a:ext>
            </a:extLst>
          </p:cNvPr>
          <p:cNvPicPr/>
          <p:nvPr/>
        </p:nvPicPr>
        <p:blipFill>
          <a:blip r:embed="rId3" cstate="print"/>
          <a:stretch>
            <a:fillRect/>
          </a:stretch>
        </p:blipFill>
        <p:spPr>
          <a:xfrm>
            <a:off x="472440" y="1880615"/>
            <a:ext cx="216407" cy="227075"/>
          </a:xfrm>
          <a:prstGeom prst="rect">
            <a:avLst/>
          </a:prstGeom>
        </p:spPr>
      </p:pic>
      <p:sp>
        <p:nvSpPr>
          <p:cNvPr id="4" name="object 4">
            <a:extLst>
              <a:ext uri="{FF2B5EF4-FFF2-40B4-BE49-F238E27FC236}">
                <a16:creationId xmlns:a16="http://schemas.microsoft.com/office/drawing/2014/main" id="{11FE02E6-A4DC-8328-95EE-E4730A86614D}"/>
              </a:ext>
            </a:extLst>
          </p:cNvPr>
          <p:cNvSpPr txBox="1"/>
          <p:nvPr/>
        </p:nvSpPr>
        <p:spPr>
          <a:xfrm>
            <a:off x="801116" y="1582920"/>
            <a:ext cx="7439025" cy="3533775"/>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It</a:t>
            </a:r>
            <a:r>
              <a:rPr sz="3200" spc="-40" dirty="0">
                <a:latin typeface="Calibri"/>
                <a:cs typeface="Calibri"/>
              </a:rPr>
              <a:t> </a:t>
            </a:r>
            <a:r>
              <a:rPr sz="3200" dirty="0">
                <a:latin typeface="Calibri"/>
                <a:cs typeface="Calibri"/>
              </a:rPr>
              <a:t>uses</a:t>
            </a:r>
            <a:r>
              <a:rPr sz="3200" spc="-35" dirty="0">
                <a:latin typeface="Calibri"/>
                <a:cs typeface="Calibri"/>
              </a:rPr>
              <a:t> </a:t>
            </a:r>
            <a:r>
              <a:rPr sz="3200" dirty="0">
                <a:latin typeface="Calibri"/>
                <a:cs typeface="Calibri"/>
              </a:rPr>
              <a:t>just </a:t>
            </a:r>
            <a:r>
              <a:rPr sz="3200" b="1" i="1" spc="-10" dirty="0">
                <a:latin typeface="Calibri"/>
                <a:cs typeface="Calibri"/>
              </a:rPr>
              <a:t>condition-</a:t>
            </a:r>
            <a:r>
              <a:rPr sz="3200" b="1" i="1" dirty="0">
                <a:latin typeface="Calibri"/>
                <a:cs typeface="Calibri"/>
              </a:rPr>
              <a:t>action</a:t>
            </a:r>
            <a:r>
              <a:rPr sz="3200" b="1" i="1" spc="-65" dirty="0">
                <a:latin typeface="Calibri"/>
                <a:cs typeface="Calibri"/>
              </a:rPr>
              <a:t> </a:t>
            </a:r>
            <a:r>
              <a:rPr sz="3200" b="1" i="1" spc="-10" dirty="0">
                <a:latin typeface="Calibri"/>
                <a:cs typeface="Calibri"/>
              </a:rPr>
              <a:t>rules</a:t>
            </a:r>
            <a:endParaRPr sz="3200">
              <a:latin typeface="Calibri"/>
              <a:cs typeface="Calibri"/>
            </a:endParaRPr>
          </a:p>
          <a:p>
            <a:pPr marL="412750" indent="-284480">
              <a:lnSpc>
                <a:spcPct val="100000"/>
              </a:lnSpc>
              <a:spcBef>
                <a:spcPts val="690"/>
              </a:spcBef>
              <a:buClr>
                <a:srgbClr val="C09E4A"/>
              </a:buClr>
              <a:buSzPct val="69642"/>
              <a:buFont typeface="Wingdings"/>
              <a:buChar char=""/>
              <a:tabLst>
                <a:tab pos="412750" algn="l"/>
              </a:tabLst>
            </a:pPr>
            <a:r>
              <a:rPr sz="2800" dirty="0">
                <a:latin typeface="Calibri"/>
                <a:cs typeface="Calibri"/>
              </a:rPr>
              <a:t>The</a:t>
            </a:r>
            <a:r>
              <a:rPr sz="2800" spc="-60" dirty="0">
                <a:latin typeface="Calibri"/>
                <a:cs typeface="Calibri"/>
              </a:rPr>
              <a:t> </a:t>
            </a:r>
            <a:r>
              <a:rPr sz="2800" dirty="0">
                <a:latin typeface="Calibri"/>
                <a:cs typeface="Calibri"/>
              </a:rPr>
              <a:t>rules</a:t>
            </a:r>
            <a:r>
              <a:rPr sz="2800" spc="-30" dirty="0">
                <a:latin typeface="Calibri"/>
                <a:cs typeface="Calibri"/>
              </a:rPr>
              <a:t> </a:t>
            </a:r>
            <a:r>
              <a:rPr sz="2800" dirty="0">
                <a:latin typeface="Calibri"/>
                <a:cs typeface="Calibri"/>
              </a:rPr>
              <a:t>are</a:t>
            </a:r>
            <a:r>
              <a:rPr sz="2800" spc="-70" dirty="0">
                <a:latin typeface="Calibri"/>
                <a:cs typeface="Calibri"/>
              </a:rPr>
              <a:t> </a:t>
            </a:r>
            <a:r>
              <a:rPr sz="2800" dirty="0">
                <a:latin typeface="Calibri"/>
                <a:cs typeface="Calibri"/>
              </a:rPr>
              <a:t>like</a:t>
            </a:r>
            <a:r>
              <a:rPr sz="2800" spc="-55"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form</a:t>
            </a:r>
            <a:r>
              <a:rPr sz="2800" spc="-50" dirty="0">
                <a:latin typeface="Calibri"/>
                <a:cs typeface="Calibri"/>
              </a:rPr>
              <a:t> </a:t>
            </a:r>
            <a:r>
              <a:rPr sz="2800" dirty="0">
                <a:latin typeface="Calibri"/>
                <a:cs typeface="Calibri"/>
              </a:rPr>
              <a:t>“if</a:t>
            </a:r>
            <a:r>
              <a:rPr sz="2800" spc="-55" dirty="0">
                <a:latin typeface="Calibri"/>
                <a:cs typeface="Calibri"/>
              </a:rPr>
              <a:t> </a:t>
            </a:r>
            <a:r>
              <a:rPr sz="2800" dirty="0">
                <a:latin typeface="Calibri"/>
                <a:cs typeface="Calibri"/>
              </a:rPr>
              <a:t>…</a:t>
            </a:r>
            <a:r>
              <a:rPr sz="2800" spc="-55" dirty="0">
                <a:latin typeface="Calibri"/>
                <a:cs typeface="Calibri"/>
              </a:rPr>
              <a:t> </a:t>
            </a:r>
            <a:r>
              <a:rPr sz="2800" dirty="0">
                <a:latin typeface="Calibri"/>
                <a:cs typeface="Calibri"/>
              </a:rPr>
              <a:t>then</a:t>
            </a:r>
            <a:r>
              <a:rPr sz="2800" spc="-40" dirty="0">
                <a:latin typeface="Calibri"/>
                <a:cs typeface="Calibri"/>
              </a:rPr>
              <a:t> </a:t>
            </a:r>
            <a:r>
              <a:rPr sz="2800" spc="-25" dirty="0">
                <a:latin typeface="Calibri"/>
                <a:cs typeface="Calibri"/>
              </a:rPr>
              <a:t>…”</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efficient</a:t>
            </a:r>
            <a:r>
              <a:rPr sz="2800" spc="-95" dirty="0">
                <a:latin typeface="Calibri"/>
                <a:cs typeface="Calibri"/>
              </a:rPr>
              <a:t> </a:t>
            </a:r>
            <a:r>
              <a:rPr sz="2800" dirty="0">
                <a:latin typeface="Calibri"/>
                <a:cs typeface="Calibri"/>
              </a:rPr>
              <a:t>but</a:t>
            </a:r>
            <a:r>
              <a:rPr sz="2800" spc="-75" dirty="0">
                <a:latin typeface="Calibri"/>
                <a:cs typeface="Calibri"/>
              </a:rPr>
              <a:t> </a:t>
            </a:r>
            <a:r>
              <a:rPr sz="2800" dirty="0">
                <a:latin typeface="Calibri"/>
                <a:cs typeface="Calibri"/>
              </a:rPr>
              <a:t>have</a:t>
            </a:r>
            <a:r>
              <a:rPr sz="2800" spc="-90" dirty="0">
                <a:latin typeface="Calibri"/>
                <a:cs typeface="Calibri"/>
              </a:rPr>
              <a:t> </a:t>
            </a:r>
            <a:r>
              <a:rPr sz="2800" dirty="0">
                <a:latin typeface="Calibri"/>
                <a:cs typeface="Calibri"/>
              </a:rPr>
              <a:t>narrow</a:t>
            </a:r>
            <a:r>
              <a:rPr sz="2800" spc="-80" dirty="0">
                <a:latin typeface="Calibri"/>
                <a:cs typeface="Calibri"/>
              </a:rPr>
              <a:t> </a:t>
            </a:r>
            <a:r>
              <a:rPr sz="2800" dirty="0">
                <a:latin typeface="Calibri"/>
                <a:cs typeface="Calibri"/>
              </a:rPr>
              <a:t>range</a:t>
            </a:r>
            <a:r>
              <a:rPr sz="2800" spc="-95" dirty="0">
                <a:latin typeface="Calibri"/>
                <a:cs typeface="Calibri"/>
              </a:rPr>
              <a:t> </a:t>
            </a:r>
            <a:r>
              <a:rPr sz="2800" dirty="0">
                <a:latin typeface="Calibri"/>
                <a:cs typeface="Calibri"/>
              </a:rPr>
              <a:t>of</a:t>
            </a:r>
            <a:r>
              <a:rPr sz="2800" spc="-90" dirty="0">
                <a:latin typeface="Calibri"/>
                <a:cs typeface="Calibri"/>
              </a:rPr>
              <a:t> </a:t>
            </a:r>
            <a:r>
              <a:rPr sz="2800" spc="-10" dirty="0">
                <a:latin typeface="Calibri"/>
                <a:cs typeface="Calibri"/>
              </a:rPr>
              <a:t>applicability</a:t>
            </a:r>
            <a:endParaRPr sz="2800">
              <a:latin typeface="Calibri"/>
              <a:cs typeface="Calibri"/>
            </a:endParaRPr>
          </a:p>
          <a:p>
            <a:pPr marL="413384" marR="5080" indent="-285115">
              <a:lnSpc>
                <a:spcPct val="100000"/>
              </a:lnSpc>
              <a:spcBef>
                <a:spcPts val="670"/>
              </a:spcBef>
              <a:buClr>
                <a:srgbClr val="C09E4A"/>
              </a:buClr>
              <a:buSzPct val="69642"/>
              <a:buFont typeface="Wingdings"/>
              <a:buChar char=""/>
              <a:tabLst>
                <a:tab pos="413384" algn="l"/>
              </a:tabLst>
            </a:pPr>
            <a:r>
              <a:rPr sz="2800" dirty="0">
                <a:latin typeface="Calibri"/>
                <a:cs typeface="Calibri"/>
              </a:rPr>
              <a:t>Because</a:t>
            </a:r>
            <a:r>
              <a:rPr sz="2800" spc="-90" dirty="0">
                <a:latin typeface="Calibri"/>
                <a:cs typeface="Calibri"/>
              </a:rPr>
              <a:t> </a:t>
            </a:r>
            <a:r>
              <a:rPr sz="2800" dirty="0">
                <a:latin typeface="Calibri"/>
                <a:cs typeface="Calibri"/>
              </a:rPr>
              <a:t>knowledge</a:t>
            </a:r>
            <a:r>
              <a:rPr sz="2800" spc="-105" dirty="0">
                <a:latin typeface="Calibri"/>
                <a:cs typeface="Calibri"/>
              </a:rPr>
              <a:t> </a:t>
            </a:r>
            <a:r>
              <a:rPr sz="2800" dirty="0">
                <a:latin typeface="Calibri"/>
                <a:cs typeface="Calibri"/>
              </a:rPr>
              <a:t>sometimes</a:t>
            </a:r>
            <a:r>
              <a:rPr sz="2800" spc="-80" dirty="0">
                <a:latin typeface="Calibri"/>
                <a:cs typeface="Calibri"/>
              </a:rPr>
              <a:t> </a:t>
            </a:r>
            <a:r>
              <a:rPr sz="2800" dirty="0">
                <a:latin typeface="Calibri"/>
                <a:cs typeface="Calibri"/>
              </a:rPr>
              <a:t>cannot</a:t>
            </a:r>
            <a:r>
              <a:rPr sz="2800" spc="-90" dirty="0">
                <a:latin typeface="Calibri"/>
                <a:cs typeface="Calibri"/>
              </a:rPr>
              <a:t> </a:t>
            </a:r>
            <a:r>
              <a:rPr sz="2800" dirty="0">
                <a:latin typeface="Calibri"/>
                <a:cs typeface="Calibri"/>
              </a:rPr>
              <a:t>be</a:t>
            </a:r>
            <a:r>
              <a:rPr sz="2800" spc="-90" dirty="0">
                <a:latin typeface="Calibri"/>
                <a:cs typeface="Calibri"/>
              </a:rPr>
              <a:t> </a:t>
            </a:r>
            <a:r>
              <a:rPr sz="2800" spc="-10" dirty="0">
                <a:latin typeface="Calibri"/>
                <a:cs typeface="Calibri"/>
              </a:rPr>
              <a:t>stated explicitly</a:t>
            </a:r>
            <a:endParaRPr sz="2800">
              <a:latin typeface="Calibri"/>
              <a:cs typeface="Calibri"/>
            </a:endParaRPr>
          </a:p>
          <a:p>
            <a:pPr marL="412750" indent="-284480">
              <a:lnSpc>
                <a:spcPct val="100000"/>
              </a:lnSpc>
              <a:spcBef>
                <a:spcPts val="675"/>
              </a:spcBef>
              <a:buClr>
                <a:srgbClr val="C09E4A"/>
              </a:buClr>
              <a:buSzPct val="69642"/>
              <a:buFont typeface="Wingdings"/>
              <a:buChar char=""/>
              <a:tabLst>
                <a:tab pos="412750" algn="l"/>
              </a:tabLst>
            </a:pPr>
            <a:r>
              <a:rPr sz="2800" dirty="0">
                <a:latin typeface="Calibri"/>
                <a:cs typeface="Calibri"/>
              </a:rPr>
              <a:t>Work</a:t>
            </a:r>
            <a:r>
              <a:rPr sz="2800" spc="-155" dirty="0">
                <a:latin typeface="Calibri"/>
                <a:cs typeface="Calibri"/>
              </a:rPr>
              <a:t> </a:t>
            </a:r>
            <a:r>
              <a:rPr sz="2800" spc="-20" dirty="0">
                <a:latin typeface="Calibri"/>
                <a:cs typeface="Calibri"/>
              </a:rPr>
              <a:t>only</a:t>
            </a:r>
            <a:endParaRPr sz="2800">
              <a:latin typeface="Calibri"/>
              <a:cs typeface="Calibri"/>
            </a:endParaRPr>
          </a:p>
          <a:p>
            <a:pPr marL="813435" lvl="1" indent="-227965">
              <a:lnSpc>
                <a:spcPct val="100000"/>
              </a:lnSpc>
              <a:spcBef>
                <a:spcPts val="605"/>
              </a:spcBef>
              <a:buClr>
                <a:srgbClr val="666699"/>
              </a:buClr>
              <a:buSzPct val="64583"/>
              <a:buFont typeface="Wingdings"/>
              <a:buChar char=""/>
              <a:tabLst>
                <a:tab pos="813435" algn="l"/>
              </a:tabLst>
            </a:pPr>
            <a:r>
              <a:rPr sz="2400" dirty="0">
                <a:latin typeface="Calibri"/>
                <a:cs typeface="Calibri"/>
              </a:rPr>
              <a:t>if</a:t>
            </a:r>
            <a:r>
              <a:rPr sz="2400" spc="-35" dirty="0">
                <a:latin typeface="Calibri"/>
                <a:cs typeface="Calibri"/>
              </a:rPr>
              <a:t> </a:t>
            </a:r>
            <a:r>
              <a:rPr sz="2400" dirty="0">
                <a:latin typeface="Calibri"/>
                <a:cs typeface="Calibri"/>
              </a:rPr>
              <a:t>the</a:t>
            </a:r>
            <a:r>
              <a:rPr sz="2400" spc="-35" dirty="0">
                <a:latin typeface="Calibri"/>
                <a:cs typeface="Calibri"/>
              </a:rPr>
              <a:t> </a:t>
            </a:r>
            <a:r>
              <a:rPr sz="2400" spc="-10" dirty="0">
                <a:latin typeface="Calibri"/>
                <a:cs typeface="Calibri"/>
              </a:rPr>
              <a:t>environment</a:t>
            </a:r>
            <a:r>
              <a:rPr sz="2400" spc="-4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fully</a:t>
            </a:r>
            <a:r>
              <a:rPr sz="2400" spc="-30" dirty="0">
                <a:latin typeface="Calibri"/>
                <a:cs typeface="Calibri"/>
              </a:rPr>
              <a:t> </a:t>
            </a:r>
            <a:r>
              <a:rPr sz="2400" spc="-10" dirty="0">
                <a:latin typeface="Calibri"/>
                <a:cs typeface="Calibri"/>
              </a:rPr>
              <a:t>observable</a:t>
            </a:r>
            <a:endParaRPr sz="2400">
              <a:latin typeface="Calibri"/>
              <a:cs typeface="Calibri"/>
            </a:endParaRPr>
          </a:p>
        </p:txBody>
      </p:sp>
    </p:spTree>
    <p:extLst>
      <p:ext uri="{BB962C8B-B14F-4D97-AF65-F5344CB8AC3E}">
        <p14:creationId xmlns:p14="http://schemas.microsoft.com/office/powerpoint/2010/main" val="3271363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40310-86E5-2509-9A86-D5800E8802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8C37453-2642-E1FE-FE80-80E3F2DFA708}"/>
              </a:ext>
            </a:extLst>
          </p:cNvPr>
          <p:cNvSpPr txBox="1">
            <a:spLocks noGrp="1"/>
          </p:cNvSpPr>
          <p:nvPr>
            <p:ph type="title"/>
          </p:nvPr>
        </p:nvSpPr>
        <p:spPr>
          <a:prstGeom prst="rect">
            <a:avLst/>
          </a:prstGeom>
        </p:spPr>
        <p:txBody>
          <a:bodyPr vert="horz" wrap="square" lIns="0" tIns="348297" rIns="0" bIns="0" rtlCol="0">
            <a:spAutoFit/>
          </a:bodyPr>
          <a:lstStyle/>
          <a:p>
            <a:pPr marL="737870">
              <a:lnSpc>
                <a:spcPct val="100000"/>
              </a:lnSpc>
              <a:spcBef>
                <a:spcPts val="105"/>
              </a:spcBef>
            </a:pPr>
            <a:r>
              <a:rPr dirty="0"/>
              <a:t>Reflex</a:t>
            </a:r>
            <a:r>
              <a:rPr spc="-155" dirty="0"/>
              <a:t> </a:t>
            </a:r>
            <a:r>
              <a:rPr dirty="0"/>
              <a:t>Agents</a:t>
            </a:r>
            <a:r>
              <a:rPr spc="-140" dirty="0"/>
              <a:t> </a:t>
            </a:r>
            <a:r>
              <a:rPr dirty="0"/>
              <a:t>with</a:t>
            </a:r>
            <a:r>
              <a:rPr spc="-120" dirty="0"/>
              <a:t> </a:t>
            </a:r>
            <a:r>
              <a:rPr spc="-10" dirty="0"/>
              <a:t>State</a:t>
            </a:r>
          </a:p>
        </p:txBody>
      </p:sp>
      <p:grpSp>
        <p:nvGrpSpPr>
          <p:cNvPr id="3" name="object 3">
            <a:extLst>
              <a:ext uri="{FF2B5EF4-FFF2-40B4-BE49-F238E27FC236}">
                <a16:creationId xmlns:a16="http://schemas.microsoft.com/office/drawing/2014/main" id="{A6E78D2E-0781-8BB7-7038-EDE7CA88DE8D}"/>
              </a:ext>
            </a:extLst>
          </p:cNvPr>
          <p:cNvGrpSpPr/>
          <p:nvPr/>
        </p:nvGrpSpPr>
        <p:grpSpPr>
          <a:xfrm>
            <a:off x="472440" y="1880615"/>
            <a:ext cx="216535" cy="2638425"/>
            <a:chOff x="472440" y="1880615"/>
            <a:chExt cx="216535" cy="2638425"/>
          </a:xfrm>
        </p:grpSpPr>
        <p:pic>
          <p:nvPicPr>
            <p:cNvPr id="4" name="object 4">
              <a:extLst>
                <a:ext uri="{FF2B5EF4-FFF2-40B4-BE49-F238E27FC236}">
                  <a16:creationId xmlns:a16="http://schemas.microsoft.com/office/drawing/2014/main" id="{F4EFB74B-8771-C258-8A9B-27FD7C9CED8C}"/>
                </a:ext>
              </a:extLst>
            </p:cNvPr>
            <p:cNvPicPr/>
            <p:nvPr/>
          </p:nvPicPr>
          <p:blipFill>
            <a:blip r:embed="rId3" cstate="print"/>
            <a:stretch>
              <a:fillRect/>
            </a:stretch>
          </p:blipFill>
          <p:spPr>
            <a:xfrm>
              <a:off x="472440" y="1880615"/>
              <a:ext cx="216407" cy="227075"/>
            </a:xfrm>
            <a:prstGeom prst="rect">
              <a:avLst/>
            </a:prstGeom>
          </p:spPr>
        </p:pic>
        <p:pic>
          <p:nvPicPr>
            <p:cNvPr id="5" name="object 5">
              <a:extLst>
                <a:ext uri="{FF2B5EF4-FFF2-40B4-BE49-F238E27FC236}">
                  <a16:creationId xmlns:a16="http://schemas.microsoft.com/office/drawing/2014/main" id="{F497E705-2921-229B-5FDE-80943325CCDE}"/>
                </a:ext>
              </a:extLst>
            </p:cNvPr>
            <p:cNvPicPr/>
            <p:nvPr/>
          </p:nvPicPr>
          <p:blipFill>
            <a:blip r:embed="rId3" cstate="print"/>
            <a:stretch>
              <a:fillRect/>
            </a:stretch>
          </p:blipFill>
          <p:spPr>
            <a:xfrm>
              <a:off x="472440" y="4291596"/>
              <a:ext cx="216407" cy="227063"/>
            </a:xfrm>
            <a:prstGeom prst="rect">
              <a:avLst/>
            </a:prstGeom>
          </p:spPr>
        </p:pic>
      </p:grpSp>
      <p:sp>
        <p:nvSpPr>
          <p:cNvPr id="6" name="object 6">
            <a:extLst>
              <a:ext uri="{FF2B5EF4-FFF2-40B4-BE49-F238E27FC236}">
                <a16:creationId xmlns:a16="http://schemas.microsoft.com/office/drawing/2014/main" id="{AE6A42A9-6A33-13E3-2FC3-1B53BCBAF4CC}"/>
              </a:ext>
            </a:extLst>
          </p:cNvPr>
          <p:cNvSpPr txBox="1">
            <a:spLocks noGrp="1"/>
          </p:cNvSpPr>
          <p:nvPr>
            <p:ph type="body" idx="1"/>
          </p:nvPr>
        </p:nvSpPr>
        <p:spPr>
          <a:prstGeom prst="rect">
            <a:avLst/>
          </a:prstGeom>
        </p:spPr>
        <p:txBody>
          <a:bodyPr vert="horz" wrap="square" lIns="0" tIns="235450" rIns="0" bIns="0" rtlCol="0">
            <a:spAutoFit/>
          </a:bodyPr>
          <a:lstStyle/>
          <a:p>
            <a:pPr marL="433070">
              <a:lnSpc>
                <a:spcPct val="100000"/>
              </a:lnSpc>
              <a:spcBef>
                <a:spcPts val="894"/>
              </a:spcBef>
            </a:pPr>
            <a:r>
              <a:rPr dirty="0"/>
              <a:t>For</a:t>
            </a:r>
            <a:r>
              <a:rPr spc="-50" dirty="0"/>
              <a:t> </a:t>
            </a:r>
            <a:r>
              <a:rPr dirty="0"/>
              <a:t>the</a:t>
            </a:r>
            <a:r>
              <a:rPr spc="-50" dirty="0"/>
              <a:t> </a:t>
            </a:r>
            <a:r>
              <a:rPr dirty="0"/>
              <a:t>world</a:t>
            </a:r>
            <a:r>
              <a:rPr spc="-55" dirty="0"/>
              <a:t> </a:t>
            </a:r>
            <a:r>
              <a:rPr dirty="0"/>
              <a:t>that</a:t>
            </a:r>
            <a:r>
              <a:rPr spc="-50" dirty="0"/>
              <a:t> </a:t>
            </a:r>
            <a:r>
              <a:rPr dirty="0"/>
              <a:t>is</a:t>
            </a:r>
            <a:r>
              <a:rPr spc="-55" dirty="0"/>
              <a:t> </a:t>
            </a:r>
            <a:r>
              <a:rPr dirty="0"/>
              <a:t>partially</a:t>
            </a:r>
            <a:r>
              <a:rPr spc="-45" dirty="0"/>
              <a:t> </a:t>
            </a:r>
            <a:r>
              <a:rPr spc="-10" dirty="0"/>
              <a:t>observable</a:t>
            </a:r>
          </a:p>
          <a:p>
            <a:pPr marL="833119" indent="-284480">
              <a:lnSpc>
                <a:spcPct val="100000"/>
              </a:lnSpc>
              <a:spcBef>
                <a:spcPts val="690"/>
              </a:spcBef>
              <a:buClr>
                <a:srgbClr val="C09E4A"/>
              </a:buClr>
              <a:buSzPct val="69642"/>
              <a:buFont typeface="Wingdings"/>
              <a:buChar char=""/>
              <a:tabLst>
                <a:tab pos="833755" algn="l"/>
              </a:tabLst>
            </a:pPr>
            <a:r>
              <a:rPr sz="2800" dirty="0"/>
              <a:t>the</a:t>
            </a:r>
            <a:r>
              <a:rPr sz="2800" spc="-50" dirty="0"/>
              <a:t> </a:t>
            </a:r>
            <a:r>
              <a:rPr sz="2800" dirty="0"/>
              <a:t>agent</a:t>
            </a:r>
            <a:r>
              <a:rPr sz="2800" spc="-75" dirty="0"/>
              <a:t> </a:t>
            </a:r>
            <a:r>
              <a:rPr sz="2800" dirty="0"/>
              <a:t>has</a:t>
            </a:r>
            <a:r>
              <a:rPr sz="2800" spc="-40" dirty="0"/>
              <a:t> </a:t>
            </a:r>
            <a:r>
              <a:rPr sz="2800" dirty="0"/>
              <a:t>to</a:t>
            </a:r>
            <a:r>
              <a:rPr sz="2800" spc="-70" dirty="0"/>
              <a:t> </a:t>
            </a:r>
            <a:r>
              <a:rPr sz="2800" dirty="0"/>
              <a:t>keep</a:t>
            </a:r>
            <a:r>
              <a:rPr sz="2800" spc="-65" dirty="0"/>
              <a:t> </a:t>
            </a:r>
            <a:r>
              <a:rPr sz="2800" dirty="0"/>
              <a:t>track</a:t>
            </a:r>
            <a:r>
              <a:rPr sz="2800" spc="-50" dirty="0"/>
              <a:t> </a:t>
            </a:r>
            <a:r>
              <a:rPr sz="2800" dirty="0"/>
              <a:t>of</a:t>
            </a:r>
            <a:r>
              <a:rPr sz="2800" spc="-65" dirty="0"/>
              <a:t> </a:t>
            </a:r>
            <a:r>
              <a:rPr sz="2800" dirty="0"/>
              <a:t>an</a:t>
            </a:r>
            <a:r>
              <a:rPr sz="2800" spc="-65" dirty="0"/>
              <a:t> </a:t>
            </a:r>
            <a:r>
              <a:rPr sz="2800" dirty="0"/>
              <a:t>internal</a:t>
            </a:r>
            <a:r>
              <a:rPr sz="2800" spc="-60" dirty="0"/>
              <a:t> </a:t>
            </a:r>
            <a:r>
              <a:rPr sz="2800" spc="-10" dirty="0"/>
              <a:t>state</a:t>
            </a:r>
            <a:endParaRPr sz="2800"/>
          </a:p>
          <a:p>
            <a:pPr marL="1233805" lvl="1" indent="-227965">
              <a:lnSpc>
                <a:spcPct val="100000"/>
              </a:lnSpc>
              <a:spcBef>
                <a:spcPts val="600"/>
              </a:spcBef>
              <a:buClr>
                <a:srgbClr val="666699"/>
              </a:buClr>
              <a:buSzPct val="64583"/>
              <a:buFont typeface="Wingdings"/>
              <a:buChar char=""/>
              <a:tabLst>
                <a:tab pos="1234440" algn="l"/>
              </a:tabLst>
            </a:pPr>
            <a:r>
              <a:rPr sz="2400" dirty="0">
                <a:latin typeface="Calibri"/>
                <a:cs typeface="Calibri"/>
              </a:rPr>
              <a:t>That</a:t>
            </a:r>
            <a:r>
              <a:rPr sz="2400" spc="-60" dirty="0">
                <a:latin typeface="Calibri"/>
                <a:cs typeface="Calibri"/>
              </a:rPr>
              <a:t> </a:t>
            </a:r>
            <a:r>
              <a:rPr sz="2400" dirty="0">
                <a:latin typeface="Calibri"/>
                <a:cs typeface="Calibri"/>
              </a:rPr>
              <a:t>depends</a:t>
            </a:r>
            <a:r>
              <a:rPr sz="2400" spc="-70" dirty="0">
                <a:latin typeface="Calibri"/>
                <a:cs typeface="Calibri"/>
              </a:rPr>
              <a:t> </a:t>
            </a:r>
            <a:r>
              <a:rPr sz="2400" dirty="0">
                <a:latin typeface="Calibri"/>
                <a:cs typeface="Calibri"/>
              </a:rPr>
              <a:t>on</a:t>
            </a:r>
            <a:r>
              <a:rPr sz="2400" spc="-55" dirty="0">
                <a:latin typeface="Calibri"/>
                <a:cs typeface="Calibri"/>
              </a:rPr>
              <a:t> </a:t>
            </a:r>
            <a:r>
              <a:rPr sz="2400" dirty="0">
                <a:latin typeface="Calibri"/>
                <a:cs typeface="Calibri"/>
              </a:rPr>
              <a:t>the</a:t>
            </a:r>
            <a:r>
              <a:rPr sz="2400" spc="-70" dirty="0">
                <a:latin typeface="Calibri"/>
                <a:cs typeface="Calibri"/>
              </a:rPr>
              <a:t> </a:t>
            </a:r>
            <a:r>
              <a:rPr sz="2400" dirty="0">
                <a:latin typeface="Calibri"/>
                <a:cs typeface="Calibri"/>
              </a:rPr>
              <a:t>percept</a:t>
            </a:r>
            <a:r>
              <a:rPr sz="2400" spc="-75" dirty="0">
                <a:latin typeface="Calibri"/>
                <a:cs typeface="Calibri"/>
              </a:rPr>
              <a:t> </a:t>
            </a:r>
            <a:r>
              <a:rPr sz="2400" spc="-10" dirty="0">
                <a:latin typeface="Calibri"/>
                <a:cs typeface="Calibri"/>
              </a:rPr>
              <a:t>history</a:t>
            </a:r>
            <a:endParaRPr sz="2400">
              <a:latin typeface="Calibri"/>
              <a:cs typeface="Calibri"/>
            </a:endParaRPr>
          </a:p>
          <a:p>
            <a:pPr marL="1233805" lvl="1" indent="-227965">
              <a:lnSpc>
                <a:spcPct val="100000"/>
              </a:lnSpc>
              <a:spcBef>
                <a:spcPts val="580"/>
              </a:spcBef>
              <a:buClr>
                <a:srgbClr val="666699"/>
              </a:buClr>
              <a:buSzPct val="64583"/>
              <a:buFont typeface="Wingdings"/>
              <a:buChar char=""/>
              <a:tabLst>
                <a:tab pos="1234440" algn="l"/>
              </a:tabLst>
            </a:pPr>
            <a:r>
              <a:rPr sz="2400" dirty="0">
                <a:latin typeface="Calibri"/>
                <a:cs typeface="Calibri"/>
              </a:rPr>
              <a:t>Reflecting</a:t>
            </a:r>
            <a:r>
              <a:rPr sz="2400" spc="-85" dirty="0">
                <a:latin typeface="Calibri"/>
                <a:cs typeface="Calibri"/>
              </a:rPr>
              <a:t> </a:t>
            </a:r>
            <a:r>
              <a:rPr sz="2400" dirty="0">
                <a:latin typeface="Calibri"/>
                <a:cs typeface="Calibri"/>
              </a:rPr>
              <a:t>some</a:t>
            </a:r>
            <a:r>
              <a:rPr sz="2400" spc="-55"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unobserved</a:t>
            </a:r>
            <a:r>
              <a:rPr sz="2400" spc="-50" dirty="0">
                <a:latin typeface="Calibri"/>
                <a:cs typeface="Calibri"/>
              </a:rPr>
              <a:t> </a:t>
            </a:r>
            <a:r>
              <a:rPr sz="2400" spc="-10" dirty="0">
                <a:latin typeface="Calibri"/>
                <a:cs typeface="Calibri"/>
              </a:rPr>
              <a:t>aspects</a:t>
            </a:r>
            <a:endParaRPr sz="2400">
              <a:latin typeface="Calibri"/>
              <a:cs typeface="Calibri"/>
            </a:endParaRPr>
          </a:p>
          <a:p>
            <a:pPr marL="1233805" lvl="1" indent="-227965">
              <a:lnSpc>
                <a:spcPct val="100000"/>
              </a:lnSpc>
              <a:spcBef>
                <a:spcPts val="575"/>
              </a:spcBef>
              <a:buClr>
                <a:srgbClr val="666699"/>
              </a:buClr>
              <a:buSzPct val="64583"/>
              <a:buFont typeface="Wingdings"/>
              <a:buChar char=""/>
              <a:tabLst>
                <a:tab pos="1234440" algn="l"/>
              </a:tabLst>
            </a:pPr>
            <a:r>
              <a:rPr sz="2400" dirty="0">
                <a:latin typeface="Calibri"/>
                <a:cs typeface="Calibri"/>
              </a:rPr>
              <a:t>E.g.,</a:t>
            </a:r>
            <a:r>
              <a:rPr sz="2400" spc="-50" dirty="0">
                <a:latin typeface="Calibri"/>
                <a:cs typeface="Calibri"/>
              </a:rPr>
              <a:t> </a:t>
            </a:r>
            <a:r>
              <a:rPr sz="2400" dirty="0">
                <a:solidFill>
                  <a:srgbClr val="C00000"/>
                </a:solidFill>
                <a:latin typeface="Calibri"/>
                <a:cs typeface="Calibri"/>
              </a:rPr>
              <a:t>driving</a:t>
            </a:r>
            <a:r>
              <a:rPr sz="2400" spc="-45" dirty="0">
                <a:solidFill>
                  <a:srgbClr val="C00000"/>
                </a:solidFill>
                <a:latin typeface="Calibri"/>
                <a:cs typeface="Calibri"/>
              </a:rPr>
              <a:t> </a:t>
            </a:r>
            <a:r>
              <a:rPr sz="2400" dirty="0">
                <a:solidFill>
                  <a:srgbClr val="C00000"/>
                </a:solidFill>
                <a:latin typeface="Calibri"/>
                <a:cs typeface="Calibri"/>
              </a:rPr>
              <a:t>a</a:t>
            </a:r>
            <a:r>
              <a:rPr sz="2400" spc="-55" dirty="0">
                <a:solidFill>
                  <a:srgbClr val="C00000"/>
                </a:solidFill>
                <a:latin typeface="Calibri"/>
                <a:cs typeface="Calibri"/>
              </a:rPr>
              <a:t> </a:t>
            </a:r>
            <a:r>
              <a:rPr sz="2400" dirty="0">
                <a:solidFill>
                  <a:srgbClr val="C00000"/>
                </a:solidFill>
                <a:latin typeface="Calibri"/>
                <a:cs typeface="Calibri"/>
              </a:rPr>
              <a:t>car</a:t>
            </a:r>
            <a:r>
              <a:rPr sz="2400" spc="-55" dirty="0">
                <a:solidFill>
                  <a:srgbClr val="C00000"/>
                </a:solidFill>
                <a:latin typeface="Calibri"/>
                <a:cs typeface="Calibri"/>
              </a:rPr>
              <a:t> </a:t>
            </a:r>
            <a:r>
              <a:rPr sz="2400" dirty="0">
                <a:solidFill>
                  <a:srgbClr val="C00000"/>
                </a:solidFill>
                <a:latin typeface="Calibri"/>
                <a:cs typeface="Calibri"/>
              </a:rPr>
              <a:t>and</a:t>
            </a:r>
            <a:r>
              <a:rPr sz="2400" spc="-45" dirty="0">
                <a:solidFill>
                  <a:srgbClr val="C00000"/>
                </a:solidFill>
                <a:latin typeface="Calibri"/>
                <a:cs typeface="Calibri"/>
              </a:rPr>
              <a:t> </a:t>
            </a:r>
            <a:r>
              <a:rPr sz="2400" dirty="0">
                <a:solidFill>
                  <a:srgbClr val="C00000"/>
                </a:solidFill>
                <a:latin typeface="Calibri"/>
                <a:cs typeface="Calibri"/>
              </a:rPr>
              <a:t>changing</a:t>
            </a:r>
            <a:r>
              <a:rPr sz="2400" spc="-60" dirty="0">
                <a:solidFill>
                  <a:srgbClr val="C00000"/>
                </a:solidFill>
                <a:latin typeface="Calibri"/>
                <a:cs typeface="Calibri"/>
              </a:rPr>
              <a:t> </a:t>
            </a:r>
            <a:r>
              <a:rPr sz="2400" spc="-20" dirty="0">
                <a:solidFill>
                  <a:srgbClr val="C00000"/>
                </a:solidFill>
                <a:latin typeface="Calibri"/>
                <a:cs typeface="Calibri"/>
              </a:rPr>
              <a:t>lane</a:t>
            </a:r>
            <a:endParaRPr sz="2400">
              <a:latin typeface="Calibri"/>
              <a:cs typeface="Calibri"/>
            </a:endParaRPr>
          </a:p>
          <a:p>
            <a:pPr marL="433070">
              <a:lnSpc>
                <a:spcPct val="100000"/>
              </a:lnSpc>
              <a:spcBef>
                <a:spcPts val="725"/>
              </a:spcBef>
            </a:pPr>
            <a:r>
              <a:rPr dirty="0"/>
              <a:t>Requiring</a:t>
            </a:r>
            <a:r>
              <a:rPr spc="-60" dirty="0"/>
              <a:t> </a:t>
            </a:r>
            <a:r>
              <a:rPr dirty="0"/>
              <a:t>two</a:t>
            </a:r>
            <a:r>
              <a:rPr spc="-60" dirty="0"/>
              <a:t> </a:t>
            </a:r>
            <a:r>
              <a:rPr dirty="0"/>
              <a:t>types</a:t>
            </a:r>
            <a:r>
              <a:rPr spc="-55" dirty="0"/>
              <a:t> </a:t>
            </a:r>
            <a:r>
              <a:rPr dirty="0"/>
              <a:t>of</a:t>
            </a:r>
            <a:r>
              <a:rPr spc="-60" dirty="0"/>
              <a:t> </a:t>
            </a:r>
            <a:r>
              <a:rPr spc="-10" dirty="0"/>
              <a:t>knowledge</a:t>
            </a:r>
          </a:p>
          <a:p>
            <a:pPr marL="833119" indent="-284480">
              <a:lnSpc>
                <a:spcPct val="100000"/>
              </a:lnSpc>
              <a:spcBef>
                <a:spcPts val="685"/>
              </a:spcBef>
              <a:buClr>
                <a:srgbClr val="C09E4A"/>
              </a:buClr>
              <a:buSzPct val="69642"/>
              <a:buFont typeface="Wingdings"/>
              <a:buChar char=""/>
              <a:tabLst>
                <a:tab pos="833755" algn="l"/>
              </a:tabLst>
            </a:pPr>
            <a:r>
              <a:rPr sz="2800" dirty="0"/>
              <a:t>How</a:t>
            </a:r>
            <a:r>
              <a:rPr sz="2800" spc="-60" dirty="0"/>
              <a:t> </a:t>
            </a:r>
            <a:r>
              <a:rPr sz="2800" dirty="0"/>
              <a:t>the</a:t>
            </a:r>
            <a:r>
              <a:rPr sz="2800" spc="-75" dirty="0"/>
              <a:t> </a:t>
            </a:r>
            <a:r>
              <a:rPr sz="2800" dirty="0"/>
              <a:t>world</a:t>
            </a:r>
            <a:r>
              <a:rPr sz="2800" spc="-70" dirty="0"/>
              <a:t> </a:t>
            </a:r>
            <a:r>
              <a:rPr sz="2800" dirty="0"/>
              <a:t>evolves</a:t>
            </a:r>
            <a:r>
              <a:rPr sz="2800" spc="-75" dirty="0"/>
              <a:t> </a:t>
            </a:r>
            <a:r>
              <a:rPr sz="2800" dirty="0"/>
              <a:t>independently</a:t>
            </a:r>
            <a:r>
              <a:rPr sz="2800" spc="-25" dirty="0"/>
              <a:t> </a:t>
            </a:r>
            <a:r>
              <a:rPr sz="2800" dirty="0"/>
              <a:t>of</a:t>
            </a:r>
            <a:r>
              <a:rPr sz="2800" spc="-75" dirty="0"/>
              <a:t> </a:t>
            </a:r>
            <a:r>
              <a:rPr sz="2800" dirty="0"/>
              <a:t>the</a:t>
            </a:r>
            <a:r>
              <a:rPr sz="2800" spc="-65" dirty="0"/>
              <a:t> </a:t>
            </a:r>
            <a:r>
              <a:rPr sz="2800" spc="-10" dirty="0"/>
              <a:t>agent</a:t>
            </a:r>
            <a:endParaRPr sz="2800"/>
          </a:p>
          <a:p>
            <a:pPr marL="833119" indent="-284480">
              <a:lnSpc>
                <a:spcPct val="100000"/>
              </a:lnSpc>
              <a:spcBef>
                <a:spcPts val="675"/>
              </a:spcBef>
              <a:buClr>
                <a:srgbClr val="C09E4A"/>
              </a:buClr>
              <a:buSzPct val="69642"/>
              <a:buFont typeface="Wingdings"/>
              <a:buChar char=""/>
              <a:tabLst>
                <a:tab pos="833755" algn="l"/>
              </a:tabLst>
            </a:pPr>
            <a:r>
              <a:rPr sz="2800" dirty="0"/>
              <a:t>How</a:t>
            </a:r>
            <a:r>
              <a:rPr sz="2800" spc="-65" dirty="0"/>
              <a:t> </a:t>
            </a:r>
            <a:r>
              <a:rPr sz="2800" dirty="0"/>
              <a:t>the</a:t>
            </a:r>
            <a:r>
              <a:rPr sz="2800" spc="-75" dirty="0"/>
              <a:t> </a:t>
            </a:r>
            <a:r>
              <a:rPr sz="2800" spc="-10" dirty="0"/>
              <a:t>agent’s</a:t>
            </a:r>
            <a:r>
              <a:rPr sz="2800" spc="-65" dirty="0"/>
              <a:t> </a:t>
            </a:r>
            <a:r>
              <a:rPr sz="2800" dirty="0"/>
              <a:t>actions</a:t>
            </a:r>
            <a:r>
              <a:rPr sz="2800" spc="-70" dirty="0"/>
              <a:t> </a:t>
            </a:r>
            <a:r>
              <a:rPr sz="2800" dirty="0"/>
              <a:t>affect</a:t>
            </a:r>
            <a:r>
              <a:rPr sz="2800" spc="-90" dirty="0"/>
              <a:t> </a:t>
            </a:r>
            <a:r>
              <a:rPr sz="2800" dirty="0"/>
              <a:t>the</a:t>
            </a:r>
            <a:r>
              <a:rPr sz="2800" spc="-75" dirty="0"/>
              <a:t> </a:t>
            </a:r>
            <a:r>
              <a:rPr sz="2800" spc="-10" dirty="0"/>
              <a:t>world</a:t>
            </a:r>
            <a:endParaRPr sz="2800"/>
          </a:p>
        </p:txBody>
      </p:sp>
    </p:spTree>
    <p:extLst>
      <p:ext uri="{BB962C8B-B14F-4D97-AF65-F5344CB8AC3E}">
        <p14:creationId xmlns:p14="http://schemas.microsoft.com/office/powerpoint/2010/main" val="3023967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6530-494E-27F9-A5F9-AF6B18B26B3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0D68DCE-90D1-1DDA-6D46-B4364B0061C3}"/>
              </a:ext>
            </a:extLst>
          </p:cNvPr>
          <p:cNvSpPr txBox="1">
            <a:spLocks noGrp="1"/>
          </p:cNvSpPr>
          <p:nvPr>
            <p:ph type="title"/>
          </p:nvPr>
        </p:nvSpPr>
        <p:spPr>
          <a:prstGeom prst="rect">
            <a:avLst/>
          </a:prstGeom>
        </p:spPr>
        <p:txBody>
          <a:bodyPr vert="horz" wrap="square" lIns="0" tIns="354647" rIns="0" bIns="0" rtlCol="0">
            <a:spAutoFit/>
          </a:bodyPr>
          <a:lstStyle/>
          <a:p>
            <a:pPr marL="1019810">
              <a:lnSpc>
                <a:spcPct val="100000"/>
              </a:lnSpc>
              <a:spcBef>
                <a:spcPts val="105"/>
              </a:spcBef>
            </a:pPr>
            <a:r>
              <a:rPr dirty="0"/>
              <a:t>Reflex</a:t>
            </a:r>
            <a:r>
              <a:rPr spc="-160" dirty="0"/>
              <a:t> </a:t>
            </a:r>
            <a:r>
              <a:rPr dirty="0"/>
              <a:t>Agents</a:t>
            </a:r>
            <a:r>
              <a:rPr spc="-140" dirty="0"/>
              <a:t> </a:t>
            </a:r>
            <a:r>
              <a:rPr dirty="0"/>
              <a:t>with</a:t>
            </a:r>
            <a:r>
              <a:rPr spc="-125" dirty="0"/>
              <a:t> </a:t>
            </a:r>
            <a:r>
              <a:rPr spc="-10" dirty="0"/>
              <a:t>State…</a:t>
            </a:r>
          </a:p>
        </p:txBody>
      </p:sp>
      <p:sp>
        <p:nvSpPr>
          <p:cNvPr id="4" name="object 4">
            <a:extLst>
              <a:ext uri="{FF2B5EF4-FFF2-40B4-BE49-F238E27FC236}">
                <a16:creationId xmlns:a16="http://schemas.microsoft.com/office/drawing/2014/main" id="{CCD8AEC2-B995-D501-584F-1AAD769BE947}"/>
              </a:ext>
            </a:extLst>
          </p:cNvPr>
          <p:cNvSpPr txBox="1"/>
          <p:nvPr/>
        </p:nvSpPr>
        <p:spPr>
          <a:xfrm>
            <a:off x="1261427" y="1924232"/>
            <a:ext cx="7336790" cy="4079875"/>
          </a:xfrm>
          <a:prstGeom prst="rect">
            <a:avLst/>
          </a:prstGeom>
        </p:spPr>
        <p:txBody>
          <a:bodyPr vert="horz" wrap="square" lIns="0" tIns="113664" rIns="0" bIns="0" rtlCol="0">
            <a:spAutoFit/>
          </a:bodyPr>
          <a:lstStyle/>
          <a:p>
            <a:pPr marL="354965" indent="-342265">
              <a:lnSpc>
                <a:spcPct val="100000"/>
              </a:lnSpc>
              <a:spcBef>
                <a:spcPts val="894"/>
              </a:spcBef>
              <a:buFont typeface="Arial"/>
              <a:buChar char="•"/>
              <a:tabLst>
                <a:tab pos="354965" algn="l"/>
              </a:tabLst>
            </a:pPr>
            <a:r>
              <a:rPr sz="3200" dirty="0">
                <a:latin typeface="Calibri"/>
                <a:cs typeface="Calibri"/>
              </a:rPr>
              <a:t>Reflex</a:t>
            </a:r>
            <a:r>
              <a:rPr sz="3200" spc="-125" dirty="0">
                <a:latin typeface="Calibri"/>
                <a:cs typeface="Calibri"/>
              </a:rPr>
              <a:t> </a:t>
            </a:r>
            <a:r>
              <a:rPr sz="3200" dirty="0">
                <a:latin typeface="Calibri"/>
                <a:cs typeface="Calibri"/>
              </a:rPr>
              <a:t>agent</a:t>
            </a:r>
            <a:r>
              <a:rPr sz="3200" spc="-114" dirty="0">
                <a:latin typeface="Calibri"/>
                <a:cs typeface="Calibri"/>
              </a:rPr>
              <a:t> </a:t>
            </a:r>
            <a:r>
              <a:rPr sz="3200" dirty="0">
                <a:latin typeface="Calibri"/>
                <a:cs typeface="Calibri"/>
              </a:rPr>
              <a:t>with</a:t>
            </a:r>
            <a:r>
              <a:rPr sz="3200" spc="-95" dirty="0">
                <a:latin typeface="Calibri"/>
                <a:cs typeface="Calibri"/>
              </a:rPr>
              <a:t> </a:t>
            </a:r>
            <a:r>
              <a:rPr sz="3200" spc="-10" dirty="0">
                <a:latin typeface="Calibri"/>
                <a:cs typeface="Calibri"/>
              </a:rPr>
              <a:t>state</a:t>
            </a:r>
            <a:endParaRPr sz="3200">
              <a:latin typeface="Calibri"/>
              <a:cs typeface="Calibri"/>
            </a:endParaRPr>
          </a:p>
          <a:p>
            <a:pPr marL="754380" lvl="1" indent="-285115">
              <a:lnSpc>
                <a:spcPct val="100000"/>
              </a:lnSpc>
              <a:spcBef>
                <a:spcPts val="690"/>
              </a:spcBef>
              <a:buFont typeface="Arial"/>
              <a:buChar char="–"/>
              <a:tabLst>
                <a:tab pos="754380" algn="l"/>
              </a:tabLst>
            </a:pPr>
            <a:r>
              <a:rPr sz="2800" spc="-10" dirty="0">
                <a:latin typeface="Calibri"/>
                <a:cs typeface="Calibri"/>
              </a:rPr>
              <a:t>Incorporates</a:t>
            </a:r>
            <a:r>
              <a:rPr sz="2800" spc="-45" dirty="0">
                <a:latin typeface="Calibri"/>
                <a:cs typeface="Calibri"/>
              </a:rPr>
              <a:t> </a:t>
            </a:r>
            <a:r>
              <a:rPr sz="2800" dirty="0">
                <a:latin typeface="Calibri"/>
                <a:cs typeface="Calibri"/>
              </a:rPr>
              <a:t>a</a:t>
            </a:r>
            <a:r>
              <a:rPr sz="2800" spc="-50" dirty="0">
                <a:latin typeface="Calibri"/>
                <a:cs typeface="Calibri"/>
              </a:rPr>
              <a:t> </a:t>
            </a:r>
            <a:r>
              <a:rPr sz="2800" b="1" dirty="0">
                <a:latin typeface="Calibri"/>
                <a:cs typeface="Calibri"/>
              </a:rPr>
              <a:t>model</a:t>
            </a:r>
            <a:r>
              <a:rPr sz="2800" b="1" spc="-55" dirty="0">
                <a:latin typeface="Calibri"/>
                <a:cs typeface="Calibri"/>
              </a:rPr>
              <a:t> </a:t>
            </a:r>
            <a:r>
              <a:rPr sz="2800" dirty="0">
                <a:latin typeface="Calibri"/>
                <a:cs typeface="Calibri"/>
              </a:rPr>
              <a:t>of</a:t>
            </a:r>
            <a:r>
              <a:rPr sz="2800" spc="-50" dirty="0">
                <a:latin typeface="Calibri"/>
                <a:cs typeface="Calibri"/>
              </a:rPr>
              <a:t> </a:t>
            </a:r>
            <a:r>
              <a:rPr sz="2800" dirty="0">
                <a:latin typeface="Calibri"/>
                <a:cs typeface="Calibri"/>
              </a:rPr>
              <a:t>the</a:t>
            </a:r>
            <a:r>
              <a:rPr sz="2800" spc="-40" dirty="0">
                <a:latin typeface="Calibri"/>
                <a:cs typeface="Calibri"/>
              </a:rPr>
              <a:t> </a:t>
            </a:r>
            <a:r>
              <a:rPr sz="2800" spc="-10" dirty="0">
                <a:latin typeface="Calibri"/>
                <a:cs typeface="Calibri"/>
              </a:rPr>
              <a:t>world</a:t>
            </a:r>
            <a:endParaRPr sz="2800">
              <a:latin typeface="Calibri"/>
              <a:cs typeface="Calibri"/>
            </a:endParaRPr>
          </a:p>
          <a:p>
            <a:pPr marL="754380" marR="5080" lvl="1" indent="-285115">
              <a:lnSpc>
                <a:spcPct val="100000"/>
              </a:lnSpc>
              <a:spcBef>
                <a:spcPts val="670"/>
              </a:spcBef>
              <a:buFont typeface="Arial"/>
              <a:buChar char="–"/>
              <a:tabLst>
                <a:tab pos="756285" algn="l"/>
              </a:tabLst>
            </a:pPr>
            <a:r>
              <a:rPr sz="2800" dirty="0">
                <a:latin typeface="Calibri"/>
                <a:cs typeface="Calibri"/>
              </a:rPr>
              <a:t>Current</a:t>
            </a:r>
            <a:r>
              <a:rPr sz="2800" spc="-60" dirty="0">
                <a:latin typeface="Calibri"/>
                <a:cs typeface="Calibri"/>
              </a:rPr>
              <a:t> </a:t>
            </a:r>
            <a:r>
              <a:rPr sz="2800" dirty="0">
                <a:latin typeface="Calibri"/>
                <a:cs typeface="Calibri"/>
              </a:rPr>
              <a:t>state</a:t>
            </a:r>
            <a:r>
              <a:rPr sz="2800" spc="-75"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its</a:t>
            </a:r>
            <a:r>
              <a:rPr sz="2800" spc="-70" dirty="0">
                <a:latin typeface="Calibri"/>
                <a:cs typeface="Calibri"/>
              </a:rPr>
              <a:t> </a:t>
            </a:r>
            <a:r>
              <a:rPr sz="2800" dirty="0">
                <a:latin typeface="Calibri"/>
                <a:cs typeface="Calibri"/>
              </a:rPr>
              <a:t>world</a:t>
            </a:r>
            <a:r>
              <a:rPr sz="2800" spc="-75" dirty="0">
                <a:latin typeface="Calibri"/>
                <a:cs typeface="Calibri"/>
              </a:rPr>
              <a:t> </a:t>
            </a:r>
            <a:r>
              <a:rPr sz="2800" dirty="0">
                <a:latin typeface="Calibri"/>
                <a:cs typeface="Calibri"/>
              </a:rPr>
              <a:t>depends</a:t>
            </a:r>
            <a:r>
              <a:rPr sz="2800" spc="-45" dirty="0">
                <a:latin typeface="Calibri"/>
                <a:cs typeface="Calibri"/>
              </a:rPr>
              <a:t> </a:t>
            </a:r>
            <a:r>
              <a:rPr sz="2800" dirty="0">
                <a:latin typeface="Calibri"/>
                <a:cs typeface="Calibri"/>
              </a:rPr>
              <a:t>on</a:t>
            </a:r>
            <a:r>
              <a:rPr sz="2800" spc="-70" dirty="0">
                <a:latin typeface="Calibri"/>
                <a:cs typeface="Calibri"/>
              </a:rPr>
              <a:t> </a:t>
            </a:r>
            <a:r>
              <a:rPr sz="2800" spc="-10" dirty="0">
                <a:latin typeface="Calibri"/>
                <a:cs typeface="Calibri"/>
              </a:rPr>
              <a:t>percept 	history</a:t>
            </a:r>
            <a:endParaRPr sz="2800">
              <a:latin typeface="Calibri"/>
              <a:cs typeface="Calibri"/>
            </a:endParaRPr>
          </a:p>
          <a:p>
            <a:pPr marL="754380" marR="128270" lvl="1" indent="-285115">
              <a:lnSpc>
                <a:spcPct val="100000"/>
              </a:lnSpc>
              <a:spcBef>
                <a:spcPts val="670"/>
              </a:spcBef>
              <a:buFont typeface="Arial"/>
              <a:buChar char="–"/>
              <a:tabLst>
                <a:tab pos="756285" algn="l"/>
              </a:tabLst>
            </a:pPr>
            <a:r>
              <a:rPr sz="2800" dirty="0">
                <a:latin typeface="Calibri"/>
                <a:cs typeface="Calibri"/>
              </a:rPr>
              <a:t>Rule</a:t>
            </a:r>
            <a:r>
              <a:rPr sz="2800" spc="-40"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be</a:t>
            </a:r>
            <a:r>
              <a:rPr sz="2800" spc="-55" dirty="0">
                <a:latin typeface="Calibri"/>
                <a:cs typeface="Calibri"/>
              </a:rPr>
              <a:t> </a:t>
            </a:r>
            <a:r>
              <a:rPr sz="2800" dirty="0">
                <a:latin typeface="Calibri"/>
                <a:cs typeface="Calibri"/>
              </a:rPr>
              <a:t>applied</a:t>
            </a:r>
            <a:r>
              <a:rPr sz="2800" spc="-20" dirty="0">
                <a:latin typeface="Calibri"/>
                <a:cs typeface="Calibri"/>
              </a:rPr>
              <a:t> </a:t>
            </a:r>
            <a:r>
              <a:rPr sz="2800" dirty="0">
                <a:latin typeface="Calibri"/>
                <a:cs typeface="Calibri"/>
              </a:rPr>
              <a:t>next</a:t>
            </a:r>
            <a:r>
              <a:rPr sz="2800" spc="-40" dirty="0">
                <a:latin typeface="Calibri"/>
                <a:cs typeface="Calibri"/>
              </a:rPr>
              <a:t> </a:t>
            </a:r>
            <a:r>
              <a:rPr sz="2800" dirty="0">
                <a:latin typeface="Calibri"/>
                <a:cs typeface="Calibri"/>
              </a:rPr>
              <a:t>depends</a:t>
            </a:r>
            <a:r>
              <a:rPr sz="2800" spc="-20" dirty="0">
                <a:latin typeface="Calibri"/>
                <a:cs typeface="Calibri"/>
              </a:rPr>
              <a:t> </a:t>
            </a:r>
            <a:r>
              <a:rPr sz="2800" dirty="0">
                <a:latin typeface="Calibri"/>
                <a:cs typeface="Calibri"/>
              </a:rPr>
              <a:t>on</a:t>
            </a:r>
            <a:r>
              <a:rPr sz="2800" spc="-40" dirty="0">
                <a:latin typeface="Calibri"/>
                <a:cs typeface="Calibri"/>
              </a:rPr>
              <a:t> </a:t>
            </a:r>
            <a:r>
              <a:rPr sz="2800" spc="-10" dirty="0">
                <a:latin typeface="Calibri"/>
                <a:cs typeface="Calibri"/>
              </a:rPr>
              <a:t>resulting 	state</a:t>
            </a:r>
            <a:endParaRPr sz="2800">
              <a:latin typeface="Calibri"/>
              <a:cs typeface="Calibri"/>
            </a:endParaRPr>
          </a:p>
          <a:p>
            <a:pPr marL="354965" marR="941069" indent="-342900">
              <a:lnSpc>
                <a:spcPct val="100000"/>
              </a:lnSpc>
              <a:spcBef>
                <a:spcPts val="780"/>
              </a:spcBef>
              <a:buFont typeface="Arial"/>
              <a:buChar char="•"/>
              <a:tabLst>
                <a:tab pos="354965" algn="l"/>
              </a:tabLst>
            </a:pPr>
            <a:r>
              <a:rPr sz="3200" spc="-10" dirty="0">
                <a:latin typeface="Calibri"/>
                <a:cs typeface="Calibri"/>
              </a:rPr>
              <a:t>state’</a:t>
            </a:r>
            <a:r>
              <a:rPr sz="3200" spc="-110" dirty="0">
                <a:latin typeface="Calibri"/>
                <a:cs typeface="Calibri"/>
              </a:rPr>
              <a:t> </a:t>
            </a:r>
            <a:r>
              <a:rPr sz="3200" dirty="0">
                <a:latin typeface="Symbol"/>
                <a:cs typeface="Symbol"/>
              </a:rPr>
              <a:t></a:t>
            </a:r>
            <a:r>
              <a:rPr sz="3200" spc="-190" dirty="0">
                <a:latin typeface="Times New Roman"/>
                <a:cs typeface="Times New Roman"/>
              </a:rPr>
              <a:t> </a:t>
            </a:r>
            <a:r>
              <a:rPr sz="3200" spc="-25" dirty="0">
                <a:latin typeface="Calibri"/>
                <a:cs typeface="Calibri"/>
              </a:rPr>
              <a:t>next-</a:t>
            </a:r>
            <a:r>
              <a:rPr sz="3200" spc="-10" dirty="0">
                <a:latin typeface="Calibri"/>
                <a:cs typeface="Calibri"/>
              </a:rPr>
              <a:t>state(</a:t>
            </a:r>
            <a:r>
              <a:rPr sz="3200" spc="-114" dirty="0">
                <a:latin typeface="Calibri"/>
                <a:cs typeface="Calibri"/>
              </a:rPr>
              <a:t> </a:t>
            </a:r>
            <a:r>
              <a:rPr sz="3200" spc="-10" dirty="0">
                <a:latin typeface="Calibri"/>
                <a:cs typeface="Calibri"/>
              </a:rPr>
              <a:t>state,</a:t>
            </a:r>
            <a:r>
              <a:rPr sz="3200" spc="-110" dirty="0">
                <a:latin typeface="Calibri"/>
                <a:cs typeface="Calibri"/>
              </a:rPr>
              <a:t> </a:t>
            </a:r>
            <a:r>
              <a:rPr sz="3200" dirty="0">
                <a:latin typeface="Calibri"/>
                <a:cs typeface="Calibri"/>
              </a:rPr>
              <a:t>percept</a:t>
            </a:r>
            <a:r>
              <a:rPr sz="3200" spc="-120" dirty="0">
                <a:latin typeface="Calibri"/>
                <a:cs typeface="Calibri"/>
              </a:rPr>
              <a:t> </a:t>
            </a:r>
            <a:r>
              <a:rPr sz="3200" spc="-50" dirty="0">
                <a:latin typeface="Calibri"/>
                <a:cs typeface="Calibri"/>
              </a:rPr>
              <a:t>) </a:t>
            </a:r>
            <a:r>
              <a:rPr sz="3200" dirty="0">
                <a:latin typeface="Calibri"/>
                <a:cs typeface="Calibri"/>
              </a:rPr>
              <a:t>action</a:t>
            </a:r>
            <a:r>
              <a:rPr sz="3200" spc="-50" dirty="0">
                <a:latin typeface="Calibri"/>
                <a:cs typeface="Calibri"/>
              </a:rPr>
              <a:t> </a:t>
            </a:r>
            <a:r>
              <a:rPr sz="3200" dirty="0">
                <a:latin typeface="Symbol"/>
                <a:cs typeface="Symbol"/>
              </a:rPr>
              <a:t></a:t>
            </a:r>
            <a:r>
              <a:rPr sz="3200" spc="-130" dirty="0">
                <a:latin typeface="Times New Roman"/>
                <a:cs typeface="Times New Roman"/>
              </a:rPr>
              <a:t> </a:t>
            </a:r>
            <a:r>
              <a:rPr sz="3200" spc="-10" dirty="0">
                <a:latin typeface="Calibri"/>
                <a:cs typeface="Calibri"/>
              </a:rPr>
              <a:t>select-</a:t>
            </a:r>
            <a:r>
              <a:rPr sz="3200" dirty="0">
                <a:latin typeface="Calibri"/>
                <a:cs typeface="Calibri"/>
              </a:rPr>
              <a:t>action(</a:t>
            </a:r>
            <a:r>
              <a:rPr sz="3200" spc="-55" dirty="0">
                <a:latin typeface="Calibri"/>
                <a:cs typeface="Calibri"/>
              </a:rPr>
              <a:t> </a:t>
            </a:r>
            <a:r>
              <a:rPr sz="3200" spc="-65" dirty="0">
                <a:latin typeface="Calibri"/>
                <a:cs typeface="Calibri"/>
              </a:rPr>
              <a:t>state’,</a:t>
            </a:r>
            <a:r>
              <a:rPr sz="3200" spc="-40" dirty="0">
                <a:latin typeface="Calibri"/>
                <a:cs typeface="Calibri"/>
              </a:rPr>
              <a:t> </a:t>
            </a:r>
            <a:r>
              <a:rPr sz="3200" dirty="0">
                <a:latin typeface="Calibri"/>
                <a:cs typeface="Calibri"/>
              </a:rPr>
              <a:t>rules</a:t>
            </a:r>
            <a:r>
              <a:rPr sz="3200" spc="-60" dirty="0">
                <a:latin typeface="Calibri"/>
                <a:cs typeface="Calibri"/>
              </a:rPr>
              <a:t> </a:t>
            </a:r>
            <a:r>
              <a:rPr sz="3200" spc="-50" dirty="0">
                <a:latin typeface="Calibri"/>
                <a:cs typeface="Calibri"/>
              </a:rPr>
              <a:t>)</a:t>
            </a:r>
            <a:endParaRPr sz="3200">
              <a:latin typeface="Calibri"/>
              <a:cs typeface="Calibri"/>
            </a:endParaRPr>
          </a:p>
        </p:txBody>
      </p:sp>
    </p:spTree>
    <p:extLst>
      <p:ext uri="{BB962C8B-B14F-4D97-AF65-F5344CB8AC3E}">
        <p14:creationId xmlns:p14="http://schemas.microsoft.com/office/powerpoint/2010/main" val="1199944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863E-DE28-8F08-2D15-6DF22436A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8800CB-825A-479B-78CB-AD61FFAA8E59}"/>
              </a:ext>
            </a:extLst>
          </p:cNvPr>
          <p:cNvSpPr txBox="1"/>
          <p:nvPr/>
        </p:nvSpPr>
        <p:spPr>
          <a:xfrm>
            <a:off x="819911" y="417576"/>
            <a:ext cx="7772400" cy="1371600"/>
          </a:xfrm>
          <a:prstGeom prst="rect">
            <a:avLst/>
          </a:prstGeom>
          <a:solidFill>
            <a:srgbClr val="FEFED6"/>
          </a:solidFill>
        </p:spPr>
        <p:txBody>
          <a:bodyPr vert="horz" wrap="square" lIns="0" tIns="0" rIns="0" bIns="0" rtlCol="0">
            <a:spAutoFit/>
          </a:bodyPr>
          <a:lstStyle/>
          <a:p>
            <a:pPr algn="ctr">
              <a:lnSpc>
                <a:spcPts val="4875"/>
              </a:lnSpc>
            </a:pPr>
            <a:r>
              <a:rPr sz="4400" dirty="0">
                <a:solidFill>
                  <a:srgbClr val="558ED5"/>
                </a:solidFill>
                <a:latin typeface="Calibri"/>
                <a:cs typeface="Calibri"/>
              </a:rPr>
              <a:t>Example</a:t>
            </a:r>
            <a:r>
              <a:rPr sz="4400" spc="-180" dirty="0">
                <a:solidFill>
                  <a:srgbClr val="558ED5"/>
                </a:solidFill>
                <a:latin typeface="Calibri"/>
                <a:cs typeface="Calibri"/>
              </a:rPr>
              <a:t> </a:t>
            </a:r>
            <a:r>
              <a:rPr sz="4400" spc="-50" dirty="0">
                <a:solidFill>
                  <a:srgbClr val="558ED5"/>
                </a:solidFill>
                <a:latin typeface="Calibri"/>
                <a:cs typeface="Calibri"/>
              </a:rPr>
              <a:t>Table</a:t>
            </a:r>
            <a:r>
              <a:rPr sz="4400" spc="-155" dirty="0">
                <a:solidFill>
                  <a:srgbClr val="558ED5"/>
                </a:solidFill>
                <a:latin typeface="Calibri"/>
                <a:cs typeface="Calibri"/>
              </a:rPr>
              <a:t> </a:t>
            </a:r>
            <a:r>
              <a:rPr sz="4400" spc="-10" dirty="0">
                <a:solidFill>
                  <a:srgbClr val="558ED5"/>
                </a:solidFill>
                <a:latin typeface="Calibri"/>
                <a:cs typeface="Calibri"/>
              </a:rPr>
              <a:t>Agent</a:t>
            </a:r>
            <a:endParaRPr sz="4400">
              <a:latin typeface="Calibri"/>
              <a:cs typeface="Calibri"/>
            </a:endParaRPr>
          </a:p>
          <a:p>
            <a:pPr algn="ctr">
              <a:lnSpc>
                <a:spcPct val="100000"/>
              </a:lnSpc>
            </a:pPr>
            <a:r>
              <a:rPr sz="4400" dirty="0">
                <a:solidFill>
                  <a:srgbClr val="558ED5"/>
                </a:solidFill>
                <a:latin typeface="Calibri"/>
                <a:cs typeface="Calibri"/>
              </a:rPr>
              <a:t>With</a:t>
            </a:r>
            <a:r>
              <a:rPr sz="4400" spc="-90" dirty="0">
                <a:solidFill>
                  <a:srgbClr val="558ED5"/>
                </a:solidFill>
                <a:latin typeface="Calibri"/>
                <a:cs typeface="Calibri"/>
              </a:rPr>
              <a:t> </a:t>
            </a:r>
            <a:r>
              <a:rPr sz="4400" dirty="0">
                <a:solidFill>
                  <a:srgbClr val="558ED5"/>
                </a:solidFill>
                <a:latin typeface="Calibri"/>
                <a:cs typeface="Calibri"/>
              </a:rPr>
              <a:t>Internal</a:t>
            </a:r>
            <a:r>
              <a:rPr sz="4400" spc="-90" dirty="0">
                <a:solidFill>
                  <a:srgbClr val="558ED5"/>
                </a:solidFill>
                <a:latin typeface="Calibri"/>
                <a:cs typeface="Calibri"/>
              </a:rPr>
              <a:t> </a:t>
            </a:r>
            <a:r>
              <a:rPr sz="4400" spc="-10" dirty="0">
                <a:solidFill>
                  <a:srgbClr val="558ED5"/>
                </a:solidFill>
                <a:latin typeface="Calibri"/>
                <a:cs typeface="Calibri"/>
              </a:rPr>
              <a:t>State</a:t>
            </a:r>
            <a:endParaRPr sz="4400">
              <a:latin typeface="Calibri"/>
              <a:cs typeface="Calibri"/>
            </a:endParaRPr>
          </a:p>
        </p:txBody>
      </p:sp>
      <p:graphicFrame>
        <p:nvGraphicFramePr>
          <p:cNvPr id="3" name="object 3">
            <a:extLst>
              <a:ext uri="{FF2B5EF4-FFF2-40B4-BE49-F238E27FC236}">
                <a16:creationId xmlns:a16="http://schemas.microsoft.com/office/drawing/2014/main" id="{EB1481C9-8314-E7E6-3FEF-58A677A3A0B9}"/>
              </a:ext>
            </a:extLst>
          </p:cNvPr>
          <p:cNvGraphicFramePr>
            <a:graphicFrameLocks noGrp="1"/>
          </p:cNvGraphicFramePr>
          <p:nvPr/>
        </p:nvGraphicFramePr>
        <p:xfrm>
          <a:off x="1212361" y="2507761"/>
          <a:ext cx="6708139" cy="4187188"/>
        </p:xfrm>
        <a:graphic>
          <a:graphicData uri="http://schemas.openxmlformats.org/drawingml/2006/table">
            <a:tbl>
              <a:tblPr firstRow="1" bandRow="1">
                <a:tableStyleId>{2D5ABB26-0587-4C30-8999-92F81FD0307C}</a:tableStyleId>
              </a:tblPr>
              <a:tblGrid>
                <a:gridCol w="3430904">
                  <a:extLst>
                    <a:ext uri="{9D8B030D-6E8A-4147-A177-3AD203B41FA5}">
                      <a16:colId xmlns:a16="http://schemas.microsoft.com/office/drawing/2014/main" val="20000"/>
                    </a:ext>
                  </a:extLst>
                </a:gridCol>
                <a:gridCol w="3277235">
                  <a:extLst>
                    <a:ext uri="{9D8B030D-6E8A-4147-A177-3AD203B41FA5}">
                      <a16:colId xmlns:a16="http://schemas.microsoft.com/office/drawing/2014/main" val="20001"/>
                    </a:ext>
                  </a:extLst>
                </a:gridCol>
              </a:tblGrid>
              <a:tr h="1190625">
                <a:tc>
                  <a:txBody>
                    <a:bodyPr/>
                    <a:lstStyle/>
                    <a:p>
                      <a:pPr marL="89535" marR="401320">
                        <a:lnSpc>
                          <a:spcPts val="2680"/>
                        </a:lnSpc>
                        <a:spcBef>
                          <a:spcPts val="525"/>
                        </a:spcBef>
                      </a:pPr>
                      <a:r>
                        <a:rPr sz="2400" dirty="0">
                          <a:solidFill>
                            <a:srgbClr val="8383AD"/>
                          </a:solidFill>
                          <a:latin typeface="Arial"/>
                          <a:cs typeface="Arial"/>
                        </a:rPr>
                        <a:t>Saw</a:t>
                      </a:r>
                      <a:r>
                        <a:rPr sz="2400" spc="-40" dirty="0">
                          <a:solidFill>
                            <a:srgbClr val="8383AD"/>
                          </a:solidFill>
                          <a:latin typeface="Arial"/>
                          <a:cs typeface="Arial"/>
                        </a:rPr>
                        <a:t> </a:t>
                      </a:r>
                      <a:r>
                        <a:rPr sz="2400" dirty="0">
                          <a:solidFill>
                            <a:srgbClr val="8383AD"/>
                          </a:solidFill>
                          <a:latin typeface="Arial"/>
                          <a:cs typeface="Arial"/>
                        </a:rPr>
                        <a:t>an</a:t>
                      </a:r>
                      <a:r>
                        <a:rPr sz="2400" spc="-45" dirty="0">
                          <a:solidFill>
                            <a:srgbClr val="8383AD"/>
                          </a:solidFill>
                          <a:latin typeface="Arial"/>
                          <a:cs typeface="Arial"/>
                        </a:rPr>
                        <a:t> </a:t>
                      </a:r>
                      <a:r>
                        <a:rPr sz="2400" dirty="0">
                          <a:solidFill>
                            <a:srgbClr val="8383AD"/>
                          </a:solidFill>
                          <a:latin typeface="Arial"/>
                          <a:cs typeface="Arial"/>
                        </a:rPr>
                        <a:t>object</a:t>
                      </a:r>
                      <a:r>
                        <a:rPr sz="2400" spc="-35" dirty="0">
                          <a:solidFill>
                            <a:srgbClr val="8383AD"/>
                          </a:solidFill>
                          <a:latin typeface="Arial"/>
                          <a:cs typeface="Arial"/>
                        </a:rPr>
                        <a:t> </a:t>
                      </a:r>
                      <a:r>
                        <a:rPr sz="2400" spc="-10" dirty="0">
                          <a:solidFill>
                            <a:srgbClr val="8383AD"/>
                          </a:solidFill>
                          <a:latin typeface="Arial"/>
                          <a:cs typeface="Arial"/>
                        </a:rPr>
                        <a:t>ahead, </a:t>
                      </a:r>
                      <a:r>
                        <a:rPr sz="2400" dirty="0">
                          <a:solidFill>
                            <a:srgbClr val="8383AD"/>
                          </a:solidFill>
                          <a:latin typeface="Arial"/>
                          <a:cs typeface="Arial"/>
                        </a:rPr>
                        <a:t>and</a:t>
                      </a:r>
                      <a:r>
                        <a:rPr sz="2400" spc="-55" dirty="0">
                          <a:solidFill>
                            <a:srgbClr val="8383AD"/>
                          </a:solidFill>
                          <a:latin typeface="Arial"/>
                          <a:cs typeface="Arial"/>
                        </a:rPr>
                        <a:t> </a:t>
                      </a:r>
                      <a:r>
                        <a:rPr sz="2400" dirty="0">
                          <a:solidFill>
                            <a:srgbClr val="8383AD"/>
                          </a:solidFill>
                          <a:latin typeface="Arial"/>
                          <a:cs typeface="Arial"/>
                        </a:rPr>
                        <a:t>turned</a:t>
                      </a:r>
                      <a:r>
                        <a:rPr sz="2400" spc="-70" dirty="0">
                          <a:solidFill>
                            <a:srgbClr val="8383AD"/>
                          </a:solidFill>
                          <a:latin typeface="Arial"/>
                          <a:cs typeface="Arial"/>
                        </a:rPr>
                        <a:t> </a:t>
                      </a:r>
                      <a:r>
                        <a:rPr sz="2400" dirty="0">
                          <a:solidFill>
                            <a:srgbClr val="8383AD"/>
                          </a:solidFill>
                          <a:latin typeface="Arial"/>
                          <a:cs typeface="Arial"/>
                        </a:rPr>
                        <a:t>right,</a:t>
                      </a:r>
                      <a:r>
                        <a:rPr sz="2400" spc="-50" dirty="0">
                          <a:solidFill>
                            <a:srgbClr val="8383AD"/>
                          </a:solidFill>
                          <a:latin typeface="Arial"/>
                          <a:cs typeface="Arial"/>
                        </a:rPr>
                        <a:t> </a:t>
                      </a:r>
                      <a:r>
                        <a:rPr sz="2400" spc="-25" dirty="0">
                          <a:solidFill>
                            <a:srgbClr val="8383AD"/>
                          </a:solidFill>
                          <a:latin typeface="Arial"/>
                          <a:cs typeface="Arial"/>
                        </a:rPr>
                        <a:t>and </a:t>
                      </a:r>
                      <a:r>
                        <a:rPr sz="2400" dirty="0">
                          <a:solidFill>
                            <a:srgbClr val="8383AD"/>
                          </a:solidFill>
                          <a:latin typeface="Arial"/>
                          <a:cs typeface="Arial"/>
                        </a:rPr>
                        <a:t>it’s</a:t>
                      </a:r>
                      <a:r>
                        <a:rPr sz="2400" spc="-70" dirty="0">
                          <a:solidFill>
                            <a:srgbClr val="8383AD"/>
                          </a:solidFill>
                          <a:latin typeface="Arial"/>
                          <a:cs typeface="Arial"/>
                        </a:rPr>
                        <a:t> </a:t>
                      </a:r>
                      <a:r>
                        <a:rPr sz="2400" dirty="0">
                          <a:solidFill>
                            <a:srgbClr val="8383AD"/>
                          </a:solidFill>
                          <a:latin typeface="Arial"/>
                          <a:cs typeface="Arial"/>
                        </a:rPr>
                        <a:t>now</a:t>
                      </a:r>
                      <a:r>
                        <a:rPr sz="2400" spc="-50" dirty="0">
                          <a:solidFill>
                            <a:srgbClr val="8383AD"/>
                          </a:solidFill>
                          <a:latin typeface="Arial"/>
                          <a:cs typeface="Arial"/>
                        </a:rPr>
                        <a:t> </a:t>
                      </a:r>
                      <a:r>
                        <a:rPr sz="2400" dirty="0">
                          <a:solidFill>
                            <a:srgbClr val="8383AD"/>
                          </a:solidFill>
                          <a:latin typeface="Arial"/>
                          <a:cs typeface="Arial"/>
                        </a:rPr>
                        <a:t>clear</a:t>
                      </a:r>
                      <a:r>
                        <a:rPr sz="2400" spc="-40" dirty="0">
                          <a:solidFill>
                            <a:srgbClr val="8383AD"/>
                          </a:solidFill>
                          <a:latin typeface="Arial"/>
                          <a:cs typeface="Arial"/>
                        </a:rPr>
                        <a:t> </a:t>
                      </a:r>
                      <a:r>
                        <a:rPr sz="2400" spc="-10" dirty="0">
                          <a:solidFill>
                            <a:srgbClr val="8383AD"/>
                          </a:solidFill>
                          <a:latin typeface="Arial"/>
                          <a:cs typeface="Arial"/>
                        </a:rPr>
                        <a:t>ahead</a:t>
                      </a:r>
                      <a:endParaRPr sz="2400">
                        <a:latin typeface="Arial"/>
                        <a:cs typeface="Arial"/>
                      </a:endParaRPr>
                    </a:p>
                  </a:txBody>
                  <a:tcPr marL="0" marR="0" marT="66675" marB="0">
                    <a:lnL w="19050">
                      <a:solidFill>
                        <a:srgbClr val="8383AD"/>
                      </a:solidFill>
                      <a:prstDash val="solid"/>
                    </a:lnL>
                    <a:lnR w="6350">
                      <a:solidFill>
                        <a:srgbClr val="8383AD"/>
                      </a:solidFill>
                      <a:prstDash val="solid"/>
                    </a:lnR>
                    <a:lnT w="19050">
                      <a:solidFill>
                        <a:srgbClr val="8383AD"/>
                      </a:solidFill>
                      <a:prstDash val="solid"/>
                    </a:lnT>
                    <a:lnB w="6350">
                      <a:solidFill>
                        <a:srgbClr val="8383AD"/>
                      </a:solidFill>
                      <a:prstDash val="solid"/>
                    </a:lnB>
                    <a:solidFill>
                      <a:srgbClr val="D8A0CB"/>
                    </a:solidFill>
                  </a:tcPr>
                </a:tc>
                <a:tc>
                  <a:txBody>
                    <a:bodyPr/>
                    <a:lstStyle/>
                    <a:p>
                      <a:pPr marL="89535">
                        <a:lnSpc>
                          <a:spcPct val="100000"/>
                        </a:lnSpc>
                        <a:spcBef>
                          <a:spcPts val="270"/>
                        </a:spcBef>
                      </a:pPr>
                      <a:r>
                        <a:rPr sz="2400" dirty="0">
                          <a:solidFill>
                            <a:srgbClr val="8383AD"/>
                          </a:solidFill>
                          <a:latin typeface="Arial"/>
                          <a:cs typeface="Arial"/>
                        </a:rPr>
                        <a:t>Go</a:t>
                      </a:r>
                      <a:r>
                        <a:rPr sz="2400" spc="-25" dirty="0">
                          <a:solidFill>
                            <a:srgbClr val="8383AD"/>
                          </a:solidFill>
                          <a:latin typeface="Arial"/>
                          <a:cs typeface="Arial"/>
                        </a:rPr>
                        <a:t> </a:t>
                      </a:r>
                      <a:r>
                        <a:rPr sz="2400" spc="-10" dirty="0">
                          <a:solidFill>
                            <a:srgbClr val="8383AD"/>
                          </a:solidFill>
                          <a:latin typeface="Arial"/>
                          <a:cs typeface="Arial"/>
                        </a:rPr>
                        <a:t>straight</a:t>
                      </a:r>
                      <a:endParaRPr sz="2400">
                        <a:latin typeface="Arial"/>
                        <a:cs typeface="Arial"/>
                      </a:endParaRPr>
                    </a:p>
                  </a:txBody>
                  <a:tcPr marL="0" marR="0" marT="34290" marB="0">
                    <a:lnL w="6350">
                      <a:solidFill>
                        <a:srgbClr val="8383AD"/>
                      </a:solidFill>
                      <a:prstDash val="solid"/>
                    </a:lnL>
                    <a:lnR w="19050">
                      <a:solidFill>
                        <a:srgbClr val="8383AD"/>
                      </a:solidFill>
                      <a:prstDash val="solid"/>
                    </a:lnR>
                    <a:lnT w="19050">
                      <a:solidFill>
                        <a:srgbClr val="8383AD"/>
                      </a:solidFill>
                      <a:prstDash val="solid"/>
                    </a:lnT>
                    <a:lnB w="6350">
                      <a:solidFill>
                        <a:srgbClr val="8383AD"/>
                      </a:solidFill>
                      <a:prstDash val="solid"/>
                    </a:lnB>
                    <a:solidFill>
                      <a:srgbClr val="D8A0CB"/>
                    </a:solidFill>
                  </a:tcPr>
                </a:tc>
                <a:extLst>
                  <a:ext uri="{0D108BD9-81ED-4DB2-BD59-A6C34878D82A}">
                    <a16:rowId xmlns:a16="http://schemas.microsoft.com/office/drawing/2014/main" val="10000"/>
                  </a:ext>
                </a:extLst>
              </a:tr>
              <a:tr h="1190625">
                <a:tc>
                  <a:txBody>
                    <a:bodyPr/>
                    <a:lstStyle/>
                    <a:p>
                      <a:pPr marL="89535" marR="213360">
                        <a:lnSpc>
                          <a:spcPts val="2680"/>
                        </a:lnSpc>
                        <a:spcBef>
                          <a:spcPts val="525"/>
                        </a:spcBef>
                      </a:pPr>
                      <a:r>
                        <a:rPr sz="2400" dirty="0">
                          <a:solidFill>
                            <a:srgbClr val="8383AD"/>
                          </a:solidFill>
                          <a:latin typeface="Arial"/>
                          <a:cs typeface="Arial"/>
                        </a:rPr>
                        <a:t>Saw</a:t>
                      </a:r>
                      <a:r>
                        <a:rPr sz="2400" spc="-25" dirty="0">
                          <a:solidFill>
                            <a:srgbClr val="8383AD"/>
                          </a:solidFill>
                          <a:latin typeface="Arial"/>
                          <a:cs typeface="Arial"/>
                        </a:rPr>
                        <a:t> </a:t>
                      </a:r>
                      <a:r>
                        <a:rPr sz="2400" dirty="0">
                          <a:solidFill>
                            <a:srgbClr val="8383AD"/>
                          </a:solidFill>
                          <a:latin typeface="Arial"/>
                          <a:cs typeface="Arial"/>
                        </a:rPr>
                        <a:t>an</a:t>
                      </a:r>
                      <a:r>
                        <a:rPr sz="2400" spc="-25" dirty="0">
                          <a:solidFill>
                            <a:srgbClr val="8383AD"/>
                          </a:solidFill>
                          <a:latin typeface="Arial"/>
                          <a:cs typeface="Arial"/>
                        </a:rPr>
                        <a:t> </a:t>
                      </a:r>
                      <a:r>
                        <a:rPr sz="2400" spc="-10" dirty="0">
                          <a:solidFill>
                            <a:srgbClr val="8383AD"/>
                          </a:solidFill>
                          <a:latin typeface="Arial"/>
                          <a:cs typeface="Arial"/>
                        </a:rPr>
                        <a:t>object</a:t>
                      </a:r>
                      <a:r>
                        <a:rPr sz="2400" spc="-155" dirty="0">
                          <a:solidFill>
                            <a:srgbClr val="8383AD"/>
                          </a:solidFill>
                          <a:latin typeface="Arial"/>
                          <a:cs typeface="Arial"/>
                        </a:rPr>
                        <a:t> </a:t>
                      </a:r>
                      <a:r>
                        <a:rPr sz="2400" spc="-10" dirty="0">
                          <a:solidFill>
                            <a:srgbClr val="8383AD"/>
                          </a:solidFill>
                          <a:latin typeface="Arial"/>
                          <a:cs typeface="Arial"/>
                        </a:rPr>
                        <a:t>Ahead, </a:t>
                      </a:r>
                      <a:r>
                        <a:rPr sz="2400" dirty="0">
                          <a:solidFill>
                            <a:srgbClr val="8383AD"/>
                          </a:solidFill>
                          <a:latin typeface="Arial"/>
                          <a:cs typeface="Arial"/>
                        </a:rPr>
                        <a:t>turned</a:t>
                      </a:r>
                      <a:r>
                        <a:rPr sz="2400" spc="-65" dirty="0">
                          <a:solidFill>
                            <a:srgbClr val="8383AD"/>
                          </a:solidFill>
                          <a:latin typeface="Arial"/>
                          <a:cs typeface="Arial"/>
                        </a:rPr>
                        <a:t> </a:t>
                      </a:r>
                      <a:r>
                        <a:rPr sz="2400" dirty="0">
                          <a:solidFill>
                            <a:srgbClr val="8383AD"/>
                          </a:solidFill>
                          <a:latin typeface="Arial"/>
                          <a:cs typeface="Arial"/>
                        </a:rPr>
                        <a:t>right,</a:t>
                      </a:r>
                      <a:r>
                        <a:rPr sz="2400" spc="-65" dirty="0">
                          <a:solidFill>
                            <a:srgbClr val="8383AD"/>
                          </a:solidFill>
                          <a:latin typeface="Arial"/>
                          <a:cs typeface="Arial"/>
                        </a:rPr>
                        <a:t> </a:t>
                      </a:r>
                      <a:r>
                        <a:rPr sz="2400" dirty="0">
                          <a:solidFill>
                            <a:srgbClr val="8383AD"/>
                          </a:solidFill>
                          <a:latin typeface="Arial"/>
                          <a:cs typeface="Arial"/>
                        </a:rPr>
                        <a:t>and</a:t>
                      </a:r>
                      <a:r>
                        <a:rPr sz="2400" spc="-50" dirty="0">
                          <a:solidFill>
                            <a:srgbClr val="8383AD"/>
                          </a:solidFill>
                          <a:latin typeface="Arial"/>
                          <a:cs typeface="Arial"/>
                        </a:rPr>
                        <a:t> </a:t>
                      </a:r>
                      <a:r>
                        <a:rPr sz="2400" spc="-10" dirty="0">
                          <a:solidFill>
                            <a:srgbClr val="8383AD"/>
                          </a:solidFill>
                          <a:latin typeface="Arial"/>
                          <a:cs typeface="Arial"/>
                        </a:rPr>
                        <a:t>object </a:t>
                      </a:r>
                      <a:r>
                        <a:rPr sz="2400" dirty="0">
                          <a:solidFill>
                            <a:srgbClr val="8383AD"/>
                          </a:solidFill>
                          <a:latin typeface="Arial"/>
                          <a:cs typeface="Arial"/>
                        </a:rPr>
                        <a:t>ahead</a:t>
                      </a:r>
                      <a:r>
                        <a:rPr sz="2400" spc="-80" dirty="0">
                          <a:solidFill>
                            <a:srgbClr val="8383AD"/>
                          </a:solidFill>
                          <a:latin typeface="Arial"/>
                          <a:cs typeface="Arial"/>
                        </a:rPr>
                        <a:t> </a:t>
                      </a:r>
                      <a:r>
                        <a:rPr sz="2400" spc="-10" dirty="0">
                          <a:solidFill>
                            <a:srgbClr val="8383AD"/>
                          </a:solidFill>
                          <a:latin typeface="Arial"/>
                          <a:cs typeface="Arial"/>
                        </a:rPr>
                        <a:t>again</a:t>
                      </a:r>
                      <a:endParaRPr sz="2400">
                        <a:latin typeface="Arial"/>
                        <a:cs typeface="Arial"/>
                      </a:endParaRPr>
                    </a:p>
                  </a:txBody>
                  <a:tcPr marL="0" marR="0" marT="66675" marB="0">
                    <a:lnL w="19050">
                      <a:solidFill>
                        <a:srgbClr val="8383AD"/>
                      </a:solidFill>
                      <a:prstDash val="solid"/>
                    </a:lnL>
                    <a:lnR w="6350">
                      <a:solidFill>
                        <a:srgbClr val="8383AD"/>
                      </a:solidFill>
                      <a:prstDash val="solid"/>
                    </a:lnR>
                    <a:lnT w="6350">
                      <a:solidFill>
                        <a:srgbClr val="8383AD"/>
                      </a:solidFill>
                      <a:prstDash val="solid"/>
                    </a:lnT>
                    <a:lnB w="6350">
                      <a:solidFill>
                        <a:srgbClr val="8383AD"/>
                      </a:solidFill>
                      <a:prstDash val="solid"/>
                    </a:lnB>
                    <a:solidFill>
                      <a:srgbClr val="D8A0CB"/>
                    </a:solidFill>
                  </a:tcPr>
                </a:tc>
                <a:tc>
                  <a:txBody>
                    <a:bodyPr/>
                    <a:lstStyle/>
                    <a:p>
                      <a:pPr marL="89535">
                        <a:lnSpc>
                          <a:spcPct val="100000"/>
                        </a:lnSpc>
                        <a:spcBef>
                          <a:spcPts val="270"/>
                        </a:spcBef>
                      </a:pPr>
                      <a:r>
                        <a:rPr sz="2400" spc="-20" dirty="0">
                          <a:solidFill>
                            <a:srgbClr val="8383AD"/>
                          </a:solidFill>
                          <a:latin typeface="Arial"/>
                          <a:cs typeface="Arial"/>
                        </a:rPr>
                        <a:t>Halt</a:t>
                      </a:r>
                      <a:endParaRPr sz="2400">
                        <a:latin typeface="Arial"/>
                        <a:cs typeface="Arial"/>
                      </a:endParaRPr>
                    </a:p>
                  </a:txBody>
                  <a:tcPr marL="0" marR="0" marT="34290" marB="0">
                    <a:lnL w="6350">
                      <a:solidFill>
                        <a:srgbClr val="8383AD"/>
                      </a:solidFill>
                      <a:prstDash val="solid"/>
                    </a:lnL>
                    <a:lnR w="19050">
                      <a:solidFill>
                        <a:srgbClr val="8383AD"/>
                      </a:solidFill>
                      <a:prstDash val="solid"/>
                    </a:lnR>
                    <a:lnT w="6350">
                      <a:solidFill>
                        <a:srgbClr val="8383AD"/>
                      </a:solidFill>
                      <a:prstDash val="solid"/>
                    </a:lnT>
                    <a:lnB w="6350">
                      <a:solidFill>
                        <a:srgbClr val="8383AD"/>
                      </a:solidFill>
                      <a:prstDash val="solid"/>
                    </a:lnB>
                    <a:solidFill>
                      <a:srgbClr val="D8A0CB"/>
                    </a:solidFill>
                  </a:tcPr>
                </a:tc>
                <a:extLst>
                  <a:ext uri="{0D108BD9-81ED-4DB2-BD59-A6C34878D82A}">
                    <a16:rowId xmlns:a16="http://schemas.microsoft.com/office/drawing/2014/main" val="10001"/>
                  </a:ext>
                </a:extLst>
              </a:tr>
              <a:tr h="902969">
                <a:tc>
                  <a:txBody>
                    <a:bodyPr/>
                    <a:lstStyle/>
                    <a:p>
                      <a:pPr marL="89535">
                        <a:lnSpc>
                          <a:spcPct val="100000"/>
                        </a:lnSpc>
                        <a:spcBef>
                          <a:spcPts val="270"/>
                        </a:spcBef>
                      </a:pPr>
                      <a:r>
                        <a:rPr sz="2400" dirty="0">
                          <a:solidFill>
                            <a:srgbClr val="8383AD"/>
                          </a:solidFill>
                          <a:latin typeface="Arial"/>
                          <a:cs typeface="Arial"/>
                        </a:rPr>
                        <a:t>See</a:t>
                      </a:r>
                      <a:r>
                        <a:rPr sz="2400" spc="-45" dirty="0">
                          <a:solidFill>
                            <a:srgbClr val="8383AD"/>
                          </a:solidFill>
                          <a:latin typeface="Arial"/>
                          <a:cs typeface="Arial"/>
                        </a:rPr>
                        <a:t> </a:t>
                      </a:r>
                      <a:r>
                        <a:rPr sz="2400" dirty="0">
                          <a:solidFill>
                            <a:srgbClr val="8383AD"/>
                          </a:solidFill>
                          <a:latin typeface="Arial"/>
                          <a:cs typeface="Arial"/>
                        </a:rPr>
                        <a:t>no</a:t>
                      </a:r>
                      <a:r>
                        <a:rPr sz="2400" spc="-35" dirty="0">
                          <a:solidFill>
                            <a:srgbClr val="8383AD"/>
                          </a:solidFill>
                          <a:latin typeface="Arial"/>
                          <a:cs typeface="Arial"/>
                        </a:rPr>
                        <a:t> </a:t>
                      </a:r>
                      <a:r>
                        <a:rPr sz="2400" dirty="0">
                          <a:solidFill>
                            <a:srgbClr val="8383AD"/>
                          </a:solidFill>
                          <a:latin typeface="Arial"/>
                          <a:cs typeface="Arial"/>
                        </a:rPr>
                        <a:t>objects</a:t>
                      </a:r>
                      <a:r>
                        <a:rPr sz="2400" spc="-55" dirty="0">
                          <a:solidFill>
                            <a:srgbClr val="8383AD"/>
                          </a:solidFill>
                          <a:latin typeface="Arial"/>
                          <a:cs typeface="Arial"/>
                        </a:rPr>
                        <a:t> </a:t>
                      </a:r>
                      <a:r>
                        <a:rPr sz="2400" spc="-10" dirty="0">
                          <a:solidFill>
                            <a:srgbClr val="8383AD"/>
                          </a:solidFill>
                          <a:latin typeface="Arial"/>
                          <a:cs typeface="Arial"/>
                        </a:rPr>
                        <a:t>ahead</a:t>
                      </a:r>
                      <a:endParaRPr sz="2400">
                        <a:latin typeface="Arial"/>
                        <a:cs typeface="Arial"/>
                      </a:endParaRPr>
                    </a:p>
                  </a:txBody>
                  <a:tcPr marL="0" marR="0" marT="34290" marB="0">
                    <a:lnL w="19050">
                      <a:solidFill>
                        <a:srgbClr val="8383AD"/>
                      </a:solidFill>
                      <a:prstDash val="solid"/>
                    </a:lnL>
                    <a:lnR w="6350">
                      <a:solidFill>
                        <a:srgbClr val="8383AD"/>
                      </a:solidFill>
                      <a:prstDash val="solid"/>
                    </a:lnR>
                    <a:lnT w="6350">
                      <a:solidFill>
                        <a:srgbClr val="8383AD"/>
                      </a:solidFill>
                      <a:prstDash val="solid"/>
                    </a:lnT>
                    <a:lnB w="6350">
                      <a:solidFill>
                        <a:srgbClr val="8383AD"/>
                      </a:solidFill>
                      <a:prstDash val="solid"/>
                    </a:lnB>
                    <a:solidFill>
                      <a:srgbClr val="D8A0CB"/>
                    </a:solidFill>
                  </a:tcPr>
                </a:tc>
                <a:tc>
                  <a:txBody>
                    <a:bodyPr/>
                    <a:lstStyle/>
                    <a:p>
                      <a:pPr marL="89535">
                        <a:lnSpc>
                          <a:spcPct val="100000"/>
                        </a:lnSpc>
                        <a:spcBef>
                          <a:spcPts val="270"/>
                        </a:spcBef>
                      </a:pPr>
                      <a:r>
                        <a:rPr sz="2400" dirty="0">
                          <a:solidFill>
                            <a:srgbClr val="8383AD"/>
                          </a:solidFill>
                          <a:latin typeface="Arial"/>
                          <a:cs typeface="Arial"/>
                        </a:rPr>
                        <a:t>Go</a:t>
                      </a:r>
                      <a:r>
                        <a:rPr sz="2400" spc="-25" dirty="0">
                          <a:solidFill>
                            <a:srgbClr val="8383AD"/>
                          </a:solidFill>
                          <a:latin typeface="Arial"/>
                          <a:cs typeface="Arial"/>
                        </a:rPr>
                        <a:t> </a:t>
                      </a:r>
                      <a:r>
                        <a:rPr sz="2400" spc="-10" dirty="0">
                          <a:solidFill>
                            <a:srgbClr val="8383AD"/>
                          </a:solidFill>
                          <a:latin typeface="Arial"/>
                          <a:cs typeface="Arial"/>
                        </a:rPr>
                        <a:t>straight</a:t>
                      </a:r>
                      <a:endParaRPr sz="2400">
                        <a:latin typeface="Arial"/>
                        <a:cs typeface="Arial"/>
                      </a:endParaRPr>
                    </a:p>
                  </a:txBody>
                  <a:tcPr marL="0" marR="0" marT="34290" marB="0">
                    <a:lnL w="6350">
                      <a:solidFill>
                        <a:srgbClr val="8383AD"/>
                      </a:solidFill>
                      <a:prstDash val="solid"/>
                    </a:lnL>
                    <a:lnR w="19050">
                      <a:solidFill>
                        <a:srgbClr val="8383AD"/>
                      </a:solidFill>
                      <a:prstDash val="solid"/>
                    </a:lnR>
                    <a:lnT w="6350">
                      <a:solidFill>
                        <a:srgbClr val="8383AD"/>
                      </a:solidFill>
                      <a:prstDash val="solid"/>
                    </a:lnT>
                    <a:lnB w="6350">
                      <a:solidFill>
                        <a:srgbClr val="8383AD"/>
                      </a:solidFill>
                      <a:prstDash val="solid"/>
                    </a:lnB>
                    <a:solidFill>
                      <a:srgbClr val="D8A0CB"/>
                    </a:solidFill>
                  </a:tcPr>
                </a:tc>
                <a:extLst>
                  <a:ext uri="{0D108BD9-81ED-4DB2-BD59-A6C34878D82A}">
                    <a16:rowId xmlns:a16="http://schemas.microsoft.com/office/drawing/2014/main" val="10002"/>
                  </a:ext>
                </a:extLst>
              </a:tr>
              <a:tr h="902969">
                <a:tc>
                  <a:txBody>
                    <a:bodyPr/>
                    <a:lstStyle/>
                    <a:p>
                      <a:pPr marL="89535">
                        <a:lnSpc>
                          <a:spcPct val="100000"/>
                        </a:lnSpc>
                        <a:spcBef>
                          <a:spcPts val="270"/>
                        </a:spcBef>
                      </a:pPr>
                      <a:r>
                        <a:rPr sz="2400" dirty="0">
                          <a:solidFill>
                            <a:srgbClr val="8383AD"/>
                          </a:solidFill>
                          <a:latin typeface="Arial"/>
                          <a:cs typeface="Arial"/>
                        </a:rPr>
                        <a:t>See</a:t>
                      </a:r>
                      <a:r>
                        <a:rPr sz="2400" spc="-50" dirty="0">
                          <a:solidFill>
                            <a:srgbClr val="8383AD"/>
                          </a:solidFill>
                          <a:latin typeface="Arial"/>
                          <a:cs typeface="Arial"/>
                        </a:rPr>
                        <a:t> </a:t>
                      </a:r>
                      <a:r>
                        <a:rPr sz="2400" dirty="0">
                          <a:solidFill>
                            <a:srgbClr val="8383AD"/>
                          </a:solidFill>
                          <a:latin typeface="Arial"/>
                          <a:cs typeface="Arial"/>
                        </a:rPr>
                        <a:t>an</a:t>
                      </a:r>
                      <a:r>
                        <a:rPr sz="2400" spc="-35" dirty="0">
                          <a:solidFill>
                            <a:srgbClr val="8383AD"/>
                          </a:solidFill>
                          <a:latin typeface="Arial"/>
                          <a:cs typeface="Arial"/>
                        </a:rPr>
                        <a:t> </a:t>
                      </a:r>
                      <a:r>
                        <a:rPr sz="2400" dirty="0">
                          <a:solidFill>
                            <a:srgbClr val="8383AD"/>
                          </a:solidFill>
                          <a:latin typeface="Arial"/>
                          <a:cs typeface="Arial"/>
                        </a:rPr>
                        <a:t>object</a:t>
                      </a:r>
                      <a:r>
                        <a:rPr sz="2400" spc="-50" dirty="0">
                          <a:solidFill>
                            <a:srgbClr val="8383AD"/>
                          </a:solidFill>
                          <a:latin typeface="Arial"/>
                          <a:cs typeface="Arial"/>
                        </a:rPr>
                        <a:t> </a:t>
                      </a:r>
                      <a:r>
                        <a:rPr sz="2400" spc="-10" dirty="0">
                          <a:solidFill>
                            <a:srgbClr val="8383AD"/>
                          </a:solidFill>
                          <a:latin typeface="Arial"/>
                          <a:cs typeface="Arial"/>
                        </a:rPr>
                        <a:t>ahead</a:t>
                      </a:r>
                      <a:endParaRPr sz="2400">
                        <a:latin typeface="Arial"/>
                        <a:cs typeface="Arial"/>
                      </a:endParaRPr>
                    </a:p>
                  </a:txBody>
                  <a:tcPr marL="0" marR="0" marT="34290" marB="0">
                    <a:lnL w="19050">
                      <a:solidFill>
                        <a:srgbClr val="8383AD"/>
                      </a:solidFill>
                      <a:prstDash val="solid"/>
                    </a:lnL>
                    <a:lnR w="6350">
                      <a:solidFill>
                        <a:srgbClr val="8383AD"/>
                      </a:solidFill>
                      <a:prstDash val="solid"/>
                    </a:lnR>
                    <a:lnT w="6350">
                      <a:solidFill>
                        <a:srgbClr val="8383AD"/>
                      </a:solidFill>
                      <a:prstDash val="solid"/>
                    </a:lnT>
                    <a:lnB w="19050">
                      <a:solidFill>
                        <a:srgbClr val="8383AD"/>
                      </a:solidFill>
                      <a:prstDash val="solid"/>
                    </a:lnB>
                    <a:solidFill>
                      <a:srgbClr val="D8A0CB"/>
                    </a:solidFill>
                  </a:tcPr>
                </a:tc>
                <a:tc>
                  <a:txBody>
                    <a:bodyPr/>
                    <a:lstStyle/>
                    <a:p>
                      <a:pPr marL="89535">
                        <a:lnSpc>
                          <a:spcPct val="100000"/>
                        </a:lnSpc>
                        <a:spcBef>
                          <a:spcPts val="270"/>
                        </a:spcBef>
                      </a:pPr>
                      <a:r>
                        <a:rPr sz="2400" dirty="0">
                          <a:solidFill>
                            <a:srgbClr val="8383AD"/>
                          </a:solidFill>
                          <a:latin typeface="Arial"/>
                          <a:cs typeface="Arial"/>
                        </a:rPr>
                        <a:t>Turn</a:t>
                      </a:r>
                      <a:r>
                        <a:rPr sz="2400" spc="-140" dirty="0">
                          <a:solidFill>
                            <a:srgbClr val="8383AD"/>
                          </a:solidFill>
                          <a:latin typeface="Arial"/>
                          <a:cs typeface="Arial"/>
                        </a:rPr>
                        <a:t> </a:t>
                      </a:r>
                      <a:r>
                        <a:rPr sz="2400" spc="-10" dirty="0">
                          <a:solidFill>
                            <a:srgbClr val="8383AD"/>
                          </a:solidFill>
                          <a:latin typeface="Arial"/>
                          <a:cs typeface="Arial"/>
                        </a:rPr>
                        <a:t>randomly</a:t>
                      </a:r>
                      <a:endParaRPr sz="2400" dirty="0">
                        <a:latin typeface="Arial"/>
                        <a:cs typeface="Arial"/>
                      </a:endParaRPr>
                    </a:p>
                  </a:txBody>
                  <a:tcPr marL="0" marR="0" marT="34290" marB="0">
                    <a:lnL w="6350">
                      <a:solidFill>
                        <a:srgbClr val="8383AD"/>
                      </a:solidFill>
                      <a:prstDash val="solid"/>
                    </a:lnL>
                    <a:lnR w="19050">
                      <a:solidFill>
                        <a:srgbClr val="8383AD"/>
                      </a:solidFill>
                      <a:prstDash val="solid"/>
                    </a:lnR>
                    <a:lnT w="6350">
                      <a:solidFill>
                        <a:srgbClr val="8383AD"/>
                      </a:solidFill>
                      <a:prstDash val="solid"/>
                    </a:lnT>
                    <a:lnB w="19050">
                      <a:solidFill>
                        <a:srgbClr val="8383AD"/>
                      </a:solidFill>
                      <a:prstDash val="solid"/>
                    </a:lnB>
                    <a:solidFill>
                      <a:srgbClr val="D8A0CB"/>
                    </a:solidFill>
                  </a:tcPr>
                </a:tc>
                <a:extLst>
                  <a:ext uri="{0D108BD9-81ED-4DB2-BD59-A6C34878D82A}">
                    <a16:rowId xmlns:a16="http://schemas.microsoft.com/office/drawing/2014/main" val="10003"/>
                  </a:ext>
                </a:extLst>
              </a:tr>
            </a:tbl>
          </a:graphicData>
        </a:graphic>
      </p:graphicFrame>
      <p:sp>
        <p:nvSpPr>
          <p:cNvPr id="4" name="object 4">
            <a:extLst>
              <a:ext uri="{FF2B5EF4-FFF2-40B4-BE49-F238E27FC236}">
                <a16:creationId xmlns:a16="http://schemas.microsoft.com/office/drawing/2014/main" id="{6D57E5E8-F6C2-0E27-65D3-739A4AE46395}"/>
              </a:ext>
            </a:extLst>
          </p:cNvPr>
          <p:cNvSpPr txBox="1"/>
          <p:nvPr/>
        </p:nvSpPr>
        <p:spPr>
          <a:xfrm>
            <a:off x="2744299" y="2004936"/>
            <a:ext cx="2948940" cy="391160"/>
          </a:xfrm>
          <a:prstGeom prst="rect">
            <a:avLst/>
          </a:prstGeom>
        </p:spPr>
        <p:txBody>
          <a:bodyPr vert="horz" wrap="square" lIns="0" tIns="12700" rIns="0" bIns="0" rtlCol="0">
            <a:spAutoFit/>
          </a:bodyPr>
          <a:lstStyle/>
          <a:p>
            <a:pPr marL="12700">
              <a:lnSpc>
                <a:spcPct val="100000"/>
              </a:lnSpc>
              <a:spcBef>
                <a:spcPts val="100"/>
              </a:spcBef>
              <a:tabLst>
                <a:tab pos="2050414" algn="l"/>
              </a:tabLst>
            </a:pPr>
            <a:r>
              <a:rPr sz="3600" b="1" spc="-37" baseline="1157" dirty="0">
                <a:solidFill>
                  <a:srgbClr val="8383AD"/>
                </a:solidFill>
                <a:latin typeface="Comic Sans MS"/>
                <a:cs typeface="Comic Sans MS"/>
              </a:rPr>
              <a:t>IF</a:t>
            </a:r>
            <a:r>
              <a:rPr sz="3600" b="1" baseline="1157" dirty="0">
                <a:solidFill>
                  <a:srgbClr val="8383AD"/>
                </a:solidFill>
                <a:latin typeface="Comic Sans MS"/>
                <a:cs typeface="Comic Sans MS"/>
              </a:rPr>
              <a:t>	</a:t>
            </a:r>
            <a:r>
              <a:rPr sz="2400" b="1" spc="-20" dirty="0">
                <a:solidFill>
                  <a:srgbClr val="8383AD"/>
                </a:solidFill>
                <a:latin typeface="Comic Sans MS"/>
                <a:cs typeface="Comic Sans MS"/>
              </a:rPr>
              <a:t>THEN</a:t>
            </a:r>
            <a:endParaRPr sz="2400">
              <a:latin typeface="Comic Sans MS"/>
              <a:cs typeface="Comic Sans MS"/>
            </a:endParaRPr>
          </a:p>
        </p:txBody>
      </p:sp>
    </p:spTree>
    <p:extLst>
      <p:ext uri="{BB962C8B-B14F-4D97-AF65-F5344CB8AC3E}">
        <p14:creationId xmlns:p14="http://schemas.microsoft.com/office/powerpoint/2010/main" val="3408293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795E-DFF4-DA0A-4B54-2385F2A0E3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7922E41-0620-08D1-964D-8CBB58D37963}"/>
              </a:ext>
            </a:extLst>
          </p:cNvPr>
          <p:cNvSpPr txBox="1">
            <a:spLocks noGrp="1"/>
          </p:cNvSpPr>
          <p:nvPr>
            <p:ph type="title"/>
          </p:nvPr>
        </p:nvSpPr>
        <p:spPr>
          <a:prstGeom prst="rect">
            <a:avLst/>
          </a:prstGeom>
        </p:spPr>
        <p:txBody>
          <a:bodyPr vert="horz" wrap="square" lIns="0" tIns="348297" rIns="0" bIns="0" rtlCol="0">
            <a:spAutoFit/>
          </a:bodyPr>
          <a:lstStyle/>
          <a:p>
            <a:pPr marL="1381125">
              <a:lnSpc>
                <a:spcPct val="100000"/>
              </a:lnSpc>
              <a:spcBef>
                <a:spcPts val="105"/>
              </a:spcBef>
            </a:pPr>
            <a:r>
              <a:rPr spc="-20" dirty="0"/>
              <a:t>Goal-</a:t>
            </a:r>
            <a:r>
              <a:rPr dirty="0"/>
              <a:t>based</a:t>
            </a:r>
            <a:r>
              <a:rPr spc="-10" dirty="0"/>
              <a:t> agents</a:t>
            </a:r>
          </a:p>
        </p:txBody>
      </p:sp>
      <p:grpSp>
        <p:nvGrpSpPr>
          <p:cNvPr id="3" name="object 3">
            <a:extLst>
              <a:ext uri="{FF2B5EF4-FFF2-40B4-BE49-F238E27FC236}">
                <a16:creationId xmlns:a16="http://schemas.microsoft.com/office/drawing/2014/main" id="{A53B3C07-9659-29C7-0BAE-771B970528C1}"/>
              </a:ext>
            </a:extLst>
          </p:cNvPr>
          <p:cNvGrpSpPr/>
          <p:nvPr/>
        </p:nvGrpSpPr>
        <p:grpSpPr>
          <a:xfrm>
            <a:off x="777239" y="2185415"/>
            <a:ext cx="216535" cy="2397760"/>
            <a:chOff x="777239" y="2185415"/>
            <a:chExt cx="216535" cy="2397760"/>
          </a:xfrm>
        </p:grpSpPr>
        <p:pic>
          <p:nvPicPr>
            <p:cNvPr id="4" name="object 4">
              <a:extLst>
                <a:ext uri="{FF2B5EF4-FFF2-40B4-BE49-F238E27FC236}">
                  <a16:creationId xmlns:a16="http://schemas.microsoft.com/office/drawing/2014/main" id="{4B78DD44-B707-388D-5A1B-BD7783DED687}"/>
                </a:ext>
              </a:extLst>
            </p:cNvPr>
            <p:cNvPicPr/>
            <p:nvPr/>
          </p:nvPicPr>
          <p:blipFill>
            <a:blip r:embed="rId3" cstate="print"/>
            <a:stretch>
              <a:fillRect/>
            </a:stretch>
          </p:blipFill>
          <p:spPr>
            <a:xfrm>
              <a:off x="777239" y="2185415"/>
              <a:ext cx="216407" cy="227075"/>
            </a:xfrm>
            <a:prstGeom prst="rect">
              <a:avLst/>
            </a:prstGeom>
          </p:spPr>
        </p:pic>
        <p:pic>
          <p:nvPicPr>
            <p:cNvPr id="5" name="object 5">
              <a:extLst>
                <a:ext uri="{FF2B5EF4-FFF2-40B4-BE49-F238E27FC236}">
                  <a16:creationId xmlns:a16="http://schemas.microsoft.com/office/drawing/2014/main" id="{FA04C9D3-9F30-3489-C895-9C74A2CC1D8B}"/>
                </a:ext>
              </a:extLst>
            </p:cNvPr>
            <p:cNvPicPr/>
            <p:nvPr/>
          </p:nvPicPr>
          <p:blipFill>
            <a:blip r:embed="rId3" cstate="print"/>
            <a:stretch>
              <a:fillRect/>
            </a:stretch>
          </p:blipFill>
          <p:spPr>
            <a:xfrm>
              <a:off x="777240" y="3258324"/>
              <a:ext cx="216407" cy="227063"/>
            </a:xfrm>
            <a:prstGeom prst="rect">
              <a:avLst/>
            </a:prstGeom>
          </p:spPr>
        </p:pic>
        <p:pic>
          <p:nvPicPr>
            <p:cNvPr id="6" name="object 6">
              <a:extLst>
                <a:ext uri="{FF2B5EF4-FFF2-40B4-BE49-F238E27FC236}">
                  <a16:creationId xmlns:a16="http://schemas.microsoft.com/office/drawing/2014/main" id="{9029F413-295D-56F8-81AA-F9EF0F367FA9}"/>
                </a:ext>
              </a:extLst>
            </p:cNvPr>
            <p:cNvPicPr/>
            <p:nvPr/>
          </p:nvPicPr>
          <p:blipFill>
            <a:blip r:embed="rId3" cstate="print"/>
            <a:stretch>
              <a:fillRect/>
            </a:stretch>
          </p:blipFill>
          <p:spPr>
            <a:xfrm>
              <a:off x="777240" y="4355604"/>
              <a:ext cx="216407" cy="227063"/>
            </a:xfrm>
            <a:prstGeom prst="rect">
              <a:avLst/>
            </a:prstGeom>
          </p:spPr>
        </p:pic>
      </p:grpSp>
      <p:sp>
        <p:nvSpPr>
          <p:cNvPr id="7" name="object 7">
            <a:extLst>
              <a:ext uri="{FF2B5EF4-FFF2-40B4-BE49-F238E27FC236}">
                <a16:creationId xmlns:a16="http://schemas.microsoft.com/office/drawing/2014/main" id="{FB24F269-745C-59CF-4C70-C6DCB83BD079}"/>
              </a:ext>
            </a:extLst>
          </p:cNvPr>
          <p:cNvSpPr txBox="1"/>
          <p:nvPr/>
        </p:nvSpPr>
        <p:spPr>
          <a:xfrm>
            <a:off x="1105916" y="1988312"/>
            <a:ext cx="7067550" cy="3710304"/>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Calibri"/>
                <a:cs typeface="Calibri"/>
              </a:rPr>
              <a:t>Current</a:t>
            </a:r>
            <a:r>
              <a:rPr sz="3200" spc="-30" dirty="0">
                <a:latin typeface="Calibri"/>
                <a:cs typeface="Calibri"/>
              </a:rPr>
              <a:t> </a:t>
            </a:r>
            <a:r>
              <a:rPr sz="3200" dirty="0">
                <a:latin typeface="Calibri"/>
                <a:cs typeface="Calibri"/>
              </a:rPr>
              <a:t>state</a:t>
            </a:r>
            <a:r>
              <a:rPr sz="3200" spc="-25" dirty="0">
                <a:latin typeface="Calibri"/>
                <a:cs typeface="Calibri"/>
              </a:rPr>
              <a:t> </a:t>
            </a:r>
            <a:r>
              <a:rPr sz="3200" dirty="0">
                <a:latin typeface="Calibri"/>
                <a:cs typeface="Calibri"/>
              </a:rPr>
              <a:t>of</a:t>
            </a:r>
            <a:r>
              <a:rPr sz="3200" spc="-30" dirty="0">
                <a:latin typeface="Calibri"/>
                <a:cs typeface="Calibri"/>
              </a:rPr>
              <a:t> </a:t>
            </a:r>
            <a:r>
              <a:rPr sz="3200" dirty="0">
                <a:latin typeface="Calibri"/>
                <a:cs typeface="Calibri"/>
              </a:rPr>
              <a:t>the</a:t>
            </a:r>
            <a:r>
              <a:rPr sz="3200" spc="-25" dirty="0">
                <a:latin typeface="Calibri"/>
                <a:cs typeface="Calibri"/>
              </a:rPr>
              <a:t> </a:t>
            </a:r>
            <a:r>
              <a:rPr sz="3200" spc="-10" dirty="0">
                <a:latin typeface="Calibri"/>
                <a:cs typeface="Calibri"/>
              </a:rPr>
              <a:t>environment</a:t>
            </a:r>
            <a:r>
              <a:rPr sz="3200" spc="-30" dirty="0">
                <a:latin typeface="Calibri"/>
                <a:cs typeface="Calibri"/>
              </a:rPr>
              <a:t> </a:t>
            </a:r>
            <a:r>
              <a:rPr sz="3200" dirty="0">
                <a:latin typeface="Calibri"/>
                <a:cs typeface="Calibri"/>
              </a:rPr>
              <a:t>is</a:t>
            </a:r>
            <a:r>
              <a:rPr sz="3200" spc="-30" dirty="0">
                <a:latin typeface="Calibri"/>
                <a:cs typeface="Calibri"/>
              </a:rPr>
              <a:t> </a:t>
            </a:r>
            <a:r>
              <a:rPr sz="3200" spc="-10" dirty="0">
                <a:latin typeface="Calibri"/>
                <a:cs typeface="Calibri"/>
              </a:rPr>
              <a:t>always </a:t>
            </a:r>
            <a:r>
              <a:rPr sz="3200" dirty="0">
                <a:latin typeface="Calibri"/>
                <a:cs typeface="Calibri"/>
              </a:rPr>
              <a:t>not</a:t>
            </a:r>
            <a:r>
              <a:rPr sz="3200" spc="-50" dirty="0">
                <a:latin typeface="Calibri"/>
                <a:cs typeface="Calibri"/>
              </a:rPr>
              <a:t> </a:t>
            </a:r>
            <a:r>
              <a:rPr sz="3200" spc="-10" dirty="0">
                <a:latin typeface="Calibri"/>
                <a:cs typeface="Calibri"/>
              </a:rPr>
              <a:t>enough</a:t>
            </a:r>
            <a:endParaRPr sz="3200">
              <a:latin typeface="Calibri"/>
              <a:cs typeface="Calibri"/>
            </a:endParaRPr>
          </a:p>
          <a:p>
            <a:pPr marL="12700">
              <a:lnSpc>
                <a:spcPct val="100000"/>
              </a:lnSpc>
              <a:spcBef>
                <a:spcPts val="765"/>
              </a:spcBef>
            </a:pPr>
            <a:r>
              <a:rPr sz="3200" dirty="0">
                <a:latin typeface="Calibri"/>
                <a:cs typeface="Calibri"/>
              </a:rPr>
              <a:t>The</a:t>
            </a:r>
            <a:r>
              <a:rPr sz="3200" spc="-20" dirty="0">
                <a:latin typeface="Calibri"/>
                <a:cs typeface="Calibri"/>
              </a:rPr>
              <a:t> </a:t>
            </a:r>
            <a:r>
              <a:rPr sz="3200" dirty="0">
                <a:latin typeface="Calibri"/>
                <a:cs typeface="Calibri"/>
              </a:rPr>
              <a:t>goal</a:t>
            </a:r>
            <a:r>
              <a:rPr sz="3200" spc="-25" dirty="0">
                <a:latin typeface="Calibri"/>
                <a:cs typeface="Calibri"/>
              </a:rPr>
              <a:t> </a:t>
            </a:r>
            <a:r>
              <a:rPr sz="3200" dirty="0">
                <a:latin typeface="Calibri"/>
                <a:cs typeface="Calibri"/>
              </a:rPr>
              <a:t>is</a:t>
            </a:r>
            <a:r>
              <a:rPr sz="3200" spc="-20" dirty="0">
                <a:latin typeface="Calibri"/>
                <a:cs typeface="Calibri"/>
              </a:rPr>
              <a:t> </a:t>
            </a:r>
            <a:r>
              <a:rPr sz="3200" dirty="0">
                <a:latin typeface="Calibri"/>
                <a:cs typeface="Calibri"/>
              </a:rPr>
              <a:t>another</a:t>
            </a:r>
            <a:r>
              <a:rPr sz="3200" spc="-20" dirty="0">
                <a:latin typeface="Calibri"/>
                <a:cs typeface="Calibri"/>
              </a:rPr>
              <a:t> </a:t>
            </a:r>
            <a:r>
              <a:rPr sz="3200" dirty="0">
                <a:latin typeface="Calibri"/>
                <a:cs typeface="Calibri"/>
              </a:rPr>
              <a:t>issue</a:t>
            </a:r>
            <a:r>
              <a:rPr sz="3200" spc="-20" dirty="0">
                <a:latin typeface="Calibri"/>
                <a:cs typeface="Calibri"/>
              </a:rPr>
              <a:t> </a:t>
            </a:r>
            <a:r>
              <a:rPr sz="3200" dirty="0">
                <a:latin typeface="Calibri"/>
                <a:cs typeface="Calibri"/>
              </a:rPr>
              <a:t>to</a:t>
            </a:r>
            <a:r>
              <a:rPr sz="3200" spc="-20" dirty="0">
                <a:latin typeface="Calibri"/>
                <a:cs typeface="Calibri"/>
              </a:rPr>
              <a:t> </a:t>
            </a:r>
            <a:r>
              <a:rPr sz="3200" spc="-10" dirty="0">
                <a:latin typeface="Calibri"/>
                <a:cs typeface="Calibri"/>
              </a:rPr>
              <a:t>achieve</a:t>
            </a:r>
            <a:endParaRPr sz="3200">
              <a:latin typeface="Calibri"/>
              <a:cs typeface="Calibri"/>
            </a:endParaRPr>
          </a:p>
          <a:p>
            <a:pPr marL="412750" indent="-284480">
              <a:lnSpc>
                <a:spcPct val="100000"/>
              </a:lnSpc>
              <a:spcBef>
                <a:spcPts val="690"/>
              </a:spcBef>
              <a:buClr>
                <a:srgbClr val="C09E4A"/>
              </a:buClr>
              <a:buSzPct val="69642"/>
              <a:buFont typeface="Wingdings"/>
              <a:buChar char=""/>
              <a:tabLst>
                <a:tab pos="412750" algn="l"/>
              </a:tabLst>
            </a:pPr>
            <a:r>
              <a:rPr sz="2800" dirty="0">
                <a:latin typeface="Calibri"/>
                <a:cs typeface="Calibri"/>
              </a:rPr>
              <a:t>Judgment</a:t>
            </a:r>
            <a:r>
              <a:rPr sz="2800" spc="-65"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rationality</a:t>
            </a:r>
            <a:r>
              <a:rPr sz="2800" spc="-75" dirty="0">
                <a:latin typeface="Calibri"/>
                <a:cs typeface="Calibri"/>
              </a:rPr>
              <a:t> </a:t>
            </a:r>
            <a:r>
              <a:rPr sz="2800" dirty="0">
                <a:latin typeface="Calibri"/>
                <a:cs typeface="Calibri"/>
              </a:rPr>
              <a:t>/</a:t>
            </a:r>
            <a:r>
              <a:rPr sz="2800" spc="-65" dirty="0">
                <a:latin typeface="Calibri"/>
                <a:cs typeface="Calibri"/>
              </a:rPr>
              <a:t> </a:t>
            </a:r>
            <a:r>
              <a:rPr sz="2800" spc="-10" dirty="0">
                <a:latin typeface="Calibri"/>
                <a:cs typeface="Calibri"/>
              </a:rPr>
              <a:t>correctness</a:t>
            </a:r>
            <a:endParaRPr sz="2800">
              <a:latin typeface="Calibri"/>
              <a:cs typeface="Calibri"/>
            </a:endParaRPr>
          </a:p>
          <a:p>
            <a:pPr marL="12700">
              <a:lnSpc>
                <a:spcPct val="100000"/>
              </a:lnSpc>
              <a:spcBef>
                <a:spcPts val="775"/>
              </a:spcBef>
            </a:pPr>
            <a:r>
              <a:rPr sz="3200" dirty="0">
                <a:latin typeface="Calibri"/>
                <a:cs typeface="Calibri"/>
              </a:rPr>
              <a:t>Actions</a:t>
            </a:r>
            <a:r>
              <a:rPr sz="3200" spc="-45" dirty="0">
                <a:latin typeface="Calibri"/>
                <a:cs typeface="Calibri"/>
              </a:rPr>
              <a:t> </a:t>
            </a:r>
            <a:r>
              <a:rPr sz="3200" dirty="0">
                <a:latin typeface="Calibri"/>
                <a:cs typeface="Calibri"/>
              </a:rPr>
              <a:t>chosen</a:t>
            </a:r>
            <a:r>
              <a:rPr sz="3200" spc="-5" dirty="0">
                <a:latin typeface="Calibri"/>
                <a:cs typeface="Calibri"/>
              </a:rPr>
              <a:t> </a:t>
            </a:r>
            <a:r>
              <a:rPr sz="3200" dirty="0">
                <a:latin typeface="Wingdings"/>
                <a:cs typeface="Wingdings"/>
              </a:rPr>
              <a:t></a:t>
            </a:r>
            <a:r>
              <a:rPr sz="3200" spc="-130" dirty="0">
                <a:latin typeface="Times New Roman"/>
                <a:cs typeface="Times New Roman"/>
              </a:rPr>
              <a:t> </a:t>
            </a:r>
            <a:r>
              <a:rPr sz="3200" dirty="0">
                <a:latin typeface="Calibri"/>
                <a:cs typeface="Calibri"/>
              </a:rPr>
              <a:t>goals,</a:t>
            </a:r>
            <a:r>
              <a:rPr sz="3200" spc="-55" dirty="0">
                <a:latin typeface="Calibri"/>
                <a:cs typeface="Calibri"/>
              </a:rPr>
              <a:t> </a:t>
            </a:r>
            <a:r>
              <a:rPr sz="3200" dirty="0">
                <a:latin typeface="Calibri"/>
                <a:cs typeface="Calibri"/>
              </a:rPr>
              <a:t>based</a:t>
            </a:r>
            <a:r>
              <a:rPr sz="3200" spc="-40" dirty="0">
                <a:latin typeface="Calibri"/>
                <a:cs typeface="Calibri"/>
              </a:rPr>
              <a:t> </a:t>
            </a:r>
            <a:r>
              <a:rPr sz="3200" spc="-25" dirty="0">
                <a:latin typeface="Calibri"/>
                <a:cs typeface="Calibri"/>
              </a:rPr>
              <a:t>on</a:t>
            </a:r>
            <a:endParaRPr sz="3200">
              <a:latin typeface="Calibri"/>
              <a:cs typeface="Calibri"/>
            </a:endParaRPr>
          </a:p>
          <a:p>
            <a:pPr marL="412750" indent="-284480">
              <a:lnSpc>
                <a:spcPct val="100000"/>
              </a:lnSpc>
              <a:spcBef>
                <a:spcPts val="665"/>
              </a:spcBef>
              <a:buClr>
                <a:srgbClr val="C09E4A"/>
              </a:buClr>
              <a:buSzPct val="69642"/>
              <a:buFont typeface="Wingdings"/>
              <a:buChar char=""/>
              <a:tabLst>
                <a:tab pos="412750" algn="l"/>
              </a:tabLst>
            </a:pPr>
            <a:r>
              <a:rPr sz="2800" dirty="0">
                <a:latin typeface="Calibri"/>
                <a:cs typeface="Calibri"/>
              </a:rPr>
              <a:t>the</a:t>
            </a:r>
            <a:r>
              <a:rPr sz="2800" spc="-85" dirty="0">
                <a:latin typeface="Calibri"/>
                <a:cs typeface="Calibri"/>
              </a:rPr>
              <a:t> </a:t>
            </a:r>
            <a:r>
              <a:rPr sz="2800" dirty="0">
                <a:latin typeface="Calibri"/>
                <a:cs typeface="Calibri"/>
              </a:rPr>
              <a:t>current</a:t>
            </a:r>
            <a:r>
              <a:rPr sz="2800" spc="-75" dirty="0">
                <a:latin typeface="Calibri"/>
                <a:cs typeface="Calibri"/>
              </a:rPr>
              <a:t> </a:t>
            </a:r>
            <a:r>
              <a:rPr sz="2800" spc="-20" dirty="0">
                <a:latin typeface="Calibri"/>
                <a:cs typeface="Calibri"/>
              </a:rPr>
              <a:t>state</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the</a:t>
            </a:r>
            <a:r>
              <a:rPr sz="2800" spc="-85" dirty="0">
                <a:latin typeface="Calibri"/>
                <a:cs typeface="Calibri"/>
              </a:rPr>
              <a:t> </a:t>
            </a:r>
            <a:r>
              <a:rPr sz="2800" dirty="0">
                <a:latin typeface="Calibri"/>
                <a:cs typeface="Calibri"/>
              </a:rPr>
              <a:t>current</a:t>
            </a:r>
            <a:r>
              <a:rPr sz="2800" spc="-75" dirty="0">
                <a:latin typeface="Calibri"/>
                <a:cs typeface="Calibri"/>
              </a:rPr>
              <a:t> </a:t>
            </a:r>
            <a:r>
              <a:rPr sz="2800" spc="-10" dirty="0">
                <a:latin typeface="Calibri"/>
                <a:cs typeface="Calibri"/>
              </a:rPr>
              <a:t>percept</a:t>
            </a:r>
            <a:endParaRPr sz="2800">
              <a:latin typeface="Calibri"/>
              <a:cs typeface="Calibri"/>
            </a:endParaRPr>
          </a:p>
        </p:txBody>
      </p:sp>
    </p:spTree>
    <p:extLst>
      <p:ext uri="{BB962C8B-B14F-4D97-AF65-F5344CB8AC3E}">
        <p14:creationId xmlns:p14="http://schemas.microsoft.com/office/powerpoint/2010/main" val="3163048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4634F-D574-5F1B-5A65-E45441636F0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FE45023-2EB5-83C9-5A35-AC1D81505305}"/>
              </a:ext>
            </a:extLst>
          </p:cNvPr>
          <p:cNvSpPr txBox="1">
            <a:spLocks noGrp="1"/>
          </p:cNvSpPr>
          <p:nvPr>
            <p:ph type="title"/>
          </p:nvPr>
        </p:nvSpPr>
        <p:spPr>
          <a:prstGeom prst="rect">
            <a:avLst/>
          </a:prstGeom>
        </p:spPr>
        <p:txBody>
          <a:bodyPr vert="horz" wrap="square" lIns="0" tIns="354647" rIns="0" bIns="0" rtlCol="0">
            <a:spAutoFit/>
          </a:bodyPr>
          <a:lstStyle/>
          <a:p>
            <a:pPr marL="1727200">
              <a:lnSpc>
                <a:spcPct val="100000"/>
              </a:lnSpc>
              <a:spcBef>
                <a:spcPts val="105"/>
              </a:spcBef>
            </a:pPr>
            <a:r>
              <a:rPr spc="-10" dirty="0"/>
              <a:t>Incorporating</a:t>
            </a:r>
            <a:r>
              <a:rPr spc="-225" dirty="0"/>
              <a:t> </a:t>
            </a:r>
            <a:r>
              <a:rPr spc="-10" dirty="0"/>
              <a:t>Goals</a:t>
            </a:r>
          </a:p>
        </p:txBody>
      </p:sp>
      <p:sp>
        <p:nvSpPr>
          <p:cNvPr id="4" name="object 4">
            <a:extLst>
              <a:ext uri="{FF2B5EF4-FFF2-40B4-BE49-F238E27FC236}">
                <a16:creationId xmlns:a16="http://schemas.microsoft.com/office/drawing/2014/main" id="{C60FA9C8-A481-9CDD-6F9D-CF0321D9E002}"/>
              </a:ext>
            </a:extLst>
          </p:cNvPr>
          <p:cNvSpPr txBox="1"/>
          <p:nvPr/>
        </p:nvSpPr>
        <p:spPr>
          <a:xfrm>
            <a:off x="1261427" y="1924363"/>
            <a:ext cx="7300595" cy="4103370"/>
          </a:xfrm>
          <a:prstGeom prst="rect">
            <a:avLst/>
          </a:prstGeom>
        </p:spPr>
        <p:txBody>
          <a:bodyPr vert="horz" wrap="square" lIns="0" tIns="64769" rIns="0" bIns="0" rtlCol="0">
            <a:spAutoFit/>
          </a:bodyPr>
          <a:lstStyle/>
          <a:p>
            <a:pPr marL="354965" indent="-342265">
              <a:lnSpc>
                <a:spcPct val="100000"/>
              </a:lnSpc>
              <a:spcBef>
                <a:spcPts val="509"/>
              </a:spcBef>
              <a:buFont typeface="Arial"/>
              <a:buChar char="•"/>
              <a:tabLst>
                <a:tab pos="354965" algn="l"/>
              </a:tabLst>
            </a:pPr>
            <a:r>
              <a:rPr sz="3200" dirty="0">
                <a:latin typeface="Calibri"/>
                <a:cs typeface="Calibri"/>
              </a:rPr>
              <a:t>Rules</a:t>
            </a:r>
            <a:r>
              <a:rPr sz="3200" spc="-35" dirty="0">
                <a:latin typeface="Calibri"/>
                <a:cs typeface="Calibri"/>
              </a:rPr>
              <a:t> </a:t>
            </a:r>
            <a:r>
              <a:rPr sz="3200" dirty="0">
                <a:latin typeface="Calibri"/>
                <a:cs typeface="Calibri"/>
              </a:rPr>
              <a:t>and</a:t>
            </a:r>
            <a:r>
              <a:rPr sz="3200" spc="-15" dirty="0">
                <a:latin typeface="Calibri"/>
                <a:cs typeface="Calibri"/>
              </a:rPr>
              <a:t> </a:t>
            </a:r>
            <a:r>
              <a:rPr sz="3200" spc="-10" dirty="0">
                <a:latin typeface="Calibri"/>
                <a:cs typeface="Calibri"/>
              </a:rPr>
              <a:t>“foresight”</a:t>
            </a:r>
            <a:endParaRPr sz="3200">
              <a:latin typeface="Calibri"/>
              <a:cs typeface="Calibri"/>
            </a:endParaRPr>
          </a:p>
          <a:p>
            <a:pPr marL="754380" marR="52705" lvl="1" indent="-285115">
              <a:lnSpc>
                <a:spcPts val="3030"/>
              </a:lnSpc>
              <a:spcBef>
                <a:spcPts val="730"/>
              </a:spcBef>
              <a:buFont typeface="Arial"/>
              <a:buChar char="–"/>
              <a:tabLst>
                <a:tab pos="756285" algn="l"/>
              </a:tabLst>
            </a:pPr>
            <a:r>
              <a:rPr sz="2800" spc="-20" dirty="0">
                <a:latin typeface="Calibri"/>
                <a:cs typeface="Calibri"/>
              </a:rPr>
              <a:t>Essentially,</a:t>
            </a:r>
            <a:r>
              <a:rPr sz="2800" spc="-35" dirty="0">
                <a:latin typeface="Calibri"/>
                <a:cs typeface="Calibri"/>
              </a:rPr>
              <a:t> </a:t>
            </a:r>
            <a:r>
              <a:rPr sz="2800" dirty="0">
                <a:latin typeface="Calibri"/>
                <a:cs typeface="Calibri"/>
              </a:rPr>
              <a:t>the</a:t>
            </a:r>
            <a:r>
              <a:rPr sz="2800" spc="-35" dirty="0">
                <a:latin typeface="Calibri"/>
                <a:cs typeface="Calibri"/>
              </a:rPr>
              <a:t> </a:t>
            </a:r>
            <a:r>
              <a:rPr sz="2800" spc="-10" dirty="0">
                <a:latin typeface="Calibri"/>
                <a:cs typeface="Calibri"/>
              </a:rPr>
              <a:t>agent’s</a:t>
            </a:r>
            <a:r>
              <a:rPr sz="2800" spc="-55" dirty="0">
                <a:latin typeface="Calibri"/>
                <a:cs typeface="Calibri"/>
              </a:rPr>
              <a:t> </a:t>
            </a:r>
            <a:r>
              <a:rPr sz="2800" dirty="0">
                <a:latin typeface="Calibri"/>
                <a:cs typeface="Calibri"/>
              </a:rPr>
              <a:t>rule</a:t>
            </a:r>
            <a:r>
              <a:rPr sz="2800" spc="-40" dirty="0">
                <a:latin typeface="Calibri"/>
                <a:cs typeface="Calibri"/>
              </a:rPr>
              <a:t> </a:t>
            </a:r>
            <a:r>
              <a:rPr sz="2800" dirty="0">
                <a:latin typeface="Calibri"/>
                <a:cs typeface="Calibri"/>
              </a:rPr>
              <a:t>set</a:t>
            </a:r>
            <a:r>
              <a:rPr sz="2800" spc="-40" dirty="0">
                <a:latin typeface="Calibri"/>
                <a:cs typeface="Calibri"/>
              </a:rPr>
              <a:t> </a:t>
            </a:r>
            <a:r>
              <a:rPr sz="2800" dirty="0">
                <a:latin typeface="Calibri"/>
                <a:cs typeface="Calibri"/>
              </a:rPr>
              <a:t>is</a:t>
            </a:r>
            <a:r>
              <a:rPr sz="2800" spc="-45" dirty="0">
                <a:latin typeface="Calibri"/>
                <a:cs typeface="Calibri"/>
              </a:rPr>
              <a:t> </a:t>
            </a:r>
            <a:r>
              <a:rPr sz="2800" spc="-10" dirty="0">
                <a:latin typeface="Calibri"/>
                <a:cs typeface="Calibri"/>
              </a:rPr>
              <a:t>determined 	</a:t>
            </a:r>
            <a:r>
              <a:rPr sz="2800" dirty="0">
                <a:latin typeface="Calibri"/>
                <a:cs typeface="Calibri"/>
              </a:rPr>
              <a:t>by</a:t>
            </a:r>
            <a:r>
              <a:rPr sz="2800" spc="-25" dirty="0">
                <a:latin typeface="Calibri"/>
                <a:cs typeface="Calibri"/>
              </a:rPr>
              <a:t> </a:t>
            </a:r>
            <a:r>
              <a:rPr sz="2800" dirty="0">
                <a:latin typeface="Calibri"/>
                <a:cs typeface="Calibri"/>
              </a:rPr>
              <a:t>its</a:t>
            </a:r>
            <a:r>
              <a:rPr sz="2800" spc="-20" dirty="0">
                <a:latin typeface="Calibri"/>
                <a:cs typeface="Calibri"/>
              </a:rPr>
              <a:t> </a:t>
            </a:r>
            <a:r>
              <a:rPr sz="2800" spc="-10" dirty="0">
                <a:latin typeface="Calibri"/>
                <a:cs typeface="Calibri"/>
              </a:rPr>
              <a:t>goals</a:t>
            </a:r>
            <a:endParaRPr sz="2800">
              <a:latin typeface="Calibri"/>
              <a:cs typeface="Calibri"/>
            </a:endParaRPr>
          </a:p>
          <a:p>
            <a:pPr marL="754380" marR="154305" lvl="1" indent="-285115">
              <a:lnSpc>
                <a:spcPts val="3030"/>
              </a:lnSpc>
              <a:spcBef>
                <a:spcPts val="660"/>
              </a:spcBef>
              <a:buFont typeface="Arial"/>
              <a:buChar char="–"/>
              <a:tabLst>
                <a:tab pos="756285" algn="l"/>
              </a:tabLst>
            </a:pPr>
            <a:r>
              <a:rPr sz="2800" dirty="0">
                <a:latin typeface="Calibri"/>
                <a:cs typeface="Calibri"/>
              </a:rPr>
              <a:t>Requires</a:t>
            </a:r>
            <a:r>
              <a:rPr sz="2800" spc="-85" dirty="0">
                <a:latin typeface="Calibri"/>
                <a:cs typeface="Calibri"/>
              </a:rPr>
              <a:t> </a:t>
            </a:r>
            <a:r>
              <a:rPr sz="2800" dirty="0">
                <a:latin typeface="Calibri"/>
                <a:cs typeface="Calibri"/>
              </a:rPr>
              <a:t>knowledge</a:t>
            </a:r>
            <a:r>
              <a:rPr sz="2800" spc="-85" dirty="0">
                <a:latin typeface="Calibri"/>
                <a:cs typeface="Calibri"/>
              </a:rPr>
              <a:t> </a:t>
            </a:r>
            <a:r>
              <a:rPr sz="2800" dirty="0">
                <a:latin typeface="Calibri"/>
                <a:cs typeface="Calibri"/>
              </a:rPr>
              <a:t>of</a:t>
            </a:r>
            <a:r>
              <a:rPr sz="2800" spc="-105" dirty="0">
                <a:latin typeface="Calibri"/>
                <a:cs typeface="Calibri"/>
              </a:rPr>
              <a:t> </a:t>
            </a:r>
            <a:r>
              <a:rPr sz="2800" dirty="0">
                <a:latin typeface="Calibri"/>
                <a:cs typeface="Calibri"/>
              </a:rPr>
              <a:t>future</a:t>
            </a:r>
            <a:r>
              <a:rPr sz="2800" spc="-85" dirty="0">
                <a:latin typeface="Calibri"/>
                <a:cs typeface="Calibri"/>
              </a:rPr>
              <a:t> </a:t>
            </a:r>
            <a:r>
              <a:rPr sz="2800" spc="-10" dirty="0">
                <a:latin typeface="Calibri"/>
                <a:cs typeface="Calibri"/>
              </a:rPr>
              <a:t>consequences 	</a:t>
            </a:r>
            <a:r>
              <a:rPr sz="2800" dirty="0">
                <a:latin typeface="Calibri"/>
                <a:cs typeface="Calibri"/>
              </a:rPr>
              <a:t>given</a:t>
            </a:r>
            <a:r>
              <a:rPr sz="2800" spc="-85" dirty="0">
                <a:latin typeface="Calibri"/>
                <a:cs typeface="Calibri"/>
              </a:rPr>
              <a:t> </a:t>
            </a:r>
            <a:r>
              <a:rPr sz="2800" dirty="0">
                <a:latin typeface="Calibri"/>
                <a:cs typeface="Calibri"/>
              </a:rPr>
              <a:t>possible</a:t>
            </a:r>
            <a:r>
              <a:rPr sz="2800" spc="-45" dirty="0">
                <a:latin typeface="Calibri"/>
                <a:cs typeface="Calibri"/>
              </a:rPr>
              <a:t> </a:t>
            </a:r>
            <a:r>
              <a:rPr sz="2800" spc="-10" dirty="0">
                <a:latin typeface="Calibri"/>
                <a:cs typeface="Calibri"/>
              </a:rPr>
              <a:t>actions</a:t>
            </a:r>
            <a:endParaRPr sz="2800">
              <a:latin typeface="Calibri"/>
              <a:cs typeface="Calibri"/>
            </a:endParaRPr>
          </a:p>
          <a:p>
            <a:pPr marL="355600" marR="5080" indent="-343535">
              <a:lnSpc>
                <a:spcPts val="3460"/>
              </a:lnSpc>
              <a:spcBef>
                <a:spcPts val="745"/>
              </a:spcBef>
              <a:buFont typeface="Arial"/>
              <a:buChar char="•"/>
              <a:tabLst>
                <a:tab pos="355600" algn="l"/>
              </a:tabLst>
            </a:pPr>
            <a:r>
              <a:rPr sz="3200" dirty="0">
                <a:latin typeface="Calibri"/>
                <a:cs typeface="Calibri"/>
              </a:rPr>
              <a:t>Can</a:t>
            </a:r>
            <a:r>
              <a:rPr sz="3200" spc="-35" dirty="0">
                <a:latin typeface="Calibri"/>
                <a:cs typeface="Calibri"/>
              </a:rPr>
              <a:t> </a:t>
            </a:r>
            <a:r>
              <a:rPr sz="3200" dirty="0">
                <a:latin typeface="Calibri"/>
                <a:cs typeface="Calibri"/>
              </a:rPr>
              <a:t>also</a:t>
            </a:r>
            <a:r>
              <a:rPr sz="3200" spc="-45" dirty="0">
                <a:latin typeface="Calibri"/>
                <a:cs typeface="Calibri"/>
              </a:rPr>
              <a:t> </a:t>
            </a:r>
            <a:r>
              <a:rPr sz="3200" dirty="0">
                <a:latin typeface="Calibri"/>
                <a:cs typeface="Calibri"/>
              </a:rPr>
              <a:t>be</a:t>
            </a:r>
            <a:r>
              <a:rPr sz="3200" spc="-50" dirty="0">
                <a:latin typeface="Calibri"/>
                <a:cs typeface="Calibri"/>
              </a:rPr>
              <a:t> </a:t>
            </a:r>
            <a:r>
              <a:rPr sz="3200" dirty="0">
                <a:latin typeface="Calibri"/>
                <a:cs typeface="Calibri"/>
              </a:rPr>
              <a:t>viewed</a:t>
            </a:r>
            <a:r>
              <a:rPr sz="3200" spc="-65" dirty="0">
                <a:latin typeface="Calibri"/>
                <a:cs typeface="Calibri"/>
              </a:rPr>
              <a:t> </a:t>
            </a:r>
            <a:r>
              <a:rPr sz="3200" dirty="0">
                <a:latin typeface="Calibri"/>
                <a:cs typeface="Calibri"/>
              </a:rPr>
              <a:t>as</a:t>
            </a:r>
            <a:r>
              <a:rPr sz="3200" spc="-50" dirty="0">
                <a:latin typeface="Calibri"/>
                <a:cs typeface="Calibri"/>
              </a:rPr>
              <a:t> </a:t>
            </a:r>
            <a:r>
              <a:rPr sz="3200" dirty="0">
                <a:latin typeface="Calibri"/>
                <a:cs typeface="Calibri"/>
              </a:rPr>
              <a:t>an</a:t>
            </a:r>
            <a:r>
              <a:rPr sz="3200" spc="-45" dirty="0">
                <a:latin typeface="Calibri"/>
                <a:cs typeface="Calibri"/>
              </a:rPr>
              <a:t> </a:t>
            </a:r>
            <a:r>
              <a:rPr sz="3200" dirty="0">
                <a:latin typeface="Calibri"/>
                <a:cs typeface="Calibri"/>
              </a:rPr>
              <a:t>agent</a:t>
            </a:r>
            <a:r>
              <a:rPr sz="3200" spc="-55" dirty="0">
                <a:latin typeface="Calibri"/>
                <a:cs typeface="Calibri"/>
              </a:rPr>
              <a:t> </a:t>
            </a:r>
            <a:r>
              <a:rPr sz="3200" dirty="0">
                <a:latin typeface="Calibri"/>
                <a:cs typeface="Calibri"/>
              </a:rPr>
              <a:t>with</a:t>
            </a:r>
            <a:r>
              <a:rPr sz="3200" spc="-35" dirty="0">
                <a:latin typeface="Calibri"/>
                <a:cs typeface="Calibri"/>
              </a:rPr>
              <a:t> </a:t>
            </a:r>
            <a:r>
              <a:rPr sz="3200" spc="-20" dirty="0">
                <a:latin typeface="Calibri"/>
                <a:cs typeface="Calibri"/>
              </a:rPr>
              <a:t>more </a:t>
            </a:r>
            <a:r>
              <a:rPr sz="3200" dirty="0">
                <a:latin typeface="Calibri"/>
                <a:cs typeface="Calibri"/>
              </a:rPr>
              <a:t>complex</a:t>
            </a:r>
            <a:r>
              <a:rPr sz="3200" spc="-155" dirty="0">
                <a:latin typeface="Calibri"/>
                <a:cs typeface="Calibri"/>
              </a:rPr>
              <a:t> </a:t>
            </a:r>
            <a:r>
              <a:rPr sz="3200" spc="-10" dirty="0">
                <a:latin typeface="Calibri"/>
                <a:cs typeface="Calibri"/>
              </a:rPr>
              <a:t>state</a:t>
            </a:r>
            <a:r>
              <a:rPr sz="3200" spc="-155" dirty="0">
                <a:latin typeface="Calibri"/>
                <a:cs typeface="Calibri"/>
              </a:rPr>
              <a:t> </a:t>
            </a:r>
            <a:r>
              <a:rPr sz="3200" spc="-10" dirty="0">
                <a:latin typeface="Calibri"/>
                <a:cs typeface="Calibri"/>
              </a:rPr>
              <a:t>management</a:t>
            </a:r>
            <a:endParaRPr sz="3200">
              <a:latin typeface="Calibri"/>
              <a:cs typeface="Calibri"/>
            </a:endParaRPr>
          </a:p>
          <a:p>
            <a:pPr marL="754380" marR="977265" lvl="1" indent="-285115">
              <a:lnSpc>
                <a:spcPts val="3030"/>
              </a:lnSpc>
              <a:spcBef>
                <a:spcPts val="675"/>
              </a:spcBef>
              <a:buFont typeface="Arial"/>
              <a:buChar char="–"/>
              <a:tabLst>
                <a:tab pos="756285" algn="l"/>
              </a:tabLst>
            </a:pPr>
            <a:r>
              <a:rPr sz="2800" dirty="0">
                <a:latin typeface="Calibri"/>
                <a:cs typeface="Calibri"/>
              </a:rPr>
              <a:t>Goals</a:t>
            </a:r>
            <a:r>
              <a:rPr sz="2800" spc="-75" dirty="0">
                <a:latin typeface="Calibri"/>
                <a:cs typeface="Calibri"/>
              </a:rPr>
              <a:t> </a:t>
            </a:r>
            <a:r>
              <a:rPr sz="2800" dirty="0">
                <a:latin typeface="Calibri"/>
                <a:cs typeface="Calibri"/>
              </a:rPr>
              <a:t>provide</a:t>
            </a:r>
            <a:r>
              <a:rPr sz="2800" spc="-55" dirty="0">
                <a:latin typeface="Calibri"/>
                <a:cs typeface="Calibri"/>
              </a:rPr>
              <a:t> </a:t>
            </a:r>
            <a:r>
              <a:rPr sz="2800" dirty="0">
                <a:latin typeface="Calibri"/>
                <a:cs typeface="Calibri"/>
              </a:rPr>
              <a:t>for</a:t>
            </a:r>
            <a:r>
              <a:rPr sz="2800" spc="-65" dirty="0">
                <a:latin typeface="Calibri"/>
                <a:cs typeface="Calibri"/>
              </a:rPr>
              <a:t> </a:t>
            </a:r>
            <a:r>
              <a:rPr sz="2800" dirty="0">
                <a:latin typeface="Calibri"/>
                <a:cs typeface="Calibri"/>
              </a:rPr>
              <a:t>a</a:t>
            </a:r>
            <a:r>
              <a:rPr sz="2800" spc="-80" dirty="0">
                <a:latin typeface="Calibri"/>
                <a:cs typeface="Calibri"/>
              </a:rPr>
              <a:t> </a:t>
            </a:r>
            <a:r>
              <a:rPr sz="2800" dirty="0">
                <a:latin typeface="Calibri"/>
                <a:cs typeface="Calibri"/>
              </a:rPr>
              <a:t>more</a:t>
            </a:r>
            <a:r>
              <a:rPr sz="2800" spc="-60" dirty="0">
                <a:latin typeface="Calibri"/>
                <a:cs typeface="Calibri"/>
              </a:rPr>
              <a:t> </a:t>
            </a:r>
            <a:r>
              <a:rPr sz="2800" spc="-10" dirty="0">
                <a:latin typeface="Calibri"/>
                <a:cs typeface="Calibri"/>
              </a:rPr>
              <a:t>sophisticated 	</a:t>
            </a:r>
            <a:r>
              <a:rPr sz="2800" spc="-25" dirty="0">
                <a:latin typeface="Calibri"/>
                <a:cs typeface="Calibri"/>
              </a:rPr>
              <a:t>next-</a:t>
            </a:r>
            <a:r>
              <a:rPr sz="2800" dirty="0">
                <a:latin typeface="Calibri"/>
                <a:cs typeface="Calibri"/>
              </a:rPr>
              <a:t>state</a:t>
            </a:r>
            <a:r>
              <a:rPr sz="2800" spc="-90" dirty="0">
                <a:latin typeface="Calibri"/>
                <a:cs typeface="Calibri"/>
              </a:rPr>
              <a:t> </a:t>
            </a:r>
            <a:r>
              <a:rPr sz="2800" spc="-10" dirty="0">
                <a:latin typeface="Calibri"/>
                <a:cs typeface="Calibri"/>
              </a:rPr>
              <a:t>function</a:t>
            </a:r>
            <a:endParaRPr sz="2800">
              <a:latin typeface="Calibri"/>
              <a:cs typeface="Calibri"/>
            </a:endParaRPr>
          </a:p>
        </p:txBody>
      </p:sp>
    </p:spTree>
    <p:extLst>
      <p:ext uri="{BB962C8B-B14F-4D97-AF65-F5344CB8AC3E}">
        <p14:creationId xmlns:p14="http://schemas.microsoft.com/office/powerpoint/2010/main" val="471147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3076-0502-86DF-39DC-B250834CFA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C41337-51AC-BAF9-3D7E-D205FED0B88C}"/>
              </a:ext>
            </a:extLst>
          </p:cNvPr>
          <p:cNvSpPr txBox="1">
            <a:spLocks noGrp="1"/>
          </p:cNvSpPr>
          <p:nvPr>
            <p:ph type="title"/>
          </p:nvPr>
        </p:nvSpPr>
        <p:spPr>
          <a:prstGeom prst="rect">
            <a:avLst/>
          </a:prstGeom>
        </p:spPr>
        <p:txBody>
          <a:bodyPr vert="horz" wrap="square" lIns="0" tIns="348297" rIns="0" bIns="0" rtlCol="0">
            <a:spAutoFit/>
          </a:bodyPr>
          <a:lstStyle/>
          <a:p>
            <a:pPr marL="1217930">
              <a:lnSpc>
                <a:spcPct val="100000"/>
              </a:lnSpc>
              <a:spcBef>
                <a:spcPts val="105"/>
              </a:spcBef>
            </a:pPr>
            <a:r>
              <a:rPr spc="-10" dirty="0"/>
              <a:t>Utility-</a:t>
            </a:r>
            <a:r>
              <a:rPr dirty="0"/>
              <a:t>based</a:t>
            </a:r>
            <a:r>
              <a:rPr spc="-45" dirty="0"/>
              <a:t> </a:t>
            </a:r>
            <a:r>
              <a:rPr spc="-10" dirty="0"/>
              <a:t>agents</a:t>
            </a:r>
          </a:p>
        </p:txBody>
      </p:sp>
      <p:grpSp>
        <p:nvGrpSpPr>
          <p:cNvPr id="3" name="object 3">
            <a:extLst>
              <a:ext uri="{FF2B5EF4-FFF2-40B4-BE49-F238E27FC236}">
                <a16:creationId xmlns:a16="http://schemas.microsoft.com/office/drawing/2014/main" id="{C8B8C1F5-5B75-C5B8-3B82-5A19F0BA4C31}"/>
              </a:ext>
            </a:extLst>
          </p:cNvPr>
          <p:cNvGrpSpPr/>
          <p:nvPr/>
        </p:nvGrpSpPr>
        <p:grpSpPr>
          <a:xfrm>
            <a:off x="777239" y="2185415"/>
            <a:ext cx="4498975" cy="1836420"/>
            <a:chOff x="777239" y="2185415"/>
            <a:chExt cx="4498975" cy="1836420"/>
          </a:xfrm>
        </p:grpSpPr>
        <p:pic>
          <p:nvPicPr>
            <p:cNvPr id="4" name="object 4">
              <a:extLst>
                <a:ext uri="{FF2B5EF4-FFF2-40B4-BE49-F238E27FC236}">
                  <a16:creationId xmlns:a16="http://schemas.microsoft.com/office/drawing/2014/main" id="{59238DED-AFC1-CD5A-9A9E-E0A9AA04BCDD}"/>
                </a:ext>
              </a:extLst>
            </p:cNvPr>
            <p:cNvPicPr/>
            <p:nvPr/>
          </p:nvPicPr>
          <p:blipFill>
            <a:blip r:embed="rId3" cstate="print"/>
            <a:stretch>
              <a:fillRect/>
            </a:stretch>
          </p:blipFill>
          <p:spPr>
            <a:xfrm>
              <a:off x="777239" y="2185415"/>
              <a:ext cx="216407" cy="227075"/>
            </a:xfrm>
            <a:prstGeom prst="rect">
              <a:avLst/>
            </a:prstGeom>
          </p:spPr>
        </p:pic>
        <p:pic>
          <p:nvPicPr>
            <p:cNvPr id="5" name="object 5">
              <a:extLst>
                <a:ext uri="{FF2B5EF4-FFF2-40B4-BE49-F238E27FC236}">
                  <a16:creationId xmlns:a16="http://schemas.microsoft.com/office/drawing/2014/main" id="{3320DF56-AAC1-7FE1-667B-F145322CC332}"/>
                </a:ext>
              </a:extLst>
            </p:cNvPr>
            <p:cNvPicPr/>
            <p:nvPr/>
          </p:nvPicPr>
          <p:blipFill>
            <a:blip r:embed="rId4" cstate="print"/>
            <a:stretch>
              <a:fillRect/>
            </a:stretch>
          </p:blipFill>
          <p:spPr>
            <a:xfrm>
              <a:off x="3041904" y="2485643"/>
              <a:ext cx="1104899" cy="789431"/>
            </a:xfrm>
            <a:prstGeom prst="rect">
              <a:avLst/>
            </a:prstGeom>
          </p:spPr>
        </p:pic>
        <p:pic>
          <p:nvPicPr>
            <p:cNvPr id="6" name="object 6">
              <a:extLst>
                <a:ext uri="{FF2B5EF4-FFF2-40B4-BE49-F238E27FC236}">
                  <a16:creationId xmlns:a16="http://schemas.microsoft.com/office/drawing/2014/main" id="{A88357CC-A34C-A5D8-0C13-EA585708C3E5}"/>
                </a:ext>
              </a:extLst>
            </p:cNvPr>
            <p:cNvPicPr/>
            <p:nvPr/>
          </p:nvPicPr>
          <p:blipFill>
            <a:blip r:embed="rId5" cstate="print"/>
            <a:stretch>
              <a:fillRect/>
            </a:stretch>
          </p:blipFill>
          <p:spPr>
            <a:xfrm>
              <a:off x="3677411" y="2485644"/>
              <a:ext cx="577595" cy="789431"/>
            </a:xfrm>
            <a:prstGeom prst="rect">
              <a:avLst/>
            </a:prstGeom>
          </p:spPr>
        </p:pic>
        <p:pic>
          <p:nvPicPr>
            <p:cNvPr id="7" name="object 7">
              <a:extLst>
                <a:ext uri="{FF2B5EF4-FFF2-40B4-BE49-F238E27FC236}">
                  <a16:creationId xmlns:a16="http://schemas.microsoft.com/office/drawing/2014/main" id="{A35E6318-757E-A91F-C70F-0F28F08043DB}"/>
                </a:ext>
              </a:extLst>
            </p:cNvPr>
            <p:cNvPicPr/>
            <p:nvPr/>
          </p:nvPicPr>
          <p:blipFill>
            <a:blip r:embed="rId6" cstate="print"/>
            <a:stretch>
              <a:fillRect/>
            </a:stretch>
          </p:blipFill>
          <p:spPr>
            <a:xfrm>
              <a:off x="3785616" y="2485656"/>
              <a:ext cx="1490471" cy="789419"/>
            </a:xfrm>
            <a:prstGeom prst="rect">
              <a:avLst/>
            </a:prstGeom>
          </p:spPr>
        </p:pic>
        <p:pic>
          <p:nvPicPr>
            <p:cNvPr id="8" name="object 8">
              <a:extLst>
                <a:ext uri="{FF2B5EF4-FFF2-40B4-BE49-F238E27FC236}">
                  <a16:creationId xmlns:a16="http://schemas.microsoft.com/office/drawing/2014/main" id="{79A7FE2D-EFBB-6A3E-55BA-0B50B9AB1CB3}"/>
                </a:ext>
              </a:extLst>
            </p:cNvPr>
            <p:cNvPicPr/>
            <p:nvPr/>
          </p:nvPicPr>
          <p:blipFill>
            <a:blip r:embed="rId3" cstate="print"/>
            <a:stretch>
              <a:fillRect/>
            </a:stretch>
          </p:blipFill>
          <p:spPr>
            <a:xfrm>
              <a:off x="777239" y="3794759"/>
              <a:ext cx="216407" cy="227075"/>
            </a:xfrm>
            <a:prstGeom prst="rect">
              <a:avLst/>
            </a:prstGeom>
          </p:spPr>
        </p:pic>
      </p:grpSp>
      <p:sp>
        <p:nvSpPr>
          <p:cNvPr id="9" name="object 9">
            <a:extLst>
              <a:ext uri="{FF2B5EF4-FFF2-40B4-BE49-F238E27FC236}">
                <a16:creationId xmlns:a16="http://schemas.microsoft.com/office/drawing/2014/main" id="{9CCAEA41-87CC-933F-ACA2-252ACEB9FD20}"/>
              </a:ext>
            </a:extLst>
          </p:cNvPr>
          <p:cNvSpPr txBox="1"/>
          <p:nvPr/>
        </p:nvSpPr>
        <p:spPr>
          <a:xfrm>
            <a:off x="1105916" y="1887720"/>
            <a:ext cx="7087870" cy="4189095"/>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Goals</a:t>
            </a:r>
            <a:r>
              <a:rPr sz="3200" spc="-45" dirty="0">
                <a:latin typeface="Calibri"/>
                <a:cs typeface="Calibri"/>
              </a:rPr>
              <a:t> </a:t>
            </a:r>
            <a:r>
              <a:rPr sz="3200" dirty="0">
                <a:latin typeface="Calibri"/>
                <a:cs typeface="Calibri"/>
              </a:rPr>
              <a:t>alone</a:t>
            </a:r>
            <a:r>
              <a:rPr sz="3200" spc="-45" dirty="0">
                <a:latin typeface="Calibri"/>
                <a:cs typeface="Calibri"/>
              </a:rPr>
              <a:t> </a:t>
            </a:r>
            <a:r>
              <a:rPr sz="3200" dirty="0">
                <a:latin typeface="Calibri"/>
                <a:cs typeface="Calibri"/>
              </a:rPr>
              <a:t>are</a:t>
            </a:r>
            <a:r>
              <a:rPr sz="3200" spc="-45" dirty="0">
                <a:latin typeface="Calibri"/>
                <a:cs typeface="Calibri"/>
              </a:rPr>
              <a:t> </a:t>
            </a:r>
            <a:r>
              <a:rPr sz="3200" dirty="0">
                <a:latin typeface="Calibri"/>
                <a:cs typeface="Calibri"/>
              </a:rPr>
              <a:t>not</a:t>
            </a:r>
            <a:r>
              <a:rPr sz="3200" spc="-45" dirty="0">
                <a:latin typeface="Calibri"/>
                <a:cs typeface="Calibri"/>
              </a:rPr>
              <a:t> </a:t>
            </a:r>
            <a:r>
              <a:rPr sz="3200" spc="-10" dirty="0">
                <a:latin typeface="Calibri"/>
                <a:cs typeface="Calibri"/>
              </a:rPr>
              <a:t>enough</a:t>
            </a:r>
            <a:endParaRPr sz="3200">
              <a:latin typeface="Calibri"/>
              <a:cs typeface="Calibri"/>
            </a:endParaRPr>
          </a:p>
          <a:p>
            <a:pPr marL="412750" indent="-284480">
              <a:lnSpc>
                <a:spcPct val="100000"/>
              </a:lnSpc>
              <a:spcBef>
                <a:spcPts val="690"/>
              </a:spcBef>
              <a:buClr>
                <a:srgbClr val="C09E4A"/>
              </a:buClr>
              <a:buSzPct val="69642"/>
              <a:buFont typeface="Wingdings"/>
              <a:buChar char=""/>
              <a:tabLst>
                <a:tab pos="412750" algn="l"/>
              </a:tabLst>
            </a:pPr>
            <a:r>
              <a:rPr sz="2800" dirty="0">
                <a:latin typeface="Calibri"/>
                <a:cs typeface="Calibri"/>
              </a:rPr>
              <a:t>to</a:t>
            </a:r>
            <a:r>
              <a:rPr sz="2800" spc="-75" dirty="0">
                <a:latin typeface="Calibri"/>
                <a:cs typeface="Calibri"/>
              </a:rPr>
              <a:t> </a:t>
            </a:r>
            <a:r>
              <a:rPr sz="2800" spc="-10" dirty="0">
                <a:latin typeface="Calibri"/>
                <a:cs typeface="Calibri"/>
              </a:rPr>
              <a:t>generate</a:t>
            </a:r>
            <a:r>
              <a:rPr sz="2800" spc="-75" dirty="0">
                <a:latin typeface="Calibri"/>
                <a:cs typeface="Calibri"/>
              </a:rPr>
              <a:t> </a:t>
            </a:r>
            <a:r>
              <a:rPr sz="2800" b="1" spc="-10" dirty="0">
                <a:latin typeface="Calibri"/>
                <a:cs typeface="Calibri"/>
              </a:rPr>
              <a:t>high-</a:t>
            </a:r>
            <a:r>
              <a:rPr sz="2800" b="1" dirty="0">
                <a:latin typeface="Calibri"/>
                <a:cs typeface="Calibri"/>
              </a:rPr>
              <a:t>quality</a:t>
            </a:r>
            <a:r>
              <a:rPr sz="2800" b="1" spc="-40" dirty="0">
                <a:latin typeface="Calibri"/>
                <a:cs typeface="Calibri"/>
              </a:rPr>
              <a:t> </a:t>
            </a:r>
            <a:r>
              <a:rPr sz="2800" spc="-10" dirty="0">
                <a:latin typeface="Calibri"/>
                <a:cs typeface="Calibri"/>
              </a:rPr>
              <a:t>behavior</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E.g.</a:t>
            </a:r>
            <a:r>
              <a:rPr sz="2800" spc="-50" dirty="0">
                <a:latin typeface="Calibri"/>
                <a:cs typeface="Calibri"/>
              </a:rPr>
              <a:t> </a:t>
            </a:r>
            <a:r>
              <a:rPr sz="2800" dirty="0">
                <a:latin typeface="Calibri"/>
                <a:cs typeface="Calibri"/>
              </a:rPr>
              <a:t>meals</a:t>
            </a:r>
            <a:r>
              <a:rPr sz="2800" spc="-40" dirty="0">
                <a:latin typeface="Calibri"/>
                <a:cs typeface="Calibri"/>
              </a:rPr>
              <a:t> </a:t>
            </a:r>
            <a:r>
              <a:rPr sz="2800" dirty="0">
                <a:latin typeface="Calibri"/>
                <a:cs typeface="Calibri"/>
              </a:rPr>
              <a:t>in</a:t>
            </a:r>
            <a:r>
              <a:rPr sz="2800" spc="-35" dirty="0">
                <a:latin typeface="Calibri"/>
                <a:cs typeface="Calibri"/>
              </a:rPr>
              <a:t> </a:t>
            </a:r>
            <a:r>
              <a:rPr sz="2800" dirty="0">
                <a:latin typeface="Calibri"/>
                <a:cs typeface="Calibri"/>
              </a:rPr>
              <a:t>Canteen,</a:t>
            </a:r>
            <a:r>
              <a:rPr sz="2800" spc="-50" dirty="0">
                <a:latin typeface="Calibri"/>
                <a:cs typeface="Calibri"/>
              </a:rPr>
              <a:t> </a:t>
            </a:r>
            <a:r>
              <a:rPr sz="2800" dirty="0">
                <a:latin typeface="Calibri"/>
                <a:cs typeface="Calibri"/>
              </a:rPr>
              <a:t>good</a:t>
            </a:r>
            <a:r>
              <a:rPr sz="2800" spc="-40" dirty="0">
                <a:latin typeface="Calibri"/>
                <a:cs typeface="Calibri"/>
              </a:rPr>
              <a:t> </a:t>
            </a:r>
            <a:r>
              <a:rPr sz="2800" dirty="0">
                <a:latin typeface="Calibri"/>
                <a:cs typeface="Calibri"/>
              </a:rPr>
              <a:t>or</a:t>
            </a:r>
            <a:r>
              <a:rPr sz="2800" spc="-45" dirty="0">
                <a:latin typeface="Calibri"/>
                <a:cs typeface="Calibri"/>
              </a:rPr>
              <a:t> </a:t>
            </a:r>
            <a:r>
              <a:rPr sz="2800" dirty="0">
                <a:latin typeface="Calibri"/>
                <a:cs typeface="Calibri"/>
              </a:rPr>
              <a:t>not</a:t>
            </a:r>
            <a:r>
              <a:rPr sz="2800" spc="-3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75"/>
              </a:spcBef>
            </a:pPr>
            <a:r>
              <a:rPr sz="3200" dirty="0">
                <a:latin typeface="Calibri"/>
                <a:cs typeface="Calibri"/>
              </a:rPr>
              <a:t>Many</a:t>
            </a:r>
            <a:r>
              <a:rPr sz="3200" spc="-55" dirty="0">
                <a:latin typeface="Calibri"/>
                <a:cs typeface="Calibri"/>
              </a:rPr>
              <a:t> </a:t>
            </a:r>
            <a:r>
              <a:rPr sz="3200" dirty="0">
                <a:latin typeface="Calibri"/>
                <a:cs typeface="Calibri"/>
              </a:rPr>
              <a:t>action</a:t>
            </a:r>
            <a:r>
              <a:rPr sz="3200" spc="-55" dirty="0">
                <a:latin typeface="Calibri"/>
                <a:cs typeface="Calibri"/>
              </a:rPr>
              <a:t> </a:t>
            </a:r>
            <a:r>
              <a:rPr sz="3200" dirty="0">
                <a:latin typeface="Calibri"/>
                <a:cs typeface="Calibri"/>
              </a:rPr>
              <a:t>sequences</a:t>
            </a:r>
            <a:r>
              <a:rPr sz="3200" spc="-65" dirty="0">
                <a:latin typeface="Calibri"/>
                <a:cs typeface="Calibri"/>
              </a:rPr>
              <a:t> </a:t>
            </a:r>
            <a:r>
              <a:rPr sz="3200" dirty="0">
                <a:latin typeface="Wingdings"/>
                <a:cs typeface="Wingdings"/>
              </a:rPr>
              <a:t></a:t>
            </a:r>
            <a:r>
              <a:rPr sz="3200" spc="-145" dirty="0">
                <a:latin typeface="Times New Roman"/>
                <a:cs typeface="Times New Roman"/>
              </a:rPr>
              <a:t> </a:t>
            </a:r>
            <a:r>
              <a:rPr sz="3200" dirty="0">
                <a:latin typeface="Calibri"/>
                <a:cs typeface="Calibri"/>
              </a:rPr>
              <a:t>the</a:t>
            </a:r>
            <a:r>
              <a:rPr sz="3200" spc="-50" dirty="0">
                <a:latin typeface="Calibri"/>
                <a:cs typeface="Calibri"/>
              </a:rPr>
              <a:t> </a:t>
            </a:r>
            <a:r>
              <a:rPr sz="3200" spc="-10" dirty="0">
                <a:latin typeface="Calibri"/>
                <a:cs typeface="Calibri"/>
              </a:rPr>
              <a:t>goals</a:t>
            </a:r>
            <a:endParaRPr sz="3200">
              <a:latin typeface="Calibri"/>
              <a:cs typeface="Calibri"/>
            </a:endParaRPr>
          </a:p>
          <a:p>
            <a:pPr marL="412750" indent="-284480">
              <a:lnSpc>
                <a:spcPct val="100000"/>
              </a:lnSpc>
              <a:spcBef>
                <a:spcPts val="665"/>
              </a:spcBef>
              <a:buClr>
                <a:srgbClr val="C09E4A"/>
              </a:buClr>
              <a:buSzPct val="69642"/>
              <a:buFont typeface="Wingdings"/>
              <a:buChar char=""/>
              <a:tabLst>
                <a:tab pos="412750" algn="l"/>
              </a:tabLst>
            </a:pPr>
            <a:r>
              <a:rPr sz="2800" dirty="0">
                <a:latin typeface="Calibri"/>
                <a:cs typeface="Calibri"/>
              </a:rPr>
              <a:t>some</a:t>
            </a:r>
            <a:r>
              <a:rPr sz="2800" spc="-50" dirty="0">
                <a:latin typeface="Calibri"/>
                <a:cs typeface="Calibri"/>
              </a:rPr>
              <a:t> </a:t>
            </a:r>
            <a:r>
              <a:rPr sz="2800" dirty="0">
                <a:latin typeface="Calibri"/>
                <a:cs typeface="Calibri"/>
              </a:rPr>
              <a:t>are</a:t>
            </a:r>
            <a:r>
              <a:rPr sz="2800" spc="-75" dirty="0">
                <a:latin typeface="Calibri"/>
                <a:cs typeface="Calibri"/>
              </a:rPr>
              <a:t> </a:t>
            </a:r>
            <a:r>
              <a:rPr sz="2800" dirty="0">
                <a:latin typeface="Calibri"/>
                <a:cs typeface="Calibri"/>
              </a:rPr>
              <a:t>better</a:t>
            </a:r>
            <a:r>
              <a:rPr sz="2800" spc="-65" dirty="0">
                <a:latin typeface="Calibri"/>
                <a:cs typeface="Calibri"/>
              </a:rPr>
              <a:t> </a:t>
            </a:r>
            <a:r>
              <a:rPr sz="2800" dirty="0">
                <a:latin typeface="Calibri"/>
                <a:cs typeface="Calibri"/>
              </a:rPr>
              <a:t>and</a:t>
            </a:r>
            <a:r>
              <a:rPr sz="2800" spc="-50" dirty="0">
                <a:latin typeface="Calibri"/>
                <a:cs typeface="Calibri"/>
              </a:rPr>
              <a:t> </a:t>
            </a:r>
            <a:r>
              <a:rPr sz="2800" dirty="0">
                <a:latin typeface="Calibri"/>
                <a:cs typeface="Calibri"/>
              </a:rPr>
              <a:t>some</a:t>
            </a:r>
            <a:r>
              <a:rPr sz="2800" spc="-50" dirty="0">
                <a:latin typeface="Calibri"/>
                <a:cs typeface="Calibri"/>
              </a:rPr>
              <a:t> </a:t>
            </a:r>
            <a:r>
              <a:rPr sz="2800" spc="-10" dirty="0">
                <a:latin typeface="Calibri"/>
                <a:cs typeface="Calibri"/>
              </a:rPr>
              <a:t>worse</a:t>
            </a:r>
            <a:endParaRPr sz="2800">
              <a:latin typeface="Calibri"/>
              <a:cs typeface="Calibri"/>
            </a:endParaRPr>
          </a:p>
          <a:p>
            <a:pPr marL="412750" indent="-284480">
              <a:lnSpc>
                <a:spcPct val="100000"/>
              </a:lnSpc>
              <a:spcBef>
                <a:spcPts val="670"/>
              </a:spcBef>
              <a:buClr>
                <a:srgbClr val="C09E4A"/>
              </a:buClr>
              <a:buSzPct val="69642"/>
              <a:buFont typeface="Wingdings"/>
              <a:buChar char=""/>
              <a:tabLst>
                <a:tab pos="412750" algn="l"/>
              </a:tabLst>
            </a:pPr>
            <a:r>
              <a:rPr sz="2800" dirty="0">
                <a:latin typeface="Calibri"/>
                <a:cs typeface="Calibri"/>
              </a:rPr>
              <a:t>If</a:t>
            </a:r>
            <a:r>
              <a:rPr sz="2800" spc="-40" dirty="0">
                <a:latin typeface="Calibri"/>
                <a:cs typeface="Calibri"/>
              </a:rPr>
              <a:t> </a:t>
            </a:r>
            <a:r>
              <a:rPr sz="2800" dirty="0">
                <a:latin typeface="Calibri"/>
                <a:cs typeface="Calibri"/>
              </a:rPr>
              <a:t>goal</a:t>
            </a:r>
            <a:r>
              <a:rPr sz="2800" spc="-30" dirty="0">
                <a:latin typeface="Calibri"/>
                <a:cs typeface="Calibri"/>
              </a:rPr>
              <a:t> </a:t>
            </a:r>
            <a:r>
              <a:rPr sz="2800" dirty="0">
                <a:latin typeface="Calibri"/>
                <a:cs typeface="Calibri"/>
              </a:rPr>
              <a:t>means</a:t>
            </a:r>
            <a:r>
              <a:rPr sz="2800" spc="-15" dirty="0">
                <a:latin typeface="Calibri"/>
                <a:cs typeface="Calibri"/>
              </a:rPr>
              <a:t> </a:t>
            </a:r>
            <a:r>
              <a:rPr sz="2800" spc="-10" dirty="0">
                <a:latin typeface="Calibri"/>
                <a:cs typeface="Calibri"/>
              </a:rPr>
              <a:t>success,</a:t>
            </a:r>
            <a:endParaRPr sz="2800">
              <a:latin typeface="Calibri"/>
              <a:cs typeface="Calibri"/>
            </a:endParaRPr>
          </a:p>
          <a:p>
            <a:pPr marL="413384" marR="5080" indent="-285115">
              <a:lnSpc>
                <a:spcPct val="100000"/>
              </a:lnSpc>
              <a:spcBef>
                <a:spcPts val="675"/>
              </a:spcBef>
              <a:buClr>
                <a:srgbClr val="C09E4A"/>
              </a:buClr>
              <a:buSzPct val="69642"/>
              <a:buFont typeface="Wingdings"/>
              <a:buChar char=""/>
              <a:tabLst>
                <a:tab pos="413384" algn="l"/>
              </a:tabLst>
            </a:pPr>
            <a:r>
              <a:rPr sz="2800" dirty="0">
                <a:latin typeface="Calibri"/>
                <a:cs typeface="Calibri"/>
              </a:rPr>
              <a:t>then</a:t>
            </a:r>
            <a:r>
              <a:rPr sz="2800" spc="-40" dirty="0">
                <a:latin typeface="Calibri"/>
                <a:cs typeface="Calibri"/>
              </a:rPr>
              <a:t> </a:t>
            </a:r>
            <a:r>
              <a:rPr sz="2800" b="1" dirty="0">
                <a:latin typeface="Calibri"/>
                <a:cs typeface="Calibri"/>
              </a:rPr>
              <a:t>utility</a:t>
            </a:r>
            <a:r>
              <a:rPr sz="2800" b="1" spc="-40" dirty="0">
                <a:latin typeface="Calibri"/>
                <a:cs typeface="Calibri"/>
              </a:rPr>
              <a:t> </a:t>
            </a:r>
            <a:r>
              <a:rPr sz="2800" dirty="0">
                <a:latin typeface="Calibri"/>
                <a:cs typeface="Calibri"/>
              </a:rPr>
              <a:t>means</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degree</a:t>
            </a:r>
            <a:r>
              <a:rPr sz="2800" spc="-65"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success</a:t>
            </a:r>
            <a:r>
              <a:rPr sz="2800" spc="-25" dirty="0">
                <a:latin typeface="Calibri"/>
                <a:cs typeface="Calibri"/>
              </a:rPr>
              <a:t> </a:t>
            </a:r>
            <a:r>
              <a:rPr sz="2800" spc="-20" dirty="0">
                <a:latin typeface="Calibri"/>
                <a:cs typeface="Calibri"/>
              </a:rPr>
              <a:t>(how </a:t>
            </a:r>
            <a:r>
              <a:rPr sz="2800" dirty="0">
                <a:latin typeface="Calibri"/>
                <a:cs typeface="Calibri"/>
              </a:rPr>
              <a:t>successful</a:t>
            </a:r>
            <a:r>
              <a:rPr sz="2800" spc="-45" dirty="0">
                <a:latin typeface="Calibri"/>
                <a:cs typeface="Calibri"/>
              </a:rPr>
              <a:t> </a:t>
            </a:r>
            <a:r>
              <a:rPr sz="2800" dirty="0">
                <a:latin typeface="Calibri"/>
                <a:cs typeface="Calibri"/>
              </a:rPr>
              <a:t>it</a:t>
            </a:r>
            <a:r>
              <a:rPr sz="2800" spc="-55" dirty="0">
                <a:latin typeface="Calibri"/>
                <a:cs typeface="Calibri"/>
              </a:rPr>
              <a:t> </a:t>
            </a:r>
            <a:r>
              <a:rPr sz="2800" spc="-25" dirty="0">
                <a:latin typeface="Calibri"/>
                <a:cs typeface="Calibri"/>
              </a:rPr>
              <a:t>is)</a:t>
            </a:r>
            <a:endParaRPr sz="2800">
              <a:latin typeface="Calibri"/>
              <a:cs typeface="Calibri"/>
            </a:endParaRPr>
          </a:p>
        </p:txBody>
      </p:sp>
    </p:spTree>
    <p:extLst>
      <p:ext uri="{BB962C8B-B14F-4D97-AF65-F5344CB8AC3E}">
        <p14:creationId xmlns:p14="http://schemas.microsoft.com/office/powerpoint/2010/main" val="729519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9B796-BA49-7FED-F43E-4C27A976B99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994B0E-8637-828E-5664-BC2EBB6A3C89}"/>
              </a:ext>
            </a:extLst>
          </p:cNvPr>
          <p:cNvSpPr txBox="1">
            <a:spLocks noGrp="1"/>
          </p:cNvSpPr>
          <p:nvPr>
            <p:ph type="title"/>
          </p:nvPr>
        </p:nvSpPr>
        <p:spPr>
          <a:prstGeom prst="rect">
            <a:avLst/>
          </a:prstGeom>
        </p:spPr>
        <p:txBody>
          <a:bodyPr vert="horz" wrap="square" lIns="0" tIns="348297" rIns="0" bIns="0" rtlCol="0">
            <a:spAutoFit/>
          </a:bodyPr>
          <a:lstStyle/>
          <a:p>
            <a:pPr marL="1024255">
              <a:lnSpc>
                <a:spcPct val="100000"/>
              </a:lnSpc>
              <a:spcBef>
                <a:spcPts val="105"/>
              </a:spcBef>
            </a:pPr>
            <a:r>
              <a:rPr spc="-10" dirty="0"/>
              <a:t>Utility-</a:t>
            </a:r>
            <a:r>
              <a:rPr dirty="0"/>
              <a:t>based</a:t>
            </a:r>
            <a:r>
              <a:rPr spc="-45" dirty="0"/>
              <a:t> </a:t>
            </a:r>
            <a:r>
              <a:rPr spc="-10" dirty="0"/>
              <a:t>agents…</a:t>
            </a:r>
          </a:p>
        </p:txBody>
      </p:sp>
      <p:pic>
        <p:nvPicPr>
          <p:cNvPr id="3" name="object 3">
            <a:extLst>
              <a:ext uri="{FF2B5EF4-FFF2-40B4-BE49-F238E27FC236}">
                <a16:creationId xmlns:a16="http://schemas.microsoft.com/office/drawing/2014/main" id="{DF41300D-F595-6CBF-FB2B-3298B87482C2}"/>
              </a:ext>
            </a:extLst>
          </p:cNvPr>
          <p:cNvPicPr/>
          <p:nvPr/>
        </p:nvPicPr>
        <p:blipFill>
          <a:blip r:embed="rId3" cstate="print"/>
          <a:stretch>
            <a:fillRect/>
          </a:stretch>
        </p:blipFill>
        <p:spPr>
          <a:xfrm>
            <a:off x="777239" y="2185415"/>
            <a:ext cx="216407" cy="227075"/>
          </a:xfrm>
          <a:prstGeom prst="rect">
            <a:avLst/>
          </a:prstGeom>
        </p:spPr>
      </p:pic>
      <p:sp>
        <p:nvSpPr>
          <p:cNvPr id="4" name="object 4">
            <a:extLst>
              <a:ext uri="{FF2B5EF4-FFF2-40B4-BE49-F238E27FC236}">
                <a16:creationId xmlns:a16="http://schemas.microsoft.com/office/drawing/2014/main" id="{CBBDCFD5-78E6-1FB9-07E2-9E1E64C172DA}"/>
              </a:ext>
            </a:extLst>
          </p:cNvPr>
          <p:cNvSpPr txBox="1"/>
          <p:nvPr/>
        </p:nvSpPr>
        <p:spPr>
          <a:xfrm>
            <a:off x="1105916" y="1887720"/>
            <a:ext cx="7038340" cy="3399790"/>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Utility</a:t>
            </a:r>
            <a:r>
              <a:rPr sz="3200" spc="-85" dirty="0">
                <a:latin typeface="Calibri"/>
                <a:cs typeface="Calibri"/>
              </a:rPr>
              <a:t> </a:t>
            </a:r>
            <a:r>
              <a:rPr sz="3200" dirty="0">
                <a:latin typeface="Calibri"/>
                <a:cs typeface="Calibri"/>
              </a:rPr>
              <a:t>has</a:t>
            </a:r>
            <a:r>
              <a:rPr sz="3200" spc="-85" dirty="0">
                <a:latin typeface="Calibri"/>
                <a:cs typeface="Calibri"/>
              </a:rPr>
              <a:t> </a:t>
            </a:r>
            <a:r>
              <a:rPr sz="3200" dirty="0">
                <a:latin typeface="Calibri"/>
                <a:cs typeface="Calibri"/>
              </a:rPr>
              <a:t>several</a:t>
            </a:r>
            <a:r>
              <a:rPr sz="3200" spc="-90" dirty="0">
                <a:latin typeface="Calibri"/>
                <a:cs typeface="Calibri"/>
              </a:rPr>
              <a:t> </a:t>
            </a:r>
            <a:r>
              <a:rPr sz="3200" spc="-10" dirty="0">
                <a:latin typeface="Calibri"/>
                <a:cs typeface="Calibri"/>
              </a:rPr>
              <a:t>advantages:</a:t>
            </a:r>
            <a:endParaRPr sz="3200">
              <a:latin typeface="Calibri"/>
              <a:cs typeface="Calibri"/>
            </a:endParaRPr>
          </a:p>
          <a:p>
            <a:pPr marL="412750" indent="-284480">
              <a:lnSpc>
                <a:spcPct val="100000"/>
              </a:lnSpc>
              <a:spcBef>
                <a:spcPts val="690"/>
              </a:spcBef>
              <a:buClr>
                <a:srgbClr val="C09E4A"/>
              </a:buClr>
              <a:buSzPct val="69642"/>
              <a:buFont typeface="Wingdings"/>
              <a:buChar char=""/>
              <a:tabLst>
                <a:tab pos="412750" algn="l"/>
              </a:tabLst>
            </a:pPr>
            <a:r>
              <a:rPr sz="2800" dirty="0">
                <a:latin typeface="Calibri"/>
                <a:cs typeface="Calibri"/>
              </a:rPr>
              <a:t>When</a:t>
            </a:r>
            <a:r>
              <a:rPr sz="2800" spc="-75" dirty="0">
                <a:latin typeface="Calibri"/>
                <a:cs typeface="Calibri"/>
              </a:rPr>
              <a:t> </a:t>
            </a:r>
            <a:r>
              <a:rPr sz="2800" dirty="0">
                <a:latin typeface="Calibri"/>
                <a:cs typeface="Calibri"/>
              </a:rPr>
              <a:t>there</a:t>
            </a:r>
            <a:r>
              <a:rPr sz="2800" spc="-85" dirty="0">
                <a:latin typeface="Calibri"/>
                <a:cs typeface="Calibri"/>
              </a:rPr>
              <a:t> </a:t>
            </a:r>
            <a:r>
              <a:rPr sz="2800" dirty="0">
                <a:latin typeface="Calibri"/>
                <a:cs typeface="Calibri"/>
              </a:rPr>
              <a:t>are</a:t>
            </a:r>
            <a:r>
              <a:rPr sz="2800" spc="-90" dirty="0">
                <a:latin typeface="Calibri"/>
                <a:cs typeface="Calibri"/>
              </a:rPr>
              <a:t> </a:t>
            </a:r>
            <a:r>
              <a:rPr sz="2800" dirty="0">
                <a:latin typeface="Calibri"/>
                <a:cs typeface="Calibri"/>
              </a:rPr>
              <a:t>conflicting</a:t>
            </a:r>
            <a:r>
              <a:rPr sz="2800" spc="-70" dirty="0">
                <a:latin typeface="Calibri"/>
                <a:cs typeface="Calibri"/>
              </a:rPr>
              <a:t> </a:t>
            </a:r>
            <a:r>
              <a:rPr sz="2800" spc="-10" dirty="0">
                <a:latin typeface="Calibri"/>
                <a:cs typeface="Calibri"/>
              </a:rPr>
              <a:t>goals,</a:t>
            </a:r>
            <a:endParaRPr sz="2800">
              <a:latin typeface="Calibri"/>
              <a:cs typeface="Calibri"/>
            </a:endParaRPr>
          </a:p>
          <a:p>
            <a:pPr marL="813435" lvl="1" indent="-227965">
              <a:lnSpc>
                <a:spcPct val="100000"/>
              </a:lnSpc>
              <a:spcBef>
                <a:spcPts val="600"/>
              </a:spcBef>
              <a:buClr>
                <a:srgbClr val="666699"/>
              </a:buClr>
              <a:buSzPct val="64583"/>
              <a:buFont typeface="Wingdings"/>
              <a:buChar char=""/>
              <a:tabLst>
                <a:tab pos="813435" algn="l"/>
              </a:tabLst>
            </a:pPr>
            <a:r>
              <a:rPr sz="2400" dirty="0">
                <a:latin typeface="Calibri"/>
                <a:cs typeface="Calibri"/>
              </a:rPr>
              <a:t>Only</a:t>
            </a:r>
            <a:r>
              <a:rPr sz="2400" spc="-30" dirty="0">
                <a:latin typeface="Calibri"/>
                <a:cs typeface="Calibri"/>
              </a:rPr>
              <a:t> </a:t>
            </a:r>
            <a:r>
              <a:rPr sz="2400" dirty="0">
                <a:latin typeface="Calibri"/>
                <a:cs typeface="Calibri"/>
              </a:rPr>
              <a:t>some</a:t>
            </a:r>
            <a:r>
              <a:rPr sz="2400" spc="-35" dirty="0">
                <a:latin typeface="Calibri"/>
                <a:cs typeface="Calibri"/>
              </a:rPr>
              <a:t> </a:t>
            </a:r>
            <a:r>
              <a:rPr sz="2400" dirty="0">
                <a:latin typeface="Calibri"/>
                <a:cs typeface="Calibri"/>
              </a:rPr>
              <a:t>of</a:t>
            </a:r>
            <a:r>
              <a:rPr sz="2400" spc="-20"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goals</a:t>
            </a:r>
            <a:r>
              <a:rPr sz="2400" spc="-35" dirty="0">
                <a:latin typeface="Calibri"/>
                <a:cs typeface="Calibri"/>
              </a:rPr>
              <a:t> </a:t>
            </a:r>
            <a:r>
              <a:rPr sz="2400" dirty="0">
                <a:latin typeface="Calibri"/>
                <a:cs typeface="Calibri"/>
              </a:rPr>
              <a:t>but</a:t>
            </a:r>
            <a:r>
              <a:rPr sz="2400" spc="-40" dirty="0">
                <a:latin typeface="Calibri"/>
                <a:cs typeface="Calibri"/>
              </a:rPr>
              <a:t> </a:t>
            </a:r>
            <a:r>
              <a:rPr sz="2400" dirty="0">
                <a:latin typeface="Calibri"/>
                <a:cs typeface="Calibri"/>
              </a:rPr>
              <a:t>not</a:t>
            </a:r>
            <a:r>
              <a:rPr sz="2400" spc="-30" dirty="0">
                <a:latin typeface="Calibri"/>
                <a:cs typeface="Calibri"/>
              </a:rPr>
              <a:t> </a:t>
            </a:r>
            <a:r>
              <a:rPr sz="2400" dirty="0">
                <a:latin typeface="Calibri"/>
                <a:cs typeface="Calibri"/>
              </a:rPr>
              <a:t>all</a:t>
            </a:r>
            <a:r>
              <a:rPr sz="2400" spc="-30" dirty="0">
                <a:latin typeface="Calibri"/>
                <a:cs typeface="Calibri"/>
              </a:rPr>
              <a:t> </a:t>
            </a:r>
            <a:r>
              <a:rPr sz="2400" dirty="0">
                <a:latin typeface="Calibri"/>
                <a:cs typeface="Calibri"/>
              </a:rPr>
              <a:t>can</a:t>
            </a:r>
            <a:r>
              <a:rPr sz="2400" spc="-45" dirty="0">
                <a:latin typeface="Calibri"/>
                <a:cs typeface="Calibri"/>
              </a:rPr>
              <a:t> </a:t>
            </a:r>
            <a:r>
              <a:rPr sz="2400" dirty="0">
                <a:latin typeface="Calibri"/>
                <a:cs typeface="Calibri"/>
              </a:rPr>
              <a:t>be</a:t>
            </a:r>
            <a:r>
              <a:rPr sz="2400" spc="-25" dirty="0">
                <a:latin typeface="Calibri"/>
                <a:cs typeface="Calibri"/>
              </a:rPr>
              <a:t> </a:t>
            </a:r>
            <a:r>
              <a:rPr sz="2400" spc="-10" dirty="0">
                <a:latin typeface="Calibri"/>
                <a:cs typeface="Calibri"/>
              </a:rPr>
              <a:t>achieved</a:t>
            </a:r>
            <a:endParaRPr sz="2400">
              <a:latin typeface="Calibri"/>
              <a:cs typeface="Calibri"/>
            </a:endParaRPr>
          </a:p>
          <a:p>
            <a:pPr marL="813435" lvl="1" indent="-227965">
              <a:lnSpc>
                <a:spcPct val="100000"/>
              </a:lnSpc>
              <a:spcBef>
                <a:spcPts val="580"/>
              </a:spcBef>
              <a:buClr>
                <a:srgbClr val="666699"/>
              </a:buClr>
              <a:buSzPct val="64583"/>
              <a:buFont typeface="Wingdings"/>
              <a:buChar char=""/>
              <a:tabLst>
                <a:tab pos="813435" algn="l"/>
              </a:tabLst>
            </a:pPr>
            <a:r>
              <a:rPr sz="2400" dirty="0">
                <a:latin typeface="Calibri"/>
                <a:cs typeface="Calibri"/>
              </a:rPr>
              <a:t>utility</a:t>
            </a:r>
            <a:r>
              <a:rPr sz="2400" spc="-55" dirty="0">
                <a:latin typeface="Calibri"/>
                <a:cs typeface="Calibri"/>
              </a:rPr>
              <a:t> </a:t>
            </a:r>
            <a:r>
              <a:rPr sz="2400" dirty="0">
                <a:latin typeface="Calibri"/>
                <a:cs typeface="Calibri"/>
              </a:rPr>
              <a:t>describes</a:t>
            </a:r>
            <a:r>
              <a:rPr sz="2400" spc="-4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appropriate</a:t>
            </a:r>
            <a:r>
              <a:rPr sz="2400" spc="-40" dirty="0">
                <a:latin typeface="Calibri"/>
                <a:cs typeface="Calibri"/>
              </a:rPr>
              <a:t> </a:t>
            </a:r>
            <a:r>
              <a:rPr sz="2400" spc="-25" dirty="0">
                <a:latin typeface="Calibri"/>
                <a:cs typeface="Calibri"/>
              </a:rPr>
              <a:t>trade-off</a:t>
            </a:r>
            <a:endParaRPr sz="2400">
              <a:latin typeface="Calibri"/>
              <a:cs typeface="Calibri"/>
            </a:endParaRPr>
          </a:p>
          <a:p>
            <a:pPr marL="412750" indent="-284480">
              <a:lnSpc>
                <a:spcPct val="100000"/>
              </a:lnSpc>
              <a:spcBef>
                <a:spcPts val="640"/>
              </a:spcBef>
              <a:buClr>
                <a:srgbClr val="C09E4A"/>
              </a:buClr>
              <a:buSzPct val="69642"/>
              <a:buFont typeface="Wingdings"/>
              <a:buChar char=""/>
              <a:tabLst>
                <a:tab pos="412750" algn="l"/>
              </a:tabLst>
            </a:pPr>
            <a:r>
              <a:rPr sz="2800" dirty="0">
                <a:latin typeface="Calibri"/>
                <a:cs typeface="Calibri"/>
              </a:rPr>
              <a:t>When</a:t>
            </a:r>
            <a:r>
              <a:rPr sz="2800" spc="-65" dirty="0">
                <a:latin typeface="Calibri"/>
                <a:cs typeface="Calibri"/>
              </a:rPr>
              <a:t> </a:t>
            </a:r>
            <a:r>
              <a:rPr sz="2800" dirty="0">
                <a:latin typeface="Calibri"/>
                <a:cs typeface="Calibri"/>
              </a:rPr>
              <a:t>there</a:t>
            </a:r>
            <a:r>
              <a:rPr sz="2800" spc="-80" dirty="0">
                <a:latin typeface="Calibri"/>
                <a:cs typeface="Calibri"/>
              </a:rPr>
              <a:t> </a:t>
            </a:r>
            <a:r>
              <a:rPr sz="2800" dirty="0">
                <a:latin typeface="Calibri"/>
                <a:cs typeface="Calibri"/>
              </a:rPr>
              <a:t>are</a:t>
            </a:r>
            <a:r>
              <a:rPr sz="2800" spc="-75" dirty="0">
                <a:latin typeface="Calibri"/>
                <a:cs typeface="Calibri"/>
              </a:rPr>
              <a:t> </a:t>
            </a:r>
            <a:r>
              <a:rPr sz="2800" dirty="0">
                <a:latin typeface="Calibri"/>
                <a:cs typeface="Calibri"/>
              </a:rPr>
              <a:t>several</a:t>
            </a:r>
            <a:r>
              <a:rPr sz="2800" spc="-85" dirty="0">
                <a:latin typeface="Calibri"/>
                <a:cs typeface="Calibri"/>
              </a:rPr>
              <a:t> </a:t>
            </a:r>
            <a:r>
              <a:rPr sz="2800" spc="-10" dirty="0">
                <a:latin typeface="Calibri"/>
                <a:cs typeface="Calibri"/>
              </a:rPr>
              <a:t>goals</a:t>
            </a:r>
            <a:endParaRPr sz="2800">
              <a:latin typeface="Calibri"/>
              <a:cs typeface="Calibri"/>
            </a:endParaRPr>
          </a:p>
          <a:p>
            <a:pPr marL="813435" lvl="1" indent="-227965">
              <a:lnSpc>
                <a:spcPct val="100000"/>
              </a:lnSpc>
              <a:spcBef>
                <a:spcPts val="605"/>
              </a:spcBef>
              <a:buClr>
                <a:srgbClr val="666699"/>
              </a:buClr>
              <a:buSzPct val="64583"/>
              <a:buFont typeface="Wingdings"/>
              <a:buChar char=""/>
              <a:tabLst>
                <a:tab pos="813435" algn="l"/>
              </a:tabLst>
            </a:pPr>
            <a:r>
              <a:rPr sz="2400" dirty="0">
                <a:latin typeface="Calibri"/>
                <a:cs typeface="Calibri"/>
              </a:rPr>
              <a:t>None</a:t>
            </a:r>
            <a:r>
              <a:rPr sz="2400" spc="-6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them</a:t>
            </a:r>
            <a:r>
              <a:rPr sz="2400" spc="-70" dirty="0">
                <a:latin typeface="Calibri"/>
                <a:cs typeface="Calibri"/>
              </a:rPr>
              <a:t> </a:t>
            </a:r>
            <a:r>
              <a:rPr sz="2400" dirty="0">
                <a:latin typeface="Calibri"/>
                <a:cs typeface="Calibri"/>
              </a:rPr>
              <a:t>are</a:t>
            </a:r>
            <a:r>
              <a:rPr sz="2400" spc="-55" dirty="0">
                <a:latin typeface="Calibri"/>
                <a:cs typeface="Calibri"/>
              </a:rPr>
              <a:t> </a:t>
            </a:r>
            <a:r>
              <a:rPr sz="2400" dirty="0">
                <a:latin typeface="Calibri"/>
                <a:cs typeface="Calibri"/>
              </a:rPr>
              <a:t>achieved</a:t>
            </a:r>
            <a:r>
              <a:rPr sz="2400" spc="-60" dirty="0">
                <a:latin typeface="Calibri"/>
                <a:cs typeface="Calibri"/>
              </a:rPr>
              <a:t> </a:t>
            </a:r>
            <a:r>
              <a:rPr sz="2400" b="1" u="sng" spc="-10" dirty="0">
                <a:uFill>
                  <a:solidFill>
                    <a:srgbClr val="000000"/>
                  </a:solidFill>
                </a:uFill>
                <a:latin typeface="Calibri"/>
                <a:cs typeface="Calibri"/>
              </a:rPr>
              <a:t>certainly</a:t>
            </a:r>
            <a:endParaRPr sz="2400">
              <a:latin typeface="Calibri"/>
              <a:cs typeface="Calibri"/>
            </a:endParaRPr>
          </a:p>
          <a:p>
            <a:pPr marL="813435" lvl="1" indent="-227965">
              <a:lnSpc>
                <a:spcPct val="100000"/>
              </a:lnSpc>
              <a:spcBef>
                <a:spcPts val="575"/>
              </a:spcBef>
              <a:buClr>
                <a:srgbClr val="666699"/>
              </a:buClr>
              <a:buSzPct val="64583"/>
              <a:buFont typeface="Wingdings"/>
              <a:buChar char=""/>
              <a:tabLst>
                <a:tab pos="813435" algn="l"/>
              </a:tabLst>
            </a:pPr>
            <a:r>
              <a:rPr sz="2400" dirty="0">
                <a:latin typeface="Calibri"/>
                <a:cs typeface="Calibri"/>
              </a:rPr>
              <a:t>utility</a:t>
            </a:r>
            <a:r>
              <a:rPr sz="2400" spc="-80" dirty="0">
                <a:latin typeface="Calibri"/>
                <a:cs typeface="Calibri"/>
              </a:rPr>
              <a:t> </a:t>
            </a:r>
            <a:r>
              <a:rPr sz="2400" dirty="0">
                <a:latin typeface="Calibri"/>
                <a:cs typeface="Calibri"/>
              </a:rPr>
              <a:t>provides</a:t>
            </a:r>
            <a:r>
              <a:rPr sz="2400" spc="-5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way</a:t>
            </a:r>
            <a:r>
              <a:rPr sz="2400" spc="-6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decision-making</a:t>
            </a:r>
            <a:endParaRPr sz="2400">
              <a:latin typeface="Calibri"/>
              <a:cs typeface="Calibri"/>
            </a:endParaRPr>
          </a:p>
        </p:txBody>
      </p:sp>
    </p:spTree>
    <p:extLst>
      <p:ext uri="{BB962C8B-B14F-4D97-AF65-F5344CB8AC3E}">
        <p14:creationId xmlns:p14="http://schemas.microsoft.com/office/powerpoint/2010/main" val="486843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9535D-2AAE-4F9A-60D8-635C831481A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6924B0C-1F41-51F8-90A1-75BDA6A0F79A}"/>
              </a:ext>
            </a:extLst>
          </p:cNvPr>
          <p:cNvSpPr txBox="1">
            <a:spLocks noGrp="1"/>
          </p:cNvSpPr>
          <p:nvPr>
            <p:ph type="title"/>
          </p:nvPr>
        </p:nvSpPr>
        <p:spPr>
          <a:prstGeom prst="rect">
            <a:avLst/>
          </a:prstGeom>
        </p:spPr>
        <p:txBody>
          <a:bodyPr vert="horz" wrap="square" lIns="0" tIns="354647" rIns="0" bIns="0" rtlCol="0">
            <a:spAutoFit/>
          </a:bodyPr>
          <a:lstStyle/>
          <a:p>
            <a:pPr marL="896619">
              <a:lnSpc>
                <a:spcPct val="100000"/>
              </a:lnSpc>
              <a:spcBef>
                <a:spcPts val="105"/>
              </a:spcBef>
            </a:pPr>
            <a:r>
              <a:rPr spc="-10" dirty="0"/>
              <a:t>Incorporating</a:t>
            </a:r>
            <a:r>
              <a:rPr spc="-225" dirty="0"/>
              <a:t> </a:t>
            </a:r>
            <a:r>
              <a:rPr spc="-10" dirty="0"/>
              <a:t>Performance</a:t>
            </a:r>
          </a:p>
        </p:txBody>
      </p:sp>
      <p:sp>
        <p:nvSpPr>
          <p:cNvPr id="4" name="object 4">
            <a:extLst>
              <a:ext uri="{FF2B5EF4-FFF2-40B4-BE49-F238E27FC236}">
                <a16:creationId xmlns:a16="http://schemas.microsoft.com/office/drawing/2014/main" id="{D551D5E4-A369-3459-7B3C-BA8DC7139026}"/>
              </a:ext>
            </a:extLst>
          </p:cNvPr>
          <p:cNvSpPr txBox="1"/>
          <p:nvPr/>
        </p:nvSpPr>
        <p:spPr>
          <a:xfrm>
            <a:off x="1261304" y="1976056"/>
            <a:ext cx="7291070" cy="3405504"/>
          </a:xfrm>
          <a:prstGeom prst="rect">
            <a:avLst/>
          </a:prstGeom>
        </p:spPr>
        <p:txBody>
          <a:bodyPr vert="horz" wrap="square" lIns="0" tIns="67945" rIns="0" bIns="0" rtlCol="0">
            <a:spAutoFit/>
          </a:bodyPr>
          <a:lstStyle/>
          <a:p>
            <a:pPr marL="355600" marR="147955" indent="-342900">
              <a:lnSpc>
                <a:spcPts val="3460"/>
              </a:lnSpc>
              <a:spcBef>
                <a:spcPts val="535"/>
              </a:spcBef>
              <a:buFont typeface="Arial"/>
              <a:buChar char="•"/>
              <a:tabLst>
                <a:tab pos="355600" algn="l"/>
              </a:tabLst>
            </a:pPr>
            <a:r>
              <a:rPr sz="3200" dirty="0">
                <a:latin typeface="Calibri"/>
                <a:cs typeface="Calibri"/>
              </a:rPr>
              <a:t>May</a:t>
            </a:r>
            <a:r>
              <a:rPr sz="3200" spc="-100" dirty="0">
                <a:latin typeface="Calibri"/>
                <a:cs typeface="Calibri"/>
              </a:rPr>
              <a:t> </a:t>
            </a:r>
            <a:r>
              <a:rPr sz="3200" dirty="0">
                <a:latin typeface="Calibri"/>
                <a:cs typeface="Calibri"/>
              </a:rPr>
              <a:t>have</a:t>
            </a:r>
            <a:r>
              <a:rPr sz="3200" spc="-114" dirty="0">
                <a:latin typeface="Calibri"/>
                <a:cs typeface="Calibri"/>
              </a:rPr>
              <a:t> </a:t>
            </a:r>
            <a:r>
              <a:rPr sz="3200" dirty="0">
                <a:latin typeface="Calibri"/>
                <a:cs typeface="Calibri"/>
              </a:rPr>
              <a:t>multiple</a:t>
            </a:r>
            <a:r>
              <a:rPr sz="3200" spc="-80" dirty="0">
                <a:latin typeface="Calibri"/>
                <a:cs typeface="Calibri"/>
              </a:rPr>
              <a:t> </a:t>
            </a:r>
            <a:r>
              <a:rPr sz="3200" dirty="0">
                <a:latin typeface="Calibri"/>
                <a:cs typeface="Calibri"/>
              </a:rPr>
              <a:t>action</a:t>
            </a:r>
            <a:r>
              <a:rPr sz="3200" spc="-95" dirty="0">
                <a:latin typeface="Calibri"/>
                <a:cs typeface="Calibri"/>
              </a:rPr>
              <a:t> </a:t>
            </a:r>
            <a:r>
              <a:rPr sz="3200" dirty="0">
                <a:latin typeface="Calibri"/>
                <a:cs typeface="Calibri"/>
              </a:rPr>
              <a:t>sequences</a:t>
            </a:r>
            <a:r>
              <a:rPr sz="3200" spc="-114" dirty="0">
                <a:latin typeface="Calibri"/>
                <a:cs typeface="Calibri"/>
              </a:rPr>
              <a:t> </a:t>
            </a:r>
            <a:r>
              <a:rPr sz="3200" spc="-20" dirty="0">
                <a:latin typeface="Calibri"/>
                <a:cs typeface="Calibri"/>
              </a:rPr>
              <a:t>that </a:t>
            </a:r>
            <a:r>
              <a:rPr sz="3200" dirty="0">
                <a:latin typeface="Calibri"/>
                <a:cs typeface="Calibri"/>
              </a:rPr>
              <a:t>arrive</a:t>
            </a:r>
            <a:r>
              <a:rPr sz="3200" spc="-55" dirty="0">
                <a:latin typeface="Calibri"/>
                <a:cs typeface="Calibri"/>
              </a:rPr>
              <a:t> </a:t>
            </a:r>
            <a:r>
              <a:rPr sz="3200" dirty="0">
                <a:latin typeface="Calibri"/>
                <a:cs typeface="Calibri"/>
              </a:rPr>
              <a:t>at</a:t>
            </a:r>
            <a:r>
              <a:rPr sz="3200" spc="-45" dirty="0">
                <a:latin typeface="Calibri"/>
                <a:cs typeface="Calibri"/>
              </a:rPr>
              <a:t> </a:t>
            </a:r>
            <a:r>
              <a:rPr sz="3200" dirty="0">
                <a:latin typeface="Calibri"/>
                <a:cs typeface="Calibri"/>
              </a:rPr>
              <a:t>a</a:t>
            </a:r>
            <a:r>
              <a:rPr sz="3200" spc="-50" dirty="0">
                <a:latin typeface="Calibri"/>
                <a:cs typeface="Calibri"/>
              </a:rPr>
              <a:t> </a:t>
            </a:r>
            <a:r>
              <a:rPr sz="3200" spc="-20" dirty="0">
                <a:latin typeface="Calibri"/>
                <a:cs typeface="Calibri"/>
              </a:rPr>
              <a:t>goal</a:t>
            </a:r>
            <a:endParaRPr sz="3200">
              <a:latin typeface="Calibri"/>
              <a:cs typeface="Calibri"/>
            </a:endParaRPr>
          </a:p>
          <a:p>
            <a:pPr marL="355600" marR="5080" indent="-343535">
              <a:lnSpc>
                <a:spcPts val="3460"/>
              </a:lnSpc>
              <a:spcBef>
                <a:spcPts val="760"/>
              </a:spcBef>
              <a:buFont typeface="Arial"/>
              <a:buChar char="•"/>
              <a:tabLst>
                <a:tab pos="355600" algn="l"/>
              </a:tabLst>
            </a:pPr>
            <a:r>
              <a:rPr sz="3200" dirty="0">
                <a:latin typeface="Calibri"/>
                <a:cs typeface="Calibri"/>
              </a:rPr>
              <a:t>Choose</a:t>
            </a:r>
            <a:r>
              <a:rPr sz="3200" spc="-75" dirty="0">
                <a:latin typeface="Calibri"/>
                <a:cs typeface="Calibri"/>
              </a:rPr>
              <a:t> </a:t>
            </a:r>
            <a:r>
              <a:rPr sz="3200" dirty="0">
                <a:latin typeface="Calibri"/>
                <a:cs typeface="Calibri"/>
              </a:rPr>
              <a:t>action</a:t>
            </a:r>
            <a:r>
              <a:rPr sz="3200" spc="-60" dirty="0">
                <a:latin typeface="Calibri"/>
                <a:cs typeface="Calibri"/>
              </a:rPr>
              <a:t> </a:t>
            </a:r>
            <a:r>
              <a:rPr sz="3200" dirty="0">
                <a:latin typeface="Calibri"/>
                <a:cs typeface="Calibri"/>
              </a:rPr>
              <a:t>that</a:t>
            </a:r>
            <a:r>
              <a:rPr sz="3200" spc="-55" dirty="0">
                <a:latin typeface="Calibri"/>
                <a:cs typeface="Calibri"/>
              </a:rPr>
              <a:t> </a:t>
            </a:r>
            <a:r>
              <a:rPr sz="3200" dirty="0">
                <a:latin typeface="Calibri"/>
                <a:cs typeface="Calibri"/>
              </a:rPr>
              <a:t>provides</a:t>
            </a:r>
            <a:r>
              <a:rPr sz="3200" spc="-80" dirty="0">
                <a:latin typeface="Calibri"/>
                <a:cs typeface="Calibri"/>
              </a:rPr>
              <a:t> </a:t>
            </a:r>
            <a:r>
              <a:rPr sz="3200" dirty="0">
                <a:latin typeface="Calibri"/>
                <a:cs typeface="Calibri"/>
              </a:rPr>
              <a:t>the</a:t>
            </a:r>
            <a:r>
              <a:rPr sz="3200" spc="-60" dirty="0">
                <a:latin typeface="Calibri"/>
                <a:cs typeface="Calibri"/>
              </a:rPr>
              <a:t> </a:t>
            </a:r>
            <a:r>
              <a:rPr sz="3200" dirty="0">
                <a:latin typeface="Calibri"/>
                <a:cs typeface="Calibri"/>
              </a:rPr>
              <a:t>best</a:t>
            </a:r>
            <a:r>
              <a:rPr sz="3200" spc="-70" dirty="0">
                <a:latin typeface="Calibri"/>
                <a:cs typeface="Calibri"/>
              </a:rPr>
              <a:t> </a:t>
            </a:r>
            <a:r>
              <a:rPr sz="3200" spc="-10" dirty="0">
                <a:latin typeface="Calibri"/>
                <a:cs typeface="Calibri"/>
              </a:rPr>
              <a:t>level </a:t>
            </a:r>
            <a:r>
              <a:rPr sz="3200" dirty="0">
                <a:latin typeface="Calibri"/>
                <a:cs typeface="Calibri"/>
              </a:rPr>
              <a:t>of</a:t>
            </a:r>
            <a:r>
              <a:rPr sz="3200" spc="-75" dirty="0">
                <a:latin typeface="Calibri"/>
                <a:cs typeface="Calibri"/>
              </a:rPr>
              <a:t> </a:t>
            </a:r>
            <a:r>
              <a:rPr sz="3200" dirty="0">
                <a:latin typeface="Calibri"/>
                <a:cs typeface="Calibri"/>
              </a:rPr>
              <a:t>“happiness”</a:t>
            </a:r>
            <a:r>
              <a:rPr sz="3200" spc="-50" dirty="0">
                <a:latin typeface="Calibri"/>
                <a:cs typeface="Calibri"/>
              </a:rPr>
              <a:t> </a:t>
            </a:r>
            <a:r>
              <a:rPr sz="3200" dirty="0">
                <a:latin typeface="Calibri"/>
                <a:cs typeface="Calibri"/>
              </a:rPr>
              <a:t>for</a:t>
            </a:r>
            <a:r>
              <a:rPr sz="3200" spc="-60" dirty="0">
                <a:latin typeface="Calibri"/>
                <a:cs typeface="Calibri"/>
              </a:rPr>
              <a:t> </a:t>
            </a:r>
            <a:r>
              <a:rPr sz="3200" dirty="0">
                <a:latin typeface="Calibri"/>
                <a:cs typeface="Calibri"/>
              </a:rPr>
              <a:t>the</a:t>
            </a:r>
            <a:r>
              <a:rPr sz="3200" spc="-60" dirty="0">
                <a:latin typeface="Calibri"/>
                <a:cs typeface="Calibri"/>
              </a:rPr>
              <a:t> </a:t>
            </a:r>
            <a:r>
              <a:rPr sz="3200" spc="-10" dirty="0">
                <a:latin typeface="Calibri"/>
                <a:cs typeface="Calibri"/>
              </a:rPr>
              <a:t>agent</a:t>
            </a:r>
            <a:endParaRPr sz="3200">
              <a:latin typeface="Calibri"/>
              <a:cs typeface="Calibri"/>
            </a:endParaRPr>
          </a:p>
          <a:p>
            <a:pPr marL="355600" indent="-342900">
              <a:lnSpc>
                <a:spcPct val="100000"/>
              </a:lnSpc>
              <a:spcBef>
                <a:spcPts val="325"/>
              </a:spcBef>
              <a:buFont typeface="Arial"/>
              <a:buChar char="•"/>
              <a:tabLst>
                <a:tab pos="355600" algn="l"/>
              </a:tabLst>
            </a:pPr>
            <a:r>
              <a:rPr sz="3200" dirty="0">
                <a:latin typeface="Calibri"/>
                <a:cs typeface="Calibri"/>
              </a:rPr>
              <a:t>Utility</a:t>
            </a:r>
            <a:r>
              <a:rPr sz="3200" spc="-60" dirty="0">
                <a:latin typeface="Calibri"/>
                <a:cs typeface="Calibri"/>
              </a:rPr>
              <a:t> </a:t>
            </a:r>
            <a:r>
              <a:rPr sz="3200" dirty="0">
                <a:latin typeface="Calibri"/>
                <a:cs typeface="Calibri"/>
              </a:rPr>
              <a:t>function</a:t>
            </a:r>
            <a:r>
              <a:rPr sz="3200" spc="-70" dirty="0">
                <a:latin typeface="Calibri"/>
                <a:cs typeface="Calibri"/>
              </a:rPr>
              <a:t> </a:t>
            </a:r>
            <a:r>
              <a:rPr sz="3200" dirty="0">
                <a:latin typeface="Calibri"/>
                <a:cs typeface="Calibri"/>
              </a:rPr>
              <a:t>maps</a:t>
            </a:r>
            <a:r>
              <a:rPr sz="3200" spc="-70" dirty="0">
                <a:latin typeface="Calibri"/>
                <a:cs typeface="Calibri"/>
              </a:rPr>
              <a:t> </a:t>
            </a:r>
            <a:r>
              <a:rPr sz="3200" spc="-10" dirty="0">
                <a:latin typeface="Calibri"/>
                <a:cs typeface="Calibri"/>
              </a:rPr>
              <a:t>states</a:t>
            </a:r>
            <a:r>
              <a:rPr sz="3200" spc="-80" dirty="0">
                <a:latin typeface="Calibri"/>
                <a:cs typeface="Calibri"/>
              </a:rPr>
              <a:t> </a:t>
            </a:r>
            <a:r>
              <a:rPr sz="3200" dirty="0">
                <a:latin typeface="Calibri"/>
                <a:cs typeface="Calibri"/>
              </a:rPr>
              <a:t>to</a:t>
            </a:r>
            <a:r>
              <a:rPr sz="3200" spc="-80" dirty="0">
                <a:latin typeface="Calibri"/>
                <a:cs typeface="Calibri"/>
              </a:rPr>
              <a:t> </a:t>
            </a:r>
            <a:r>
              <a:rPr sz="3200" dirty="0">
                <a:latin typeface="Calibri"/>
                <a:cs typeface="Calibri"/>
              </a:rPr>
              <a:t>a</a:t>
            </a:r>
            <a:r>
              <a:rPr sz="3200" spc="-85" dirty="0">
                <a:latin typeface="Calibri"/>
                <a:cs typeface="Calibri"/>
              </a:rPr>
              <a:t> </a:t>
            </a:r>
            <a:r>
              <a:rPr sz="3200" spc="-10" dirty="0">
                <a:latin typeface="Calibri"/>
                <a:cs typeface="Calibri"/>
              </a:rPr>
              <a:t>measure</a:t>
            </a:r>
            <a:endParaRPr sz="3200">
              <a:latin typeface="Calibri"/>
              <a:cs typeface="Calibri"/>
            </a:endParaRPr>
          </a:p>
          <a:p>
            <a:pPr marL="755015" lvl="1" indent="-285115">
              <a:lnSpc>
                <a:spcPct val="100000"/>
              </a:lnSpc>
              <a:spcBef>
                <a:spcPts val="355"/>
              </a:spcBef>
              <a:buFont typeface="Arial"/>
              <a:buChar char="–"/>
              <a:tabLst>
                <a:tab pos="755015" algn="l"/>
              </a:tabLst>
            </a:pPr>
            <a:r>
              <a:rPr sz="2800" dirty="0">
                <a:latin typeface="Calibri"/>
                <a:cs typeface="Calibri"/>
              </a:rPr>
              <a:t>May</a:t>
            </a:r>
            <a:r>
              <a:rPr sz="2800" spc="-90" dirty="0">
                <a:latin typeface="Calibri"/>
                <a:cs typeface="Calibri"/>
              </a:rPr>
              <a:t> </a:t>
            </a:r>
            <a:r>
              <a:rPr sz="2800" dirty="0">
                <a:latin typeface="Calibri"/>
                <a:cs typeface="Calibri"/>
              </a:rPr>
              <a:t>include</a:t>
            </a:r>
            <a:r>
              <a:rPr sz="2800" spc="-55" dirty="0">
                <a:latin typeface="Calibri"/>
                <a:cs typeface="Calibri"/>
              </a:rPr>
              <a:t> </a:t>
            </a:r>
            <a:r>
              <a:rPr sz="2800" spc="-10" dirty="0">
                <a:latin typeface="Calibri"/>
                <a:cs typeface="Calibri"/>
              </a:rPr>
              <a:t>tradeoffs</a:t>
            </a:r>
            <a:endParaRPr sz="2800">
              <a:latin typeface="Calibri"/>
              <a:cs typeface="Calibri"/>
            </a:endParaRPr>
          </a:p>
          <a:p>
            <a:pPr marL="755015" lvl="1" indent="-285115">
              <a:lnSpc>
                <a:spcPct val="100000"/>
              </a:lnSpc>
              <a:spcBef>
                <a:spcPts val="335"/>
              </a:spcBef>
              <a:buFont typeface="Arial"/>
              <a:buChar char="–"/>
              <a:tabLst>
                <a:tab pos="755015" algn="l"/>
              </a:tabLst>
            </a:pPr>
            <a:r>
              <a:rPr sz="2800" dirty="0">
                <a:latin typeface="Calibri"/>
                <a:cs typeface="Calibri"/>
              </a:rPr>
              <a:t>May</a:t>
            </a:r>
            <a:r>
              <a:rPr sz="2800" spc="-135" dirty="0">
                <a:latin typeface="Calibri"/>
                <a:cs typeface="Calibri"/>
              </a:rPr>
              <a:t> </a:t>
            </a:r>
            <a:r>
              <a:rPr sz="2800" spc="-10" dirty="0">
                <a:latin typeface="Calibri"/>
                <a:cs typeface="Calibri"/>
              </a:rPr>
              <a:t>incorporate</a:t>
            </a:r>
            <a:r>
              <a:rPr sz="2800" spc="-110" dirty="0">
                <a:latin typeface="Calibri"/>
                <a:cs typeface="Calibri"/>
              </a:rPr>
              <a:t> </a:t>
            </a:r>
            <a:r>
              <a:rPr sz="2800" dirty="0">
                <a:latin typeface="Calibri"/>
                <a:cs typeface="Calibri"/>
              </a:rPr>
              <a:t>likelihood</a:t>
            </a:r>
            <a:r>
              <a:rPr sz="2800" spc="-120" dirty="0">
                <a:latin typeface="Calibri"/>
                <a:cs typeface="Calibri"/>
              </a:rPr>
              <a:t> </a:t>
            </a:r>
            <a:r>
              <a:rPr sz="2800" spc="-10" dirty="0">
                <a:latin typeface="Calibri"/>
                <a:cs typeface="Calibri"/>
              </a:rPr>
              <a:t>measures</a:t>
            </a:r>
            <a:endParaRPr sz="2800">
              <a:latin typeface="Calibri"/>
              <a:cs typeface="Calibri"/>
            </a:endParaRPr>
          </a:p>
        </p:txBody>
      </p:sp>
    </p:spTree>
    <p:extLst>
      <p:ext uri="{BB962C8B-B14F-4D97-AF65-F5344CB8AC3E}">
        <p14:creationId xmlns:p14="http://schemas.microsoft.com/office/powerpoint/2010/main" val="488643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AB8C-9179-3B6D-3BCD-9151F919341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155712-953D-5AEA-72F9-0CC0448DDC07}"/>
              </a:ext>
            </a:extLst>
          </p:cNvPr>
          <p:cNvSpPr txBox="1">
            <a:spLocks noGrp="1"/>
          </p:cNvSpPr>
          <p:nvPr>
            <p:ph type="title"/>
          </p:nvPr>
        </p:nvSpPr>
        <p:spPr>
          <a:prstGeom prst="rect">
            <a:avLst/>
          </a:prstGeom>
        </p:spPr>
        <p:txBody>
          <a:bodyPr vert="horz" wrap="square" lIns="0" tIns="348297" rIns="0" bIns="0" rtlCol="0">
            <a:spAutoFit/>
          </a:bodyPr>
          <a:lstStyle/>
          <a:p>
            <a:pPr marL="1466215">
              <a:lnSpc>
                <a:spcPct val="100000"/>
              </a:lnSpc>
              <a:spcBef>
                <a:spcPts val="105"/>
              </a:spcBef>
            </a:pPr>
            <a:r>
              <a:rPr dirty="0"/>
              <a:t>Learning</a:t>
            </a:r>
            <a:r>
              <a:rPr spc="-135" dirty="0"/>
              <a:t> </a:t>
            </a:r>
            <a:r>
              <a:rPr spc="-10" dirty="0"/>
              <a:t>Agents…</a:t>
            </a:r>
          </a:p>
        </p:txBody>
      </p:sp>
      <p:grpSp>
        <p:nvGrpSpPr>
          <p:cNvPr id="3" name="object 3">
            <a:extLst>
              <a:ext uri="{FF2B5EF4-FFF2-40B4-BE49-F238E27FC236}">
                <a16:creationId xmlns:a16="http://schemas.microsoft.com/office/drawing/2014/main" id="{05AA8605-DFE0-AB3E-70BB-7BA8EDCE3A71}"/>
              </a:ext>
            </a:extLst>
          </p:cNvPr>
          <p:cNvGrpSpPr/>
          <p:nvPr/>
        </p:nvGrpSpPr>
        <p:grpSpPr>
          <a:xfrm>
            <a:off x="777239" y="1908047"/>
            <a:ext cx="216535" cy="3528060"/>
            <a:chOff x="777239" y="1908047"/>
            <a:chExt cx="216535" cy="3528060"/>
          </a:xfrm>
        </p:grpSpPr>
        <p:pic>
          <p:nvPicPr>
            <p:cNvPr id="4" name="object 4">
              <a:extLst>
                <a:ext uri="{FF2B5EF4-FFF2-40B4-BE49-F238E27FC236}">
                  <a16:creationId xmlns:a16="http://schemas.microsoft.com/office/drawing/2014/main" id="{759EA4F0-D4E2-42FF-1FD1-8B297AE36D91}"/>
                </a:ext>
              </a:extLst>
            </p:cNvPr>
            <p:cNvPicPr/>
            <p:nvPr/>
          </p:nvPicPr>
          <p:blipFill>
            <a:blip r:embed="rId3" cstate="print"/>
            <a:stretch>
              <a:fillRect/>
            </a:stretch>
          </p:blipFill>
          <p:spPr>
            <a:xfrm>
              <a:off x="777239" y="1908047"/>
              <a:ext cx="216407" cy="227075"/>
            </a:xfrm>
            <a:prstGeom prst="rect">
              <a:avLst/>
            </a:prstGeom>
          </p:spPr>
        </p:pic>
        <p:pic>
          <p:nvPicPr>
            <p:cNvPr id="5" name="object 5">
              <a:extLst>
                <a:ext uri="{FF2B5EF4-FFF2-40B4-BE49-F238E27FC236}">
                  <a16:creationId xmlns:a16="http://schemas.microsoft.com/office/drawing/2014/main" id="{71ACF33A-9C4B-9C2B-20F4-6A70DCC7C6A2}"/>
                </a:ext>
              </a:extLst>
            </p:cNvPr>
            <p:cNvPicPr/>
            <p:nvPr/>
          </p:nvPicPr>
          <p:blipFill>
            <a:blip r:embed="rId3" cstate="print"/>
            <a:stretch>
              <a:fillRect/>
            </a:stretch>
          </p:blipFill>
          <p:spPr>
            <a:xfrm>
              <a:off x="777240" y="3349764"/>
              <a:ext cx="216407" cy="227063"/>
            </a:xfrm>
            <a:prstGeom prst="rect">
              <a:avLst/>
            </a:prstGeom>
          </p:spPr>
        </p:pic>
        <p:pic>
          <p:nvPicPr>
            <p:cNvPr id="6" name="object 6">
              <a:extLst>
                <a:ext uri="{FF2B5EF4-FFF2-40B4-BE49-F238E27FC236}">
                  <a16:creationId xmlns:a16="http://schemas.microsoft.com/office/drawing/2014/main" id="{D757DD78-F5E1-3774-8836-50BAE37B8A3E}"/>
                </a:ext>
              </a:extLst>
            </p:cNvPr>
            <p:cNvPicPr/>
            <p:nvPr/>
          </p:nvPicPr>
          <p:blipFill>
            <a:blip r:embed="rId3" cstate="print"/>
            <a:stretch>
              <a:fillRect/>
            </a:stretch>
          </p:blipFill>
          <p:spPr>
            <a:xfrm>
              <a:off x="777239" y="5209032"/>
              <a:ext cx="216407" cy="227075"/>
            </a:xfrm>
            <a:prstGeom prst="rect">
              <a:avLst/>
            </a:prstGeom>
          </p:spPr>
        </p:pic>
      </p:grpSp>
      <p:sp>
        <p:nvSpPr>
          <p:cNvPr id="7" name="object 7">
            <a:extLst>
              <a:ext uri="{FF2B5EF4-FFF2-40B4-BE49-F238E27FC236}">
                <a16:creationId xmlns:a16="http://schemas.microsoft.com/office/drawing/2014/main" id="{57D7FCBD-4BA4-0C8B-7250-02203136FAAA}"/>
              </a:ext>
            </a:extLst>
          </p:cNvPr>
          <p:cNvSpPr txBox="1"/>
          <p:nvPr/>
        </p:nvSpPr>
        <p:spPr>
          <a:xfrm>
            <a:off x="1105916" y="1710944"/>
            <a:ext cx="7179945" cy="4289425"/>
          </a:xfrm>
          <a:prstGeom prst="rect">
            <a:avLst/>
          </a:prstGeom>
        </p:spPr>
        <p:txBody>
          <a:bodyPr vert="horz" wrap="square" lIns="0" tIns="67945" rIns="0" bIns="0" rtlCol="0">
            <a:spAutoFit/>
          </a:bodyPr>
          <a:lstStyle/>
          <a:p>
            <a:pPr marL="12700" marR="172085">
              <a:lnSpc>
                <a:spcPts val="3460"/>
              </a:lnSpc>
              <a:spcBef>
                <a:spcPts val="535"/>
              </a:spcBef>
            </a:pPr>
            <a:r>
              <a:rPr sz="3200" dirty="0">
                <a:latin typeface="Calibri"/>
                <a:cs typeface="Calibri"/>
              </a:rPr>
              <a:t>After</a:t>
            </a:r>
            <a:r>
              <a:rPr sz="3200" spc="-50" dirty="0">
                <a:latin typeface="Calibri"/>
                <a:cs typeface="Calibri"/>
              </a:rPr>
              <a:t> </a:t>
            </a:r>
            <a:r>
              <a:rPr sz="3200" dirty="0">
                <a:latin typeface="Calibri"/>
                <a:cs typeface="Calibri"/>
              </a:rPr>
              <a:t>an</a:t>
            </a:r>
            <a:r>
              <a:rPr sz="3200" spc="-50" dirty="0">
                <a:latin typeface="Calibri"/>
                <a:cs typeface="Calibri"/>
              </a:rPr>
              <a:t> </a:t>
            </a:r>
            <a:r>
              <a:rPr sz="3200" dirty="0">
                <a:latin typeface="Calibri"/>
                <a:cs typeface="Calibri"/>
              </a:rPr>
              <a:t>agent</a:t>
            </a:r>
            <a:r>
              <a:rPr sz="3200" spc="-50" dirty="0">
                <a:latin typeface="Calibri"/>
                <a:cs typeface="Calibri"/>
              </a:rPr>
              <a:t> </a:t>
            </a:r>
            <a:r>
              <a:rPr sz="3200" dirty="0">
                <a:latin typeface="Calibri"/>
                <a:cs typeface="Calibri"/>
              </a:rPr>
              <a:t>is</a:t>
            </a:r>
            <a:r>
              <a:rPr sz="3200" spc="-50" dirty="0">
                <a:latin typeface="Calibri"/>
                <a:cs typeface="Calibri"/>
              </a:rPr>
              <a:t> </a:t>
            </a:r>
            <a:r>
              <a:rPr sz="3200" spc="-10" dirty="0">
                <a:latin typeface="Calibri"/>
                <a:cs typeface="Calibri"/>
              </a:rPr>
              <a:t>programmed,</a:t>
            </a:r>
            <a:r>
              <a:rPr sz="3200" spc="-45" dirty="0">
                <a:latin typeface="Calibri"/>
                <a:cs typeface="Calibri"/>
              </a:rPr>
              <a:t> </a:t>
            </a:r>
            <a:r>
              <a:rPr sz="3200" dirty="0">
                <a:latin typeface="Calibri"/>
                <a:cs typeface="Calibri"/>
              </a:rPr>
              <a:t>can</a:t>
            </a:r>
            <a:r>
              <a:rPr sz="3200" spc="-50" dirty="0">
                <a:latin typeface="Calibri"/>
                <a:cs typeface="Calibri"/>
              </a:rPr>
              <a:t> </a:t>
            </a:r>
            <a:r>
              <a:rPr sz="3200" dirty="0">
                <a:latin typeface="Calibri"/>
                <a:cs typeface="Calibri"/>
              </a:rPr>
              <a:t>it</a:t>
            </a:r>
            <a:r>
              <a:rPr sz="3200" spc="-50" dirty="0">
                <a:latin typeface="Calibri"/>
                <a:cs typeface="Calibri"/>
              </a:rPr>
              <a:t> </a:t>
            </a:r>
            <a:r>
              <a:rPr sz="3200" spc="-20" dirty="0">
                <a:latin typeface="Calibri"/>
                <a:cs typeface="Calibri"/>
              </a:rPr>
              <a:t>work </a:t>
            </a:r>
            <a:r>
              <a:rPr sz="3200" spc="-10" dirty="0">
                <a:latin typeface="Calibri"/>
                <a:cs typeface="Calibri"/>
              </a:rPr>
              <a:t>immediately?</a:t>
            </a:r>
            <a:endParaRPr sz="3200">
              <a:latin typeface="Calibri"/>
              <a:cs typeface="Calibri"/>
            </a:endParaRPr>
          </a:p>
          <a:p>
            <a:pPr marL="412750" indent="-284480">
              <a:lnSpc>
                <a:spcPct val="100000"/>
              </a:lnSpc>
              <a:spcBef>
                <a:spcPts val="295"/>
              </a:spcBef>
              <a:buClr>
                <a:srgbClr val="C09E4A"/>
              </a:buClr>
              <a:buSzPct val="69642"/>
              <a:buFont typeface="Wingdings"/>
              <a:buChar char=""/>
              <a:tabLst>
                <a:tab pos="412750" algn="l"/>
              </a:tabLst>
            </a:pPr>
            <a:r>
              <a:rPr sz="2800" dirty="0">
                <a:latin typeface="Calibri"/>
                <a:cs typeface="Calibri"/>
              </a:rPr>
              <a:t>No,</a:t>
            </a:r>
            <a:r>
              <a:rPr sz="2800" spc="-50" dirty="0">
                <a:latin typeface="Calibri"/>
                <a:cs typeface="Calibri"/>
              </a:rPr>
              <a:t> </a:t>
            </a:r>
            <a:r>
              <a:rPr sz="2800" dirty="0">
                <a:latin typeface="Calibri"/>
                <a:cs typeface="Calibri"/>
              </a:rPr>
              <a:t>it</a:t>
            </a:r>
            <a:r>
              <a:rPr sz="2800" spc="-50" dirty="0">
                <a:latin typeface="Calibri"/>
                <a:cs typeface="Calibri"/>
              </a:rPr>
              <a:t> </a:t>
            </a:r>
            <a:r>
              <a:rPr sz="2800" dirty="0">
                <a:latin typeface="Calibri"/>
                <a:cs typeface="Calibri"/>
              </a:rPr>
              <a:t>still</a:t>
            </a:r>
            <a:r>
              <a:rPr sz="2800" spc="-50" dirty="0">
                <a:latin typeface="Calibri"/>
                <a:cs typeface="Calibri"/>
              </a:rPr>
              <a:t> </a:t>
            </a:r>
            <a:r>
              <a:rPr sz="2800" dirty="0">
                <a:latin typeface="Calibri"/>
                <a:cs typeface="Calibri"/>
              </a:rPr>
              <a:t>need</a:t>
            </a:r>
            <a:r>
              <a:rPr sz="2800" spc="-45" dirty="0">
                <a:latin typeface="Calibri"/>
                <a:cs typeface="Calibri"/>
              </a:rPr>
              <a:t> </a:t>
            </a:r>
            <a:r>
              <a:rPr sz="2800" spc="-10" dirty="0">
                <a:latin typeface="Calibri"/>
                <a:cs typeface="Calibri"/>
              </a:rPr>
              <a:t>teaching</a:t>
            </a:r>
            <a:endParaRPr sz="2800">
              <a:latin typeface="Calibri"/>
              <a:cs typeface="Calibri"/>
            </a:endParaRPr>
          </a:p>
          <a:p>
            <a:pPr marL="12700">
              <a:lnSpc>
                <a:spcPct val="100000"/>
              </a:lnSpc>
              <a:spcBef>
                <a:spcPts val="370"/>
              </a:spcBef>
            </a:pPr>
            <a:r>
              <a:rPr sz="3200" dirty="0">
                <a:latin typeface="Calibri"/>
                <a:cs typeface="Calibri"/>
              </a:rPr>
              <a:t>In</a:t>
            </a:r>
            <a:r>
              <a:rPr sz="3200" spc="-15" dirty="0">
                <a:latin typeface="Calibri"/>
                <a:cs typeface="Calibri"/>
              </a:rPr>
              <a:t> </a:t>
            </a:r>
            <a:r>
              <a:rPr sz="3200" spc="-25" dirty="0">
                <a:latin typeface="Calibri"/>
                <a:cs typeface="Calibri"/>
              </a:rPr>
              <a:t>AI,</a:t>
            </a:r>
            <a:endParaRPr sz="3200">
              <a:latin typeface="Calibri"/>
              <a:cs typeface="Calibri"/>
            </a:endParaRPr>
          </a:p>
          <a:p>
            <a:pPr marL="413384" marR="5080" indent="-285115">
              <a:lnSpc>
                <a:spcPts val="3030"/>
              </a:lnSpc>
              <a:spcBef>
                <a:spcPts val="725"/>
              </a:spcBef>
              <a:buClr>
                <a:srgbClr val="C09E4A"/>
              </a:buClr>
              <a:buSzPct val="69642"/>
              <a:buFont typeface="Wingdings"/>
              <a:buChar char=""/>
              <a:tabLst>
                <a:tab pos="413384" algn="l"/>
              </a:tabLst>
            </a:pPr>
            <a:r>
              <a:rPr sz="2800" dirty="0">
                <a:latin typeface="Calibri"/>
                <a:cs typeface="Calibri"/>
              </a:rPr>
              <a:t>Once</a:t>
            </a:r>
            <a:r>
              <a:rPr sz="2800" spc="-25" dirty="0">
                <a:latin typeface="Calibri"/>
                <a:cs typeface="Calibri"/>
              </a:rPr>
              <a:t> </a:t>
            </a:r>
            <a:r>
              <a:rPr sz="2800" dirty="0">
                <a:latin typeface="Calibri"/>
                <a:cs typeface="Calibri"/>
              </a:rPr>
              <a:t>an</a:t>
            </a:r>
            <a:r>
              <a:rPr sz="2800" spc="-40" dirty="0">
                <a:latin typeface="Calibri"/>
                <a:cs typeface="Calibri"/>
              </a:rPr>
              <a:t> </a:t>
            </a:r>
            <a:r>
              <a:rPr sz="2800" dirty="0">
                <a:latin typeface="Calibri"/>
                <a:cs typeface="Calibri"/>
              </a:rPr>
              <a:t>agent</a:t>
            </a:r>
            <a:r>
              <a:rPr sz="2800" spc="-35" dirty="0">
                <a:latin typeface="Calibri"/>
                <a:cs typeface="Calibri"/>
              </a:rPr>
              <a:t> </a:t>
            </a:r>
            <a:r>
              <a:rPr sz="2800" dirty="0">
                <a:latin typeface="Calibri"/>
                <a:cs typeface="Calibri"/>
              </a:rPr>
              <a:t>is</a:t>
            </a:r>
            <a:r>
              <a:rPr sz="2800" spc="-25" dirty="0">
                <a:latin typeface="Calibri"/>
                <a:cs typeface="Calibri"/>
              </a:rPr>
              <a:t> </a:t>
            </a:r>
            <a:r>
              <a:rPr sz="2800" dirty="0">
                <a:latin typeface="Calibri"/>
                <a:cs typeface="Calibri"/>
              </a:rPr>
              <a:t>done</a:t>
            </a:r>
            <a:r>
              <a:rPr sz="2800" spc="-20" dirty="0">
                <a:latin typeface="Calibri"/>
                <a:cs typeface="Calibri"/>
              </a:rPr>
              <a:t> </a:t>
            </a:r>
            <a:r>
              <a:rPr sz="2800" dirty="0">
                <a:latin typeface="Calibri"/>
                <a:cs typeface="Calibri"/>
              </a:rPr>
              <a:t>we</a:t>
            </a:r>
            <a:r>
              <a:rPr sz="2800" spc="-40" dirty="0">
                <a:latin typeface="Calibri"/>
                <a:cs typeface="Calibri"/>
              </a:rPr>
              <a:t> </a:t>
            </a:r>
            <a:r>
              <a:rPr sz="2800" dirty="0">
                <a:latin typeface="Calibri"/>
                <a:cs typeface="Calibri"/>
              </a:rPr>
              <a:t>teach</a:t>
            </a:r>
            <a:r>
              <a:rPr sz="2800" spc="-50" dirty="0">
                <a:latin typeface="Calibri"/>
                <a:cs typeface="Calibri"/>
              </a:rPr>
              <a:t> </a:t>
            </a:r>
            <a:r>
              <a:rPr sz="2800" dirty="0">
                <a:latin typeface="Calibri"/>
                <a:cs typeface="Calibri"/>
              </a:rPr>
              <a:t>it</a:t>
            </a:r>
            <a:r>
              <a:rPr sz="2800" spc="-25" dirty="0">
                <a:latin typeface="Calibri"/>
                <a:cs typeface="Calibri"/>
              </a:rPr>
              <a:t> </a:t>
            </a:r>
            <a:r>
              <a:rPr sz="2800" dirty="0">
                <a:latin typeface="Calibri"/>
                <a:cs typeface="Calibri"/>
              </a:rPr>
              <a:t>by</a:t>
            </a:r>
            <a:r>
              <a:rPr sz="2800" spc="-30" dirty="0">
                <a:latin typeface="Calibri"/>
                <a:cs typeface="Calibri"/>
              </a:rPr>
              <a:t> </a:t>
            </a:r>
            <a:r>
              <a:rPr sz="2800" dirty="0">
                <a:latin typeface="Calibri"/>
                <a:cs typeface="Calibri"/>
              </a:rPr>
              <a:t>giving</a:t>
            </a:r>
            <a:r>
              <a:rPr sz="2800" spc="-30" dirty="0">
                <a:latin typeface="Calibri"/>
                <a:cs typeface="Calibri"/>
              </a:rPr>
              <a:t> </a:t>
            </a:r>
            <a:r>
              <a:rPr sz="2800" dirty="0">
                <a:latin typeface="Calibri"/>
                <a:cs typeface="Calibri"/>
              </a:rPr>
              <a:t>it</a:t>
            </a:r>
            <a:r>
              <a:rPr sz="2800" spc="-35" dirty="0">
                <a:latin typeface="Calibri"/>
                <a:cs typeface="Calibri"/>
              </a:rPr>
              <a:t> </a:t>
            </a:r>
            <a:r>
              <a:rPr sz="2800" spc="-50" dirty="0">
                <a:latin typeface="Calibri"/>
                <a:cs typeface="Calibri"/>
              </a:rPr>
              <a:t>a </a:t>
            </a:r>
            <a:r>
              <a:rPr sz="2800" dirty="0">
                <a:latin typeface="Calibri"/>
                <a:cs typeface="Calibri"/>
              </a:rPr>
              <a:t>set</a:t>
            </a:r>
            <a:r>
              <a:rPr sz="2800" spc="-35" dirty="0">
                <a:latin typeface="Calibri"/>
                <a:cs typeface="Calibri"/>
              </a:rPr>
              <a:t> </a:t>
            </a:r>
            <a:r>
              <a:rPr sz="2800" dirty="0">
                <a:latin typeface="Calibri"/>
                <a:cs typeface="Calibri"/>
              </a:rPr>
              <a:t>of</a:t>
            </a:r>
            <a:r>
              <a:rPr sz="2800" spc="-30" dirty="0">
                <a:latin typeface="Calibri"/>
                <a:cs typeface="Calibri"/>
              </a:rPr>
              <a:t> </a:t>
            </a:r>
            <a:r>
              <a:rPr sz="2800" spc="-10" dirty="0">
                <a:latin typeface="Calibri"/>
                <a:cs typeface="Calibri"/>
              </a:rPr>
              <a:t>examples</a:t>
            </a:r>
            <a:endParaRPr sz="2800">
              <a:latin typeface="Calibri"/>
              <a:cs typeface="Calibri"/>
            </a:endParaRPr>
          </a:p>
          <a:p>
            <a:pPr marL="412750" indent="-284480">
              <a:lnSpc>
                <a:spcPct val="100000"/>
              </a:lnSpc>
              <a:spcBef>
                <a:spcPts val="285"/>
              </a:spcBef>
              <a:buClr>
                <a:srgbClr val="C09E4A"/>
              </a:buClr>
              <a:buSzPct val="69642"/>
              <a:buFont typeface="Wingdings"/>
              <a:buChar char=""/>
              <a:tabLst>
                <a:tab pos="412750" algn="l"/>
              </a:tabLst>
            </a:pPr>
            <a:r>
              <a:rPr sz="2800" spc="-55" dirty="0">
                <a:latin typeface="Calibri"/>
                <a:cs typeface="Calibri"/>
              </a:rPr>
              <a:t>Test</a:t>
            </a:r>
            <a:r>
              <a:rPr sz="2800" spc="-40" dirty="0">
                <a:latin typeface="Calibri"/>
                <a:cs typeface="Calibri"/>
              </a:rPr>
              <a:t> </a:t>
            </a:r>
            <a:r>
              <a:rPr sz="2800" dirty="0">
                <a:latin typeface="Calibri"/>
                <a:cs typeface="Calibri"/>
              </a:rPr>
              <a:t>it</a:t>
            </a:r>
            <a:r>
              <a:rPr sz="2800" spc="-50" dirty="0">
                <a:latin typeface="Calibri"/>
                <a:cs typeface="Calibri"/>
              </a:rPr>
              <a:t> </a:t>
            </a:r>
            <a:r>
              <a:rPr sz="2800" dirty="0">
                <a:latin typeface="Calibri"/>
                <a:cs typeface="Calibri"/>
              </a:rPr>
              <a:t>by</a:t>
            </a:r>
            <a:r>
              <a:rPr sz="2800" spc="-40" dirty="0">
                <a:latin typeface="Calibri"/>
                <a:cs typeface="Calibri"/>
              </a:rPr>
              <a:t> </a:t>
            </a:r>
            <a:r>
              <a:rPr sz="2800" dirty="0">
                <a:latin typeface="Calibri"/>
                <a:cs typeface="Calibri"/>
              </a:rPr>
              <a:t>using</a:t>
            </a:r>
            <a:r>
              <a:rPr sz="2800" spc="-20" dirty="0">
                <a:latin typeface="Calibri"/>
                <a:cs typeface="Calibri"/>
              </a:rPr>
              <a:t> </a:t>
            </a:r>
            <a:r>
              <a:rPr sz="2800" dirty="0">
                <a:latin typeface="Calibri"/>
                <a:cs typeface="Calibri"/>
              </a:rPr>
              <a:t>another</a:t>
            </a:r>
            <a:r>
              <a:rPr sz="2800" spc="-25" dirty="0">
                <a:latin typeface="Calibri"/>
                <a:cs typeface="Calibri"/>
              </a:rPr>
              <a:t> </a:t>
            </a:r>
            <a:r>
              <a:rPr sz="2800" dirty="0">
                <a:latin typeface="Calibri"/>
                <a:cs typeface="Calibri"/>
              </a:rPr>
              <a:t>set</a:t>
            </a:r>
            <a:r>
              <a:rPr sz="2800" spc="-50" dirty="0">
                <a:latin typeface="Calibri"/>
                <a:cs typeface="Calibri"/>
              </a:rPr>
              <a:t> </a:t>
            </a:r>
            <a:r>
              <a:rPr sz="2800" dirty="0">
                <a:latin typeface="Calibri"/>
                <a:cs typeface="Calibri"/>
              </a:rPr>
              <a:t>of</a:t>
            </a:r>
            <a:r>
              <a:rPr sz="2800" spc="-50" dirty="0">
                <a:latin typeface="Calibri"/>
                <a:cs typeface="Calibri"/>
              </a:rPr>
              <a:t> </a:t>
            </a:r>
            <a:r>
              <a:rPr sz="2800" spc="-10" dirty="0">
                <a:latin typeface="Calibri"/>
                <a:cs typeface="Calibri"/>
              </a:rPr>
              <a:t>examples</a:t>
            </a:r>
            <a:endParaRPr sz="2800">
              <a:latin typeface="Calibri"/>
              <a:cs typeface="Calibri"/>
            </a:endParaRPr>
          </a:p>
          <a:p>
            <a:pPr marL="12700">
              <a:lnSpc>
                <a:spcPct val="100000"/>
              </a:lnSpc>
              <a:spcBef>
                <a:spcPts val="370"/>
              </a:spcBef>
            </a:pPr>
            <a:r>
              <a:rPr sz="3200" dirty="0">
                <a:latin typeface="Calibri"/>
                <a:cs typeface="Calibri"/>
              </a:rPr>
              <a:t>We</a:t>
            </a:r>
            <a:r>
              <a:rPr sz="3200" spc="-20" dirty="0">
                <a:latin typeface="Calibri"/>
                <a:cs typeface="Calibri"/>
              </a:rPr>
              <a:t> </a:t>
            </a:r>
            <a:r>
              <a:rPr sz="3200" dirty="0">
                <a:latin typeface="Calibri"/>
                <a:cs typeface="Calibri"/>
              </a:rPr>
              <a:t>then</a:t>
            </a:r>
            <a:r>
              <a:rPr sz="3200" spc="-20" dirty="0">
                <a:latin typeface="Calibri"/>
                <a:cs typeface="Calibri"/>
              </a:rPr>
              <a:t> </a:t>
            </a:r>
            <a:r>
              <a:rPr sz="3200" dirty="0">
                <a:latin typeface="Calibri"/>
                <a:cs typeface="Calibri"/>
              </a:rPr>
              <a:t>say</a:t>
            </a:r>
            <a:r>
              <a:rPr sz="3200" spc="-20" dirty="0">
                <a:latin typeface="Calibri"/>
                <a:cs typeface="Calibri"/>
              </a:rPr>
              <a:t> </a:t>
            </a:r>
            <a:r>
              <a:rPr sz="3200" dirty="0">
                <a:latin typeface="Calibri"/>
                <a:cs typeface="Calibri"/>
              </a:rPr>
              <a:t>the</a:t>
            </a:r>
            <a:r>
              <a:rPr sz="3200" spc="-15" dirty="0">
                <a:latin typeface="Calibri"/>
                <a:cs typeface="Calibri"/>
              </a:rPr>
              <a:t> </a:t>
            </a:r>
            <a:r>
              <a:rPr sz="3200" dirty="0">
                <a:latin typeface="Calibri"/>
                <a:cs typeface="Calibri"/>
              </a:rPr>
              <a:t>agent</a:t>
            </a:r>
            <a:r>
              <a:rPr sz="3200" spc="-15" dirty="0">
                <a:latin typeface="Calibri"/>
                <a:cs typeface="Calibri"/>
              </a:rPr>
              <a:t> </a:t>
            </a:r>
            <a:r>
              <a:rPr sz="3200" spc="-10" dirty="0">
                <a:latin typeface="Calibri"/>
                <a:cs typeface="Calibri"/>
              </a:rPr>
              <a:t>learns</a:t>
            </a:r>
            <a:endParaRPr sz="3200">
              <a:latin typeface="Calibri"/>
              <a:cs typeface="Calibri"/>
            </a:endParaRPr>
          </a:p>
          <a:p>
            <a:pPr marL="412750" indent="-284480">
              <a:lnSpc>
                <a:spcPct val="100000"/>
              </a:lnSpc>
              <a:spcBef>
                <a:spcPts val="350"/>
              </a:spcBef>
              <a:buClr>
                <a:srgbClr val="C09E4A"/>
              </a:buClr>
              <a:buSzPct val="69642"/>
              <a:buFont typeface="Wingdings"/>
              <a:buChar char=""/>
              <a:tabLst>
                <a:tab pos="412750" algn="l"/>
              </a:tabLst>
            </a:pPr>
            <a:r>
              <a:rPr sz="2800" dirty="0">
                <a:latin typeface="Calibri"/>
                <a:cs typeface="Calibri"/>
              </a:rPr>
              <a:t>A</a:t>
            </a:r>
            <a:r>
              <a:rPr sz="2800" spc="-35" dirty="0">
                <a:latin typeface="Calibri"/>
                <a:cs typeface="Calibri"/>
              </a:rPr>
              <a:t> </a:t>
            </a:r>
            <a:r>
              <a:rPr sz="2800" dirty="0">
                <a:latin typeface="Calibri"/>
                <a:cs typeface="Calibri"/>
              </a:rPr>
              <a:t>learning</a:t>
            </a:r>
            <a:r>
              <a:rPr sz="2800" spc="-40" dirty="0">
                <a:latin typeface="Calibri"/>
                <a:cs typeface="Calibri"/>
              </a:rPr>
              <a:t> </a:t>
            </a:r>
            <a:r>
              <a:rPr sz="2800" spc="-20" dirty="0">
                <a:latin typeface="Calibri"/>
                <a:cs typeface="Calibri"/>
              </a:rPr>
              <a:t>agent</a:t>
            </a:r>
            <a:endParaRPr sz="2800">
              <a:latin typeface="Calibri"/>
              <a:cs typeface="Calibri"/>
            </a:endParaRPr>
          </a:p>
        </p:txBody>
      </p:sp>
    </p:spTree>
    <p:extLst>
      <p:ext uri="{BB962C8B-B14F-4D97-AF65-F5344CB8AC3E}">
        <p14:creationId xmlns:p14="http://schemas.microsoft.com/office/powerpoint/2010/main" val="2570723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214" y="429995"/>
            <a:ext cx="6010659" cy="688074"/>
          </a:xfrm>
          <a:prstGeom prst="rect">
            <a:avLst/>
          </a:prstGeom>
        </p:spPr>
        <p:txBody>
          <a:bodyPr vert="horz" wrap="square" lIns="0" tIns="10860" rIns="0" bIns="0" rtlCol="0">
            <a:spAutoFit/>
          </a:bodyPr>
          <a:lstStyle/>
          <a:p>
            <a:pPr marL="1287426">
              <a:spcBef>
                <a:spcPts val="86"/>
              </a:spcBef>
            </a:pPr>
            <a:r>
              <a:rPr dirty="0"/>
              <a:t>Goal</a:t>
            </a:r>
            <a:r>
              <a:rPr spc="-30" dirty="0"/>
              <a:t> </a:t>
            </a:r>
            <a:r>
              <a:rPr dirty="0"/>
              <a:t>Based</a:t>
            </a:r>
            <a:r>
              <a:rPr spc="-26" dirty="0"/>
              <a:t> </a:t>
            </a:r>
            <a:r>
              <a:rPr spc="-9" dirty="0"/>
              <a:t>Agents</a:t>
            </a:r>
          </a:p>
        </p:txBody>
      </p:sp>
      <p:sp>
        <p:nvSpPr>
          <p:cNvPr id="3" name="object 3"/>
          <p:cNvSpPr txBox="1">
            <a:spLocks noGrp="1"/>
          </p:cNvSpPr>
          <p:nvPr>
            <p:ph type="body" idx="1"/>
          </p:nvPr>
        </p:nvSpPr>
        <p:spPr>
          <a:xfrm>
            <a:off x="325253" y="1447619"/>
            <a:ext cx="6952481" cy="4249154"/>
          </a:xfrm>
          <a:prstGeom prst="rect">
            <a:avLst/>
          </a:prstGeom>
        </p:spPr>
        <p:txBody>
          <a:bodyPr vert="horz" wrap="square" lIns="0" tIns="12488" rIns="0" bIns="0" rtlCol="0">
            <a:spAutoFit/>
          </a:bodyPr>
          <a:lstStyle/>
          <a:p>
            <a:pPr marL="10860" marR="4344" algn="just">
              <a:lnSpc>
                <a:spcPct val="120400"/>
              </a:lnSpc>
              <a:spcBef>
                <a:spcPts val="97"/>
              </a:spcBef>
            </a:pPr>
            <a:r>
              <a:rPr sz="1500" dirty="0">
                <a:latin typeface="+mj-lt"/>
              </a:rPr>
              <a:t>Even</a:t>
            </a:r>
            <a:r>
              <a:rPr sz="1500" spc="133" dirty="0">
                <a:latin typeface="+mj-lt"/>
              </a:rPr>
              <a:t> </a:t>
            </a:r>
            <a:r>
              <a:rPr sz="1500" dirty="0">
                <a:latin typeface="+mj-lt"/>
              </a:rPr>
              <a:t>with</a:t>
            </a:r>
            <a:r>
              <a:rPr sz="1500" spc="145" dirty="0">
                <a:latin typeface="+mj-lt"/>
              </a:rPr>
              <a:t> </a:t>
            </a:r>
            <a:r>
              <a:rPr sz="1500" dirty="0">
                <a:latin typeface="+mj-lt"/>
              </a:rPr>
              <a:t>the</a:t>
            </a:r>
            <a:r>
              <a:rPr sz="1500" spc="145" dirty="0">
                <a:latin typeface="+mj-lt"/>
              </a:rPr>
              <a:t> </a:t>
            </a:r>
            <a:r>
              <a:rPr sz="1500" dirty="0">
                <a:latin typeface="+mj-lt"/>
              </a:rPr>
              <a:t>increased</a:t>
            </a:r>
            <a:r>
              <a:rPr sz="1500" spc="141" dirty="0">
                <a:latin typeface="+mj-lt"/>
              </a:rPr>
              <a:t> </a:t>
            </a:r>
            <a:r>
              <a:rPr sz="1500" dirty="0">
                <a:latin typeface="+mj-lt"/>
              </a:rPr>
              <a:t>knowledge</a:t>
            </a:r>
            <a:r>
              <a:rPr sz="1500" spc="145" dirty="0">
                <a:latin typeface="+mj-lt"/>
              </a:rPr>
              <a:t> </a:t>
            </a:r>
            <a:r>
              <a:rPr sz="1500" dirty="0">
                <a:latin typeface="+mj-lt"/>
              </a:rPr>
              <a:t>of</a:t>
            </a:r>
            <a:r>
              <a:rPr sz="1500" spc="145" dirty="0">
                <a:latin typeface="+mj-lt"/>
              </a:rPr>
              <a:t> </a:t>
            </a:r>
            <a:r>
              <a:rPr sz="1500" dirty="0">
                <a:latin typeface="+mj-lt"/>
              </a:rPr>
              <a:t>the</a:t>
            </a:r>
            <a:r>
              <a:rPr sz="1500" spc="145" dirty="0">
                <a:latin typeface="+mj-lt"/>
              </a:rPr>
              <a:t> </a:t>
            </a:r>
            <a:r>
              <a:rPr sz="1500" dirty="0">
                <a:latin typeface="+mj-lt"/>
              </a:rPr>
              <a:t>current</a:t>
            </a:r>
            <a:r>
              <a:rPr sz="1500" spc="141" dirty="0">
                <a:latin typeface="+mj-lt"/>
              </a:rPr>
              <a:t> </a:t>
            </a:r>
            <a:r>
              <a:rPr sz="1500" dirty="0">
                <a:latin typeface="+mj-lt"/>
              </a:rPr>
              <a:t>state</a:t>
            </a:r>
            <a:r>
              <a:rPr sz="1500" spc="145" dirty="0">
                <a:latin typeface="+mj-lt"/>
              </a:rPr>
              <a:t> </a:t>
            </a:r>
            <a:r>
              <a:rPr sz="1500" dirty="0">
                <a:latin typeface="+mj-lt"/>
              </a:rPr>
              <a:t>of</a:t>
            </a:r>
            <a:r>
              <a:rPr sz="1500" spc="145" dirty="0">
                <a:latin typeface="+mj-lt"/>
              </a:rPr>
              <a:t> </a:t>
            </a:r>
            <a:r>
              <a:rPr sz="1500" dirty="0">
                <a:latin typeface="+mj-lt"/>
              </a:rPr>
              <a:t>the</a:t>
            </a:r>
            <a:r>
              <a:rPr sz="1500" spc="141" dirty="0">
                <a:latin typeface="+mj-lt"/>
              </a:rPr>
              <a:t> </a:t>
            </a:r>
            <a:r>
              <a:rPr sz="1500" dirty="0">
                <a:latin typeface="+mj-lt"/>
              </a:rPr>
              <a:t>world</a:t>
            </a:r>
            <a:r>
              <a:rPr sz="1500" spc="145" dirty="0">
                <a:latin typeface="+mj-lt"/>
              </a:rPr>
              <a:t> </a:t>
            </a:r>
            <a:r>
              <a:rPr sz="1500" dirty="0">
                <a:latin typeface="+mj-lt"/>
              </a:rPr>
              <a:t>provided</a:t>
            </a:r>
            <a:r>
              <a:rPr sz="1500" spc="145" dirty="0">
                <a:latin typeface="+mj-lt"/>
              </a:rPr>
              <a:t> </a:t>
            </a:r>
            <a:r>
              <a:rPr sz="1500" dirty="0">
                <a:latin typeface="+mj-lt"/>
              </a:rPr>
              <a:t>by</a:t>
            </a:r>
            <a:r>
              <a:rPr sz="1500" spc="145" dirty="0">
                <a:latin typeface="+mj-lt"/>
              </a:rPr>
              <a:t> </a:t>
            </a:r>
            <a:r>
              <a:rPr sz="1500" spc="-21" dirty="0">
                <a:latin typeface="+mj-lt"/>
              </a:rPr>
              <a:t>an </a:t>
            </a:r>
            <a:r>
              <a:rPr sz="1500" dirty="0">
                <a:latin typeface="+mj-lt"/>
              </a:rPr>
              <a:t>agent’s</a:t>
            </a:r>
            <a:r>
              <a:rPr sz="1500" spc="4" dirty="0">
                <a:latin typeface="+mj-lt"/>
              </a:rPr>
              <a:t> </a:t>
            </a:r>
            <a:r>
              <a:rPr sz="1500" dirty="0">
                <a:latin typeface="+mj-lt"/>
              </a:rPr>
              <a:t>internal</a:t>
            </a:r>
            <a:r>
              <a:rPr sz="1500" spc="9" dirty="0">
                <a:latin typeface="+mj-lt"/>
              </a:rPr>
              <a:t> </a:t>
            </a:r>
            <a:r>
              <a:rPr sz="1500" dirty="0">
                <a:latin typeface="+mj-lt"/>
              </a:rPr>
              <a:t>state,</a:t>
            </a:r>
            <a:r>
              <a:rPr sz="1500" spc="9" dirty="0">
                <a:latin typeface="+mj-lt"/>
              </a:rPr>
              <a:t> </a:t>
            </a:r>
            <a:r>
              <a:rPr sz="1500" dirty="0">
                <a:latin typeface="+mj-lt"/>
              </a:rPr>
              <a:t>the</a:t>
            </a:r>
            <a:r>
              <a:rPr sz="1500" spc="9" dirty="0">
                <a:latin typeface="+mj-lt"/>
              </a:rPr>
              <a:t> </a:t>
            </a:r>
            <a:r>
              <a:rPr sz="1500" dirty="0">
                <a:latin typeface="+mj-lt"/>
              </a:rPr>
              <a:t>agent</a:t>
            </a:r>
            <a:r>
              <a:rPr sz="1500" spc="4" dirty="0">
                <a:latin typeface="+mj-lt"/>
              </a:rPr>
              <a:t> </a:t>
            </a:r>
            <a:r>
              <a:rPr sz="1500" dirty="0">
                <a:latin typeface="+mj-lt"/>
              </a:rPr>
              <a:t>may</a:t>
            </a:r>
            <a:r>
              <a:rPr sz="1500" spc="9" dirty="0">
                <a:latin typeface="+mj-lt"/>
              </a:rPr>
              <a:t> </a:t>
            </a:r>
            <a:r>
              <a:rPr sz="1500" dirty="0">
                <a:latin typeface="+mj-lt"/>
              </a:rPr>
              <a:t>still</a:t>
            </a:r>
            <a:r>
              <a:rPr sz="1500" spc="9" dirty="0">
                <a:latin typeface="+mj-lt"/>
              </a:rPr>
              <a:t> </a:t>
            </a:r>
            <a:r>
              <a:rPr sz="1500" dirty="0">
                <a:latin typeface="+mj-lt"/>
              </a:rPr>
              <a:t>not</a:t>
            </a:r>
            <a:r>
              <a:rPr sz="1500" spc="9" dirty="0">
                <a:latin typeface="+mj-lt"/>
              </a:rPr>
              <a:t> </a:t>
            </a:r>
            <a:r>
              <a:rPr sz="1500" dirty="0">
                <a:latin typeface="+mj-lt"/>
              </a:rPr>
              <a:t>have</a:t>
            </a:r>
            <a:r>
              <a:rPr sz="1500" spc="9" dirty="0">
                <a:latin typeface="+mj-lt"/>
              </a:rPr>
              <a:t> </a:t>
            </a:r>
            <a:r>
              <a:rPr sz="1500" dirty="0">
                <a:latin typeface="+mj-lt"/>
              </a:rPr>
              <a:t>enough</a:t>
            </a:r>
            <a:r>
              <a:rPr sz="1500" spc="4" dirty="0">
                <a:latin typeface="+mj-lt"/>
              </a:rPr>
              <a:t> </a:t>
            </a:r>
            <a:r>
              <a:rPr sz="1500" dirty="0">
                <a:latin typeface="+mj-lt"/>
              </a:rPr>
              <a:t>information</a:t>
            </a:r>
            <a:r>
              <a:rPr sz="1500" spc="9" dirty="0">
                <a:latin typeface="+mj-lt"/>
              </a:rPr>
              <a:t> </a:t>
            </a:r>
            <a:r>
              <a:rPr sz="1500" dirty="0">
                <a:latin typeface="+mj-lt"/>
              </a:rPr>
              <a:t>to</a:t>
            </a:r>
            <a:r>
              <a:rPr sz="1500" spc="9" dirty="0">
                <a:latin typeface="+mj-lt"/>
              </a:rPr>
              <a:t> </a:t>
            </a:r>
            <a:r>
              <a:rPr sz="1500" dirty="0">
                <a:latin typeface="+mj-lt"/>
              </a:rPr>
              <a:t>tell</a:t>
            </a:r>
            <a:r>
              <a:rPr sz="1500" spc="9" dirty="0">
                <a:latin typeface="+mj-lt"/>
              </a:rPr>
              <a:t> </a:t>
            </a:r>
            <a:r>
              <a:rPr sz="1500" dirty="0">
                <a:latin typeface="+mj-lt"/>
              </a:rPr>
              <a:t>it</a:t>
            </a:r>
            <a:r>
              <a:rPr sz="1500" spc="4" dirty="0">
                <a:latin typeface="+mj-lt"/>
              </a:rPr>
              <a:t> </a:t>
            </a:r>
            <a:r>
              <a:rPr sz="1500" dirty="0">
                <a:latin typeface="+mj-lt"/>
              </a:rPr>
              <a:t>what</a:t>
            </a:r>
            <a:r>
              <a:rPr sz="1500" spc="9" dirty="0">
                <a:latin typeface="+mj-lt"/>
              </a:rPr>
              <a:t> </a:t>
            </a:r>
            <a:r>
              <a:rPr sz="1500" spc="-21" dirty="0">
                <a:latin typeface="+mj-lt"/>
              </a:rPr>
              <a:t>to </a:t>
            </a:r>
            <a:r>
              <a:rPr sz="1500" dirty="0">
                <a:latin typeface="+mj-lt"/>
              </a:rPr>
              <a:t>do.</a:t>
            </a:r>
            <a:r>
              <a:rPr sz="1500" spc="355" dirty="0">
                <a:latin typeface="+mj-lt"/>
              </a:rPr>
              <a:t> </a:t>
            </a:r>
            <a:r>
              <a:rPr sz="1500" dirty="0">
                <a:latin typeface="+mj-lt"/>
              </a:rPr>
              <a:t>The</a:t>
            </a:r>
            <a:r>
              <a:rPr sz="1500" spc="-13" dirty="0">
                <a:latin typeface="+mj-lt"/>
              </a:rPr>
              <a:t> </a:t>
            </a:r>
            <a:r>
              <a:rPr sz="1500" dirty="0">
                <a:latin typeface="+mj-lt"/>
              </a:rPr>
              <a:t>appropriate</a:t>
            </a:r>
            <a:r>
              <a:rPr sz="1500" spc="-17" dirty="0">
                <a:latin typeface="+mj-lt"/>
              </a:rPr>
              <a:t> </a:t>
            </a:r>
            <a:r>
              <a:rPr sz="1500" dirty="0">
                <a:latin typeface="+mj-lt"/>
              </a:rPr>
              <a:t>action</a:t>
            </a:r>
            <a:r>
              <a:rPr sz="1500" spc="-13" dirty="0">
                <a:latin typeface="+mj-lt"/>
              </a:rPr>
              <a:t> </a:t>
            </a:r>
            <a:r>
              <a:rPr sz="1500" dirty="0">
                <a:latin typeface="+mj-lt"/>
              </a:rPr>
              <a:t>for</a:t>
            </a:r>
            <a:r>
              <a:rPr sz="1500" spc="-13" dirty="0">
                <a:latin typeface="+mj-lt"/>
              </a:rPr>
              <a:t> </a:t>
            </a:r>
            <a:r>
              <a:rPr sz="1500" dirty="0">
                <a:latin typeface="+mj-lt"/>
              </a:rPr>
              <a:t>the</a:t>
            </a:r>
            <a:r>
              <a:rPr sz="1500" spc="-17" dirty="0">
                <a:latin typeface="+mj-lt"/>
              </a:rPr>
              <a:t> </a:t>
            </a:r>
            <a:r>
              <a:rPr sz="1500" dirty="0">
                <a:latin typeface="+mj-lt"/>
              </a:rPr>
              <a:t>agent</a:t>
            </a:r>
            <a:r>
              <a:rPr sz="1500" spc="-13" dirty="0">
                <a:latin typeface="+mj-lt"/>
              </a:rPr>
              <a:t> </a:t>
            </a:r>
            <a:r>
              <a:rPr sz="1500" dirty="0">
                <a:latin typeface="+mj-lt"/>
              </a:rPr>
              <a:t>will</a:t>
            </a:r>
            <a:r>
              <a:rPr sz="1500" spc="-13" dirty="0">
                <a:latin typeface="+mj-lt"/>
              </a:rPr>
              <a:t> </a:t>
            </a:r>
            <a:r>
              <a:rPr sz="1500" dirty="0">
                <a:latin typeface="+mj-lt"/>
              </a:rPr>
              <a:t>often</a:t>
            </a:r>
            <a:r>
              <a:rPr sz="1500" spc="-13" dirty="0">
                <a:latin typeface="+mj-lt"/>
              </a:rPr>
              <a:t> </a:t>
            </a:r>
            <a:r>
              <a:rPr sz="1500" dirty="0">
                <a:latin typeface="+mj-lt"/>
              </a:rPr>
              <a:t>depend</a:t>
            </a:r>
            <a:r>
              <a:rPr sz="1500" spc="-17" dirty="0">
                <a:latin typeface="+mj-lt"/>
              </a:rPr>
              <a:t> </a:t>
            </a:r>
            <a:r>
              <a:rPr sz="1500" dirty="0">
                <a:latin typeface="+mj-lt"/>
              </a:rPr>
              <a:t>on</a:t>
            </a:r>
            <a:r>
              <a:rPr sz="1500" spc="-13" dirty="0">
                <a:latin typeface="+mj-lt"/>
              </a:rPr>
              <a:t> </a:t>
            </a:r>
            <a:r>
              <a:rPr sz="1500" dirty="0">
                <a:latin typeface="+mj-lt"/>
              </a:rPr>
              <a:t>what</a:t>
            </a:r>
            <a:r>
              <a:rPr sz="1500" spc="-13" dirty="0">
                <a:latin typeface="+mj-lt"/>
              </a:rPr>
              <a:t> </a:t>
            </a:r>
            <a:r>
              <a:rPr sz="1500" dirty="0">
                <a:latin typeface="+mj-lt"/>
              </a:rPr>
              <a:t>its</a:t>
            </a:r>
            <a:r>
              <a:rPr sz="1500" spc="-17" dirty="0">
                <a:latin typeface="+mj-lt"/>
              </a:rPr>
              <a:t> </a:t>
            </a:r>
            <a:r>
              <a:rPr sz="1500" dirty="0">
                <a:latin typeface="+mj-lt"/>
              </a:rPr>
              <a:t>goals</a:t>
            </a:r>
            <a:r>
              <a:rPr sz="1500" spc="-13" dirty="0">
                <a:latin typeface="+mj-lt"/>
              </a:rPr>
              <a:t> </a:t>
            </a:r>
            <a:r>
              <a:rPr sz="1500" dirty="0">
                <a:latin typeface="+mj-lt"/>
              </a:rPr>
              <a:t>are,</a:t>
            </a:r>
            <a:r>
              <a:rPr sz="1500" spc="-13" dirty="0">
                <a:latin typeface="+mj-lt"/>
              </a:rPr>
              <a:t> </a:t>
            </a:r>
            <a:r>
              <a:rPr sz="1500" dirty="0">
                <a:latin typeface="+mj-lt"/>
              </a:rPr>
              <a:t>and</a:t>
            </a:r>
            <a:r>
              <a:rPr sz="1500" spc="-17" dirty="0">
                <a:latin typeface="+mj-lt"/>
              </a:rPr>
              <a:t> </a:t>
            </a:r>
            <a:r>
              <a:rPr sz="1500" spc="-21" dirty="0">
                <a:latin typeface="+mj-lt"/>
              </a:rPr>
              <a:t>so </a:t>
            </a:r>
            <a:r>
              <a:rPr sz="1500" dirty="0">
                <a:latin typeface="+mj-lt"/>
              </a:rPr>
              <a:t>it</a:t>
            </a:r>
            <a:r>
              <a:rPr sz="1500" spc="-17" dirty="0">
                <a:latin typeface="+mj-lt"/>
              </a:rPr>
              <a:t> </a:t>
            </a:r>
            <a:r>
              <a:rPr sz="1500" dirty="0">
                <a:latin typeface="+mj-lt"/>
              </a:rPr>
              <a:t>must</a:t>
            </a:r>
            <a:r>
              <a:rPr sz="1500" spc="-13" dirty="0">
                <a:latin typeface="+mj-lt"/>
              </a:rPr>
              <a:t> </a:t>
            </a:r>
            <a:r>
              <a:rPr sz="1500" dirty="0">
                <a:latin typeface="+mj-lt"/>
              </a:rPr>
              <a:t>be</a:t>
            </a:r>
            <a:r>
              <a:rPr sz="1500" spc="-17" dirty="0">
                <a:latin typeface="+mj-lt"/>
              </a:rPr>
              <a:t> </a:t>
            </a:r>
            <a:r>
              <a:rPr sz="1500" dirty="0">
                <a:latin typeface="+mj-lt"/>
              </a:rPr>
              <a:t>provided</a:t>
            </a:r>
            <a:r>
              <a:rPr sz="1500" spc="-13" dirty="0">
                <a:latin typeface="+mj-lt"/>
              </a:rPr>
              <a:t> </a:t>
            </a:r>
            <a:r>
              <a:rPr sz="1500" dirty="0">
                <a:latin typeface="+mj-lt"/>
              </a:rPr>
              <a:t>with</a:t>
            </a:r>
            <a:r>
              <a:rPr sz="1500" spc="-13" dirty="0">
                <a:latin typeface="+mj-lt"/>
              </a:rPr>
              <a:t> </a:t>
            </a:r>
            <a:r>
              <a:rPr sz="1500" dirty="0">
                <a:latin typeface="+mj-lt"/>
              </a:rPr>
              <a:t>some</a:t>
            </a:r>
            <a:r>
              <a:rPr sz="1500" spc="-17" dirty="0">
                <a:latin typeface="+mj-lt"/>
              </a:rPr>
              <a:t> </a:t>
            </a:r>
            <a:r>
              <a:rPr sz="1500" b="1" i="1" dirty="0">
                <a:solidFill>
                  <a:srgbClr val="0000FF"/>
                </a:solidFill>
                <a:latin typeface="+mj-lt"/>
                <a:cs typeface="Times New Roman"/>
              </a:rPr>
              <a:t>goal</a:t>
            </a:r>
            <a:r>
              <a:rPr sz="1500" b="1" i="1" spc="-13" dirty="0">
                <a:solidFill>
                  <a:srgbClr val="0000FF"/>
                </a:solidFill>
                <a:latin typeface="+mj-lt"/>
                <a:cs typeface="Times New Roman"/>
              </a:rPr>
              <a:t> </a:t>
            </a:r>
            <a:r>
              <a:rPr sz="1500" b="1" i="1" spc="-9" dirty="0">
                <a:solidFill>
                  <a:srgbClr val="0000FF"/>
                </a:solidFill>
                <a:latin typeface="+mj-lt"/>
                <a:cs typeface="Times New Roman"/>
              </a:rPr>
              <a:t>information</a:t>
            </a:r>
            <a:r>
              <a:rPr sz="1500" spc="-9" dirty="0">
                <a:latin typeface="+mj-lt"/>
              </a:rPr>
              <a:t>.</a:t>
            </a:r>
          </a:p>
          <a:p>
            <a:pPr marL="10860" marR="4344" algn="just">
              <a:lnSpc>
                <a:spcPct val="120400"/>
              </a:lnSpc>
              <a:spcBef>
                <a:spcPts val="1714"/>
              </a:spcBef>
            </a:pPr>
            <a:r>
              <a:rPr sz="1500" dirty="0">
                <a:latin typeface="+mj-lt"/>
              </a:rPr>
              <a:t>Given</a:t>
            </a:r>
            <a:r>
              <a:rPr sz="1500" spc="51" dirty="0">
                <a:latin typeface="+mj-lt"/>
              </a:rPr>
              <a:t> </a:t>
            </a:r>
            <a:r>
              <a:rPr sz="1500" dirty="0">
                <a:latin typeface="+mj-lt"/>
              </a:rPr>
              <a:t>knowledge</a:t>
            </a:r>
            <a:r>
              <a:rPr sz="1500" spc="51" dirty="0">
                <a:latin typeface="+mj-lt"/>
              </a:rPr>
              <a:t> </a:t>
            </a:r>
            <a:r>
              <a:rPr sz="1500" dirty="0">
                <a:latin typeface="+mj-lt"/>
              </a:rPr>
              <a:t>of</a:t>
            </a:r>
            <a:r>
              <a:rPr sz="1500" spc="51" dirty="0">
                <a:latin typeface="+mj-lt"/>
              </a:rPr>
              <a:t> </a:t>
            </a:r>
            <a:r>
              <a:rPr sz="1500" dirty="0">
                <a:latin typeface="+mj-lt"/>
              </a:rPr>
              <a:t>how</a:t>
            </a:r>
            <a:r>
              <a:rPr sz="1500" spc="51" dirty="0">
                <a:latin typeface="+mj-lt"/>
              </a:rPr>
              <a:t> </a:t>
            </a:r>
            <a:r>
              <a:rPr sz="1500" dirty="0">
                <a:latin typeface="+mj-lt"/>
              </a:rPr>
              <a:t>the</a:t>
            </a:r>
            <a:r>
              <a:rPr sz="1500" spc="51" dirty="0">
                <a:latin typeface="+mj-lt"/>
              </a:rPr>
              <a:t> </a:t>
            </a:r>
            <a:r>
              <a:rPr sz="1500" dirty="0">
                <a:latin typeface="+mj-lt"/>
              </a:rPr>
              <a:t>world</a:t>
            </a:r>
            <a:r>
              <a:rPr sz="1500" spc="51" dirty="0">
                <a:latin typeface="+mj-lt"/>
              </a:rPr>
              <a:t> </a:t>
            </a:r>
            <a:r>
              <a:rPr sz="1500" dirty="0">
                <a:latin typeface="+mj-lt"/>
              </a:rPr>
              <a:t>evolves,</a:t>
            </a:r>
            <a:r>
              <a:rPr sz="1500" spc="51" dirty="0">
                <a:latin typeface="+mj-lt"/>
              </a:rPr>
              <a:t> </a:t>
            </a:r>
            <a:r>
              <a:rPr sz="1500" dirty="0">
                <a:latin typeface="+mj-lt"/>
              </a:rPr>
              <a:t>and</a:t>
            </a:r>
            <a:r>
              <a:rPr sz="1500" spc="56" dirty="0">
                <a:latin typeface="+mj-lt"/>
              </a:rPr>
              <a:t> </a:t>
            </a:r>
            <a:r>
              <a:rPr sz="1500" dirty="0">
                <a:latin typeface="+mj-lt"/>
              </a:rPr>
              <a:t>of</a:t>
            </a:r>
            <a:r>
              <a:rPr sz="1500" spc="51" dirty="0">
                <a:latin typeface="+mj-lt"/>
              </a:rPr>
              <a:t> </a:t>
            </a:r>
            <a:r>
              <a:rPr sz="1500" dirty="0">
                <a:latin typeface="+mj-lt"/>
              </a:rPr>
              <a:t>how</a:t>
            </a:r>
            <a:r>
              <a:rPr sz="1500" spc="51" dirty="0">
                <a:latin typeface="+mj-lt"/>
              </a:rPr>
              <a:t> </a:t>
            </a:r>
            <a:r>
              <a:rPr sz="1500" dirty="0">
                <a:latin typeface="+mj-lt"/>
              </a:rPr>
              <a:t>its</a:t>
            </a:r>
            <a:r>
              <a:rPr sz="1500" spc="51" dirty="0">
                <a:latin typeface="+mj-lt"/>
              </a:rPr>
              <a:t> </a:t>
            </a:r>
            <a:r>
              <a:rPr sz="1500" dirty="0">
                <a:latin typeface="+mj-lt"/>
              </a:rPr>
              <a:t>own</a:t>
            </a:r>
            <a:r>
              <a:rPr sz="1500" spc="51" dirty="0">
                <a:latin typeface="+mj-lt"/>
              </a:rPr>
              <a:t> </a:t>
            </a:r>
            <a:r>
              <a:rPr sz="1500" dirty="0">
                <a:latin typeface="+mj-lt"/>
              </a:rPr>
              <a:t>actions</a:t>
            </a:r>
            <a:r>
              <a:rPr sz="1500" spc="51" dirty="0">
                <a:latin typeface="+mj-lt"/>
              </a:rPr>
              <a:t> </a:t>
            </a:r>
            <a:r>
              <a:rPr sz="1500" dirty="0">
                <a:latin typeface="+mj-lt"/>
              </a:rPr>
              <a:t>will</a:t>
            </a:r>
            <a:r>
              <a:rPr sz="1500" spc="51" dirty="0">
                <a:latin typeface="+mj-lt"/>
              </a:rPr>
              <a:t> </a:t>
            </a:r>
            <a:r>
              <a:rPr sz="1500" dirty="0">
                <a:latin typeface="+mj-lt"/>
              </a:rPr>
              <a:t>affect</a:t>
            </a:r>
            <a:r>
              <a:rPr sz="1500" spc="56" dirty="0">
                <a:latin typeface="+mj-lt"/>
              </a:rPr>
              <a:t> </a:t>
            </a:r>
            <a:r>
              <a:rPr sz="1500" spc="-21" dirty="0">
                <a:latin typeface="+mj-lt"/>
              </a:rPr>
              <a:t>its </a:t>
            </a:r>
            <a:r>
              <a:rPr sz="1500" dirty="0">
                <a:latin typeface="+mj-lt"/>
              </a:rPr>
              <a:t>state,</a:t>
            </a:r>
            <a:r>
              <a:rPr sz="1500" spc="171" dirty="0">
                <a:latin typeface="+mj-lt"/>
              </a:rPr>
              <a:t> </a:t>
            </a:r>
            <a:r>
              <a:rPr sz="1500" dirty="0">
                <a:latin typeface="+mj-lt"/>
              </a:rPr>
              <a:t>an</a:t>
            </a:r>
            <a:r>
              <a:rPr sz="1500" spc="171" dirty="0">
                <a:latin typeface="+mj-lt"/>
              </a:rPr>
              <a:t> </a:t>
            </a:r>
            <a:r>
              <a:rPr sz="1500" dirty="0">
                <a:latin typeface="+mj-lt"/>
              </a:rPr>
              <a:t>agent</a:t>
            </a:r>
            <a:r>
              <a:rPr sz="1500" spc="171" dirty="0">
                <a:latin typeface="+mj-lt"/>
              </a:rPr>
              <a:t> </a:t>
            </a:r>
            <a:r>
              <a:rPr sz="1500" dirty="0">
                <a:latin typeface="+mj-lt"/>
              </a:rPr>
              <a:t>will</a:t>
            </a:r>
            <a:r>
              <a:rPr sz="1500" spc="171" dirty="0">
                <a:latin typeface="+mj-lt"/>
              </a:rPr>
              <a:t> </a:t>
            </a:r>
            <a:r>
              <a:rPr sz="1500" dirty="0">
                <a:latin typeface="+mj-lt"/>
              </a:rPr>
              <a:t>be</a:t>
            </a:r>
            <a:r>
              <a:rPr sz="1500" spc="171" dirty="0">
                <a:latin typeface="+mj-lt"/>
              </a:rPr>
              <a:t> </a:t>
            </a:r>
            <a:r>
              <a:rPr sz="1500" dirty="0">
                <a:latin typeface="+mj-lt"/>
              </a:rPr>
              <a:t>able</a:t>
            </a:r>
            <a:r>
              <a:rPr sz="1500" spc="171" dirty="0">
                <a:latin typeface="+mj-lt"/>
              </a:rPr>
              <a:t> </a:t>
            </a:r>
            <a:r>
              <a:rPr sz="1500" dirty="0">
                <a:latin typeface="+mj-lt"/>
              </a:rPr>
              <a:t>to</a:t>
            </a:r>
            <a:r>
              <a:rPr sz="1500" spc="171" dirty="0">
                <a:latin typeface="+mj-lt"/>
              </a:rPr>
              <a:t> </a:t>
            </a:r>
            <a:r>
              <a:rPr sz="1500" dirty="0">
                <a:latin typeface="+mj-lt"/>
              </a:rPr>
              <a:t>determine</a:t>
            </a:r>
            <a:r>
              <a:rPr sz="1500" spc="171" dirty="0">
                <a:latin typeface="+mj-lt"/>
              </a:rPr>
              <a:t> </a:t>
            </a:r>
            <a:r>
              <a:rPr sz="1500" dirty="0">
                <a:latin typeface="+mj-lt"/>
              </a:rPr>
              <a:t>the</a:t>
            </a:r>
            <a:r>
              <a:rPr sz="1500" spc="171" dirty="0">
                <a:latin typeface="+mj-lt"/>
              </a:rPr>
              <a:t> </a:t>
            </a:r>
            <a:r>
              <a:rPr sz="1500" dirty="0">
                <a:latin typeface="+mj-lt"/>
              </a:rPr>
              <a:t>consequences</a:t>
            </a:r>
            <a:r>
              <a:rPr sz="1500" spc="171" dirty="0">
                <a:latin typeface="+mj-lt"/>
              </a:rPr>
              <a:t> </a:t>
            </a:r>
            <a:r>
              <a:rPr sz="1500" dirty="0">
                <a:latin typeface="+mj-lt"/>
              </a:rPr>
              <a:t>of</a:t>
            </a:r>
            <a:r>
              <a:rPr sz="1500" spc="174" dirty="0">
                <a:latin typeface="+mj-lt"/>
              </a:rPr>
              <a:t> </a:t>
            </a:r>
            <a:r>
              <a:rPr sz="1500" dirty="0">
                <a:latin typeface="+mj-lt"/>
              </a:rPr>
              <a:t>all</a:t>
            </a:r>
            <a:r>
              <a:rPr sz="1500" spc="171" dirty="0">
                <a:latin typeface="+mj-lt"/>
              </a:rPr>
              <a:t> </a:t>
            </a:r>
            <a:r>
              <a:rPr sz="1500" dirty="0">
                <a:latin typeface="+mj-lt"/>
              </a:rPr>
              <a:t>(or</a:t>
            </a:r>
            <a:r>
              <a:rPr sz="1500" spc="171" dirty="0">
                <a:latin typeface="+mj-lt"/>
              </a:rPr>
              <a:t> </a:t>
            </a:r>
            <a:r>
              <a:rPr sz="1500" dirty="0">
                <a:latin typeface="+mj-lt"/>
              </a:rPr>
              <a:t>many)</a:t>
            </a:r>
            <a:r>
              <a:rPr sz="1500" spc="171" dirty="0">
                <a:latin typeface="+mj-lt"/>
              </a:rPr>
              <a:t> </a:t>
            </a:r>
            <a:r>
              <a:rPr sz="1500" spc="-9" dirty="0">
                <a:latin typeface="+mj-lt"/>
              </a:rPr>
              <a:t>possible </a:t>
            </a:r>
            <a:r>
              <a:rPr sz="1500" dirty="0">
                <a:latin typeface="+mj-lt"/>
              </a:rPr>
              <a:t>actions.</a:t>
            </a:r>
            <a:r>
              <a:rPr sz="1500" spc="342" dirty="0">
                <a:latin typeface="+mj-lt"/>
              </a:rPr>
              <a:t> </a:t>
            </a:r>
            <a:r>
              <a:rPr sz="1500" dirty="0">
                <a:latin typeface="+mj-lt"/>
              </a:rPr>
              <a:t>It</a:t>
            </a:r>
            <a:r>
              <a:rPr sz="1500" spc="-21" dirty="0">
                <a:latin typeface="+mj-lt"/>
              </a:rPr>
              <a:t> </a:t>
            </a:r>
            <a:r>
              <a:rPr sz="1500" dirty="0">
                <a:latin typeface="+mj-lt"/>
              </a:rPr>
              <a:t>can</a:t>
            </a:r>
            <a:r>
              <a:rPr sz="1500" spc="-21" dirty="0">
                <a:latin typeface="+mj-lt"/>
              </a:rPr>
              <a:t> </a:t>
            </a:r>
            <a:r>
              <a:rPr sz="1500" dirty="0">
                <a:latin typeface="+mj-lt"/>
              </a:rPr>
              <a:t>then</a:t>
            </a:r>
            <a:r>
              <a:rPr sz="1500" spc="-26" dirty="0">
                <a:latin typeface="+mj-lt"/>
              </a:rPr>
              <a:t> </a:t>
            </a:r>
            <a:r>
              <a:rPr sz="1500" dirty="0">
                <a:latin typeface="+mj-lt"/>
              </a:rPr>
              <a:t>compare</a:t>
            </a:r>
            <a:r>
              <a:rPr sz="1500" spc="-21" dirty="0">
                <a:latin typeface="+mj-lt"/>
              </a:rPr>
              <a:t> </a:t>
            </a:r>
            <a:r>
              <a:rPr sz="1500" dirty="0">
                <a:latin typeface="+mj-lt"/>
              </a:rPr>
              <a:t>each</a:t>
            </a:r>
            <a:r>
              <a:rPr sz="1500" spc="-21" dirty="0">
                <a:latin typeface="+mj-lt"/>
              </a:rPr>
              <a:t> </a:t>
            </a:r>
            <a:r>
              <a:rPr sz="1500" dirty="0">
                <a:latin typeface="+mj-lt"/>
              </a:rPr>
              <a:t>of</a:t>
            </a:r>
            <a:r>
              <a:rPr sz="1500" spc="-21" dirty="0">
                <a:latin typeface="+mj-lt"/>
              </a:rPr>
              <a:t> </a:t>
            </a:r>
            <a:r>
              <a:rPr sz="1500" dirty="0">
                <a:latin typeface="+mj-lt"/>
              </a:rPr>
              <a:t>these</a:t>
            </a:r>
            <a:r>
              <a:rPr sz="1500" spc="-26" dirty="0">
                <a:latin typeface="+mj-lt"/>
              </a:rPr>
              <a:t> </a:t>
            </a:r>
            <a:r>
              <a:rPr sz="1500" dirty="0">
                <a:latin typeface="+mj-lt"/>
              </a:rPr>
              <a:t>against</a:t>
            </a:r>
            <a:r>
              <a:rPr sz="1500" spc="-21" dirty="0">
                <a:latin typeface="+mj-lt"/>
              </a:rPr>
              <a:t> </a:t>
            </a:r>
            <a:r>
              <a:rPr sz="1500" dirty="0">
                <a:latin typeface="+mj-lt"/>
              </a:rPr>
              <a:t>its</a:t>
            </a:r>
            <a:r>
              <a:rPr sz="1500" spc="-21" dirty="0">
                <a:latin typeface="+mj-lt"/>
              </a:rPr>
              <a:t> </a:t>
            </a:r>
            <a:r>
              <a:rPr sz="1500" dirty="0">
                <a:latin typeface="+mj-lt"/>
              </a:rPr>
              <a:t>goal</a:t>
            </a:r>
            <a:r>
              <a:rPr sz="1500" spc="-21" dirty="0">
                <a:latin typeface="+mj-lt"/>
              </a:rPr>
              <a:t> </a:t>
            </a:r>
            <a:r>
              <a:rPr sz="1500" dirty="0">
                <a:latin typeface="+mj-lt"/>
              </a:rPr>
              <a:t>to</a:t>
            </a:r>
            <a:r>
              <a:rPr sz="1500" spc="-26" dirty="0">
                <a:latin typeface="+mj-lt"/>
              </a:rPr>
              <a:t> </a:t>
            </a:r>
            <a:r>
              <a:rPr sz="1500" dirty="0">
                <a:latin typeface="+mj-lt"/>
              </a:rPr>
              <a:t>determine</a:t>
            </a:r>
            <a:r>
              <a:rPr sz="1500" spc="-21" dirty="0">
                <a:latin typeface="+mj-lt"/>
              </a:rPr>
              <a:t> </a:t>
            </a:r>
            <a:r>
              <a:rPr sz="1500" dirty="0">
                <a:latin typeface="+mj-lt"/>
              </a:rPr>
              <a:t>which</a:t>
            </a:r>
            <a:r>
              <a:rPr sz="1500" spc="-21" dirty="0">
                <a:latin typeface="+mj-lt"/>
              </a:rPr>
              <a:t> </a:t>
            </a:r>
            <a:r>
              <a:rPr sz="1500" spc="-9" dirty="0">
                <a:latin typeface="+mj-lt"/>
              </a:rPr>
              <a:t>action(s) </a:t>
            </a:r>
            <a:r>
              <a:rPr sz="1500" dirty="0">
                <a:latin typeface="+mj-lt"/>
              </a:rPr>
              <a:t>achieves</a:t>
            </a:r>
            <a:r>
              <a:rPr sz="1500" spc="-30" dirty="0">
                <a:latin typeface="+mj-lt"/>
              </a:rPr>
              <a:t> </a:t>
            </a:r>
            <a:r>
              <a:rPr sz="1500" dirty="0">
                <a:latin typeface="+mj-lt"/>
              </a:rPr>
              <a:t>its</a:t>
            </a:r>
            <a:r>
              <a:rPr sz="1500" spc="-30" dirty="0">
                <a:latin typeface="+mj-lt"/>
              </a:rPr>
              <a:t> </a:t>
            </a:r>
            <a:r>
              <a:rPr sz="1500" dirty="0">
                <a:latin typeface="+mj-lt"/>
              </a:rPr>
              <a:t>goal,</a:t>
            </a:r>
            <a:r>
              <a:rPr sz="1500" spc="-30" dirty="0">
                <a:latin typeface="+mj-lt"/>
              </a:rPr>
              <a:t> </a:t>
            </a:r>
            <a:r>
              <a:rPr sz="1500" dirty="0">
                <a:latin typeface="+mj-lt"/>
              </a:rPr>
              <a:t>and</a:t>
            </a:r>
            <a:r>
              <a:rPr sz="1500" spc="-30" dirty="0">
                <a:latin typeface="+mj-lt"/>
              </a:rPr>
              <a:t> </a:t>
            </a:r>
            <a:r>
              <a:rPr sz="1500" dirty="0">
                <a:latin typeface="+mj-lt"/>
              </a:rPr>
              <a:t>hence</a:t>
            </a:r>
            <a:r>
              <a:rPr sz="1500" spc="-30" dirty="0">
                <a:latin typeface="+mj-lt"/>
              </a:rPr>
              <a:t> </a:t>
            </a:r>
            <a:r>
              <a:rPr sz="1500" dirty="0">
                <a:latin typeface="+mj-lt"/>
              </a:rPr>
              <a:t>which</a:t>
            </a:r>
            <a:r>
              <a:rPr sz="1500" spc="-26" dirty="0">
                <a:latin typeface="+mj-lt"/>
              </a:rPr>
              <a:t> </a:t>
            </a:r>
            <a:r>
              <a:rPr sz="1500" dirty="0">
                <a:latin typeface="+mj-lt"/>
              </a:rPr>
              <a:t>action(s)</a:t>
            </a:r>
            <a:r>
              <a:rPr sz="1500" spc="-30" dirty="0">
                <a:latin typeface="+mj-lt"/>
              </a:rPr>
              <a:t> </a:t>
            </a:r>
            <a:r>
              <a:rPr sz="1500" dirty="0">
                <a:latin typeface="+mj-lt"/>
              </a:rPr>
              <a:t>to</a:t>
            </a:r>
            <a:r>
              <a:rPr sz="1500" spc="-30" dirty="0">
                <a:latin typeface="+mj-lt"/>
              </a:rPr>
              <a:t> </a:t>
            </a:r>
            <a:r>
              <a:rPr sz="1500" spc="-9" dirty="0">
                <a:latin typeface="+mj-lt"/>
              </a:rPr>
              <a:t>take.</a:t>
            </a:r>
          </a:p>
          <a:p>
            <a:pPr marL="10860" marR="4887" algn="just">
              <a:lnSpc>
                <a:spcPct val="120000"/>
              </a:lnSpc>
              <a:spcBef>
                <a:spcPts val="1722"/>
              </a:spcBef>
            </a:pPr>
            <a:r>
              <a:rPr sz="1500" dirty="0">
                <a:latin typeface="+mj-lt"/>
              </a:rPr>
              <a:t>If</a:t>
            </a:r>
            <a:r>
              <a:rPr sz="1500" spc="68" dirty="0">
                <a:latin typeface="+mj-lt"/>
              </a:rPr>
              <a:t> </a:t>
            </a:r>
            <a:r>
              <a:rPr sz="1500" dirty="0">
                <a:latin typeface="+mj-lt"/>
              </a:rPr>
              <a:t>a</a:t>
            </a:r>
            <a:r>
              <a:rPr sz="1500" spc="73" dirty="0">
                <a:latin typeface="+mj-lt"/>
              </a:rPr>
              <a:t> </a:t>
            </a:r>
            <a:r>
              <a:rPr sz="1500" dirty="0">
                <a:latin typeface="+mj-lt"/>
              </a:rPr>
              <a:t>long</a:t>
            </a:r>
            <a:r>
              <a:rPr sz="1500" spc="73" dirty="0">
                <a:latin typeface="+mj-lt"/>
              </a:rPr>
              <a:t> </a:t>
            </a:r>
            <a:r>
              <a:rPr sz="1500" dirty="0">
                <a:latin typeface="+mj-lt"/>
              </a:rPr>
              <a:t>sequence</a:t>
            </a:r>
            <a:r>
              <a:rPr sz="1500" spc="73" dirty="0">
                <a:latin typeface="+mj-lt"/>
              </a:rPr>
              <a:t> </a:t>
            </a:r>
            <a:r>
              <a:rPr sz="1500" dirty="0">
                <a:latin typeface="+mj-lt"/>
              </a:rPr>
              <a:t>of</a:t>
            </a:r>
            <a:r>
              <a:rPr sz="1500" spc="68" dirty="0">
                <a:latin typeface="+mj-lt"/>
              </a:rPr>
              <a:t> </a:t>
            </a:r>
            <a:r>
              <a:rPr sz="1500" dirty="0">
                <a:latin typeface="+mj-lt"/>
              </a:rPr>
              <a:t>actions</a:t>
            </a:r>
            <a:r>
              <a:rPr sz="1500" spc="73" dirty="0">
                <a:latin typeface="+mj-lt"/>
              </a:rPr>
              <a:t> </a:t>
            </a:r>
            <a:r>
              <a:rPr sz="1500" dirty="0">
                <a:latin typeface="+mj-lt"/>
              </a:rPr>
              <a:t>is</a:t>
            </a:r>
            <a:r>
              <a:rPr sz="1500" spc="73" dirty="0">
                <a:latin typeface="+mj-lt"/>
              </a:rPr>
              <a:t> </a:t>
            </a:r>
            <a:r>
              <a:rPr sz="1500" dirty="0">
                <a:latin typeface="+mj-lt"/>
              </a:rPr>
              <a:t>required</a:t>
            </a:r>
            <a:r>
              <a:rPr sz="1500" spc="73" dirty="0">
                <a:latin typeface="+mj-lt"/>
              </a:rPr>
              <a:t> </a:t>
            </a:r>
            <a:r>
              <a:rPr sz="1500" dirty="0">
                <a:latin typeface="+mj-lt"/>
              </a:rPr>
              <a:t>to</a:t>
            </a:r>
            <a:r>
              <a:rPr sz="1500" spc="68" dirty="0">
                <a:latin typeface="+mj-lt"/>
              </a:rPr>
              <a:t> </a:t>
            </a:r>
            <a:r>
              <a:rPr sz="1500" dirty="0">
                <a:latin typeface="+mj-lt"/>
              </a:rPr>
              <a:t>reach</a:t>
            </a:r>
            <a:r>
              <a:rPr sz="1500" spc="73" dirty="0">
                <a:latin typeface="+mj-lt"/>
              </a:rPr>
              <a:t> </a:t>
            </a:r>
            <a:r>
              <a:rPr sz="1500" dirty="0">
                <a:latin typeface="+mj-lt"/>
              </a:rPr>
              <a:t>the</a:t>
            </a:r>
            <a:r>
              <a:rPr sz="1500" spc="73" dirty="0">
                <a:latin typeface="+mj-lt"/>
              </a:rPr>
              <a:t> </a:t>
            </a:r>
            <a:r>
              <a:rPr sz="1500" dirty="0">
                <a:latin typeface="+mj-lt"/>
              </a:rPr>
              <a:t>goal,</a:t>
            </a:r>
            <a:r>
              <a:rPr sz="1500" spc="73" dirty="0">
                <a:latin typeface="+mj-lt"/>
              </a:rPr>
              <a:t> </a:t>
            </a:r>
            <a:r>
              <a:rPr sz="1500" dirty="0">
                <a:latin typeface="+mj-lt"/>
              </a:rPr>
              <a:t>then</a:t>
            </a:r>
            <a:r>
              <a:rPr sz="1500" spc="68" dirty="0">
                <a:latin typeface="+mj-lt"/>
              </a:rPr>
              <a:t> </a:t>
            </a:r>
            <a:r>
              <a:rPr sz="1500" b="1" i="1" dirty="0">
                <a:solidFill>
                  <a:srgbClr val="0000FF"/>
                </a:solidFill>
                <a:latin typeface="+mj-lt"/>
                <a:cs typeface="Times New Roman"/>
              </a:rPr>
              <a:t>Search</a:t>
            </a:r>
            <a:r>
              <a:rPr sz="1500" b="1" i="1" spc="26" dirty="0">
                <a:solidFill>
                  <a:srgbClr val="0000FF"/>
                </a:solidFill>
                <a:latin typeface="+mj-lt"/>
                <a:cs typeface="Times New Roman"/>
              </a:rPr>
              <a:t> </a:t>
            </a:r>
            <a:r>
              <a:rPr sz="1500" dirty="0">
                <a:latin typeface="+mj-lt"/>
              </a:rPr>
              <a:t>and</a:t>
            </a:r>
            <a:r>
              <a:rPr sz="1500" spc="26" dirty="0">
                <a:latin typeface="+mj-lt"/>
              </a:rPr>
              <a:t> </a:t>
            </a:r>
            <a:r>
              <a:rPr sz="1500" b="1" i="1" spc="-9" dirty="0">
                <a:solidFill>
                  <a:srgbClr val="0000FF"/>
                </a:solidFill>
                <a:latin typeface="+mj-lt"/>
                <a:cs typeface="Times New Roman"/>
              </a:rPr>
              <a:t>Planning </a:t>
            </a:r>
            <a:r>
              <a:rPr sz="1500" dirty="0">
                <a:latin typeface="+mj-lt"/>
              </a:rPr>
              <a:t>are</a:t>
            </a:r>
            <a:r>
              <a:rPr sz="1500" spc="86" dirty="0">
                <a:latin typeface="+mj-lt"/>
              </a:rPr>
              <a:t> </a:t>
            </a:r>
            <a:r>
              <a:rPr sz="1500" dirty="0">
                <a:latin typeface="+mj-lt"/>
              </a:rPr>
              <a:t>the</a:t>
            </a:r>
            <a:r>
              <a:rPr sz="1500" spc="90" dirty="0">
                <a:latin typeface="+mj-lt"/>
              </a:rPr>
              <a:t> </a:t>
            </a:r>
            <a:r>
              <a:rPr sz="1500" spc="-9" dirty="0">
                <a:latin typeface="+mj-lt"/>
              </a:rPr>
              <a:t>sub-</a:t>
            </a:r>
            <a:r>
              <a:rPr sz="1500" dirty="0">
                <a:latin typeface="+mj-lt"/>
              </a:rPr>
              <a:t>fields</a:t>
            </a:r>
            <a:r>
              <a:rPr sz="1500" spc="90" dirty="0">
                <a:latin typeface="+mj-lt"/>
              </a:rPr>
              <a:t> </a:t>
            </a:r>
            <a:r>
              <a:rPr sz="1500" dirty="0">
                <a:latin typeface="+mj-lt"/>
              </a:rPr>
              <a:t>of</a:t>
            </a:r>
            <a:r>
              <a:rPr sz="1500" spc="90" dirty="0">
                <a:latin typeface="+mj-lt"/>
              </a:rPr>
              <a:t> </a:t>
            </a:r>
            <a:r>
              <a:rPr sz="1500" dirty="0">
                <a:latin typeface="+mj-lt"/>
              </a:rPr>
              <a:t>AI</a:t>
            </a:r>
            <a:r>
              <a:rPr sz="1500" spc="90" dirty="0">
                <a:latin typeface="+mj-lt"/>
              </a:rPr>
              <a:t> </a:t>
            </a:r>
            <a:r>
              <a:rPr sz="1500" dirty="0">
                <a:latin typeface="+mj-lt"/>
              </a:rPr>
              <a:t>that</a:t>
            </a:r>
            <a:r>
              <a:rPr sz="1500" spc="90" dirty="0">
                <a:latin typeface="+mj-lt"/>
              </a:rPr>
              <a:t> </a:t>
            </a:r>
            <a:r>
              <a:rPr sz="1500" dirty="0">
                <a:latin typeface="+mj-lt"/>
              </a:rPr>
              <a:t>must</a:t>
            </a:r>
            <a:r>
              <a:rPr sz="1500" spc="90" dirty="0">
                <a:latin typeface="+mj-lt"/>
              </a:rPr>
              <a:t> </a:t>
            </a:r>
            <a:r>
              <a:rPr sz="1500" dirty="0">
                <a:latin typeface="+mj-lt"/>
              </a:rPr>
              <a:t>be</a:t>
            </a:r>
            <a:r>
              <a:rPr sz="1500" spc="90" dirty="0">
                <a:latin typeface="+mj-lt"/>
              </a:rPr>
              <a:t> </a:t>
            </a:r>
            <a:r>
              <a:rPr sz="1500" dirty="0">
                <a:latin typeface="+mj-lt"/>
              </a:rPr>
              <a:t>called</a:t>
            </a:r>
            <a:r>
              <a:rPr sz="1500" spc="90" dirty="0">
                <a:latin typeface="+mj-lt"/>
              </a:rPr>
              <a:t> </a:t>
            </a:r>
            <a:r>
              <a:rPr sz="1500" dirty="0">
                <a:latin typeface="+mj-lt"/>
              </a:rPr>
              <a:t>into</a:t>
            </a:r>
            <a:r>
              <a:rPr sz="1500" spc="90" dirty="0">
                <a:latin typeface="+mj-lt"/>
              </a:rPr>
              <a:t> </a:t>
            </a:r>
            <a:r>
              <a:rPr sz="1500" dirty="0">
                <a:latin typeface="+mj-lt"/>
              </a:rPr>
              <a:t>action.</a:t>
            </a:r>
            <a:r>
              <a:rPr sz="1500" spc="81" dirty="0">
                <a:latin typeface="+mj-lt"/>
              </a:rPr>
              <a:t>  </a:t>
            </a:r>
            <a:r>
              <a:rPr sz="1500" dirty="0">
                <a:latin typeface="+mj-lt"/>
              </a:rPr>
              <a:t>In</a:t>
            </a:r>
            <a:r>
              <a:rPr sz="1500" spc="94" dirty="0">
                <a:latin typeface="+mj-lt"/>
              </a:rPr>
              <a:t> </a:t>
            </a:r>
            <a:r>
              <a:rPr sz="1500" dirty="0">
                <a:latin typeface="+mj-lt"/>
              </a:rPr>
              <a:t>simple</a:t>
            </a:r>
            <a:r>
              <a:rPr sz="1500" spc="90" dirty="0">
                <a:latin typeface="+mj-lt"/>
              </a:rPr>
              <a:t> </a:t>
            </a:r>
            <a:r>
              <a:rPr sz="1500" dirty="0">
                <a:latin typeface="+mj-lt"/>
              </a:rPr>
              <a:t>reflex</a:t>
            </a:r>
            <a:r>
              <a:rPr sz="1500" spc="90" dirty="0">
                <a:latin typeface="+mj-lt"/>
              </a:rPr>
              <a:t> </a:t>
            </a:r>
            <a:r>
              <a:rPr sz="1500" dirty="0">
                <a:latin typeface="+mj-lt"/>
              </a:rPr>
              <a:t>agents,</a:t>
            </a:r>
            <a:r>
              <a:rPr sz="1500" spc="90" dirty="0">
                <a:latin typeface="+mj-lt"/>
              </a:rPr>
              <a:t> </a:t>
            </a:r>
            <a:r>
              <a:rPr sz="1500" spc="-17" dirty="0">
                <a:latin typeface="+mj-lt"/>
              </a:rPr>
              <a:t>such </a:t>
            </a:r>
            <a:r>
              <a:rPr sz="1500" dirty="0">
                <a:latin typeface="+mj-lt"/>
              </a:rPr>
              <a:t>information</a:t>
            </a:r>
            <a:r>
              <a:rPr sz="1500" spc="-21" dirty="0">
                <a:latin typeface="+mj-lt"/>
              </a:rPr>
              <a:t> </a:t>
            </a:r>
            <a:r>
              <a:rPr sz="1500" dirty="0">
                <a:latin typeface="+mj-lt"/>
              </a:rPr>
              <a:t>would</a:t>
            </a:r>
            <a:r>
              <a:rPr sz="1500" spc="-17" dirty="0">
                <a:latin typeface="+mj-lt"/>
              </a:rPr>
              <a:t> </a:t>
            </a:r>
            <a:r>
              <a:rPr sz="1500" dirty="0">
                <a:latin typeface="+mj-lt"/>
              </a:rPr>
              <a:t>have</a:t>
            </a:r>
            <a:r>
              <a:rPr sz="1500" spc="-17" dirty="0">
                <a:latin typeface="+mj-lt"/>
              </a:rPr>
              <a:t> </a:t>
            </a:r>
            <a:r>
              <a:rPr sz="1500" dirty="0">
                <a:latin typeface="+mj-lt"/>
              </a:rPr>
              <a:t>to</a:t>
            </a:r>
            <a:r>
              <a:rPr sz="1500" spc="-17" dirty="0">
                <a:latin typeface="+mj-lt"/>
              </a:rPr>
              <a:t> </a:t>
            </a:r>
            <a:r>
              <a:rPr sz="1500" dirty="0">
                <a:latin typeface="+mj-lt"/>
              </a:rPr>
              <a:t>be</a:t>
            </a:r>
            <a:r>
              <a:rPr sz="1500" spc="-17" dirty="0">
                <a:latin typeface="+mj-lt"/>
              </a:rPr>
              <a:t> </a:t>
            </a:r>
            <a:r>
              <a:rPr sz="1500" spc="-9" dirty="0">
                <a:latin typeface="+mj-lt"/>
              </a:rPr>
              <a:t>pre-</a:t>
            </a:r>
            <a:r>
              <a:rPr sz="1500" dirty="0">
                <a:latin typeface="+mj-lt"/>
              </a:rPr>
              <a:t>computed</a:t>
            </a:r>
            <a:r>
              <a:rPr sz="1500" spc="-17" dirty="0">
                <a:latin typeface="+mj-lt"/>
              </a:rPr>
              <a:t> </a:t>
            </a:r>
            <a:r>
              <a:rPr sz="1500" dirty="0">
                <a:latin typeface="+mj-lt"/>
              </a:rPr>
              <a:t>and</a:t>
            </a:r>
            <a:r>
              <a:rPr sz="1500" spc="-17" dirty="0">
                <a:latin typeface="+mj-lt"/>
              </a:rPr>
              <a:t> </a:t>
            </a:r>
            <a:r>
              <a:rPr sz="1500" dirty="0">
                <a:latin typeface="+mj-lt"/>
              </a:rPr>
              <a:t>built</a:t>
            </a:r>
            <a:r>
              <a:rPr sz="1500" spc="-17" dirty="0">
                <a:latin typeface="+mj-lt"/>
              </a:rPr>
              <a:t> </a:t>
            </a:r>
            <a:r>
              <a:rPr sz="1500" dirty="0">
                <a:latin typeface="+mj-lt"/>
              </a:rPr>
              <a:t>into</a:t>
            </a:r>
            <a:r>
              <a:rPr sz="1500" spc="-17" dirty="0">
                <a:latin typeface="+mj-lt"/>
              </a:rPr>
              <a:t> </a:t>
            </a:r>
            <a:r>
              <a:rPr sz="1500" dirty="0">
                <a:latin typeface="+mj-lt"/>
              </a:rPr>
              <a:t>the</a:t>
            </a:r>
            <a:r>
              <a:rPr sz="1500" spc="-17" dirty="0">
                <a:latin typeface="+mj-lt"/>
              </a:rPr>
              <a:t> </a:t>
            </a:r>
            <a:r>
              <a:rPr sz="1500" dirty="0">
                <a:latin typeface="+mj-lt"/>
              </a:rPr>
              <a:t>system</a:t>
            </a:r>
            <a:r>
              <a:rPr sz="1500" spc="-21" dirty="0">
                <a:latin typeface="+mj-lt"/>
              </a:rPr>
              <a:t> </a:t>
            </a:r>
            <a:r>
              <a:rPr sz="1500" dirty="0">
                <a:latin typeface="+mj-lt"/>
              </a:rPr>
              <a:t>by</a:t>
            </a:r>
            <a:r>
              <a:rPr sz="1500" spc="-17" dirty="0">
                <a:latin typeface="+mj-lt"/>
              </a:rPr>
              <a:t> </a:t>
            </a:r>
            <a:r>
              <a:rPr sz="1500" dirty="0">
                <a:latin typeface="+mj-lt"/>
              </a:rPr>
              <a:t>the</a:t>
            </a:r>
            <a:r>
              <a:rPr sz="1500" spc="-17" dirty="0">
                <a:latin typeface="+mj-lt"/>
              </a:rPr>
              <a:t> </a:t>
            </a:r>
            <a:r>
              <a:rPr sz="1500" spc="-9" dirty="0">
                <a:latin typeface="+mj-lt"/>
              </a:rPr>
              <a:t>designer.</a:t>
            </a:r>
          </a:p>
          <a:p>
            <a:pPr marL="10860" marR="4344" algn="just">
              <a:lnSpc>
                <a:spcPct val="120000"/>
              </a:lnSpc>
              <a:spcBef>
                <a:spcPts val="1727"/>
              </a:spcBef>
            </a:pPr>
            <a:r>
              <a:rPr sz="1500" dirty="0">
                <a:latin typeface="+mj-lt"/>
              </a:rPr>
              <a:t>Goal</a:t>
            </a:r>
            <a:r>
              <a:rPr sz="1500" spc="115" dirty="0">
                <a:latin typeface="+mj-lt"/>
              </a:rPr>
              <a:t> </a:t>
            </a:r>
            <a:r>
              <a:rPr sz="1500" dirty="0">
                <a:latin typeface="+mj-lt"/>
              </a:rPr>
              <a:t>based</a:t>
            </a:r>
            <a:r>
              <a:rPr sz="1500" spc="128" dirty="0">
                <a:latin typeface="+mj-lt"/>
              </a:rPr>
              <a:t> </a:t>
            </a:r>
            <a:r>
              <a:rPr sz="1500" dirty="0">
                <a:latin typeface="+mj-lt"/>
              </a:rPr>
              <a:t>agents</a:t>
            </a:r>
            <a:r>
              <a:rPr sz="1500" spc="128" dirty="0">
                <a:latin typeface="+mj-lt"/>
              </a:rPr>
              <a:t> </a:t>
            </a:r>
            <a:r>
              <a:rPr sz="1500" dirty="0">
                <a:latin typeface="+mj-lt"/>
              </a:rPr>
              <a:t>may</a:t>
            </a:r>
            <a:r>
              <a:rPr sz="1500" spc="128" dirty="0">
                <a:latin typeface="+mj-lt"/>
              </a:rPr>
              <a:t> </a:t>
            </a:r>
            <a:r>
              <a:rPr sz="1500" dirty="0">
                <a:latin typeface="+mj-lt"/>
              </a:rPr>
              <a:t>appear</a:t>
            </a:r>
            <a:r>
              <a:rPr sz="1500" spc="128" dirty="0">
                <a:latin typeface="+mj-lt"/>
              </a:rPr>
              <a:t> </a:t>
            </a:r>
            <a:r>
              <a:rPr sz="1500" dirty="0">
                <a:latin typeface="+mj-lt"/>
              </a:rPr>
              <a:t>less</a:t>
            </a:r>
            <a:r>
              <a:rPr sz="1500" spc="124" dirty="0">
                <a:latin typeface="+mj-lt"/>
              </a:rPr>
              <a:t> </a:t>
            </a:r>
            <a:r>
              <a:rPr sz="1500" dirty="0">
                <a:latin typeface="+mj-lt"/>
              </a:rPr>
              <a:t>efficient,</a:t>
            </a:r>
            <a:r>
              <a:rPr sz="1500" spc="128" dirty="0">
                <a:latin typeface="+mj-lt"/>
              </a:rPr>
              <a:t> </a:t>
            </a:r>
            <a:r>
              <a:rPr sz="1500" dirty="0">
                <a:latin typeface="+mj-lt"/>
              </a:rPr>
              <a:t>but</a:t>
            </a:r>
            <a:r>
              <a:rPr sz="1500" spc="128" dirty="0">
                <a:latin typeface="+mj-lt"/>
              </a:rPr>
              <a:t> </a:t>
            </a:r>
            <a:r>
              <a:rPr sz="1500" dirty="0">
                <a:latin typeface="+mj-lt"/>
              </a:rPr>
              <a:t>they</a:t>
            </a:r>
            <a:r>
              <a:rPr sz="1500" spc="128" dirty="0">
                <a:latin typeface="+mj-lt"/>
              </a:rPr>
              <a:t> </a:t>
            </a:r>
            <a:r>
              <a:rPr sz="1500" dirty="0">
                <a:latin typeface="+mj-lt"/>
              </a:rPr>
              <a:t>are</a:t>
            </a:r>
            <a:r>
              <a:rPr sz="1500" spc="128" dirty="0">
                <a:latin typeface="+mj-lt"/>
              </a:rPr>
              <a:t> </a:t>
            </a:r>
            <a:r>
              <a:rPr sz="1500" dirty="0">
                <a:latin typeface="+mj-lt"/>
              </a:rPr>
              <a:t>far</a:t>
            </a:r>
            <a:r>
              <a:rPr sz="1500" spc="124" dirty="0">
                <a:latin typeface="+mj-lt"/>
              </a:rPr>
              <a:t> </a:t>
            </a:r>
            <a:r>
              <a:rPr sz="1500" dirty="0">
                <a:latin typeface="+mj-lt"/>
              </a:rPr>
              <a:t>more</a:t>
            </a:r>
            <a:r>
              <a:rPr sz="1500" spc="128" dirty="0">
                <a:latin typeface="+mj-lt"/>
              </a:rPr>
              <a:t> </a:t>
            </a:r>
            <a:r>
              <a:rPr sz="1500" dirty="0">
                <a:latin typeface="+mj-lt"/>
              </a:rPr>
              <a:t>flexible.</a:t>
            </a:r>
            <a:r>
              <a:rPr sz="1500" spc="124" dirty="0">
                <a:latin typeface="+mj-lt"/>
              </a:rPr>
              <a:t>  </a:t>
            </a:r>
            <a:r>
              <a:rPr sz="1500" dirty="0">
                <a:latin typeface="+mj-lt"/>
              </a:rPr>
              <a:t>We</a:t>
            </a:r>
            <a:r>
              <a:rPr sz="1500" spc="128" dirty="0">
                <a:latin typeface="+mj-lt"/>
              </a:rPr>
              <a:t> </a:t>
            </a:r>
            <a:r>
              <a:rPr sz="1500" spc="-21" dirty="0">
                <a:latin typeface="+mj-lt"/>
              </a:rPr>
              <a:t>can </a:t>
            </a:r>
            <a:r>
              <a:rPr sz="1500" dirty="0">
                <a:latin typeface="+mj-lt"/>
              </a:rPr>
              <a:t>simply</a:t>
            </a:r>
            <a:r>
              <a:rPr sz="1500" spc="-30" dirty="0">
                <a:latin typeface="+mj-lt"/>
              </a:rPr>
              <a:t> </a:t>
            </a:r>
            <a:r>
              <a:rPr sz="1500" dirty="0">
                <a:latin typeface="+mj-lt"/>
              </a:rPr>
              <a:t>specify</a:t>
            </a:r>
            <a:r>
              <a:rPr sz="1500" spc="-30" dirty="0">
                <a:latin typeface="+mj-lt"/>
              </a:rPr>
              <a:t> </a:t>
            </a:r>
            <a:r>
              <a:rPr sz="1500" dirty="0">
                <a:latin typeface="+mj-lt"/>
              </a:rPr>
              <a:t>a</a:t>
            </a:r>
            <a:r>
              <a:rPr sz="1500" spc="-26" dirty="0">
                <a:latin typeface="+mj-lt"/>
              </a:rPr>
              <a:t> </a:t>
            </a:r>
            <a:r>
              <a:rPr sz="1500" dirty="0">
                <a:latin typeface="+mj-lt"/>
              </a:rPr>
              <a:t>new</a:t>
            </a:r>
            <a:r>
              <a:rPr sz="1500" spc="-30" dirty="0">
                <a:latin typeface="+mj-lt"/>
              </a:rPr>
              <a:t> </a:t>
            </a:r>
            <a:r>
              <a:rPr sz="1500" dirty="0">
                <a:latin typeface="+mj-lt"/>
              </a:rPr>
              <a:t>goal,</a:t>
            </a:r>
            <a:r>
              <a:rPr sz="1500" spc="-26" dirty="0">
                <a:latin typeface="+mj-lt"/>
              </a:rPr>
              <a:t> </a:t>
            </a:r>
            <a:r>
              <a:rPr sz="1500" dirty="0">
                <a:latin typeface="+mj-lt"/>
              </a:rPr>
              <a:t>rather</a:t>
            </a:r>
            <a:r>
              <a:rPr sz="1500" spc="-30" dirty="0">
                <a:latin typeface="+mj-lt"/>
              </a:rPr>
              <a:t> </a:t>
            </a:r>
            <a:r>
              <a:rPr sz="1500" dirty="0">
                <a:latin typeface="+mj-lt"/>
              </a:rPr>
              <a:t>than</a:t>
            </a:r>
            <a:r>
              <a:rPr sz="1500" spc="-26" dirty="0">
                <a:latin typeface="+mj-lt"/>
              </a:rPr>
              <a:t> </a:t>
            </a:r>
            <a:r>
              <a:rPr sz="1500" spc="-9" dirty="0">
                <a:latin typeface="+mj-lt"/>
              </a:rPr>
              <a:t>re-</a:t>
            </a:r>
            <a:r>
              <a:rPr sz="1500" dirty="0">
                <a:latin typeface="+mj-lt"/>
              </a:rPr>
              <a:t>programming</a:t>
            </a:r>
            <a:r>
              <a:rPr sz="1500" spc="-30" dirty="0">
                <a:latin typeface="+mj-lt"/>
              </a:rPr>
              <a:t> </a:t>
            </a:r>
            <a:r>
              <a:rPr sz="1500" dirty="0">
                <a:latin typeface="+mj-lt"/>
              </a:rPr>
              <a:t>all</a:t>
            </a:r>
            <a:r>
              <a:rPr sz="1500" spc="-26" dirty="0">
                <a:latin typeface="+mj-lt"/>
              </a:rPr>
              <a:t> </a:t>
            </a:r>
            <a:r>
              <a:rPr sz="1500" dirty="0">
                <a:latin typeface="+mj-lt"/>
              </a:rPr>
              <a:t>the</a:t>
            </a:r>
            <a:r>
              <a:rPr sz="1500" spc="-30" dirty="0">
                <a:latin typeface="+mj-lt"/>
              </a:rPr>
              <a:t> </a:t>
            </a:r>
            <a:r>
              <a:rPr sz="1500" spc="-9" dirty="0">
                <a:latin typeface="+mj-lt"/>
              </a:rPr>
              <a:t>rules.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214" y="429995"/>
            <a:ext cx="6010659" cy="688074"/>
          </a:xfrm>
          <a:prstGeom prst="rect">
            <a:avLst/>
          </a:prstGeom>
        </p:spPr>
        <p:txBody>
          <a:bodyPr vert="horz" wrap="square" lIns="0" tIns="10860" rIns="0" bIns="0" rtlCol="0">
            <a:spAutoFit/>
          </a:bodyPr>
          <a:lstStyle/>
          <a:p>
            <a:pPr marL="1201634">
              <a:spcBef>
                <a:spcPts val="86"/>
              </a:spcBef>
            </a:pPr>
            <a:r>
              <a:rPr dirty="0"/>
              <a:t>Utility</a:t>
            </a:r>
            <a:r>
              <a:rPr spc="-30" dirty="0"/>
              <a:t> </a:t>
            </a:r>
            <a:r>
              <a:rPr dirty="0"/>
              <a:t>Based</a:t>
            </a:r>
            <a:r>
              <a:rPr spc="-26" dirty="0"/>
              <a:t> </a:t>
            </a:r>
            <a:r>
              <a:rPr spc="-9" dirty="0"/>
              <a:t>Agents</a:t>
            </a:r>
          </a:p>
        </p:txBody>
      </p:sp>
      <p:sp>
        <p:nvSpPr>
          <p:cNvPr id="3" name="object 3"/>
          <p:cNvSpPr txBox="1"/>
          <p:nvPr/>
        </p:nvSpPr>
        <p:spPr>
          <a:xfrm>
            <a:off x="1133497" y="1118069"/>
            <a:ext cx="6877005" cy="4660630"/>
          </a:xfrm>
          <a:prstGeom prst="rect">
            <a:avLst/>
          </a:prstGeom>
        </p:spPr>
        <p:txBody>
          <a:bodyPr vert="horz" wrap="square" lIns="0" tIns="9774" rIns="0" bIns="0" rtlCol="0">
            <a:spAutoFit/>
          </a:bodyPr>
          <a:lstStyle/>
          <a:p>
            <a:pPr marL="10860" marR="4344" algn="just">
              <a:lnSpc>
                <a:spcPct val="115900"/>
              </a:lnSpc>
              <a:spcBef>
                <a:spcPts val="77"/>
              </a:spcBef>
            </a:pPr>
            <a:r>
              <a:rPr sz="1539" dirty="0">
                <a:latin typeface="+mj-lt"/>
                <a:cs typeface="Times New Roman"/>
              </a:rPr>
              <a:t>Goals</a:t>
            </a:r>
            <a:r>
              <a:rPr sz="1539" spc="60" dirty="0">
                <a:latin typeface="+mj-lt"/>
                <a:cs typeface="Times New Roman"/>
              </a:rPr>
              <a:t> </a:t>
            </a:r>
            <a:r>
              <a:rPr sz="1539" dirty="0">
                <a:latin typeface="+mj-lt"/>
                <a:cs typeface="Times New Roman"/>
              </a:rPr>
              <a:t>alone</a:t>
            </a:r>
            <a:r>
              <a:rPr sz="1539" spc="60" dirty="0">
                <a:latin typeface="+mj-lt"/>
                <a:cs typeface="Times New Roman"/>
              </a:rPr>
              <a:t> </a:t>
            </a:r>
            <a:r>
              <a:rPr sz="1539" dirty="0">
                <a:latin typeface="+mj-lt"/>
                <a:cs typeface="Times New Roman"/>
              </a:rPr>
              <a:t>are</a:t>
            </a:r>
            <a:r>
              <a:rPr sz="1539" spc="64" dirty="0">
                <a:latin typeface="+mj-lt"/>
                <a:cs typeface="Times New Roman"/>
              </a:rPr>
              <a:t> </a:t>
            </a:r>
            <a:r>
              <a:rPr sz="1539" dirty="0">
                <a:latin typeface="+mj-lt"/>
                <a:cs typeface="Times New Roman"/>
              </a:rPr>
              <a:t>not</a:t>
            </a:r>
            <a:r>
              <a:rPr sz="1539" spc="60" dirty="0">
                <a:latin typeface="+mj-lt"/>
                <a:cs typeface="Times New Roman"/>
              </a:rPr>
              <a:t> </a:t>
            </a:r>
            <a:r>
              <a:rPr sz="1539" dirty="0">
                <a:latin typeface="+mj-lt"/>
                <a:cs typeface="Times New Roman"/>
              </a:rPr>
              <a:t>enough</a:t>
            </a:r>
            <a:r>
              <a:rPr sz="1539" spc="64" dirty="0">
                <a:latin typeface="+mj-lt"/>
                <a:cs typeface="Times New Roman"/>
              </a:rPr>
              <a:t> </a:t>
            </a:r>
            <a:r>
              <a:rPr sz="1539" dirty="0">
                <a:latin typeface="+mj-lt"/>
                <a:cs typeface="Times New Roman"/>
              </a:rPr>
              <a:t>to</a:t>
            </a:r>
            <a:r>
              <a:rPr sz="1539" spc="60" dirty="0">
                <a:latin typeface="+mj-lt"/>
                <a:cs typeface="Times New Roman"/>
              </a:rPr>
              <a:t> </a:t>
            </a:r>
            <a:r>
              <a:rPr sz="1539" dirty="0">
                <a:latin typeface="+mj-lt"/>
                <a:cs typeface="Times New Roman"/>
              </a:rPr>
              <a:t>generate</a:t>
            </a:r>
            <a:r>
              <a:rPr sz="1539" spc="64" dirty="0">
                <a:latin typeface="+mj-lt"/>
                <a:cs typeface="Times New Roman"/>
              </a:rPr>
              <a:t> </a:t>
            </a:r>
            <a:r>
              <a:rPr sz="1539" dirty="0">
                <a:latin typeface="+mj-lt"/>
                <a:cs typeface="Times New Roman"/>
              </a:rPr>
              <a:t>high</a:t>
            </a:r>
            <a:r>
              <a:rPr sz="1539" spc="60" dirty="0">
                <a:latin typeface="+mj-lt"/>
                <a:cs typeface="Times New Roman"/>
              </a:rPr>
              <a:t> </a:t>
            </a:r>
            <a:r>
              <a:rPr sz="1539" dirty="0">
                <a:latin typeface="+mj-lt"/>
                <a:cs typeface="Times New Roman"/>
              </a:rPr>
              <a:t>quality</a:t>
            </a:r>
            <a:r>
              <a:rPr sz="1539" spc="64" dirty="0">
                <a:latin typeface="+mj-lt"/>
                <a:cs typeface="Times New Roman"/>
              </a:rPr>
              <a:t> </a:t>
            </a:r>
            <a:r>
              <a:rPr sz="1539" dirty="0">
                <a:latin typeface="+mj-lt"/>
                <a:cs typeface="Times New Roman"/>
              </a:rPr>
              <a:t>behaviour.</a:t>
            </a:r>
            <a:r>
              <a:rPr sz="1539" spc="60" dirty="0">
                <a:latin typeface="+mj-lt"/>
                <a:cs typeface="Times New Roman"/>
              </a:rPr>
              <a:t>  </a:t>
            </a:r>
            <a:r>
              <a:rPr sz="1539" dirty="0">
                <a:latin typeface="+mj-lt"/>
                <a:cs typeface="Times New Roman"/>
              </a:rPr>
              <a:t>Often</a:t>
            </a:r>
            <a:r>
              <a:rPr sz="1539" spc="64" dirty="0">
                <a:latin typeface="+mj-lt"/>
                <a:cs typeface="Times New Roman"/>
              </a:rPr>
              <a:t> </a:t>
            </a:r>
            <a:r>
              <a:rPr sz="1539" dirty="0">
                <a:latin typeface="+mj-lt"/>
                <a:cs typeface="Times New Roman"/>
              </a:rPr>
              <a:t>there</a:t>
            </a:r>
            <a:r>
              <a:rPr sz="1539" spc="64" dirty="0">
                <a:latin typeface="+mj-lt"/>
                <a:cs typeface="Times New Roman"/>
              </a:rPr>
              <a:t> </a:t>
            </a:r>
            <a:r>
              <a:rPr sz="1539" dirty="0">
                <a:latin typeface="+mj-lt"/>
                <a:cs typeface="Times New Roman"/>
              </a:rPr>
              <a:t>are</a:t>
            </a:r>
            <a:r>
              <a:rPr sz="1539" spc="60" dirty="0">
                <a:latin typeface="+mj-lt"/>
                <a:cs typeface="Times New Roman"/>
              </a:rPr>
              <a:t> </a:t>
            </a:r>
            <a:r>
              <a:rPr sz="1539" spc="-17" dirty="0">
                <a:latin typeface="+mj-lt"/>
                <a:cs typeface="Times New Roman"/>
              </a:rPr>
              <a:t>many </a:t>
            </a:r>
            <a:r>
              <a:rPr sz="1539" dirty="0">
                <a:latin typeface="+mj-lt"/>
                <a:cs typeface="Times New Roman"/>
              </a:rPr>
              <a:t>sequences</a:t>
            </a:r>
            <a:r>
              <a:rPr sz="1539" spc="64" dirty="0">
                <a:latin typeface="+mj-lt"/>
                <a:cs typeface="Times New Roman"/>
              </a:rPr>
              <a:t>  </a:t>
            </a:r>
            <a:r>
              <a:rPr sz="1539" dirty="0">
                <a:latin typeface="+mj-lt"/>
                <a:cs typeface="Times New Roman"/>
              </a:rPr>
              <a:t>of</a:t>
            </a:r>
            <a:r>
              <a:rPr sz="1539" spc="64" dirty="0">
                <a:latin typeface="+mj-lt"/>
                <a:cs typeface="Times New Roman"/>
              </a:rPr>
              <a:t>  </a:t>
            </a:r>
            <a:r>
              <a:rPr sz="1539" dirty="0">
                <a:latin typeface="+mj-lt"/>
                <a:cs typeface="Times New Roman"/>
              </a:rPr>
              <a:t>actions</a:t>
            </a:r>
            <a:r>
              <a:rPr sz="1539" spc="68" dirty="0">
                <a:latin typeface="+mj-lt"/>
                <a:cs typeface="Times New Roman"/>
              </a:rPr>
              <a:t>  </a:t>
            </a:r>
            <a:r>
              <a:rPr sz="1539" dirty="0">
                <a:latin typeface="+mj-lt"/>
                <a:cs typeface="Times New Roman"/>
              </a:rPr>
              <a:t>that</a:t>
            </a:r>
            <a:r>
              <a:rPr sz="1539" spc="64" dirty="0">
                <a:latin typeface="+mj-lt"/>
                <a:cs typeface="Times New Roman"/>
              </a:rPr>
              <a:t>  </a:t>
            </a:r>
            <a:r>
              <a:rPr sz="1539" dirty="0">
                <a:latin typeface="+mj-lt"/>
                <a:cs typeface="Times New Roman"/>
              </a:rPr>
              <a:t>can</a:t>
            </a:r>
            <a:r>
              <a:rPr sz="1539" spc="64" dirty="0">
                <a:latin typeface="+mj-lt"/>
                <a:cs typeface="Times New Roman"/>
              </a:rPr>
              <a:t>  </a:t>
            </a:r>
            <a:r>
              <a:rPr sz="1539" dirty="0">
                <a:latin typeface="+mj-lt"/>
                <a:cs typeface="Times New Roman"/>
              </a:rPr>
              <a:t>result</a:t>
            </a:r>
            <a:r>
              <a:rPr sz="1539" spc="68" dirty="0">
                <a:latin typeface="+mj-lt"/>
                <a:cs typeface="Times New Roman"/>
              </a:rPr>
              <a:t>  </a:t>
            </a:r>
            <a:r>
              <a:rPr sz="1539" dirty="0">
                <a:latin typeface="+mj-lt"/>
                <a:cs typeface="Times New Roman"/>
              </a:rPr>
              <a:t>in</a:t>
            </a:r>
            <a:r>
              <a:rPr sz="1539" spc="64" dirty="0">
                <a:latin typeface="+mj-lt"/>
                <a:cs typeface="Times New Roman"/>
              </a:rPr>
              <a:t>  </a:t>
            </a:r>
            <a:r>
              <a:rPr sz="1539" dirty="0">
                <a:latin typeface="+mj-lt"/>
                <a:cs typeface="Times New Roman"/>
              </a:rPr>
              <a:t>the</a:t>
            </a:r>
            <a:r>
              <a:rPr sz="1539" spc="68" dirty="0">
                <a:latin typeface="+mj-lt"/>
                <a:cs typeface="Times New Roman"/>
              </a:rPr>
              <a:t>  </a:t>
            </a:r>
            <a:r>
              <a:rPr sz="1539" dirty="0">
                <a:latin typeface="+mj-lt"/>
                <a:cs typeface="Times New Roman"/>
              </a:rPr>
              <a:t>same</a:t>
            </a:r>
            <a:r>
              <a:rPr sz="1539" spc="64" dirty="0">
                <a:latin typeface="+mj-lt"/>
                <a:cs typeface="Times New Roman"/>
              </a:rPr>
              <a:t>  </a:t>
            </a:r>
            <a:r>
              <a:rPr sz="1539" dirty="0">
                <a:latin typeface="+mj-lt"/>
                <a:cs typeface="Times New Roman"/>
              </a:rPr>
              <a:t>goal</a:t>
            </a:r>
            <a:r>
              <a:rPr sz="1539" spc="64" dirty="0">
                <a:latin typeface="+mj-lt"/>
                <a:cs typeface="Times New Roman"/>
              </a:rPr>
              <a:t>  </a:t>
            </a:r>
            <a:r>
              <a:rPr sz="1539" dirty="0">
                <a:latin typeface="+mj-lt"/>
                <a:cs typeface="Times New Roman"/>
              </a:rPr>
              <a:t>being</a:t>
            </a:r>
            <a:r>
              <a:rPr sz="1539" spc="68" dirty="0">
                <a:latin typeface="+mj-lt"/>
                <a:cs typeface="Times New Roman"/>
              </a:rPr>
              <a:t>  </a:t>
            </a:r>
            <a:r>
              <a:rPr sz="1539" dirty="0">
                <a:latin typeface="+mj-lt"/>
                <a:cs typeface="Times New Roman"/>
              </a:rPr>
              <a:t>achieved.</a:t>
            </a:r>
            <a:r>
              <a:rPr sz="1539" spc="201" dirty="0">
                <a:latin typeface="+mj-lt"/>
                <a:cs typeface="Times New Roman"/>
              </a:rPr>
              <a:t>   </a:t>
            </a:r>
            <a:r>
              <a:rPr sz="1539" spc="-9" dirty="0">
                <a:latin typeface="+mj-lt"/>
                <a:cs typeface="Times New Roman"/>
              </a:rPr>
              <a:t>Given </a:t>
            </a:r>
            <a:r>
              <a:rPr sz="1539" dirty="0">
                <a:latin typeface="+mj-lt"/>
                <a:cs typeface="Times New Roman"/>
              </a:rPr>
              <a:t>appropriate</a:t>
            </a:r>
            <a:r>
              <a:rPr sz="1539" spc="77" dirty="0">
                <a:latin typeface="+mj-lt"/>
                <a:cs typeface="Times New Roman"/>
              </a:rPr>
              <a:t> </a:t>
            </a:r>
            <a:r>
              <a:rPr sz="1539" dirty="0">
                <a:latin typeface="+mj-lt"/>
                <a:cs typeface="Times New Roman"/>
              </a:rPr>
              <a:t>criteria,</a:t>
            </a:r>
            <a:r>
              <a:rPr sz="1539" spc="81" dirty="0">
                <a:latin typeface="+mj-lt"/>
                <a:cs typeface="Times New Roman"/>
              </a:rPr>
              <a:t> </a:t>
            </a:r>
            <a:r>
              <a:rPr sz="1539" dirty="0">
                <a:latin typeface="+mj-lt"/>
                <a:cs typeface="Times New Roman"/>
              </a:rPr>
              <a:t>it</a:t>
            </a:r>
            <a:r>
              <a:rPr sz="1539" spc="77" dirty="0">
                <a:latin typeface="+mj-lt"/>
                <a:cs typeface="Times New Roman"/>
              </a:rPr>
              <a:t> </a:t>
            </a:r>
            <a:r>
              <a:rPr sz="1539" dirty="0">
                <a:latin typeface="+mj-lt"/>
                <a:cs typeface="Times New Roman"/>
              </a:rPr>
              <a:t>may</a:t>
            </a:r>
            <a:r>
              <a:rPr sz="1539" spc="81" dirty="0">
                <a:latin typeface="+mj-lt"/>
                <a:cs typeface="Times New Roman"/>
              </a:rPr>
              <a:t> </a:t>
            </a:r>
            <a:r>
              <a:rPr sz="1539" dirty="0">
                <a:latin typeface="+mj-lt"/>
                <a:cs typeface="Times New Roman"/>
              </a:rPr>
              <a:t>be</a:t>
            </a:r>
            <a:r>
              <a:rPr sz="1539" spc="81" dirty="0">
                <a:latin typeface="+mj-lt"/>
                <a:cs typeface="Times New Roman"/>
              </a:rPr>
              <a:t> </a:t>
            </a:r>
            <a:r>
              <a:rPr sz="1539" dirty="0">
                <a:latin typeface="+mj-lt"/>
                <a:cs typeface="Times New Roman"/>
              </a:rPr>
              <a:t>possible</a:t>
            </a:r>
            <a:r>
              <a:rPr sz="1539" spc="77" dirty="0">
                <a:latin typeface="+mj-lt"/>
                <a:cs typeface="Times New Roman"/>
              </a:rPr>
              <a:t> </a:t>
            </a:r>
            <a:r>
              <a:rPr sz="1539" dirty="0">
                <a:latin typeface="+mj-lt"/>
                <a:cs typeface="Times New Roman"/>
              </a:rPr>
              <a:t>to</a:t>
            </a:r>
            <a:r>
              <a:rPr sz="1539" spc="81" dirty="0">
                <a:latin typeface="+mj-lt"/>
                <a:cs typeface="Times New Roman"/>
              </a:rPr>
              <a:t> </a:t>
            </a:r>
            <a:r>
              <a:rPr sz="1539" dirty="0">
                <a:latin typeface="+mj-lt"/>
                <a:cs typeface="Times New Roman"/>
              </a:rPr>
              <a:t>chose</a:t>
            </a:r>
            <a:r>
              <a:rPr sz="1539" spc="77" dirty="0">
                <a:latin typeface="+mj-lt"/>
                <a:cs typeface="Times New Roman"/>
              </a:rPr>
              <a:t> </a:t>
            </a:r>
            <a:r>
              <a:rPr sz="1539" dirty="0">
                <a:latin typeface="+mj-lt"/>
                <a:cs typeface="Times New Roman"/>
              </a:rPr>
              <a:t>the</a:t>
            </a:r>
            <a:r>
              <a:rPr sz="1539" spc="81" dirty="0">
                <a:latin typeface="+mj-lt"/>
                <a:cs typeface="Times New Roman"/>
              </a:rPr>
              <a:t> </a:t>
            </a:r>
            <a:r>
              <a:rPr sz="1539" dirty="0">
                <a:latin typeface="+mj-lt"/>
                <a:cs typeface="Times New Roman"/>
              </a:rPr>
              <a:t>‘best’</a:t>
            </a:r>
            <a:r>
              <a:rPr sz="1539" spc="81" dirty="0">
                <a:latin typeface="+mj-lt"/>
                <a:cs typeface="Times New Roman"/>
              </a:rPr>
              <a:t> </a:t>
            </a:r>
            <a:r>
              <a:rPr sz="1539" dirty="0">
                <a:latin typeface="+mj-lt"/>
                <a:cs typeface="Times New Roman"/>
              </a:rPr>
              <a:t>sequence</a:t>
            </a:r>
            <a:r>
              <a:rPr sz="1539" spc="77" dirty="0">
                <a:latin typeface="+mj-lt"/>
                <a:cs typeface="Times New Roman"/>
              </a:rPr>
              <a:t> </a:t>
            </a:r>
            <a:r>
              <a:rPr sz="1539" dirty="0">
                <a:latin typeface="+mj-lt"/>
                <a:cs typeface="Times New Roman"/>
              </a:rPr>
              <a:t>of</a:t>
            </a:r>
            <a:r>
              <a:rPr sz="1539" spc="81" dirty="0">
                <a:latin typeface="+mj-lt"/>
                <a:cs typeface="Times New Roman"/>
              </a:rPr>
              <a:t> </a:t>
            </a:r>
            <a:r>
              <a:rPr sz="1539" dirty="0">
                <a:latin typeface="+mj-lt"/>
                <a:cs typeface="Times New Roman"/>
              </a:rPr>
              <a:t>actions</a:t>
            </a:r>
            <a:r>
              <a:rPr sz="1539" spc="81" dirty="0">
                <a:latin typeface="+mj-lt"/>
                <a:cs typeface="Times New Roman"/>
              </a:rPr>
              <a:t> </a:t>
            </a:r>
            <a:r>
              <a:rPr sz="1539" dirty="0">
                <a:latin typeface="+mj-lt"/>
                <a:cs typeface="Times New Roman"/>
              </a:rPr>
              <a:t>from</a:t>
            </a:r>
            <a:r>
              <a:rPr sz="1539" spc="77" dirty="0">
                <a:latin typeface="+mj-lt"/>
                <a:cs typeface="Times New Roman"/>
              </a:rPr>
              <a:t> </a:t>
            </a:r>
            <a:r>
              <a:rPr sz="1539" spc="-43" dirty="0">
                <a:latin typeface="+mj-lt"/>
                <a:cs typeface="Times New Roman"/>
              </a:rPr>
              <a:t>a </a:t>
            </a:r>
            <a:r>
              <a:rPr sz="1539" dirty="0">
                <a:latin typeface="+mj-lt"/>
                <a:cs typeface="Times New Roman"/>
              </a:rPr>
              <a:t>number</a:t>
            </a:r>
            <a:r>
              <a:rPr sz="1539" spc="-26" dirty="0">
                <a:latin typeface="+mj-lt"/>
                <a:cs typeface="Times New Roman"/>
              </a:rPr>
              <a:t> </a:t>
            </a:r>
            <a:r>
              <a:rPr sz="1539" dirty="0">
                <a:latin typeface="+mj-lt"/>
                <a:cs typeface="Times New Roman"/>
              </a:rPr>
              <a:t>that</a:t>
            </a:r>
            <a:r>
              <a:rPr sz="1539" spc="-26" dirty="0">
                <a:latin typeface="+mj-lt"/>
                <a:cs typeface="Times New Roman"/>
              </a:rPr>
              <a:t> </a:t>
            </a:r>
            <a:r>
              <a:rPr sz="1539" dirty="0">
                <a:latin typeface="+mj-lt"/>
                <a:cs typeface="Times New Roman"/>
              </a:rPr>
              <a:t>all</a:t>
            </a:r>
            <a:r>
              <a:rPr sz="1539" spc="-26" dirty="0">
                <a:latin typeface="+mj-lt"/>
                <a:cs typeface="Times New Roman"/>
              </a:rPr>
              <a:t> </a:t>
            </a:r>
            <a:r>
              <a:rPr sz="1539" dirty="0">
                <a:latin typeface="+mj-lt"/>
                <a:cs typeface="Times New Roman"/>
              </a:rPr>
              <a:t>result</a:t>
            </a:r>
            <a:r>
              <a:rPr sz="1539" spc="-26" dirty="0">
                <a:latin typeface="+mj-lt"/>
                <a:cs typeface="Times New Roman"/>
              </a:rPr>
              <a:t> </a:t>
            </a:r>
            <a:r>
              <a:rPr sz="1539" dirty="0">
                <a:latin typeface="+mj-lt"/>
                <a:cs typeface="Times New Roman"/>
              </a:rPr>
              <a:t>in</a:t>
            </a:r>
            <a:r>
              <a:rPr sz="1539" spc="-26" dirty="0">
                <a:latin typeface="+mj-lt"/>
                <a:cs typeface="Times New Roman"/>
              </a:rPr>
              <a:t> </a:t>
            </a:r>
            <a:r>
              <a:rPr sz="1539" dirty="0">
                <a:latin typeface="+mj-lt"/>
                <a:cs typeface="Times New Roman"/>
              </a:rPr>
              <a:t>the</a:t>
            </a:r>
            <a:r>
              <a:rPr sz="1539" spc="-21" dirty="0">
                <a:latin typeface="+mj-lt"/>
                <a:cs typeface="Times New Roman"/>
              </a:rPr>
              <a:t> </a:t>
            </a:r>
            <a:r>
              <a:rPr sz="1539" dirty="0">
                <a:latin typeface="+mj-lt"/>
                <a:cs typeface="Times New Roman"/>
              </a:rPr>
              <a:t>goal</a:t>
            </a:r>
            <a:r>
              <a:rPr sz="1539" spc="-26" dirty="0">
                <a:latin typeface="+mj-lt"/>
                <a:cs typeface="Times New Roman"/>
              </a:rPr>
              <a:t> </a:t>
            </a:r>
            <a:r>
              <a:rPr sz="1539" dirty="0">
                <a:latin typeface="+mj-lt"/>
                <a:cs typeface="Times New Roman"/>
              </a:rPr>
              <a:t>being</a:t>
            </a:r>
            <a:r>
              <a:rPr sz="1539" spc="-26" dirty="0">
                <a:latin typeface="+mj-lt"/>
                <a:cs typeface="Times New Roman"/>
              </a:rPr>
              <a:t> </a:t>
            </a:r>
            <a:r>
              <a:rPr sz="1539" spc="-9" dirty="0">
                <a:latin typeface="+mj-lt"/>
                <a:cs typeface="Times New Roman"/>
              </a:rPr>
              <a:t>achieved.</a:t>
            </a:r>
            <a:endParaRPr sz="1539" dirty="0">
              <a:latin typeface="+mj-lt"/>
              <a:cs typeface="Times New Roman"/>
            </a:endParaRPr>
          </a:p>
          <a:p>
            <a:pPr marL="10860" marR="6516" algn="just">
              <a:lnSpc>
                <a:spcPct val="115599"/>
              </a:lnSpc>
              <a:spcBef>
                <a:spcPts val="1620"/>
              </a:spcBef>
            </a:pPr>
            <a:r>
              <a:rPr sz="1539" dirty="0">
                <a:latin typeface="+mj-lt"/>
                <a:cs typeface="Times New Roman"/>
              </a:rPr>
              <a:t>We</a:t>
            </a:r>
            <a:r>
              <a:rPr sz="1539" spc="47" dirty="0">
                <a:latin typeface="+mj-lt"/>
                <a:cs typeface="Times New Roman"/>
              </a:rPr>
              <a:t> </a:t>
            </a:r>
            <a:r>
              <a:rPr sz="1539" dirty="0">
                <a:latin typeface="+mj-lt"/>
                <a:cs typeface="Times New Roman"/>
              </a:rPr>
              <a:t>talk</a:t>
            </a:r>
            <a:r>
              <a:rPr sz="1539" spc="51" dirty="0">
                <a:latin typeface="+mj-lt"/>
                <a:cs typeface="Times New Roman"/>
              </a:rPr>
              <a:t> </a:t>
            </a:r>
            <a:r>
              <a:rPr sz="1539" dirty="0">
                <a:latin typeface="+mj-lt"/>
                <a:cs typeface="Times New Roman"/>
              </a:rPr>
              <a:t>about</a:t>
            </a:r>
            <a:r>
              <a:rPr sz="1539" spc="51" dirty="0">
                <a:latin typeface="+mj-lt"/>
                <a:cs typeface="Times New Roman"/>
              </a:rPr>
              <a:t> </a:t>
            </a:r>
            <a:r>
              <a:rPr sz="1539" dirty="0">
                <a:latin typeface="+mj-lt"/>
                <a:cs typeface="Times New Roman"/>
              </a:rPr>
              <a:t>the</a:t>
            </a:r>
            <a:r>
              <a:rPr sz="1539" spc="51" dirty="0">
                <a:latin typeface="+mj-lt"/>
                <a:cs typeface="Times New Roman"/>
              </a:rPr>
              <a:t> </a:t>
            </a:r>
            <a:r>
              <a:rPr sz="1539" b="1" i="1" dirty="0">
                <a:solidFill>
                  <a:srgbClr val="0000FF"/>
                </a:solidFill>
                <a:latin typeface="+mj-lt"/>
                <a:cs typeface="Times New Roman"/>
              </a:rPr>
              <a:t>utility</a:t>
            </a:r>
            <a:r>
              <a:rPr sz="1539" b="1" i="1" spc="17" dirty="0">
                <a:solidFill>
                  <a:srgbClr val="0000FF"/>
                </a:solidFill>
                <a:latin typeface="+mj-lt"/>
                <a:cs typeface="Times New Roman"/>
              </a:rPr>
              <a:t> </a:t>
            </a:r>
            <a:r>
              <a:rPr sz="1539" dirty="0">
                <a:latin typeface="+mj-lt"/>
                <a:cs typeface="Times New Roman"/>
              </a:rPr>
              <a:t>of</a:t>
            </a:r>
            <a:r>
              <a:rPr sz="1539" spc="47" dirty="0">
                <a:latin typeface="+mj-lt"/>
                <a:cs typeface="Times New Roman"/>
              </a:rPr>
              <a:t> </a:t>
            </a:r>
            <a:r>
              <a:rPr sz="1539" dirty="0">
                <a:latin typeface="+mj-lt"/>
                <a:cs typeface="Times New Roman"/>
              </a:rPr>
              <a:t>particular</a:t>
            </a:r>
            <a:r>
              <a:rPr sz="1539" spc="47" dirty="0">
                <a:latin typeface="+mj-lt"/>
                <a:cs typeface="Times New Roman"/>
              </a:rPr>
              <a:t> </a:t>
            </a:r>
            <a:r>
              <a:rPr sz="1539" dirty="0">
                <a:latin typeface="+mj-lt"/>
                <a:cs typeface="Times New Roman"/>
              </a:rPr>
              <a:t>states.</a:t>
            </a:r>
            <a:r>
              <a:rPr sz="1539" spc="47" dirty="0">
                <a:latin typeface="+mj-lt"/>
                <a:cs typeface="Times New Roman"/>
              </a:rPr>
              <a:t>  </a:t>
            </a:r>
            <a:r>
              <a:rPr sz="1539" dirty="0">
                <a:latin typeface="+mj-lt"/>
                <a:cs typeface="Times New Roman"/>
              </a:rPr>
              <a:t>Any</a:t>
            </a:r>
            <a:r>
              <a:rPr sz="1539" spc="47" dirty="0">
                <a:latin typeface="+mj-lt"/>
                <a:cs typeface="Times New Roman"/>
              </a:rPr>
              <a:t> </a:t>
            </a:r>
            <a:r>
              <a:rPr sz="1539" dirty="0">
                <a:latin typeface="+mj-lt"/>
                <a:cs typeface="Times New Roman"/>
              </a:rPr>
              <a:t>utility</a:t>
            </a:r>
            <a:r>
              <a:rPr sz="1539" spc="47" dirty="0">
                <a:latin typeface="+mj-lt"/>
                <a:cs typeface="Times New Roman"/>
              </a:rPr>
              <a:t> </a:t>
            </a:r>
            <a:r>
              <a:rPr sz="1539" dirty="0">
                <a:latin typeface="+mj-lt"/>
                <a:cs typeface="Times New Roman"/>
              </a:rPr>
              <a:t>based</a:t>
            </a:r>
            <a:r>
              <a:rPr sz="1539" spc="47" dirty="0">
                <a:latin typeface="+mj-lt"/>
                <a:cs typeface="Times New Roman"/>
              </a:rPr>
              <a:t> </a:t>
            </a:r>
            <a:r>
              <a:rPr sz="1539" dirty="0">
                <a:latin typeface="+mj-lt"/>
                <a:cs typeface="Times New Roman"/>
              </a:rPr>
              <a:t>agent</a:t>
            </a:r>
            <a:r>
              <a:rPr sz="1539" spc="47" dirty="0">
                <a:latin typeface="+mj-lt"/>
                <a:cs typeface="Times New Roman"/>
              </a:rPr>
              <a:t> </a:t>
            </a:r>
            <a:r>
              <a:rPr sz="1539" dirty="0">
                <a:latin typeface="+mj-lt"/>
                <a:cs typeface="Times New Roman"/>
              </a:rPr>
              <a:t>can</a:t>
            </a:r>
            <a:r>
              <a:rPr sz="1539" spc="47" dirty="0">
                <a:latin typeface="+mj-lt"/>
                <a:cs typeface="Times New Roman"/>
              </a:rPr>
              <a:t> </a:t>
            </a:r>
            <a:r>
              <a:rPr sz="1539" dirty="0">
                <a:latin typeface="+mj-lt"/>
                <a:cs typeface="Times New Roman"/>
              </a:rPr>
              <a:t>be</a:t>
            </a:r>
            <a:r>
              <a:rPr sz="1539" spc="47" dirty="0">
                <a:latin typeface="+mj-lt"/>
                <a:cs typeface="Times New Roman"/>
              </a:rPr>
              <a:t> </a:t>
            </a:r>
            <a:r>
              <a:rPr sz="1539" spc="-9" dirty="0">
                <a:latin typeface="+mj-lt"/>
                <a:cs typeface="Times New Roman"/>
              </a:rPr>
              <a:t>described </a:t>
            </a:r>
            <a:r>
              <a:rPr sz="1539" dirty="0">
                <a:latin typeface="+mj-lt"/>
                <a:cs typeface="Times New Roman"/>
              </a:rPr>
              <a:t>as</a:t>
            </a:r>
            <a:r>
              <a:rPr sz="1539" spc="115" dirty="0">
                <a:latin typeface="+mj-lt"/>
                <a:cs typeface="Times New Roman"/>
              </a:rPr>
              <a:t> </a:t>
            </a:r>
            <a:r>
              <a:rPr sz="1539" dirty="0">
                <a:latin typeface="+mj-lt"/>
                <a:cs typeface="Times New Roman"/>
              </a:rPr>
              <a:t>possessing</a:t>
            </a:r>
            <a:r>
              <a:rPr sz="1539" spc="115" dirty="0">
                <a:latin typeface="+mj-lt"/>
                <a:cs typeface="Times New Roman"/>
              </a:rPr>
              <a:t> </a:t>
            </a:r>
            <a:r>
              <a:rPr sz="1539" dirty="0">
                <a:latin typeface="+mj-lt"/>
                <a:cs typeface="Times New Roman"/>
              </a:rPr>
              <a:t>a</a:t>
            </a:r>
            <a:r>
              <a:rPr sz="1539" spc="120" dirty="0">
                <a:latin typeface="+mj-lt"/>
                <a:cs typeface="Times New Roman"/>
              </a:rPr>
              <a:t> </a:t>
            </a:r>
            <a:r>
              <a:rPr sz="1539" b="1" i="1" dirty="0">
                <a:solidFill>
                  <a:srgbClr val="0000FF"/>
                </a:solidFill>
                <a:latin typeface="+mj-lt"/>
                <a:cs typeface="Times New Roman"/>
              </a:rPr>
              <a:t>utility</a:t>
            </a:r>
            <a:r>
              <a:rPr sz="1539" b="1" i="1" spc="196" dirty="0">
                <a:solidFill>
                  <a:srgbClr val="0000FF"/>
                </a:solidFill>
                <a:latin typeface="+mj-lt"/>
                <a:cs typeface="Times New Roman"/>
              </a:rPr>
              <a:t> </a:t>
            </a:r>
            <a:r>
              <a:rPr sz="1539" b="1" i="1" dirty="0">
                <a:solidFill>
                  <a:srgbClr val="0000FF"/>
                </a:solidFill>
                <a:latin typeface="+mj-lt"/>
                <a:cs typeface="Times New Roman"/>
              </a:rPr>
              <a:t>function</a:t>
            </a:r>
            <a:r>
              <a:rPr sz="1539" b="1" i="1" spc="158" dirty="0">
                <a:solidFill>
                  <a:srgbClr val="0000FF"/>
                </a:solidFill>
                <a:latin typeface="+mj-lt"/>
                <a:cs typeface="Times New Roman"/>
              </a:rPr>
              <a:t> </a:t>
            </a:r>
            <a:r>
              <a:rPr sz="1539" dirty="0">
                <a:latin typeface="+mj-lt"/>
                <a:cs typeface="Times New Roman"/>
              </a:rPr>
              <a:t>that</a:t>
            </a:r>
            <a:r>
              <a:rPr sz="1539" spc="174" dirty="0">
                <a:latin typeface="+mj-lt"/>
                <a:cs typeface="Times New Roman"/>
              </a:rPr>
              <a:t> </a:t>
            </a:r>
            <a:r>
              <a:rPr sz="1539" dirty="0">
                <a:latin typeface="+mj-lt"/>
                <a:cs typeface="Times New Roman"/>
              </a:rPr>
              <a:t>maps</a:t>
            </a:r>
            <a:r>
              <a:rPr sz="1539" spc="174" dirty="0">
                <a:latin typeface="+mj-lt"/>
                <a:cs typeface="Times New Roman"/>
              </a:rPr>
              <a:t> </a:t>
            </a:r>
            <a:r>
              <a:rPr sz="1539" dirty="0">
                <a:latin typeface="+mj-lt"/>
                <a:cs typeface="Times New Roman"/>
              </a:rPr>
              <a:t>a</a:t>
            </a:r>
            <a:r>
              <a:rPr sz="1539" spc="174" dirty="0">
                <a:latin typeface="+mj-lt"/>
                <a:cs typeface="Times New Roman"/>
              </a:rPr>
              <a:t> </a:t>
            </a:r>
            <a:r>
              <a:rPr sz="1539" dirty="0">
                <a:latin typeface="+mj-lt"/>
                <a:cs typeface="Times New Roman"/>
              </a:rPr>
              <a:t>state,</a:t>
            </a:r>
            <a:r>
              <a:rPr sz="1539" spc="174" dirty="0">
                <a:latin typeface="+mj-lt"/>
                <a:cs typeface="Times New Roman"/>
              </a:rPr>
              <a:t> </a:t>
            </a:r>
            <a:r>
              <a:rPr sz="1539" dirty="0">
                <a:latin typeface="+mj-lt"/>
                <a:cs typeface="Times New Roman"/>
              </a:rPr>
              <a:t>or</a:t>
            </a:r>
            <a:r>
              <a:rPr sz="1539" spc="174" dirty="0">
                <a:latin typeface="+mj-lt"/>
                <a:cs typeface="Times New Roman"/>
              </a:rPr>
              <a:t> </a:t>
            </a:r>
            <a:r>
              <a:rPr sz="1539" dirty="0">
                <a:latin typeface="+mj-lt"/>
                <a:cs typeface="Times New Roman"/>
              </a:rPr>
              <a:t>sequence</a:t>
            </a:r>
            <a:r>
              <a:rPr sz="1539" spc="174" dirty="0">
                <a:latin typeface="+mj-lt"/>
                <a:cs typeface="Times New Roman"/>
              </a:rPr>
              <a:t> </a:t>
            </a:r>
            <a:r>
              <a:rPr sz="1539" dirty="0">
                <a:latin typeface="+mj-lt"/>
                <a:cs typeface="Times New Roman"/>
              </a:rPr>
              <a:t>of</a:t>
            </a:r>
            <a:r>
              <a:rPr sz="1539" spc="174" dirty="0">
                <a:latin typeface="+mj-lt"/>
                <a:cs typeface="Times New Roman"/>
              </a:rPr>
              <a:t> </a:t>
            </a:r>
            <a:r>
              <a:rPr sz="1539" dirty="0">
                <a:latin typeface="+mj-lt"/>
                <a:cs typeface="Times New Roman"/>
              </a:rPr>
              <a:t>states,</a:t>
            </a:r>
            <a:r>
              <a:rPr sz="1539" spc="171" dirty="0">
                <a:latin typeface="+mj-lt"/>
                <a:cs typeface="Times New Roman"/>
              </a:rPr>
              <a:t> </a:t>
            </a:r>
            <a:r>
              <a:rPr sz="1539" dirty="0">
                <a:latin typeface="+mj-lt"/>
                <a:cs typeface="Times New Roman"/>
              </a:rPr>
              <a:t>on</a:t>
            </a:r>
            <a:r>
              <a:rPr sz="1539" spc="174" dirty="0">
                <a:latin typeface="+mj-lt"/>
                <a:cs typeface="Times New Roman"/>
              </a:rPr>
              <a:t> </a:t>
            </a:r>
            <a:r>
              <a:rPr sz="1539" dirty="0">
                <a:latin typeface="+mj-lt"/>
                <a:cs typeface="Times New Roman"/>
              </a:rPr>
              <a:t>to</a:t>
            </a:r>
            <a:r>
              <a:rPr sz="1539" spc="174" dirty="0">
                <a:latin typeface="+mj-lt"/>
                <a:cs typeface="Times New Roman"/>
              </a:rPr>
              <a:t> </a:t>
            </a:r>
            <a:r>
              <a:rPr sz="1539" dirty="0">
                <a:latin typeface="+mj-lt"/>
                <a:cs typeface="Times New Roman"/>
              </a:rPr>
              <a:t>a</a:t>
            </a:r>
            <a:r>
              <a:rPr sz="1539" spc="174" dirty="0">
                <a:latin typeface="+mj-lt"/>
                <a:cs typeface="Times New Roman"/>
              </a:rPr>
              <a:t> </a:t>
            </a:r>
            <a:r>
              <a:rPr sz="1539" spc="-17" dirty="0">
                <a:latin typeface="+mj-lt"/>
                <a:cs typeface="Times New Roman"/>
              </a:rPr>
              <a:t>real </a:t>
            </a:r>
            <a:r>
              <a:rPr sz="1539" dirty="0">
                <a:latin typeface="+mj-lt"/>
                <a:cs typeface="Times New Roman"/>
              </a:rPr>
              <a:t>number</a:t>
            </a:r>
            <a:r>
              <a:rPr sz="1539" spc="-26" dirty="0">
                <a:latin typeface="+mj-lt"/>
                <a:cs typeface="Times New Roman"/>
              </a:rPr>
              <a:t> </a:t>
            </a:r>
            <a:r>
              <a:rPr sz="1539" dirty="0">
                <a:latin typeface="+mj-lt"/>
                <a:cs typeface="Times New Roman"/>
              </a:rPr>
              <a:t>that</a:t>
            </a:r>
            <a:r>
              <a:rPr sz="1539" spc="-26" dirty="0">
                <a:latin typeface="+mj-lt"/>
                <a:cs typeface="Times New Roman"/>
              </a:rPr>
              <a:t> </a:t>
            </a:r>
            <a:r>
              <a:rPr sz="1539" dirty="0">
                <a:latin typeface="+mj-lt"/>
                <a:cs typeface="Times New Roman"/>
              </a:rPr>
              <a:t>represents</a:t>
            </a:r>
            <a:r>
              <a:rPr sz="1539" spc="-21" dirty="0">
                <a:latin typeface="+mj-lt"/>
                <a:cs typeface="Times New Roman"/>
              </a:rPr>
              <a:t> </a:t>
            </a:r>
            <a:r>
              <a:rPr sz="1539" dirty="0">
                <a:latin typeface="+mj-lt"/>
                <a:cs typeface="Times New Roman"/>
              </a:rPr>
              <a:t>its</a:t>
            </a:r>
            <a:r>
              <a:rPr sz="1539" spc="-26" dirty="0">
                <a:latin typeface="+mj-lt"/>
                <a:cs typeface="Times New Roman"/>
              </a:rPr>
              <a:t> </a:t>
            </a:r>
            <a:r>
              <a:rPr sz="1539" dirty="0">
                <a:latin typeface="+mj-lt"/>
                <a:cs typeface="Times New Roman"/>
              </a:rPr>
              <a:t>utility</a:t>
            </a:r>
            <a:r>
              <a:rPr sz="1539" spc="-26" dirty="0">
                <a:latin typeface="+mj-lt"/>
                <a:cs typeface="Times New Roman"/>
              </a:rPr>
              <a:t> </a:t>
            </a:r>
            <a:r>
              <a:rPr sz="1539" dirty="0">
                <a:latin typeface="+mj-lt"/>
                <a:cs typeface="Times New Roman"/>
              </a:rPr>
              <a:t>or</a:t>
            </a:r>
            <a:r>
              <a:rPr sz="1539" spc="-21" dirty="0">
                <a:latin typeface="+mj-lt"/>
                <a:cs typeface="Times New Roman"/>
              </a:rPr>
              <a:t> </a:t>
            </a:r>
            <a:r>
              <a:rPr sz="1539" spc="-9" dirty="0">
                <a:latin typeface="+mj-lt"/>
                <a:cs typeface="Times New Roman"/>
              </a:rPr>
              <a:t>usefulness.</a:t>
            </a:r>
            <a:endParaRPr sz="1539" dirty="0">
              <a:latin typeface="+mj-lt"/>
              <a:cs typeface="Times New Roman"/>
            </a:endParaRPr>
          </a:p>
          <a:p>
            <a:pPr marL="10860" marR="5973" algn="just">
              <a:lnSpc>
                <a:spcPct val="115599"/>
              </a:lnSpc>
              <a:spcBef>
                <a:spcPts val="1642"/>
              </a:spcBef>
            </a:pPr>
            <a:r>
              <a:rPr sz="1539" dirty="0">
                <a:latin typeface="+mj-lt"/>
                <a:cs typeface="Times New Roman"/>
              </a:rPr>
              <a:t>We</a:t>
            </a:r>
            <a:r>
              <a:rPr sz="1539" spc="120" dirty="0">
                <a:latin typeface="+mj-lt"/>
                <a:cs typeface="Times New Roman"/>
              </a:rPr>
              <a:t> </a:t>
            </a:r>
            <a:r>
              <a:rPr sz="1539" dirty="0">
                <a:latin typeface="+mj-lt"/>
                <a:cs typeface="Times New Roman"/>
              </a:rPr>
              <a:t>can</a:t>
            </a:r>
            <a:r>
              <a:rPr sz="1539" spc="120" dirty="0">
                <a:latin typeface="+mj-lt"/>
                <a:cs typeface="Times New Roman"/>
              </a:rPr>
              <a:t> </a:t>
            </a:r>
            <a:r>
              <a:rPr sz="1539" dirty="0">
                <a:latin typeface="+mj-lt"/>
                <a:cs typeface="Times New Roman"/>
              </a:rPr>
              <a:t>then</a:t>
            </a:r>
            <a:r>
              <a:rPr sz="1539" spc="120" dirty="0">
                <a:latin typeface="+mj-lt"/>
                <a:cs typeface="Times New Roman"/>
              </a:rPr>
              <a:t> </a:t>
            </a:r>
            <a:r>
              <a:rPr sz="1539" dirty="0">
                <a:latin typeface="+mj-lt"/>
                <a:cs typeface="Times New Roman"/>
              </a:rPr>
              <a:t>use</a:t>
            </a:r>
            <a:r>
              <a:rPr sz="1539" spc="120" dirty="0">
                <a:latin typeface="+mj-lt"/>
                <a:cs typeface="Times New Roman"/>
              </a:rPr>
              <a:t> </a:t>
            </a:r>
            <a:r>
              <a:rPr sz="1539" dirty="0">
                <a:latin typeface="+mj-lt"/>
                <a:cs typeface="Times New Roman"/>
              </a:rPr>
              <a:t>the</a:t>
            </a:r>
            <a:r>
              <a:rPr sz="1539" spc="120" dirty="0">
                <a:latin typeface="+mj-lt"/>
                <a:cs typeface="Times New Roman"/>
              </a:rPr>
              <a:t> </a:t>
            </a:r>
            <a:r>
              <a:rPr sz="1539" dirty="0">
                <a:latin typeface="+mj-lt"/>
                <a:cs typeface="Times New Roman"/>
              </a:rPr>
              <a:t>utility</a:t>
            </a:r>
            <a:r>
              <a:rPr sz="1539" spc="120" dirty="0">
                <a:latin typeface="+mj-lt"/>
                <a:cs typeface="Times New Roman"/>
              </a:rPr>
              <a:t> </a:t>
            </a:r>
            <a:r>
              <a:rPr sz="1539" dirty="0">
                <a:latin typeface="+mj-lt"/>
                <a:cs typeface="Times New Roman"/>
              </a:rPr>
              <a:t>to</a:t>
            </a:r>
            <a:r>
              <a:rPr sz="1539" spc="124" dirty="0">
                <a:latin typeface="+mj-lt"/>
                <a:cs typeface="Times New Roman"/>
              </a:rPr>
              <a:t> </a:t>
            </a:r>
            <a:r>
              <a:rPr sz="1539" dirty="0">
                <a:latin typeface="+mj-lt"/>
                <a:cs typeface="Times New Roman"/>
              </a:rPr>
              <a:t>choose</a:t>
            </a:r>
            <a:r>
              <a:rPr sz="1539" spc="120" dirty="0">
                <a:latin typeface="+mj-lt"/>
                <a:cs typeface="Times New Roman"/>
              </a:rPr>
              <a:t> </a:t>
            </a:r>
            <a:r>
              <a:rPr sz="1539" dirty="0">
                <a:latin typeface="+mj-lt"/>
                <a:cs typeface="Times New Roman"/>
              </a:rPr>
              <a:t>between</a:t>
            </a:r>
            <a:r>
              <a:rPr sz="1539" spc="120" dirty="0">
                <a:latin typeface="+mj-lt"/>
                <a:cs typeface="Times New Roman"/>
              </a:rPr>
              <a:t> </a:t>
            </a:r>
            <a:r>
              <a:rPr sz="1539" dirty="0">
                <a:latin typeface="+mj-lt"/>
                <a:cs typeface="Times New Roman"/>
              </a:rPr>
              <a:t>alternative</a:t>
            </a:r>
            <a:r>
              <a:rPr sz="1539" spc="120" dirty="0">
                <a:latin typeface="+mj-lt"/>
                <a:cs typeface="Times New Roman"/>
              </a:rPr>
              <a:t> </a:t>
            </a:r>
            <a:r>
              <a:rPr sz="1539" dirty="0">
                <a:latin typeface="+mj-lt"/>
                <a:cs typeface="Times New Roman"/>
              </a:rPr>
              <a:t>sequences</a:t>
            </a:r>
            <a:r>
              <a:rPr sz="1539" spc="120" dirty="0">
                <a:latin typeface="+mj-lt"/>
                <a:cs typeface="Times New Roman"/>
              </a:rPr>
              <a:t> </a:t>
            </a:r>
            <a:r>
              <a:rPr sz="1539" dirty="0">
                <a:latin typeface="+mj-lt"/>
                <a:cs typeface="Times New Roman"/>
              </a:rPr>
              <a:t>of</a:t>
            </a:r>
            <a:r>
              <a:rPr sz="1539" spc="120" dirty="0">
                <a:latin typeface="+mj-lt"/>
                <a:cs typeface="Times New Roman"/>
              </a:rPr>
              <a:t> </a:t>
            </a:r>
            <a:r>
              <a:rPr sz="1539" spc="-9" dirty="0">
                <a:latin typeface="+mj-lt"/>
                <a:cs typeface="Times New Roman"/>
              </a:rPr>
              <a:t>actions/states </a:t>
            </a:r>
            <a:r>
              <a:rPr sz="1539" dirty="0">
                <a:latin typeface="+mj-lt"/>
                <a:cs typeface="Times New Roman"/>
              </a:rPr>
              <a:t>that</a:t>
            </a:r>
            <a:r>
              <a:rPr sz="1539" spc="-26" dirty="0">
                <a:latin typeface="+mj-lt"/>
                <a:cs typeface="Times New Roman"/>
              </a:rPr>
              <a:t> </a:t>
            </a:r>
            <a:r>
              <a:rPr sz="1539" dirty="0">
                <a:latin typeface="+mj-lt"/>
                <a:cs typeface="Times New Roman"/>
              </a:rPr>
              <a:t>lead</a:t>
            </a:r>
            <a:r>
              <a:rPr sz="1539" spc="-21" dirty="0">
                <a:latin typeface="+mj-lt"/>
                <a:cs typeface="Times New Roman"/>
              </a:rPr>
              <a:t> </a:t>
            </a:r>
            <a:r>
              <a:rPr sz="1539" dirty="0">
                <a:latin typeface="+mj-lt"/>
                <a:cs typeface="Times New Roman"/>
              </a:rPr>
              <a:t>to</a:t>
            </a:r>
            <a:r>
              <a:rPr sz="1539" spc="-21" dirty="0">
                <a:latin typeface="+mj-lt"/>
                <a:cs typeface="Times New Roman"/>
              </a:rPr>
              <a:t> </a:t>
            </a:r>
            <a:r>
              <a:rPr sz="1539" dirty="0">
                <a:latin typeface="+mj-lt"/>
                <a:cs typeface="Times New Roman"/>
              </a:rPr>
              <a:t>a</a:t>
            </a:r>
            <a:r>
              <a:rPr sz="1539" spc="-21" dirty="0">
                <a:latin typeface="+mj-lt"/>
                <a:cs typeface="Times New Roman"/>
              </a:rPr>
              <a:t> </a:t>
            </a:r>
            <a:r>
              <a:rPr sz="1539" dirty="0">
                <a:latin typeface="+mj-lt"/>
                <a:cs typeface="Times New Roman"/>
              </a:rPr>
              <a:t>given</a:t>
            </a:r>
            <a:r>
              <a:rPr sz="1539" spc="-21" dirty="0">
                <a:latin typeface="+mj-lt"/>
                <a:cs typeface="Times New Roman"/>
              </a:rPr>
              <a:t> </a:t>
            </a:r>
            <a:r>
              <a:rPr sz="1539" dirty="0">
                <a:latin typeface="+mj-lt"/>
                <a:cs typeface="Times New Roman"/>
              </a:rPr>
              <a:t>goal</a:t>
            </a:r>
            <a:r>
              <a:rPr sz="1539" spc="-21" dirty="0">
                <a:latin typeface="+mj-lt"/>
                <a:cs typeface="Times New Roman"/>
              </a:rPr>
              <a:t> </a:t>
            </a:r>
            <a:r>
              <a:rPr sz="1539" dirty="0">
                <a:latin typeface="+mj-lt"/>
                <a:cs typeface="Times New Roman"/>
              </a:rPr>
              <a:t>being</a:t>
            </a:r>
            <a:r>
              <a:rPr sz="1539" spc="-21" dirty="0">
                <a:latin typeface="+mj-lt"/>
                <a:cs typeface="Times New Roman"/>
              </a:rPr>
              <a:t> </a:t>
            </a:r>
            <a:r>
              <a:rPr sz="1539" spc="-9" dirty="0">
                <a:latin typeface="+mj-lt"/>
                <a:cs typeface="Times New Roman"/>
              </a:rPr>
              <a:t>achieved.</a:t>
            </a:r>
            <a:endParaRPr sz="1539" dirty="0">
              <a:latin typeface="+mj-lt"/>
              <a:cs typeface="Times New Roman"/>
            </a:endParaRPr>
          </a:p>
          <a:p>
            <a:pPr marL="10860" marR="5973" algn="just">
              <a:lnSpc>
                <a:spcPct val="115599"/>
              </a:lnSpc>
              <a:spcBef>
                <a:spcPts val="1620"/>
              </a:spcBef>
            </a:pPr>
            <a:r>
              <a:rPr sz="1539" dirty="0">
                <a:latin typeface="+mj-lt"/>
                <a:cs typeface="Times New Roman"/>
              </a:rPr>
              <a:t>When</a:t>
            </a:r>
            <a:r>
              <a:rPr sz="1539" spc="141" dirty="0">
                <a:latin typeface="+mj-lt"/>
                <a:cs typeface="Times New Roman"/>
              </a:rPr>
              <a:t> </a:t>
            </a:r>
            <a:r>
              <a:rPr sz="1539" dirty="0">
                <a:latin typeface="+mj-lt"/>
                <a:cs typeface="Times New Roman"/>
              </a:rPr>
              <a:t>there</a:t>
            </a:r>
            <a:r>
              <a:rPr sz="1539" spc="141" dirty="0">
                <a:latin typeface="+mj-lt"/>
                <a:cs typeface="Times New Roman"/>
              </a:rPr>
              <a:t> </a:t>
            </a:r>
            <a:r>
              <a:rPr sz="1539" dirty="0">
                <a:latin typeface="+mj-lt"/>
                <a:cs typeface="Times New Roman"/>
              </a:rPr>
              <a:t>are</a:t>
            </a:r>
            <a:r>
              <a:rPr sz="1539" spc="141" dirty="0">
                <a:latin typeface="+mj-lt"/>
                <a:cs typeface="Times New Roman"/>
              </a:rPr>
              <a:t> </a:t>
            </a:r>
            <a:r>
              <a:rPr sz="1539" dirty="0">
                <a:latin typeface="+mj-lt"/>
                <a:cs typeface="Times New Roman"/>
              </a:rPr>
              <a:t>conflicting</a:t>
            </a:r>
            <a:r>
              <a:rPr sz="1539" spc="145" dirty="0">
                <a:latin typeface="+mj-lt"/>
                <a:cs typeface="Times New Roman"/>
              </a:rPr>
              <a:t> </a:t>
            </a:r>
            <a:r>
              <a:rPr sz="1539" dirty="0">
                <a:latin typeface="+mj-lt"/>
                <a:cs typeface="Times New Roman"/>
              </a:rPr>
              <a:t>goals,</a:t>
            </a:r>
            <a:r>
              <a:rPr sz="1539" spc="141" dirty="0">
                <a:latin typeface="+mj-lt"/>
                <a:cs typeface="Times New Roman"/>
              </a:rPr>
              <a:t> </a:t>
            </a:r>
            <a:r>
              <a:rPr sz="1539" dirty="0">
                <a:latin typeface="+mj-lt"/>
                <a:cs typeface="Times New Roman"/>
              </a:rPr>
              <a:t>only</a:t>
            </a:r>
            <a:r>
              <a:rPr sz="1539" spc="141" dirty="0">
                <a:latin typeface="+mj-lt"/>
                <a:cs typeface="Times New Roman"/>
              </a:rPr>
              <a:t> </a:t>
            </a:r>
            <a:r>
              <a:rPr sz="1539" dirty="0">
                <a:latin typeface="+mj-lt"/>
                <a:cs typeface="Times New Roman"/>
              </a:rPr>
              <a:t>some</a:t>
            </a:r>
            <a:r>
              <a:rPr sz="1539" spc="141" dirty="0">
                <a:latin typeface="+mj-lt"/>
                <a:cs typeface="Times New Roman"/>
              </a:rPr>
              <a:t> </a:t>
            </a:r>
            <a:r>
              <a:rPr sz="1539" dirty="0">
                <a:latin typeface="+mj-lt"/>
                <a:cs typeface="Times New Roman"/>
              </a:rPr>
              <a:t>of</a:t>
            </a:r>
            <a:r>
              <a:rPr sz="1539" spc="145" dirty="0">
                <a:latin typeface="+mj-lt"/>
                <a:cs typeface="Times New Roman"/>
              </a:rPr>
              <a:t> </a:t>
            </a:r>
            <a:r>
              <a:rPr sz="1539" dirty="0">
                <a:latin typeface="+mj-lt"/>
                <a:cs typeface="Times New Roman"/>
              </a:rPr>
              <a:t>which</a:t>
            </a:r>
            <a:r>
              <a:rPr sz="1539" spc="141" dirty="0">
                <a:latin typeface="+mj-lt"/>
                <a:cs typeface="Times New Roman"/>
              </a:rPr>
              <a:t> </a:t>
            </a:r>
            <a:r>
              <a:rPr sz="1539" dirty="0">
                <a:latin typeface="+mj-lt"/>
                <a:cs typeface="Times New Roman"/>
              </a:rPr>
              <a:t>can</a:t>
            </a:r>
            <a:r>
              <a:rPr sz="1539" spc="141" dirty="0">
                <a:latin typeface="+mj-lt"/>
                <a:cs typeface="Times New Roman"/>
              </a:rPr>
              <a:t> </a:t>
            </a:r>
            <a:r>
              <a:rPr sz="1539" dirty="0">
                <a:latin typeface="+mj-lt"/>
                <a:cs typeface="Times New Roman"/>
              </a:rPr>
              <a:t>be</a:t>
            </a:r>
            <a:r>
              <a:rPr sz="1539" spc="141" dirty="0">
                <a:latin typeface="+mj-lt"/>
                <a:cs typeface="Times New Roman"/>
              </a:rPr>
              <a:t> </a:t>
            </a:r>
            <a:r>
              <a:rPr sz="1539" dirty="0">
                <a:latin typeface="+mj-lt"/>
                <a:cs typeface="Times New Roman"/>
              </a:rPr>
              <a:t>achieved,</a:t>
            </a:r>
            <a:r>
              <a:rPr sz="1539" spc="145" dirty="0">
                <a:latin typeface="+mj-lt"/>
                <a:cs typeface="Times New Roman"/>
              </a:rPr>
              <a:t> </a:t>
            </a:r>
            <a:r>
              <a:rPr sz="1539" dirty="0">
                <a:latin typeface="+mj-lt"/>
                <a:cs typeface="Times New Roman"/>
              </a:rPr>
              <a:t>the</a:t>
            </a:r>
            <a:r>
              <a:rPr sz="1539" spc="141" dirty="0">
                <a:latin typeface="+mj-lt"/>
                <a:cs typeface="Times New Roman"/>
              </a:rPr>
              <a:t> </a:t>
            </a:r>
            <a:r>
              <a:rPr sz="1539" dirty="0">
                <a:latin typeface="+mj-lt"/>
                <a:cs typeface="Times New Roman"/>
              </a:rPr>
              <a:t>utility</a:t>
            </a:r>
            <a:r>
              <a:rPr sz="1539" spc="141" dirty="0">
                <a:latin typeface="+mj-lt"/>
                <a:cs typeface="Times New Roman"/>
              </a:rPr>
              <a:t> </a:t>
            </a:r>
            <a:r>
              <a:rPr sz="1539" spc="-21" dirty="0">
                <a:latin typeface="+mj-lt"/>
                <a:cs typeface="Times New Roman"/>
              </a:rPr>
              <a:t>is </a:t>
            </a:r>
            <a:r>
              <a:rPr sz="1539" dirty="0">
                <a:latin typeface="+mj-lt"/>
                <a:cs typeface="Times New Roman"/>
              </a:rPr>
              <a:t>able</a:t>
            </a:r>
            <a:r>
              <a:rPr sz="1539" spc="-34" dirty="0">
                <a:latin typeface="+mj-lt"/>
                <a:cs typeface="Times New Roman"/>
              </a:rPr>
              <a:t> </a:t>
            </a:r>
            <a:r>
              <a:rPr sz="1539" dirty="0">
                <a:latin typeface="+mj-lt"/>
                <a:cs typeface="Times New Roman"/>
              </a:rPr>
              <a:t>to</a:t>
            </a:r>
            <a:r>
              <a:rPr sz="1539" spc="-30" dirty="0">
                <a:latin typeface="+mj-lt"/>
                <a:cs typeface="Times New Roman"/>
              </a:rPr>
              <a:t> </a:t>
            </a:r>
            <a:r>
              <a:rPr sz="1539" dirty="0">
                <a:latin typeface="+mj-lt"/>
                <a:cs typeface="Times New Roman"/>
              </a:rPr>
              <a:t>quantify</a:t>
            </a:r>
            <a:r>
              <a:rPr sz="1539" spc="-30" dirty="0">
                <a:latin typeface="+mj-lt"/>
                <a:cs typeface="Times New Roman"/>
              </a:rPr>
              <a:t> </a:t>
            </a:r>
            <a:r>
              <a:rPr sz="1539" dirty="0">
                <a:latin typeface="+mj-lt"/>
                <a:cs typeface="Times New Roman"/>
              </a:rPr>
              <a:t>the</a:t>
            </a:r>
            <a:r>
              <a:rPr sz="1539" spc="-30" dirty="0">
                <a:latin typeface="+mj-lt"/>
                <a:cs typeface="Times New Roman"/>
              </a:rPr>
              <a:t> </a:t>
            </a:r>
            <a:r>
              <a:rPr sz="1539" dirty="0">
                <a:latin typeface="+mj-lt"/>
                <a:cs typeface="Times New Roman"/>
              </a:rPr>
              <a:t>appropriate</a:t>
            </a:r>
            <a:r>
              <a:rPr sz="1539" spc="-30" dirty="0">
                <a:latin typeface="+mj-lt"/>
                <a:cs typeface="Times New Roman"/>
              </a:rPr>
              <a:t> </a:t>
            </a:r>
            <a:r>
              <a:rPr sz="1539" spc="-9" dirty="0">
                <a:latin typeface="+mj-lt"/>
                <a:cs typeface="Times New Roman"/>
              </a:rPr>
              <a:t>trade-offs.</a:t>
            </a:r>
            <a:endParaRPr sz="1539" dirty="0">
              <a:latin typeface="+mj-lt"/>
              <a:cs typeface="Times New Roman"/>
            </a:endParaRPr>
          </a:p>
          <a:p>
            <a:pPr marL="10860" marR="8688" algn="just">
              <a:lnSpc>
                <a:spcPct val="115599"/>
              </a:lnSpc>
              <a:spcBef>
                <a:spcPts val="1642"/>
              </a:spcBef>
            </a:pPr>
            <a:r>
              <a:rPr sz="1539" dirty="0">
                <a:latin typeface="+mj-lt"/>
                <a:cs typeface="Times New Roman"/>
              </a:rPr>
              <a:t>When</a:t>
            </a:r>
            <a:r>
              <a:rPr sz="1539" spc="9" dirty="0">
                <a:latin typeface="+mj-lt"/>
                <a:cs typeface="Times New Roman"/>
              </a:rPr>
              <a:t> </a:t>
            </a:r>
            <a:r>
              <a:rPr sz="1539" dirty="0">
                <a:latin typeface="+mj-lt"/>
                <a:cs typeface="Times New Roman"/>
              </a:rPr>
              <a:t>there</a:t>
            </a:r>
            <a:r>
              <a:rPr sz="1539" spc="9" dirty="0">
                <a:latin typeface="+mj-lt"/>
                <a:cs typeface="Times New Roman"/>
              </a:rPr>
              <a:t> </a:t>
            </a:r>
            <a:r>
              <a:rPr sz="1539" dirty="0">
                <a:latin typeface="+mj-lt"/>
                <a:cs typeface="Times New Roman"/>
              </a:rPr>
              <a:t>are</a:t>
            </a:r>
            <a:r>
              <a:rPr sz="1539" spc="9" dirty="0">
                <a:latin typeface="+mj-lt"/>
                <a:cs typeface="Times New Roman"/>
              </a:rPr>
              <a:t> </a:t>
            </a:r>
            <a:r>
              <a:rPr sz="1539" dirty="0">
                <a:latin typeface="+mj-lt"/>
                <a:cs typeface="Times New Roman"/>
              </a:rPr>
              <a:t>several</a:t>
            </a:r>
            <a:r>
              <a:rPr sz="1539" spc="9" dirty="0">
                <a:latin typeface="+mj-lt"/>
                <a:cs typeface="Times New Roman"/>
              </a:rPr>
              <a:t> </a:t>
            </a:r>
            <a:r>
              <a:rPr sz="1539" dirty="0">
                <a:latin typeface="+mj-lt"/>
                <a:cs typeface="Times New Roman"/>
              </a:rPr>
              <a:t>goals,</a:t>
            </a:r>
            <a:r>
              <a:rPr sz="1539" spc="9" dirty="0">
                <a:latin typeface="+mj-lt"/>
                <a:cs typeface="Times New Roman"/>
              </a:rPr>
              <a:t> </a:t>
            </a:r>
            <a:r>
              <a:rPr sz="1539" dirty="0">
                <a:latin typeface="+mj-lt"/>
                <a:cs typeface="Times New Roman"/>
              </a:rPr>
              <a:t>none</a:t>
            </a:r>
            <a:r>
              <a:rPr sz="1539" spc="9" dirty="0">
                <a:latin typeface="+mj-lt"/>
                <a:cs typeface="Times New Roman"/>
              </a:rPr>
              <a:t> </a:t>
            </a:r>
            <a:r>
              <a:rPr sz="1539" dirty="0">
                <a:latin typeface="+mj-lt"/>
                <a:cs typeface="Times New Roman"/>
              </a:rPr>
              <a:t>of</a:t>
            </a:r>
            <a:r>
              <a:rPr sz="1539" spc="9" dirty="0">
                <a:latin typeface="+mj-lt"/>
                <a:cs typeface="Times New Roman"/>
              </a:rPr>
              <a:t> </a:t>
            </a:r>
            <a:r>
              <a:rPr sz="1539" dirty="0">
                <a:latin typeface="+mj-lt"/>
                <a:cs typeface="Times New Roman"/>
              </a:rPr>
              <a:t>which</a:t>
            </a:r>
            <a:r>
              <a:rPr sz="1539" spc="9" dirty="0">
                <a:latin typeface="+mj-lt"/>
                <a:cs typeface="Times New Roman"/>
              </a:rPr>
              <a:t> </a:t>
            </a:r>
            <a:r>
              <a:rPr sz="1539" dirty="0">
                <a:latin typeface="+mj-lt"/>
                <a:cs typeface="Times New Roman"/>
              </a:rPr>
              <a:t>can</a:t>
            </a:r>
            <a:r>
              <a:rPr sz="1539" spc="9" dirty="0">
                <a:latin typeface="+mj-lt"/>
                <a:cs typeface="Times New Roman"/>
              </a:rPr>
              <a:t> </a:t>
            </a:r>
            <a:r>
              <a:rPr sz="1539" dirty="0">
                <a:latin typeface="+mj-lt"/>
                <a:cs typeface="Times New Roman"/>
              </a:rPr>
              <a:t>be</a:t>
            </a:r>
            <a:r>
              <a:rPr sz="1539" spc="9" dirty="0">
                <a:latin typeface="+mj-lt"/>
                <a:cs typeface="Times New Roman"/>
              </a:rPr>
              <a:t> </a:t>
            </a:r>
            <a:r>
              <a:rPr sz="1539" dirty="0">
                <a:latin typeface="+mj-lt"/>
                <a:cs typeface="Times New Roman"/>
              </a:rPr>
              <a:t>achieved</a:t>
            </a:r>
            <a:r>
              <a:rPr sz="1539" spc="9" dirty="0">
                <a:latin typeface="+mj-lt"/>
                <a:cs typeface="Times New Roman"/>
              </a:rPr>
              <a:t> </a:t>
            </a:r>
            <a:r>
              <a:rPr sz="1539" dirty="0">
                <a:latin typeface="+mj-lt"/>
                <a:cs typeface="Times New Roman"/>
              </a:rPr>
              <a:t>with</a:t>
            </a:r>
            <a:r>
              <a:rPr sz="1539" spc="13" dirty="0">
                <a:latin typeface="+mj-lt"/>
                <a:cs typeface="Times New Roman"/>
              </a:rPr>
              <a:t> </a:t>
            </a:r>
            <a:r>
              <a:rPr sz="1539" dirty="0">
                <a:latin typeface="+mj-lt"/>
                <a:cs typeface="Times New Roman"/>
              </a:rPr>
              <a:t>certainty,</a:t>
            </a:r>
            <a:r>
              <a:rPr sz="1539" spc="9" dirty="0">
                <a:latin typeface="+mj-lt"/>
                <a:cs typeface="Times New Roman"/>
              </a:rPr>
              <a:t> </a:t>
            </a:r>
            <a:r>
              <a:rPr sz="1539" dirty="0">
                <a:latin typeface="+mj-lt"/>
                <a:cs typeface="Times New Roman"/>
              </a:rPr>
              <a:t>the</a:t>
            </a:r>
            <a:r>
              <a:rPr sz="1539" spc="9" dirty="0">
                <a:latin typeface="+mj-lt"/>
                <a:cs typeface="Times New Roman"/>
              </a:rPr>
              <a:t> </a:t>
            </a:r>
            <a:r>
              <a:rPr sz="1539" spc="-9" dirty="0">
                <a:latin typeface="+mj-lt"/>
                <a:cs typeface="Times New Roman"/>
              </a:rPr>
              <a:t>utility </a:t>
            </a:r>
            <a:r>
              <a:rPr sz="1539" dirty="0">
                <a:latin typeface="+mj-lt"/>
                <a:cs typeface="Times New Roman"/>
              </a:rPr>
              <a:t>allows</a:t>
            </a:r>
            <a:r>
              <a:rPr sz="1539" spc="-38" dirty="0">
                <a:latin typeface="+mj-lt"/>
                <a:cs typeface="Times New Roman"/>
              </a:rPr>
              <a:t> </a:t>
            </a:r>
            <a:r>
              <a:rPr sz="1539" dirty="0">
                <a:latin typeface="+mj-lt"/>
                <a:cs typeface="Times New Roman"/>
              </a:rPr>
              <a:t>the</a:t>
            </a:r>
            <a:r>
              <a:rPr sz="1539" spc="-30" dirty="0">
                <a:latin typeface="+mj-lt"/>
                <a:cs typeface="Times New Roman"/>
              </a:rPr>
              <a:t> </a:t>
            </a:r>
            <a:r>
              <a:rPr sz="1539" dirty="0">
                <a:latin typeface="+mj-lt"/>
                <a:cs typeface="Times New Roman"/>
              </a:rPr>
              <a:t>likeliness</a:t>
            </a:r>
            <a:r>
              <a:rPr sz="1539" spc="-30" dirty="0">
                <a:latin typeface="+mj-lt"/>
                <a:cs typeface="Times New Roman"/>
              </a:rPr>
              <a:t> </a:t>
            </a:r>
            <a:r>
              <a:rPr sz="1539" dirty="0">
                <a:latin typeface="+mj-lt"/>
                <a:cs typeface="Times New Roman"/>
              </a:rPr>
              <a:t>of</a:t>
            </a:r>
            <a:r>
              <a:rPr sz="1539" spc="-30" dirty="0">
                <a:latin typeface="+mj-lt"/>
                <a:cs typeface="Times New Roman"/>
              </a:rPr>
              <a:t> </a:t>
            </a:r>
            <a:r>
              <a:rPr sz="1539" dirty="0">
                <a:latin typeface="+mj-lt"/>
                <a:cs typeface="Times New Roman"/>
              </a:rPr>
              <a:t>success</a:t>
            </a:r>
            <a:r>
              <a:rPr sz="1539" spc="-26" dirty="0">
                <a:latin typeface="+mj-lt"/>
                <a:cs typeface="Times New Roman"/>
              </a:rPr>
              <a:t> </a:t>
            </a:r>
            <a:r>
              <a:rPr sz="1539" dirty="0">
                <a:latin typeface="+mj-lt"/>
                <a:cs typeface="Times New Roman"/>
              </a:rPr>
              <a:t>to</a:t>
            </a:r>
            <a:r>
              <a:rPr sz="1539" spc="-30" dirty="0">
                <a:latin typeface="+mj-lt"/>
                <a:cs typeface="Times New Roman"/>
              </a:rPr>
              <a:t> </a:t>
            </a:r>
            <a:r>
              <a:rPr sz="1539" dirty="0">
                <a:latin typeface="+mj-lt"/>
                <a:cs typeface="Times New Roman"/>
              </a:rPr>
              <a:t>be</a:t>
            </a:r>
            <a:r>
              <a:rPr sz="1539" spc="-30" dirty="0">
                <a:latin typeface="+mj-lt"/>
                <a:cs typeface="Times New Roman"/>
              </a:rPr>
              <a:t> </a:t>
            </a:r>
            <a:r>
              <a:rPr sz="1539" dirty="0">
                <a:latin typeface="+mj-lt"/>
                <a:cs typeface="Times New Roman"/>
              </a:rPr>
              <a:t>weighed</a:t>
            </a:r>
            <a:r>
              <a:rPr sz="1539" spc="-30" dirty="0">
                <a:latin typeface="+mj-lt"/>
                <a:cs typeface="Times New Roman"/>
              </a:rPr>
              <a:t> </a:t>
            </a:r>
            <a:r>
              <a:rPr sz="1539" dirty="0">
                <a:latin typeface="+mj-lt"/>
                <a:cs typeface="Times New Roman"/>
              </a:rPr>
              <a:t>up</a:t>
            </a:r>
            <a:r>
              <a:rPr sz="1539" spc="-30" dirty="0">
                <a:latin typeface="+mj-lt"/>
                <a:cs typeface="Times New Roman"/>
              </a:rPr>
              <a:t> </a:t>
            </a:r>
            <a:r>
              <a:rPr sz="1539" dirty="0">
                <a:latin typeface="+mj-lt"/>
                <a:cs typeface="Times New Roman"/>
              </a:rPr>
              <a:t>against</a:t>
            </a:r>
            <a:r>
              <a:rPr sz="1539" spc="-26" dirty="0">
                <a:latin typeface="+mj-lt"/>
                <a:cs typeface="Times New Roman"/>
              </a:rPr>
              <a:t> </a:t>
            </a:r>
            <a:r>
              <a:rPr sz="1539" dirty="0">
                <a:latin typeface="+mj-lt"/>
                <a:cs typeface="Times New Roman"/>
              </a:rPr>
              <a:t>the</a:t>
            </a:r>
            <a:r>
              <a:rPr sz="1539" spc="-30" dirty="0">
                <a:latin typeface="+mj-lt"/>
                <a:cs typeface="Times New Roman"/>
              </a:rPr>
              <a:t> </a:t>
            </a:r>
            <a:r>
              <a:rPr sz="1539" dirty="0">
                <a:latin typeface="+mj-lt"/>
                <a:cs typeface="Times New Roman"/>
              </a:rPr>
              <a:t>importance</a:t>
            </a:r>
            <a:r>
              <a:rPr sz="1539" spc="-30" dirty="0">
                <a:latin typeface="+mj-lt"/>
                <a:cs typeface="Times New Roman"/>
              </a:rPr>
              <a:t> </a:t>
            </a:r>
            <a:r>
              <a:rPr sz="1539" dirty="0">
                <a:latin typeface="+mj-lt"/>
                <a:cs typeface="Times New Roman"/>
              </a:rPr>
              <a:t>of</a:t>
            </a:r>
            <a:r>
              <a:rPr sz="1539" spc="-30" dirty="0">
                <a:latin typeface="+mj-lt"/>
                <a:cs typeface="Times New Roman"/>
              </a:rPr>
              <a:t> </a:t>
            </a:r>
            <a:r>
              <a:rPr sz="1539" dirty="0">
                <a:latin typeface="+mj-lt"/>
                <a:cs typeface="Times New Roman"/>
              </a:rPr>
              <a:t>the</a:t>
            </a:r>
            <a:r>
              <a:rPr sz="1539" spc="-26" dirty="0">
                <a:latin typeface="+mj-lt"/>
                <a:cs typeface="Times New Roman"/>
              </a:rPr>
              <a:t> </a:t>
            </a:r>
            <a:r>
              <a:rPr sz="1539" spc="-9" dirty="0">
                <a:latin typeface="+mj-lt"/>
                <a:cs typeface="Times New Roman"/>
              </a:rPr>
              <a:t>goals.</a:t>
            </a:r>
            <a:endParaRPr sz="1539" dirty="0">
              <a:latin typeface="+mj-lt"/>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214" y="429995"/>
            <a:ext cx="6010659" cy="688074"/>
          </a:xfrm>
          <a:prstGeom prst="rect">
            <a:avLst/>
          </a:prstGeom>
        </p:spPr>
        <p:txBody>
          <a:bodyPr vert="horz" wrap="square" lIns="0" tIns="10860" rIns="0" bIns="0" rtlCol="0">
            <a:spAutoFit/>
          </a:bodyPr>
          <a:lstStyle/>
          <a:p>
            <a:pPr marL="1305887">
              <a:spcBef>
                <a:spcPts val="86"/>
              </a:spcBef>
            </a:pPr>
            <a:r>
              <a:rPr dirty="0"/>
              <a:t>Machine </a:t>
            </a:r>
            <a:r>
              <a:rPr spc="-9" dirty="0"/>
              <a:t>Learning</a:t>
            </a:r>
          </a:p>
        </p:txBody>
      </p:sp>
      <p:sp>
        <p:nvSpPr>
          <p:cNvPr id="3" name="object 3"/>
          <p:cNvSpPr txBox="1"/>
          <p:nvPr/>
        </p:nvSpPr>
        <p:spPr>
          <a:xfrm>
            <a:off x="933214" y="1178194"/>
            <a:ext cx="6953566" cy="4354078"/>
          </a:xfrm>
          <a:prstGeom prst="rect">
            <a:avLst/>
          </a:prstGeom>
        </p:spPr>
        <p:txBody>
          <a:bodyPr vert="horz" wrap="square" lIns="0" tIns="10860" rIns="0" bIns="0" rtlCol="0">
            <a:spAutoFit/>
          </a:bodyPr>
          <a:lstStyle/>
          <a:p>
            <a:pPr marL="10860" marR="6516">
              <a:lnSpc>
                <a:spcPct val="121100"/>
              </a:lnSpc>
              <a:spcBef>
                <a:spcPts val="86"/>
              </a:spcBef>
            </a:pPr>
            <a:r>
              <a:rPr sz="1539" dirty="0">
                <a:latin typeface="+mj-lt"/>
                <a:cs typeface="Times New Roman"/>
              </a:rPr>
              <a:t>We</a:t>
            </a:r>
            <a:r>
              <a:rPr sz="1539" spc="77" dirty="0">
                <a:latin typeface="+mj-lt"/>
                <a:cs typeface="Times New Roman"/>
              </a:rPr>
              <a:t> </a:t>
            </a:r>
            <a:r>
              <a:rPr sz="1539" dirty="0">
                <a:latin typeface="+mj-lt"/>
                <a:cs typeface="Times New Roman"/>
              </a:rPr>
              <a:t>can</a:t>
            </a:r>
            <a:r>
              <a:rPr sz="1539" spc="81" dirty="0">
                <a:latin typeface="+mj-lt"/>
                <a:cs typeface="Times New Roman"/>
              </a:rPr>
              <a:t> </a:t>
            </a:r>
            <a:r>
              <a:rPr sz="1539" dirty="0">
                <a:latin typeface="+mj-lt"/>
                <a:cs typeface="Times New Roman"/>
              </a:rPr>
              <a:t>see</a:t>
            </a:r>
            <a:r>
              <a:rPr sz="1539" spc="81" dirty="0">
                <a:latin typeface="+mj-lt"/>
                <a:cs typeface="Times New Roman"/>
              </a:rPr>
              <a:t> </a:t>
            </a:r>
            <a:r>
              <a:rPr sz="1539" dirty="0">
                <a:latin typeface="+mj-lt"/>
                <a:cs typeface="Times New Roman"/>
              </a:rPr>
              <a:t>that</a:t>
            </a:r>
            <a:r>
              <a:rPr sz="1539" spc="81" dirty="0">
                <a:latin typeface="+mj-lt"/>
                <a:cs typeface="Times New Roman"/>
              </a:rPr>
              <a:t> </a:t>
            </a:r>
            <a:r>
              <a:rPr sz="1539" dirty="0">
                <a:latin typeface="+mj-lt"/>
                <a:cs typeface="Times New Roman"/>
              </a:rPr>
              <a:t>percepts</a:t>
            </a:r>
            <a:r>
              <a:rPr sz="1539" spc="81" dirty="0">
                <a:latin typeface="+mj-lt"/>
                <a:cs typeface="Times New Roman"/>
              </a:rPr>
              <a:t> </a:t>
            </a:r>
            <a:r>
              <a:rPr sz="1539" dirty="0">
                <a:latin typeface="+mj-lt"/>
                <a:cs typeface="Times New Roman"/>
              </a:rPr>
              <a:t>should</a:t>
            </a:r>
            <a:r>
              <a:rPr sz="1539" spc="81" dirty="0">
                <a:latin typeface="+mj-lt"/>
                <a:cs typeface="Times New Roman"/>
              </a:rPr>
              <a:t> </a:t>
            </a:r>
            <a:r>
              <a:rPr sz="1539" dirty="0">
                <a:latin typeface="+mj-lt"/>
                <a:cs typeface="Times New Roman"/>
              </a:rPr>
              <a:t>not</a:t>
            </a:r>
            <a:r>
              <a:rPr sz="1539" spc="81" dirty="0">
                <a:latin typeface="+mj-lt"/>
                <a:cs typeface="Times New Roman"/>
              </a:rPr>
              <a:t> </a:t>
            </a:r>
            <a:r>
              <a:rPr sz="1539" dirty="0">
                <a:latin typeface="+mj-lt"/>
                <a:cs typeface="Times New Roman"/>
              </a:rPr>
              <a:t>only</a:t>
            </a:r>
            <a:r>
              <a:rPr sz="1539" spc="81" dirty="0">
                <a:latin typeface="+mj-lt"/>
                <a:cs typeface="Times New Roman"/>
              </a:rPr>
              <a:t> </a:t>
            </a:r>
            <a:r>
              <a:rPr sz="1539" dirty="0">
                <a:latin typeface="+mj-lt"/>
                <a:cs typeface="Times New Roman"/>
              </a:rPr>
              <a:t>be</a:t>
            </a:r>
            <a:r>
              <a:rPr sz="1539" spc="81" dirty="0">
                <a:latin typeface="+mj-lt"/>
                <a:cs typeface="Times New Roman"/>
              </a:rPr>
              <a:t> </a:t>
            </a:r>
            <a:r>
              <a:rPr sz="1539" dirty="0">
                <a:latin typeface="+mj-lt"/>
                <a:cs typeface="Times New Roman"/>
              </a:rPr>
              <a:t>used</a:t>
            </a:r>
            <a:r>
              <a:rPr sz="1539" spc="81" dirty="0">
                <a:latin typeface="+mj-lt"/>
                <a:cs typeface="Times New Roman"/>
              </a:rPr>
              <a:t> </a:t>
            </a:r>
            <a:r>
              <a:rPr sz="1539" dirty="0">
                <a:latin typeface="+mj-lt"/>
                <a:cs typeface="Times New Roman"/>
              </a:rPr>
              <a:t>for</a:t>
            </a:r>
            <a:r>
              <a:rPr sz="1539" spc="81" dirty="0">
                <a:latin typeface="+mj-lt"/>
                <a:cs typeface="Times New Roman"/>
              </a:rPr>
              <a:t> </a:t>
            </a:r>
            <a:r>
              <a:rPr sz="1539" dirty="0">
                <a:latin typeface="+mj-lt"/>
                <a:cs typeface="Times New Roman"/>
              </a:rPr>
              <a:t>generating</a:t>
            </a:r>
            <a:r>
              <a:rPr sz="1539" spc="81" dirty="0">
                <a:latin typeface="+mj-lt"/>
                <a:cs typeface="Times New Roman"/>
              </a:rPr>
              <a:t> </a:t>
            </a:r>
            <a:r>
              <a:rPr sz="1539" dirty="0">
                <a:latin typeface="+mj-lt"/>
                <a:cs typeface="Times New Roman"/>
              </a:rPr>
              <a:t>an</a:t>
            </a:r>
            <a:r>
              <a:rPr sz="1539" spc="81" dirty="0">
                <a:latin typeface="+mj-lt"/>
                <a:cs typeface="Times New Roman"/>
              </a:rPr>
              <a:t> </a:t>
            </a:r>
            <a:r>
              <a:rPr sz="1539" dirty="0">
                <a:latin typeface="+mj-lt"/>
                <a:cs typeface="Times New Roman"/>
              </a:rPr>
              <a:t>agent’s</a:t>
            </a:r>
            <a:r>
              <a:rPr sz="1539" spc="81" dirty="0">
                <a:latin typeface="+mj-lt"/>
                <a:cs typeface="Times New Roman"/>
              </a:rPr>
              <a:t> </a:t>
            </a:r>
            <a:r>
              <a:rPr sz="1539" spc="-9" dirty="0">
                <a:latin typeface="+mj-lt"/>
                <a:cs typeface="Times New Roman"/>
              </a:rPr>
              <a:t>immediate </a:t>
            </a:r>
            <a:r>
              <a:rPr sz="1539" dirty="0">
                <a:latin typeface="+mj-lt"/>
                <a:cs typeface="Times New Roman"/>
              </a:rPr>
              <a:t>actions,</a:t>
            </a:r>
            <a:r>
              <a:rPr sz="1539" spc="-30" dirty="0">
                <a:latin typeface="+mj-lt"/>
                <a:cs typeface="Times New Roman"/>
              </a:rPr>
              <a:t> </a:t>
            </a:r>
            <a:r>
              <a:rPr sz="1539" dirty="0">
                <a:latin typeface="+mj-lt"/>
                <a:cs typeface="Times New Roman"/>
              </a:rPr>
              <a:t>but</a:t>
            </a:r>
            <a:r>
              <a:rPr sz="1539" spc="-17" dirty="0">
                <a:latin typeface="+mj-lt"/>
                <a:cs typeface="Times New Roman"/>
              </a:rPr>
              <a:t> </a:t>
            </a:r>
            <a:r>
              <a:rPr sz="1539" dirty="0">
                <a:latin typeface="+mj-lt"/>
                <a:cs typeface="Times New Roman"/>
              </a:rPr>
              <a:t>also</a:t>
            </a:r>
            <a:r>
              <a:rPr sz="1539" spc="-17" dirty="0">
                <a:latin typeface="+mj-lt"/>
                <a:cs typeface="Times New Roman"/>
              </a:rPr>
              <a:t> </a:t>
            </a:r>
            <a:r>
              <a:rPr sz="1539" dirty="0">
                <a:latin typeface="+mj-lt"/>
                <a:cs typeface="Times New Roman"/>
              </a:rPr>
              <a:t>for</a:t>
            </a:r>
            <a:r>
              <a:rPr sz="1539" spc="-17" dirty="0">
                <a:latin typeface="+mj-lt"/>
                <a:cs typeface="Times New Roman"/>
              </a:rPr>
              <a:t> </a:t>
            </a:r>
            <a:r>
              <a:rPr sz="1539" dirty="0">
                <a:latin typeface="+mj-lt"/>
                <a:cs typeface="Times New Roman"/>
              </a:rPr>
              <a:t>improving</a:t>
            </a:r>
            <a:r>
              <a:rPr sz="1539" spc="-17" dirty="0">
                <a:latin typeface="+mj-lt"/>
                <a:cs typeface="Times New Roman"/>
              </a:rPr>
              <a:t> </a:t>
            </a:r>
            <a:r>
              <a:rPr sz="1539" dirty="0">
                <a:latin typeface="+mj-lt"/>
                <a:cs typeface="Times New Roman"/>
              </a:rPr>
              <a:t>its</a:t>
            </a:r>
            <a:r>
              <a:rPr sz="1539" spc="-17" dirty="0">
                <a:latin typeface="+mj-lt"/>
                <a:cs typeface="Times New Roman"/>
              </a:rPr>
              <a:t> </a:t>
            </a:r>
            <a:r>
              <a:rPr sz="1539" dirty="0">
                <a:latin typeface="+mj-lt"/>
                <a:cs typeface="Times New Roman"/>
              </a:rPr>
              <a:t>ability</a:t>
            </a:r>
            <a:r>
              <a:rPr sz="1539" spc="-17" dirty="0">
                <a:latin typeface="+mj-lt"/>
                <a:cs typeface="Times New Roman"/>
              </a:rPr>
              <a:t> </a:t>
            </a:r>
            <a:r>
              <a:rPr sz="1539" dirty="0">
                <a:latin typeface="+mj-lt"/>
                <a:cs typeface="Times New Roman"/>
              </a:rPr>
              <a:t>to</a:t>
            </a:r>
            <a:r>
              <a:rPr sz="1539" spc="-17" dirty="0">
                <a:latin typeface="+mj-lt"/>
                <a:cs typeface="Times New Roman"/>
              </a:rPr>
              <a:t> </a:t>
            </a:r>
            <a:r>
              <a:rPr sz="1539" dirty="0">
                <a:latin typeface="+mj-lt"/>
                <a:cs typeface="Times New Roman"/>
              </a:rPr>
              <a:t>act</a:t>
            </a:r>
            <a:r>
              <a:rPr sz="1539" spc="-17" dirty="0">
                <a:latin typeface="+mj-lt"/>
                <a:cs typeface="Times New Roman"/>
              </a:rPr>
              <a:t> </a:t>
            </a:r>
            <a:r>
              <a:rPr sz="1539" dirty="0">
                <a:latin typeface="+mj-lt"/>
                <a:cs typeface="Times New Roman"/>
              </a:rPr>
              <a:t>in</a:t>
            </a:r>
            <a:r>
              <a:rPr sz="1539" spc="-17" dirty="0">
                <a:latin typeface="+mj-lt"/>
                <a:cs typeface="Times New Roman"/>
              </a:rPr>
              <a:t> </a:t>
            </a:r>
            <a:r>
              <a:rPr sz="1539" dirty="0">
                <a:latin typeface="+mj-lt"/>
                <a:cs typeface="Times New Roman"/>
              </a:rPr>
              <a:t>the</a:t>
            </a:r>
            <a:r>
              <a:rPr sz="1539" spc="-17" dirty="0">
                <a:latin typeface="+mj-lt"/>
                <a:cs typeface="Times New Roman"/>
              </a:rPr>
              <a:t> </a:t>
            </a:r>
            <a:r>
              <a:rPr sz="1539" dirty="0">
                <a:latin typeface="+mj-lt"/>
                <a:cs typeface="Times New Roman"/>
              </a:rPr>
              <a:t>future,</a:t>
            </a:r>
            <a:r>
              <a:rPr sz="1539" spc="-17" dirty="0">
                <a:latin typeface="+mj-lt"/>
                <a:cs typeface="Times New Roman"/>
              </a:rPr>
              <a:t> </a:t>
            </a:r>
            <a:r>
              <a:rPr sz="1539" dirty="0">
                <a:latin typeface="+mj-lt"/>
                <a:cs typeface="Times New Roman"/>
              </a:rPr>
              <a:t>i.e.</a:t>
            </a:r>
            <a:r>
              <a:rPr sz="1539" spc="-17" dirty="0">
                <a:latin typeface="+mj-lt"/>
                <a:cs typeface="Times New Roman"/>
              </a:rPr>
              <a:t> </a:t>
            </a:r>
            <a:r>
              <a:rPr sz="1539" dirty="0">
                <a:latin typeface="+mj-lt"/>
                <a:cs typeface="Times New Roman"/>
              </a:rPr>
              <a:t>for</a:t>
            </a:r>
            <a:r>
              <a:rPr sz="1539" spc="-17" dirty="0">
                <a:latin typeface="+mj-lt"/>
                <a:cs typeface="Times New Roman"/>
              </a:rPr>
              <a:t> </a:t>
            </a:r>
            <a:r>
              <a:rPr sz="1539" spc="-9" dirty="0">
                <a:latin typeface="+mj-lt"/>
                <a:cs typeface="Times New Roman"/>
              </a:rPr>
              <a:t>learning.</a:t>
            </a:r>
            <a:endParaRPr sz="1539" dirty="0">
              <a:latin typeface="+mj-lt"/>
              <a:cs typeface="Times New Roman"/>
            </a:endParaRPr>
          </a:p>
          <a:p>
            <a:pPr marL="10860" marR="4344">
              <a:lnSpc>
                <a:spcPct val="121100"/>
              </a:lnSpc>
              <a:spcBef>
                <a:spcPts val="1679"/>
              </a:spcBef>
            </a:pPr>
            <a:r>
              <a:rPr sz="1539" dirty="0">
                <a:latin typeface="+mj-lt"/>
                <a:cs typeface="Times New Roman"/>
              </a:rPr>
              <a:t>In</a:t>
            </a:r>
            <a:r>
              <a:rPr sz="1539" spc="350" dirty="0">
                <a:latin typeface="+mj-lt"/>
                <a:cs typeface="Times New Roman"/>
              </a:rPr>
              <a:t> </a:t>
            </a:r>
            <a:r>
              <a:rPr sz="1539" dirty="0">
                <a:latin typeface="+mj-lt"/>
                <a:cs typeface="Times New Roman"/>
              </a:rPr>
              <a:t>practice,</a:t>
            </a:r>
            <a:r>
              <a:rPr sz="1539" spc="338" dirty="0">
                <a:latin typeface="+mj-lt"/>
                <a:cs typeface="Times New Roman"/>
              </a:rPr>
              <a:t> </a:t>
            </a:r>
            <a:r>
              <a:rPr sz="1539" b="1" i="1" dirty="0">
                <a:solidFill>
                  <a:srgbClr val="0000FF"/>
                </a:solidFill>
                <a:latin typeface="+mj-lt"/>
                <a:cs typeface="Times New Roman"/>
              </a:rPr>
              <a:t>learning</a:t>
            </a:r>
            <a:r>
              <a:rPr sz="1539" b="1" i="1" spc="321" dirty="0">
                <a:solidFill>
                  <a:srgbClr val="0000FF"/>
                </a:solidFill>
                <a:latin typeface="+mj-lt"/>
                <a:cs typeface="Times New Roman"/>
              </a:rPr>
              <a:t> </a:t>
            </a:r>
            <a:r>
              <a:rPr sz="1539" dirty="0">
                <a:latin typeface="+mj-lt"/>
                <a:cs typeface="Times New Roman"/>
              </a:rPr>
              <a:t>can</a:t>
            </a:r>
            <a:r>
              <a:rPr sz="1539" spc="338" dirty="0">
                <a:latin typeface="+mj-lt"/>
                <a:cs typeface="Times New Roman"/>
              </a:rPr>
              <a:t> </a:t>
            </a:r>
            <a:r>
              <a:rPr sz="1539" dirty="0">
                <a:latin typeface="+mj-lt"/>
                <a:cs typeface="Times New Roman"/>
              </a:rPr>
              <a:t>correspond</a:t>
            </a:r>
            <a:r>
              <a:rPr sz="1539" spc="338" dirty="0">
                <a:latin typeface="+mj-lt"/>
                <a:cs typeface="Times New Roman"/>
              </a:rPr>
              <a:t> </a:t>
            </a:r>
            <a:r>
              <a:rPr sz="1539" dirty="0">
                <a:latin typeface="+mj-lt"/>
                <a:cs typeface="Times New Roman"/>
              </a:rPr>
              <a:t>to</a:t>
            </a:r>
            <a:r>
              <a:rPr sz="1539" spc="338" dirty="0">
                <a:latin typeface="+mj-lt"/>
                <a:cs typeface="Times New Roman"/>
              </a:rPr>
              <a:t> </a:t>
            </a:r>
            <a:r>
              <a:rPr sz="1539" dirty="0">
                <a:latin typeface="+mj-lt"/>
                <a:cs typeface="Times New Roman"/>
              </a:rPr>
              <a:t>anything</a:t>
            </a:r>
            <a:r>
              <a:rPr sz="1539" spc="338" dirty="0">
                <a:latin typeface="+mj-lt"/>
                <a:cs typeface="Times New Roman"/>
              </a:rPr>
              <a:t> </a:t>
            </a:r>
            <a:r>
              <a:rPr sz="1539" dirty="0">
                <a:latin typeface="+mj-lt"/>
                <a:cs typeface="Times New Roman"/>
              </a:rPr>
              <a:t>from</a:t>
            </a:r>
            <a:r>
              <a:rPr sz="1539" spc="338" dirty="0">
                <a:latin typeface="+mj-lt"/>
                <a:cs typeface="Times New Roman"/>
              </a:rPr>
              <a:t> </a:t>
            </a:r>
            <a:r>
              <a:rPr sz="1539" dirty="0">
                <a:latin typeface="+mj-lt"/>
                <a:cs typeface="Times New Roman"/>
              </a:rPr>
              <a:t>trivial</a:t>
            </a:r>
            <a:r>
              <a:rPr sz="1539" spc="338" dirty="0">
                <a:latin typeface="+mj-lt"/>
                <a:cs typeface="Times New Roman"/>
              </a:rPr>
              <a:t> </a:t>
            </a:r>
            <a:r>
              <a:rPr sz="1539" dirty="0">
                <a:latin typeface="+mj-lt"/>
                <a:cs typeface="Times New Roman"/>
              </a:rPr>
              <a:t>memorisation,</a:t>
            </a:r>
            <a:r>
              <a:rPr sz="1539" spc="338" dirty="0">
                <a:latin typeface="+mj-lt"/>
                <a:cs typeface="Times New Roman"/>
              </a:rPr>
              <a:t> </a:t>
            </a:r>
            <a:r>
              <a:rPr sz="1539" dirty="0">
                <a:latin typeface="+mj-lt"/>
                <a:cs typeface="Times New Roman"/>
              </a:rPr>
              <a:t>to</a:t>
            </a:r>
            <a:r>
              <a:rPr sz="1539" spc="338" dirty="0">
                <a:latin typeface="+mj-lt"/>
                <a:cs typeface="Times New Roman"/>
              </a:rPr>
              <a:t> </a:t>
            </a:r>
            <a:r>
              <a:rPr sz="1539" spc="-21" dirty="0">
                <a:latin typeface="+mj-lt"/>
                <a:cs typeface="Times New Roman"/>
              </a:rPr>
              <a:t>the </a:t>
            </a:r>
            <a:r>
              <a:rPr sz="1539" dirty="0">
                <a:latin typeface="+mj-lt"/>
                <a:cs typeface="Times New Roman"/>
              </a:rPr>
              <a:t>creation</a:t>
            </a:r>
            <a:r>
              <a:rPr sz="1539" spc="-47" dirty="0">
                <a:latin typeface="+mj-lt"/>
                <a:cs typeface="Times New Roman"/>
              </a:rPr>
              <a:t> </a:t>
            </a:r>
            <a:r>
              <a:rPr sz="1539" dirty="0">
                <a:latin typeface="+mj-lt"/>
                <a:cs typeface="Times New Roman"/>
              </a:rPr>
              <a:t>of</a:t>
            </a:r>
            <a:r>
              <a:rPr sz="1539" spc="-43" dirty="0">
                <a:latin typeface="+mj-lt"/>
                <a:cs typeface="Times New Roman"/>
              </a:rPr>
              <a:t> </a:t>
            </a:r>
            <a:r>
              <a:rPr sz="1539" dirty="0">
                <a:latin typeface="+mj-lt"/>
                <a:cs typeface="Times New Roman"/>
              </a:rPr>
              <a:t>complete</a:t>
            </a:r>
            <a:r>
              <a:rPr sz="1539" spc="-43" dirty="0">
                <a:latin typeface="+mj-lt"/>
                <a:cs typeface="Times New Roman"/>
              </a:rPr>
              <a:t> </a:t>
            </a:r>
            <a:r>
              <a:rPr sz="1539" dirty="0">
                <a:latin typeface="+mj-lt"/>
                <a:cs typeface="Times New Roman"/>
              </a:rPr>
              <a:t>scientific</a:t>
            </a:r>
            <a:r>
              <a:rPr sz="1539" spc="-43" dirty="0">
                <a:latin typeface="+mj-lt"/>
                <a:cs typeface="Times New Roman"/>
              </a:rPr>
              <a:t> </a:t>
            </a:r>
            <a:r>
              <a:rPr sz="1539" spc="-9" dirty="0">
                <a:latin typeface="+mj-lt"/>
                <a:cs typeface="Times New Roman"/>
              </a:rPr>
              <a:t>theories.</a:t>
            </a:r>
            <a:endParaRPr sz="1539" dirty="0">
              <a:latin typeface="+mj-lt"/>
              <a:cs typeface="Times New Roman"/>
            </a:endParaRPr>
          </a:p>
          <a:p>
            <a:pPr marL="10860">
              <a:spcBef>
                <a:spcPts val="1663"/>
              </a:spcBef>
            </a:pPr>
            <a:r>
              <a:rPr sz="1539" dirty="0">
                <a:latin typeface="+mj-lt"/>
                <a:cs typeface="Times New Roman"/>
              </a:rPr>
              <a:t>We</a:t>
            </a:r>
            <a:r>
              <a:rPr sz="1539" spc="-47" dirty="0">
                <a:latin typeface="+mj-lt"/>
                <a:cs typeface="Times New Roman"/>
              </a:rPr>
              <a:t> </a:t>
            </a:r>
            <a:r>
              <a:rPr sz="1539" dirty="0">
                <a:latin typeface="+mj-lt"/>
                <a:cs typeface="Times New Roman"/>
              </a:rPr>
              <a:t>conventionally</a:t>
            </a:r>
            <a:r>
              <a:rPr sz="1539" spc="-47" dirty="0">
                <a:latin typeface="+mj-lt"/>
                <a:cs typeface="Times New Roman"/>
              </a:rPr>
              <a:t> </a:t>
            </a:r>
            <a:r>
              <a:rPr sz="1539" dirty="0">
                <a:latin typeface="+mj-lt"/>
                <a:cs typeface="Times New Roman"/>
              </a:rPr>
              <a:t>classify</a:t>
            </a:r>
            <a:r>
              <a:rPr sz="1539" spc="-47" dirty="0">
                <a:latin typeface="+mj-lt"/>
                <a:cs typeface="Times New Roman"/>
              </a:rPr>
              <a:t> </a:t>
            </a:r>
            <a:r>
              <a:rPr sz="1539" dirty="0">
                <a:latin typeface="+mj-lt"/>
                <a:cs typeface="Times New Roman"/>
              </a:rPr>
              <a:t>learning</a:t>
            </a:r>
            <a:r>
              <a:rPr sz="1539" spc="-43" dirty="0">
                <a:latin typeface="+mj-lt"/>
                <a:cs typeface="Times New Roman"/>
              </a:rPr>
              <a:t> </a:t>
            </a:r>
            <a:r>
              <a:rPr sz="1539" dirty="0">
                <a:latin typeface="+mj-lt"/>
                <a:cs typeface="Times New Roman"/>
              </a:rPr>
              <a:t>into</a:t>
            </a:r>
            <a:r>
              <a:rPr sz="1539" spc="-47" dirty="0">
                <a:latin typeface="+mj-lt"/>
                <a:cs typeface="Times New Roman"/>
              </a:rPr>
              <a:t> </a:t>
            </a:r>
            <a:r>
              <a:rPr sz="1539" dirty="0">
                <a:latin typeface="+mj-lt"/>
                <a:cs typeface="Times New Roman"/>
              </a:rPr>
              <a:t>three</a:t>
            </a:r>
            <a:r>
              <a:rPr sz="1539" spc="-47" dirty="0">
                <a:latin typeface="+mj-lt"/>
                <a:cs typeface="Times New Roman"/>
              </a:rPr>
              <a:t> </a:t>
            </a:r>
            <a:r>
              <a:rPr sz="1539" dirty="0">
                <a:latin typeface="+mj-lt"/>
                <a:cs typeface="Times New Roman"/>
              </a:rPr>
              <a:t>increasingly</a:t>
            </a:r>
            <a:r>
              <a:rPr sz="1539" spc="-43" dirty="0">
                <a:latin typeface="+mj-lt"/>
                <a:cs typeface="Times New Roman"/>
              </a:rPr>
              <a:t> </a:t>
            </a:r>
            <a:r>
              <a:rPr sz="1539" dirty="0">
                <a:latin typeface="+mj-lt"/>
                <a:cs typeface="Times New Roman"/>
              </a:rPr>
              <a:t>difficult</a:t>
            </a:r>
            <a:r>
              <a:rPr sz="1539" spc="-47" dirty="0">
                <a:latin typeface="+mj-lt"/>
                <a:cs typeface="Times New Roman"/>
              </a:rPr>
              <a:t> </a:t>
            </a:r>
            <a:r>
              <a:rPr sz="1539" spc="-9" dirty="0">
                <a:latin typeface="+mj-lt"/>
                <a:cs typeface="Times New Roman"/>
              </a:rPr>
              <a:t>classes:</a:t>
            </a:r>
            <a:endParaRPr sz="1539" dirty="0">
              <a:latin typeface="+mj-lt"/>
              <a:cs typeface="Times New Roman"/>
            </a:endParaRPr>
          </a:p>
          <a:p>
            <a:pPr marL="318191" marR="159639" indent="-307874">
              <a:lnSpc>
                <a:spcPct val="114399"/>
              </a:lnSpc>
              <a:spcBef>
                <a:spcPts val="1663"/>
              </a:spcBef>
            </a:pPr>
            <a:r>
              <a:rPr sz="1539" b="1" dirty="0">
                <a:solidFill>
                  <a:srgbClr val="0000FF"/>
                </a:solidFill>
                <a:latin typeface="+mj-lt"/>
                <a:cs typeface="Times New Roman"/>
              </a:rPr>
              <a:t>Supervised</a:t>
            </a:r>
            <a:r>
              <a:rPr sz="1539" b="1" spc="-4" dirty="0">
                <a:solidFill>
                  <a:srgbClr val="0000FF"/>
                </a:solidFill>
                <a:latin typeface="+mj-lt"/>
                <a:cs typeface="Times New Roman"/>
              </a:rPr>
              <a:t> </a:t>
            </a:r>
            <a:r>
              <a:rPr sz="1539" b="1" dirty="0">
                <a:solidFill>
                  <a:srgbClr val="0000FF"/>
                </a:solidFill>
                <a:latin typeface="+mj-lt"/>
                <a:cs typeface="Times New Roman"/>
              </a:rPr>
              <a:t>Learning </a:t>
            </a:r>
            <a:r>
              <a:rPr sz="1539" dirty="0">
                <a:latin typeface="+mj-lt"/>
                <a:cs typeface="Times New Roman"/>
              </a:rPr>
              <a:t>– learning with a teacher (e.g. the system is told what outputs </a:t>
            </a:r>
            <a:r>
              <a:rPr sz="1539" spc="-21" dirty="0">
                <a:latin typeface="+mj-lt"/>
                <a:cs typeface="Times New Roman"/>
              </a:rPr>
              <a:t>it </a:t>
            </a:r>
            <a:r>
              <a:rPr sz="1539" dirty="0">
                <a:latin typeface="+mj-lt"/>
                <a:cs typeface="Times New Roman"/>
              </a:rPr>
              <a:t>should</a:t>
            </a:r>
            <a:r>
              <a:rPr sz="1539" spc="-30" dirty="0">
                <a:latin typeface="+mj-lt"/>
                <a:cs typeface="Times New Roman"/>
              </a:rPr>
              <a:t> </a:t>
            </a:r>
            <a:r>
              <a:rPr sz="1539" dirty="0">
                <a:latin typeface="+mj-lt"/>
                <a:cs typeface="Times New Roman"/>
              </a:rPr>
              <a:t>produce</a:t>
            </a:r>
            <a:r>
              <a:rPr sz="1539" spc="-17" dirty="0">
                <a:latin typeface="+mj-lt"/>
                <a:cs typeface="Times New Roman"/>
              </a:rPr>
              <a:t> </a:t>
            </a:r>
            <a:r>
              <a:rPr sz="1539" dirty="0">
                <a:latin typeface="+mj-lt"/>
                <a:cs typeface="Times New Roman"/>
              </a:rPr>
              <a:t>for</a:t>
            </a:r>
            <a:r>
              <a:rPr sz="1539" spc="-17" dirty="0">
                <a:latin typeface="+mj-lt"/>
                <a:cs typeface="Times New Roman"/>
              </a:rPr>
              <a:t> </a:t>
            </a:r>
            <a:r>
              <a:rPr sz="1539" dirty="0">
                <a:latin typeface="+mj-lt"/>
                <a:cs typeface="Times New Roman"/>
              </a:rPr>
              <a:t>each</a:t>
            </a:r>
            <a:r>
              <a:rPr sz="1539" spc="-17" dirty="0">
                <a:latin typeface="+mj-lt"/>
                <a:cs typeface="Times New Roman"/>
              </a:rPr>
              <a:t> </a:t>
            </a:r>
            <a:r>
              <a:rPr sz="1539" dirty="0">
                <a:latin typeface="+mj-lt"/>
                <a:cs typeface="Times New Roman"/>
              </a:rPr>
              <a:t>of</a:t>
            </a:r>
            <a:r>
              <a:rPr sz="1539" spc="-21" dirty="0">
                <a:latin typeface="+mj-lt"/>
                <a:cs typeface="Times New Roman"/>
              </a:rPr>
              <a:t> </a:t>
            </a:r>
            <a:r>
              <a:rPr sz="1539" dirty="0">
                <a:latin typeface="+mj-lt"/>
                <a:cs typeface="Times New Roman"/>
              </a:rPr>
              <a:t>a</a:t>
            </a:r>
            <a:r>
              <a:rPr sz="1539" spc="-17" dirty="0">
                <a:latin typeface="+mj-lt"/>
                <a:cs typeface="Times New Roman"/>
              </a:rPr>
              <a:t> </a:t>
            </a:r>
            <a:r>
              <a:rPr sz="1539" dirty="0">
                <a:latin typeface="+mj-lt"/>
                <a:cs typeface="Times New Roman"/>
              </a:rPr>
              <a:t>set</a:t>
            </a:r>
            <a:r>
              <a:rPr sz="1539" spc="-17" dirty="0">
                <a:latin typeface="+mj-lt"/>
                <a:cs typeface="Times New Roman"/>
              </a:rPr>
              <a:t> </a:t>
            </a:r>
            <a:r>
              <a:rPr sz="1539" dirty="0">
                <a:latin typeface="+mj-lt"/>
                <a:cs typeface="Times New Roman"/>
              </a:rPr>
              <a:t>of</a:t>
            </a:r>
            <a:r>
              <a:rPr sz="1539" spc="-17" dirty="0">
                <a:latin typeface="+mj-lt"/>
                <a:cs typeface="Times New Roman"/>
              </a:rPr>
              <a:t> </a:t>
            </a:r>
            <a:r>
              <a:rPr sz="1539" spc="-9" dirty="0">
                <a:latin typeface="+mj-lt"/>
                <a:cs typeface="Times New Roman"/>
              </a:rPr>
              <a:t>inputs)</a:t>
            </a:r>
            <a:endParaRPr sz="1539" dirty="0">
              <a:latin typeface="+mj-lt"/>
              <a:cs typeface="Times New Roman"/>
            </a:endParaRPr>
          </a:p>
          <a:p>
            <a:pPr marL="318191" marR="158553" indent="-307874">
              <a:lnSpc>
                <a:spcPct val="114399"/>
              </a:lnSpc>
              <a:spcBef>
                <a:spcPts val="906"/>
              </a:spcBef>
            </a:pPr>
            <a:r>
              <a:rPr sz="1539" b="1" dirty="0">
                <a:solidFill>
                  <a:srgbClr val="0000FF"/>
                </a:solidFill>
                <a:latin typeface="+mj-lt"/>
                <a:cs typeface="Times New Roman"/>
              </a:rPr>
              <a:t>Reinforcement</a:t>
            </a:r>
            <a:r>
              <a:rPr sz="1539" b="1" spc="103" dirty="0">
                <a:solidFill>
                  <a:srgbClr val="0000FF"/>
                </a:solidFill>
                <a:latin typeface="+mj-lt"/>
                <a:cs typeface="Times New Roman"/>
              </a:rPr>
              <a:t>  </a:t>
            </a:r>
            <a:r>
              <a:rPr sz="1539" b="1" dirty="0">
                <a:solidFill>
                  <a:srgbClr val="0000FF"/>
                </a:solidFill>
                <a:latin typeface="+mj-lt"/>
                <a:cs typeface="Times New Roman"/>
              </a:rPr>
              <a:t>learning</a:t>
            </a:r>
            <a:r>
              <a:rPr sz="1539" b="1" spc="350" dirty="0">
                <a:solidFill>
                  <a:srgbClr val="0000FF"/>
                </a:solidFill>
                <a:latin typeface="+mj-lt"/>
                <a:cs typeface="Times New Roman"/>
              </a:rPr>
              <a:t> </a:t>
            </a:r>
            <a:r>
              <a:rPr sz="1539" dirty="0">
                <a:latin typeface="+mj-lt"/>
                <a:cs typeface="Times New Roman"/>
              </a:rPr>
              <a:t>–</a:t>
            </a:r>
            <a:r>
              <a:rPr sz="1539" spc="321" dirty="0">
                <a:latin typeface="+mj-lt"/>
                <a:cs typeface="Times New Roman"/>
              </a:rPr>
              <a:t> </a:t>
            </a:r>
            <a:r>
              <a:rPr sz="1539" dirty="0">
                <a:latin typeface="+mj-lt"/>
                <a:cs typeface="Times New Roman"/>
              </a:rPr>
              <a:t>learning</a:t>
            </a:r>
            <a:r>
              <a:rPr sz="1539" spc="321" dirty="0">
                <a:latin typeface="+mj-lt"/>
                <a:cs typeface="Times New Roman"/>
              </a:rPr>
              <a:t> </a:t>
            </a:r>
            <a:r>
              <a:rPr sz="1539" dirty="0">
                <a:latin typeface="+mj-lt"/>
                <a:cs typeface="Times New Roman"/>
              </a:rPr>
              <a:t>with</a:t>
            </a:r>
            <a:r>
              <a:rPr sz="1539" spc="321" dirty="0">
                <a:latin typeface="+mj-lt"/>
                <a:cs typeface="Times New Roman"/>
              </a:rPr>
              <a:t> </a:t>
            </a:r>
            <a:r>
              <a:rPr sz="1539" dirty="0">
                <a:latin typeface="+mj-lt"/>
                <a:cs typeface="Times New Roman"/>
              </a:rPr>
              <a:t>limited</a:t>
            </a:r>
            <a:r>
              <a:rPr sz="1539" spc="316" dirty="0">
                <a:latin typeface="+mj-lt"/>
                <a:cs typeface="Times New Roman"/>
              </a:rPr>
              <a:t> </a:t>
            </a:r>
            <a:r>
              <a:rPr sz="1539" dirty="0">
                <a:latin typeface="+mj-lt"/>
                <a:cs typeface="Times New Roman"/>
              </a:rPr>
              <a:t>feedback</a:t>
            </a:r>
            <a:r>
              <a:rPr sz="1539" spc="321" dirty="0">
                <a:latin typeface="+mj-lt"/>
                <a:cs typeface="Times New Roman"/>
              </a:rPr>
              <a:t> </a:t>
            </a:r>
            <a:r>
              <a:rPr sz="1539" dirty="0">
                <a:latin typeface="+mj-lt"/>
                <a:cs typeface="Times New Roman"/>
              </a:rPr>
              <a:t>(e.g.</a:t>
            </a:r>
            <a:r>
              <a:rPr sz="1539" spc="321" dirty="0">
                <a:latin typeface="+mj-lt"/>
                <a:cs typeface="Times New Roman"/>
              </a:rPr>
              <a:t> </a:t>
            </a:r>
            <a:r>
              <a:rPr sz="1539" dirty="0">
                <a:latin typeface="+mj-lt"/>
                <a:cs typeface="Times New Roman"/>
              </a:rPr>
              <a:t>the</a:t>
            </a:r>
            <a:r>
              <a:rPr sz="1539" spc="321" dirty="0">
                <a:latin typeface="+mj-lt"/>
                <a:cs typeface="Times New Roman"/>
              </a:rPr>
              <a:t> </a:t>
            </a:r>
            <a:r>
              <a:rPr sz="1539" dirty="0">
                <a:latin typeface="+mj-lt"/>
                <a:cs typeface="Times New Roman"/>
              </a:rPr>
              <a:t>system</a:t>
            </a:r>
            <a:r>
              <a:rPr sz="1539" spc="321" dirty="0">
                <a:latin typeface="+mj-lt"/>
                <a:cs typeface="Times New Roman"/>
              </a:rPr>
              <a:t> </a:t>
            </a:r>
            <a:r>
              <a:rPr sz="1539" spc="-17" dirty="0">
                <a:latin typeface="+mj-lt"/>
                <a:cs typeface="Times New Roman"/>
              </a:rPr>
              <a:t>must </a:t>
            </a:r>
            <a:r>
              <a:rPr sz="1539" dirty="0">
                <a:latin typeface="+mj-lt"/>
                <a:cs typeface="Times New Roman"/>
              </a:rPr>
              <a:t>produce</a:t>
            </a:r>
            <a:r>
              <a:rPr sz="1539" spc="-17" dirty="0">
                <a:latin typeface="+mj-lt"/>
                <a:cs typeface="Times New Roman"/>
              </a:rPr>
              <a:t> </a:t>
            </a:r>
            <a:r>
              <a:rPr sz="1539" dirty="0">
                <a:latin typeface="+mj-lt"/>
                <a:cs typeface="Times New Roman"/>
              </a:rPr>
              <a:t>outputs</a:t>
            </a:r>
            <a:r>
              <a:rPr sz="1539" spc="-13" dirty="0">
                <a:latin typeface="+mj-lt"/>
                <a:cs typeface="Times New Roman"/>
              </a:rPr>
              <a:t> </a:t>
            </a:r>
            <a:r>
              <a:rPr sz="1539" dirty="0">
                <a:latin typeface="+mj-lt"/>
                <a:cs typeface="Times New Roman"/>
              </a:rPr>
              <a:t>for</a:t>
            </a:r>
            <a:r>
              <a:rPr sz="1539" spc="-17" dirty="0">
                <a:latin typeface="+mj-lt"/>
                <a:cs typeface="Times New Roman"/>
              </a:rPr>
              <a:t> </a:t>
            </a:r>
            <a:r>
              <a:rPr sz="1539" dirty="0">
                <a:latin typeface="+mj-lt"/>
                <a:cs typeface="Times New Roman"/>
              </a:rPr>
              <a:t>a</a:t>
            </a:r>
            <a:r>
              <a:rPr sz="1539" spc="-13" dirty="0">
                <a:latin typeface="+mj-lt"/>
                <a:cs typeface="Times New Roman"/>
              </a:rPr>
              <a:t> </a:t>
            </a:r>
            <a:r>
              <a:rPr sz="1539" dirty="0">
                <a:latin typeface="+mj-lt"/>
                <a:cs typeface="Times New Roman"/>
              </a:rPr>
              <a:t>set</a:t>
            </a:r>
            <a:r>
              <a:rPr sz="1539" spc="-17" dirty="0">
                <a:latin typeface="+mj-lt"/>
                <a:cs typeface="Times New Roman"/>
              </a:rPr>
              <a:t> </a:t>
            </a:r>
            <a:r>
              <a:rPr sz="1539" dirty="0">
                <a:latin typeface="+mj-lt"/>
                <a:cs typeface="Times New Roman"/>
              </a:rPr>
              <a:t>of</a:t>
            </a:r>
            <a:r>
              <a:rPr sz="1539" spc="-13" dirty="0">
                <a:latin typeface="+mj-lt"/>
                <a:cs typeface="Times New Roman"/>
              </a:rPr>
              <a:t> </a:t>
            </a:r>
            <a:r>
              <a:rPr sz="1539" dirty="0">
                <a:latin typeface="+mj-lt"/>
                <a:cs typeface="Times New Roman"/>
              </a:rPr>
              <a:t>inputs</a:t>
            </a:r>
            <a:r>
              <a:rPr sz="1539" spc="-13" dirty="0">
                <a:latin typeface="+mj-lt"/>
                <a:cs typeface="Times New Roman"/>
              </a:rPr>
              <a:t> </a:t>
            </a:r>
            <a:r>
              <a:rPr sz="1539" dirty="0">
                <a:latin typeface="+mj-lt"/>
                <a:cs typeface="Times New Roman"/>
              </a:rPr>
              <a:t>and</a:t>
            </a:r>
            <a:r>
              <a:rPr sz="1539" spc="-17" dirty="0">
                <a:latin typeface="+mj-lt"/>
                <a:cs typeface="Times New Roman"/>
              </a:rPr>
              <a:t> </a:t>
            </a:r>
            <a:r>
              <a:rPr sz="1539" dirty="0">
                <a:latin typeface="+mj-lt"/>
                <a:cs typeface="Times New Roman"/>
              </a:rPr>
              <a:t>is</a:t>
            </a:r>
            <a:r>
              <a:rPr sz="1539" spc="-13" dirty="0">
                <a:latin typeface="+mj-lt"/>
                <a:cs typeface="Times New Roman"/>
              </a:rPr>
              <a:t> </a:t>
            </a:r>
            <a:r>
              <a:rPr sz="1539" dirty="0">
                <a:latin typeface="+mj-lt"/>
                <a:cs typeface="Times New Roman"/>
              </a:rPr>
              <a:t>only</a:t>
            </a:r>
            <a:r>
              <a:rPr sz="1539" spc="-17" dirty="0">
                <a:latin typeface="+mj-lt"/>
                <a:cs typeface="Times New Roman"/>
              </a:rPr>
              <a:t> </a:t>
            </a:r>
            <a:r>
              <a:rPr sz="1539" dirty="0">
                <a:latin typeface="+mj-lt"/>
                <a:cs typeface="Times New Roman"/>
              </a:rPr>
              <a:t>told</a:t>
            </a:r>
            <a:r>
              <a:rPr sz="1539" spc="-13" dirty="0">
                <a:latin typeface="+mj-lt"/>
                <a:cs typeface="Times New Roman"/>
              </a:rPr>
              <a:t> </a:t>
            </a:r>
            <a:r>
              <a:rPr sz="1539" dirty="0">
                <a:latin typeface="+mj-lt"/>
                <a:cs typeface="Times New Roman"/>
              </a:rPr>
              <a:t>whether</a:t>
            </a:r>
            <a:r>
              <a:rPr sz="1539" spc="-17" dirty="0">
                <a:latin typeface="+mj-lt"/>
                <a:cs typeface="Times New Roman"/>
              </a:rPr>
              <a:t> </a:t>
            </a:r>
            <a:r>
              <a:rPr sz="1539" dirty="0">
                <a:latin typeface="+mj-lt"/>
                <a:cs typeface="Times New Roman"/>
              </a:rPr>
              <a:t>they</a:t>
            </a:r>
            <a:r>
              <a:rPr sz="1539" spc="-13" dirty="0">
                <a:latin typeface="+mj-lt"/>
                <a:cs typeface="Times New Roman"/>
              </a:rPr>
              <a:t> </a:t>
            </a:r>
            <a:r>
              <a:rPr sz="1539" dirty="0">
                <a:latin typeface="+mj-lt"/>
                <a:cs typeface="Times New Roman"/>
              </a:rPr>
              <a:t>are</a:t>
            </a:r>
            <a:r>
              <a:rPr sz="1539" spc="-13" dirty="0">
                <a:latin typeface="+mj-lt"/>
                <a:cs typeface="Times New Roman"/>
              </a:rPr>
              <a:t> </a:t>
            </a:r>
            <a:r>
              <a:rPr sz="1539" dirty="0">
                <a:latin typeface="+mj-lt"/>
                <a:cs typeface="Times New Roman"/>
              </a:rPr>
              <a:t>good</a:t>
            </a:r>
            <a:r>
              <a:rPr sz="1539" spc="-17" dirty="0">
                <a:latin typeface="+mj-lt"/>
                <a:cs typeface="Times New Roman"/>
              </a:rPr>
              <a:t> </a:t>
            </a:r>
            <a:r>
              <a:rPr sz="1539" dirty="0">
                <a:latin typeface="+mj-lt"/>
                <a:cs typeface="Times New Roman"/>
              </a:rPr>
              <a:t>or</a:t>
            </a:r>
            <a:r>
              <a:rPr sz="1539" spc="-13" dirty="0">
                <a:latin typeface="+mj-lt"/>
                <a:cs typeface="Times New Roman"/>
              </a:rPr>
              <a:t> </a:t>
            </a:r>
            <a:r>
              <a:rPr sz="1539" spc="-17" dirty="0">
                <a:latin typeface="+mj-lt"/>
                <a:cs typeface="Times New Roman"/>
              </a:rPr>
              <a:t>bad)</a:t>
            </a:r>
            <a:endParaRPr sz="1539" dirty="0">
              <a:latin typeface="+mj-lt"/>
              <a:cs typeface="Times New Roman"/>
            </a:endParaRPr>
          </a:p>
          <a:p>
            <a:pPr marL="318191" marR="157467" indent="-307874">
              <a:lnSpc>
                <a:spcPct val="114399"/>
              </a:lnSpc>
              <a:spcBef>
                <a:spcPts val="902"/>
              </a:spcBef>
            </a:pPr>
            <a:r>
              <a:rPr sz="1539" b="1" dirty="0">
                <a:solidFill>
                  <a:srgbClr val="0000FF"/>
                </a:solidFill>
                <a:latin typeface="+mj-lt"/>
                <a:cs typeface="Times New Roman"/>
              </a:rPr>
              <a:t>Unsupervised</a:t>
            </a:r>
            <a:r>
              <a:rPr sz="1539" b="1" spc="64" dirty="0">
                <a:solidFill>
                  <a:srgbClr val="0000FF"/>
                </a:solidFill>
                <a:latin typeface="+mj-lt"/>
                <a:cs typeface="Times New Roman"/>
              </a:rPr>
              <a:t>  </a:t>
            </a:r>
            <a:r>
              <a:rPr sz="1539" b="1" dirty="0">
                <a:solidFill>
                  <a:srgbClr val="0000FF"/>
                </a:solidFill>
                <a:latin typeface="+mj-lt"/>
                <a:cs typeface="Times New Roman"/>
              </a:rPr>
              <a:t>learning</a:t>
            </a:r>
            <a:r>
              <a:rPr sz="1539" b="1" spc="252" dirty="0">
                <a:solidFill>
                  <a:srgbClr val="0000FF"/>
                </a:solidFill>
                <a:latin typeface="+mj-lt"/>
                <a:cs typeface="Times New Roman"/>
              </a:rPr>
              <a:t> </a:t>
            </a:r>
            <a:r>
              <a:rPr sz="1539" dirty="0">
                <a:latin typeface="+mj-lt"/>
                <a:cs typeface="Times New Roman"/>
              </a:rPr>
              <a:t>–</a:t>
            </a:r>
            <a:r>
              <a:rPr sz="1539" spc="222" dirty="0">
                <a:latin typeface="+mj-lt"/>
                <a:cs typeface="Times New Roman"/>
              </a:rPr>
              <a:t> </a:t>
            </a:r>
            <a:r>
              <a:rPr sz="1539" dirty="0">
                <a:latin typeface="+mj-lt"/>
                <a:cs typeface="Times New Roman"/>
              </a:rPr>
              <a:t>learning</a:t>
            </a:r>
            <a:r>
              <a:rPr sz="1539" spc="227" dirty="0">
                <a:latin typeface="+mj-lt"/>
                <a:cs typeface="Times New Roman"/>
              </a:rPr>
              <a:t> </a:t>
            </a:r>
            <a:r>
              <a:rPr sz="1539" dirty="0">
                <a:latin typeface="+mj-lt"/>
                <a:cs typeface="Times New Roman"/>
              </a:rPr>
              <a:t>with</a:t>
            </a:r>
            <a:r>
              <a:rPr sz="1539" spc="227" dirty="0">
                <a:latin typeface="+mj-lt"/>
                <a:cs typeface="Times New Roman"/>
              </a:rPr>
              <a:t> </a:t>
            </a:r>
            <a:r>
              <a:rPr sz="1539" dirty="0">
                <a:latin typeface="+mj-lt"/>
                <a:cs typeface="Times New Roman"/>
              </a:rPr>
              <a:t>no</a:t>
            </a:r>
            <a:r>
              <a:rPr sz="1539" spc="222" dirty="0">
                <a:latin typeface="+mj-lt"/>
                <a:cs typeface="Times New Roman"/>
              </a:rPr>
              <a:t> </a:t>
            </a:r>
            <a:r>
              <a:rPr sz="1539" dirty="0">
                <a:latin typeface="+mj-lt"/>
                <a:cs typeface="Times New Roman"/>
              </a:rPr>
              <a:t>help</a:t>
            </a:r>
            <a:r>
              <a:rPr sz="1539" spc="227" dirty="0">
                <a:latin typeface="+mj-lt"/>
                <a:cs typeface="Times New Roman"/>
              </a:rPr>
              <a:t> </a:t>
            </a:r>
            <a:r>
              <a:rPr sz="1539" dirty="0">
                <a:latin typeface="+mj-lt"/>
                <a:cs typeface="Times New Roman"/>
              </a:rPr>
              <a:t>(e.g.</a:t>
            </a:r>
            <a:r>
              <a:rPr sz="1539" spc="222" dirty="0">
                <a:latin typeface="+mj-lt"/>
                <a:cs typeface="Times New Roman"/>
              </a:rPr>
              <a:t> </a:t>
            </a:r>
            <a:r>
              <a:rPr sz="1539" dirty="0">
                <a:latin typeface="+mj-lt"/>
                <a:cs typeface="Times New Roman"/>
              </a:rPr>
              <a:t>the</a:t>
            </a:r>
            <a:r>
              <a:rPr sz="1539" spc="227" dirty="0">
                <a:latin typeface="+mj-lt"/>
                <a:cs typeface="Times New Roman"/>
              </a:rPr>
              <a:t> </a:t>
            </a:r>
            <a:r>
              <a:rPr sz="1539" dirty="0">
                <a:latin typeface="+mj-lt"/>
                <a:cs typeface="Times New Roman"/>
              </a:rPr>
              <a:t>system</a:t>
            </a:r>
            <a:r>
              <a:rPr sz="1539" spc="227" dirty="0">
                <a:latin typeface="+mj-lt"/>
                <a:cs typeface="Times New Roman"/>
              </a:rPr>
              <a:t> </a:t>
            </a:r>
            <a:r>
              <a:rPr sz="1539" dirty="0">
                <a:latin typeface="+mj-lt"/>
                <a:cs typeface="Times New Roman"/>
              </a:rPr>
              <a:t>is</a:t>
            </a:r>
            <a:r>
              <a:rPr sz="1539" spc="222" dirty="0">
                <a:latin typeface="+mj-lt"/>
                <a:cs typeface="Times New Roman"/>
              </a:rPr>
              <a:t> </a:t>
            </a:r>
            <a:r>
              <a:rPr sz="1539" dirty="0">
                <a:latin typeface="+mj-lt"/>
                <a:cs typeface="Times New Roman"/>
              </a:rPr>
              <a:t>given</a:t>
            </a:r>
            <a:r>
              <a:rPr sz="1539" spc="227" dirty="0">
                <a:latin typeface="+mj-lt"/>
                <a:cs typeface="Times New Roman"/>
              </a:rPr>
              <a:t> </a:t>
            </a:r>
            <a:r>
              <a:rPr sz="1539" dirty="0">
                <a:latin typeface="+mj-lt"/>
                <a:cs typeface="Times New Roman"/>
              </a:rPr>
              <a:t>a</a:t>
            </a:r>
            <a:r>
              <a:rPr sz="1539" spc="227" dirty="0">
                <a:latin typeface="+mj-lt"/>
                <a:cs typeface="Times New Roman"/>
              </a:rPr>
              <a:t> </a:t>
            </a:r>
            <a:r>
              <a:rPr sz="1539" dirty="0">
                <a:latin typeface="+mj-lt"/>
                <a:cs typeface="Times New Roman"/>
              </a:rPr>
              <a:t>set</a:t>
            </a:r>
            <a:r>
              <a:rPr sz="1539" spc="222" dirty="0">
                <a:latin typeface="+mj-lt"/>
                <a:cs typeface="Times New Roman"/>
              </a:rPr>
              <a:t> </a:t>
            </a:r>
            <a:r>
              <a:rPr sz="1539" spc="-21" dirty="0">
                <a:latin typeface="+mj-lt"/>
                <a:cs typeface="Times New Roman"/>
              </a:rPr>
              <a:t>of </a:t>
            </a:r>
            <a:r>
              <a:rPr sz="1539" dirty="0">
                <a:latin typeface="+mj-lt"/>
                <a:cs typeface="Times New Roman"/>
              </a:rPr>
              <a:t>inputs</a:t>
            </a:r>
            <a:r>
              <a:rPr sz="1539" spc="-17" dirty="0">
                <a:latin typeface="+mj-lt"/>
                <a:cs typeface="Times New Roman"/>
              </a:rPr>
              <a:t> </a:t>
            </a:r>
            <a:r>
              <a:rPr sz="1539" dirty="0">
                <a:latin typeface="+mj-lt"/>
                <a:cs typeface="Times New Roman"/>
              </a:rPr>
              <a:t>and</a:t>
            </a:r>
            <a:r>
              <a:rPr sz="1539" spc="-17" dirty="0">
                <a:latin typeface="+mj-lt"/>
                <a:cs typeface="Times New Roman"/>
              </a:rPr>
              <a:t> </a:t>
            </a:r>
            <a:r>
              <a:rPr sz="1539" dirty="0">
                <a:latin typeface="+mj-lt"/>
                <a:cs typeface="Times New Roman"/>
              </a:rPr>
              <a:t>is</a:t>
            </a:r>
            <a:r>
              <a:rPr sz="1539" spc="-17" dirty="0">
                <a:latin typeface="+mj-lt"/>
                <a:cs typeface="Times New Roman"/>
              </a:rPr>
              <a:t> </a:t>
            </a:r>
            <a:r>
              <a:rPr sz="1539" dirty="0">
                <a:latin typeface="+mj-lt"/>
                <a:cs typeface="Times New Roman"/>
              </a:rPr>
              <a:t>expected</a:t>
            </a:r>
            <a:r>
              <a:rPr sz="1539" spc="-17" dirty="0">
                <a:latin typeface="+mj-lt"/>
                <a:cs typeface="Times New Roman"/>
              </a:rPr>
              <a:t> </a:t>
            </a:r>
            <a:r>
              <a:rPr sz="1539" dirty="0">
                <a:latin typeface="+mj-lt"/>
                <a:cs typeface="Times New Roman"/>
              </a:rPr>
              <a:t>to</a:t>
            </a:r>
            <a:r>
              <a:rPr sz="1539" spc="-17" dirty="0">
                <a:latin typeface="+mj-lt"/>
                <a:cs typeface="Times New Roman"/>
              </a:rPr>
              <a:t> </a:t>
            </a:r>
            <a:r>
              <a:rPr sz="1539" dirty="0">
                <a:latin typeface="+mj-lt"/>
                <a:cs typeface="Times New Roman"/>
              </a:rPr>
              <a:t>make</a:t>
            </a:r>
            <a:r>
              <a:rPr sz="1539" spc="-17" dirty="0">
                <a:latin typeface="+mj-lt"/>
                <a:cs typeface="Times New Roman"/>
              </a:rPr>
              <a:t> </a:t>
            </a:r>
            <a:r>
              <a:rPr sz="1539" dirty="0">
                <a:latin typeface="+mj-lt"/>
                <a:cs typeface="Times New Roman"/>
              </a:rPr>
              <a:t>some</a:t>
            </a:r>
            <a:r>
              <a:rPr sz="1539" spc="-17" dirty="0">
                <a:latin typeface="+mj-lt"/>
                <a:cs typeface="Times New Roman"/>
              </a:rPr>
              <a:t> </a:t>
            </a:r>
            <a:r>
              <a:rPr sz="1539" dirty="0">
                <a:latin typeface="+mj-lt"/>
                <a:cs typeface="Times New Roman"/>
              </a:rPr>
              <a:t>kind</a:t>
            </a:r>
            <a:r>
              <a:rPr sz="1539" spc="-17" dirty="0">
                <a:latin typeface="+mj-lt"/>
                <a:cs typeface="Times New Roman"/>
              </a:rPr>
              <a:t> </a:t>
            </a:r>
            <a:r>
              <a:rPr sz="1539" dirty="0">
                <a:latin typeface="+mj-lt"/>
                <a:cs typeface="Times New Roman"/>
              </a:rPr>
              <a:t>of</a:t>
            </a:r>
            <a:r>
              <a:rPr sz="1539" spc="-13" dirty="0">
                <a:latin typeface="+mj-lt"/>
                <a:cs typeface="Times New Roman"/>
              </a:rPr>
              <a:t> </a:t>
            </a:r>
            <a:r>
              <a:rPr sz="1539" dirty="0">
                <a:latin typeface="+mj-lt"/>
                <a:cs typeface="Times New Roman"/>
              </a:rPr>
              <a:t>sense</a:t>
            </a:r>
            <a:r>
              <a:rPr sz="1539" spc="-17" dirty="0">
                <a:latin typeface="+mj-lt"/>
                <a:cs typeface="Times New Roman"/>
              </a:rPr>
              <a:t> </a:t>
            </a:r>
            <a:r>
              <a:rPr sz="1539" dirty="0">
                <a:latin typeface="+mj-lt"/>
                <a:cs typeface="Times New Roman"/>
              </a:rPr>
              <a:t>of</a:t>
            </a:r>
            <a:r>
              <a:rPr sz="1539" spc="-17" dirty="0">
                <a:latin typeface="+mj-lt"/>
                <a:cs typeface="Times New Roman"/>
              </a:rPr>
              <a:t> </a:t>
            </a:r>
            <a:r>
              <a:rPr sz="1539" dirty="0">
                <a:latin typeface="+mj-lt"/>
                <a:cs typeface="Times New Roman"/>
              </a:rPr>
              <a:t>them</a:t>
            </a:r>
            <a:r>
              <a:rPr sz="1539" spc="-17" dirty="0">
                <a:latin typeface="+mj-lt"/>
                <a:cs typeface="Times New Roman"/>
              </a:rPr>
              <a:t> </a:t>
            </a:r>
            <a:r>
              <a:rPr sz="1539" dirty="0">
                <a:latin typeface="+mj-lt"/>
                <a:cs typeface="Times New Roman"/>
              </a:rPr>
              <a:t>on</a:t>
            </a:r>
            <a:r>
              <a:rPr sz="1539" spc="-17" dirty="0">
                <a:latin typeface="+mj-lt"/>
                <a:cs typeface="Times New Roman"/>
              </a:rPr>
              <a:t> </a:t>
            </a:r>
            <a:r>
              <a:rPr sz="1539" dirty="0">
                <a:latin typeface="+mj-lt"/>
                <a:cs typeface="Times New Roman"/>
              </a:rPr>
              <a:t>its</a:t>
            </a:r>
            <a:r>
              <a:rPr sz="1539" spc="-17" dirty="0">
                <a:latin typeface="+mj-lt"/>
                <a:cs typeface="Times New Roman"/>
              </a:rPr>
              <a:t> own)</a:t>
            </a:r>
            <a:endParaRPr sz="1539" dirty="0">
              <a:latin typeface="+mj-lt"/>
              <a:cs typeface="Times New Roman"/>
            </a:endParaRPr>
          </a:p>
          <a:p>
            <a:pPr marL="10860">
              <a:spcBef>
                <a:spcPts val="1685"/>
              </a:spcBef>
            </a:pPr>
            <a:r>
              <a:rPr sz="1539" dirty="0">
                <a:latin typeface="+mj-lt"/>
                <a:cs typeface="Times New Roman"/>
              </a:rPr>
              <a:t>Machine</a:t>
            </a:r>
            <a:r>
              <a:rPr sz="1539" spc="-21" dirty="0">
                <a:latin typeface="+mj-lt"/>
                <a:cs typeface="Times New Roman"/>
              </a:rPr>
              <a:t> </a:t>
            </a:r>
            <a:r>
              <a:rPr sz="1539" dirty="0">
                <a:latin typeface="+mj-lt"/>
                <a:cs typeface="Times New Roman"/>
              </a:rPr>
              <a:t>learning</a:t>
            </a:r>
            <a:r>
              <a:rPr sz="1539" spc="-17" dirty="0">
                <a:latin typeface="+mj-lt"/>
                <a:cs typeface="Times New Roman"/>
              </a:rPr>
              <a:t> </a:t>
            </a:r>
            <a:r>
              <a:rPr sz="1539" dirty="0">
                <a:latin typeface="+mj-lt"/>
                <a:cs typeface="Times New Roman"/>
              </a:rPr>
              <a:t>systems</a:t>
            </a:r>
            <a:r>
              <a:rPr sz="1539" spc="-21" dirty="0">
                <a:latin typeface="+mj-lt"/>
                <a:cs typeface="Times New Roman"/>
              </a:rPr>
              <a:t> </a:t>
            </a:r>
            <a:r>
              <a:rPr sz="1539" dirty="0">
                <a:latin typeface="+mj-lt"/>
                <a:cs typeface="Times New Roman"/>
              </a:rPr>
              <a:t>can</a:t>
            </a:r>
            <a:r>
              <a:rPr sz="1539" spc="-17" dirty="0">
                <a:latin typeface="+mj-lt"/>
                <a:cs typeface="Times New Roman"/>
              </a:rPr>
              <a:t> </a:t>
            </a:r>
            <a:r>
              <a:rPr sz="1539" dirty="0">
                <a:latin typeface="+mj-lt"/>
                <a:cs typeface="Times New Roman"/>
              </a:rPr>
              <a:t>be</a:t>
            </a:r>
            <a:r>
              <a:rPr sz="1539" spc="-21" dirty="0">
                <a:latin typeface="+mj-lt"/>
                <a:cs typeface="Times New Roman"/>
              </a:rPr>
              <a:t> </a:t>
            </a:r>
            <a:r>
              <a:rPr sz="1539" dirty="0">
                <a:latin typeface="+mj-lt"/>
                <a:cs typeface="Times New Roman"/>
              </a:rPr>
              <a:t>set</a:t>
            </a:r>
            <a:r>
              <a:rPr sz="1539" spc="-17" dirty="0">
                <a:latin typeface="+mj-lt"/>
                <a:cs typeface="Times New Roman"/>
              </a:rPr>
              <a:t> </a:t>
            </a:r>
            <a:r>
              <a:rPr sz="1539" dirty="0">
                <a:latin typeface="+mj-lt"/>
                <a:cs typeface="Times New Roman"/>
              </a:rPr>
              <a:t>up</a:t>
            </a:r>
            <a:r>
              <a:rPr sz="1539" spc="-21" dirty="0">
                <a:latin typeface="+mj-lt"/>
                <a:cs typeface="Times New Roman"/>
              </a:rPr>
              <a:t> </a:t>
            </a:r>
            <a:r>
              <a:rPr sz="1539" dirty="0">
                <a:latin typeface="+mj-lt"/>
                <a:cs typeface="Times New Roman"/>
              </a:rPr>
              <a:t>to</a:t>
            </a:r>
            <a:r>
              <a:rPr sz="1539" spc="-17" dirty="0">
                <a:latin typeface="+mj-lt"/>
                <a:cs typeface="Times New Roman"/>
              </a:rPr>
              <a:t> </a:t>
            </a:r>
            <a:r>
              <a:rPr sz="1539" dirty="0">
                <a:latin typeface="+mj-lt"/>
                <a:cs typeface="Times New Roman"/>
              </a:rPr>
              <a:t>do</a:t>
            </a:r>
            <a:r>
              <a:rPr sz="1539" spc="-21" dirty="0">
                <a:latin typeface="+mj-lt"/>
                <a:cs typeface="Times New Roman"/>
              </a:rPr>
              <a:t> </a:t>
            </a:r>
            <a:r>
              <a:rPr sz="1539" dirty="0">
                <a:latin typeface="+mj-lt"/>
                <a:cs typeface="Times New Roman"/>
              </a:rPr>
              <a:t>all</a:t>
            </a:r>
            <a:r>
              <a:rPr sz="1539" spc="-17" dirty="0">
                <a:latin typeface="+mj-lt"/>
                <a:cs typeface="Times New Roman"/>
              </a:rPr>
              <a:t> </a:t>
            </a:r>
            <a:r>
              <a:rPr sz="1539" dirty="0">
                <a:latin typeface="+mj-lt"/>
                <a:cs typeface="Times New Roman"/>
              </a:rPr>
              <a:t>three</a:t>
            </a:r>
            <a:r>
              <a:rPr sz="1539" spc="-21" dirty="0">
                <a:latin typeface="+mj-lt"/>
                <a:cs typeface="Times New Roman"/>
              </a:rPr>
              <a:t> </a:t>
            </a:r>
            <a:r>
              <a:rPr sz="1539" dirty="0">
                <a:latin typeface="+mj-lt"/>
                <a:cs typeface="Times New Roman"/>
              </a:rPr>
              <a:t>types</a:t>
            </a:r>
            <a:r>
              <a:rPr sz="1539" spc="-17" dirty="0">
                <a:latin typeface="+mj-lt"/>
                <a:cs typeface="Times New Roman"/>
              </a:rPr>
              <a:t> </a:t>
            </a:r>
            <a:r>
              <a:rPr sz="1539" dirty="0">
                <a:latin typeface="+mj-lt"/>
                <a:cs typeface="Times New Roman"/>
              </a:rPr>
              <a:t>of</a:t>
            </a:r>
            <a:r>
              <a:rPr sz="1539" spc="-21" dirty="0">
                <a:latin typeface="+mj-lt"/>
                <a:cs typeface="Times New Roman"/>
              </a:rPr>
              <a:t> </a:t>
            </a:r>
            <a:r>
              <a:rPr sz="1539" spc="-9" dirty="0">
                <a:latin typeface="+mj-lt"/>
                <a:cs typeface="Times New Roman"/>
              </a:rPr>
              <a:t>learning.</a:t>
            </a:r>
            <a:endParaRPr sz="1539" dirty="0">
              <a:latin typeface="+mj-lt"/>
              <a:cs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214" y="429995"/>
            <a:ext cx="6010659" cy="688074"/>
          </a:xfrm>
          <a:prstGeom prst="rect">
            <a:avLst/>
          </a:prstGeom>
        </p:spPr>
        <p:txBody>
          <a:bodyPr vert="horz" wrap="square" lIns="0" tIns="10860" rIns="0" bIns="0" rtlCol="0">
            <a:spAutoFit/>
          </a:bodyPr>
          <a:lstStyle/>
          <a:p>
            <a:pPr marL="1407426">
              <a:spcBef>
                <a:spcPts val="86"/>
              </a:spcBef>
            </a:pPr>
            <a:r>
              <a:rPr dirty="0"/>
              <a:t>Learning </a:t>
            </a:r>
            <a:r>
              <a:rPr spc="-9" dirty="0"/>
              <a:t>Agents</a:t>
            </a:r>
          </a:p>
        </p:txBody>
      </p:sp>
      <p:sp>
        <p:nvSpPr>
          <p:cNvPr id="3" name="object 3"/>
          <p:cNvSpPr txBox="1"/>
          <p:nvPr/>
        </p:nvSpPr>
        <p:spPr>
          <a:xfrm>
            <a:off x="1094945" y="1032855"/>
            <a:ext cx="6954110" cy="4381521"/>
          </a:xfrm>
          <a:prstGeom prst="rect">
            <a:avLst/>
          </a:prstGeom>
        </p:spPr>
        <p:txBody>
          <a:bodyPr vert="horz" wrap="square" lIns="0" tIns="10860" rIns="0" bIns="0" rtlCol="0">
            <a:spAutoFit/>
          </a:bodyPr>
          <a:lstStyle/>
          <a:p>
            <a:pPr marL="10860" marR="7602">
              <a:lnSpc>
                <a:spcPct val="121100"/>
              </a:lnSpc>
              <a:spcBef>
                <a:spcPts val="86"/>
              </a:spcBef>
            </a:pPr>
            <a:r>
              <a:rPr sz="1539" dirty="0">
                <a:latin typeface="+mj-lt"/>
                <a:cs typeface="Times New Roman"/>
              </a:rPr>
              <a:t>The</a:t>
            </a:r>
            <a:r>
              <a:rPr sz="1539" spc="188" dirty="0">
                <a:latin typeface="+mj-lt"/>
                <a:cs typeface="Times New Roman"/>
              </a:rPr>
              <a:t> </a:t>
            </a:r>
            <a:r>
              <a:rPr sz="1539" dirty="0">
                <a:latin typeface="+mj-lt"/>
                <a:cs typeface="Times New Roman"/>
              </a:rPr>
              <a:t>most</a:t>
            </a:r>
            <a:r>
              <a:rPr sz="1539" spc="192" dirty="0">
                <a:latin typeface="+mj-lt"/>
                <a:cs typeface="Times New Roman"/>
              </a:rPr>
              <a:t> </a:t>
            </a:r>
            <a:r>
              <a:rPr sz="1539" dirty="0">
                <a:latin typeface="+mj-lt"/>
                <a:cs typeface="Times New Roman"/>
              </a:rPr>
              <a:t>powerful</a:t>
            </a:r>
            <a:r>
              <a:rPr sz="1539" spc="192" dirty="0">
                <a:latin typeface="+mj-lt"/>
                <a:cs typeface="Times New Roman"/>
              </a:rPr>
              <a:t> </a:t>
            </a:r>
            <a:r>
              <a:rPr sz="1539" dirty="0">
                <a:latin typeface="+mj-lt"/>
                <a:cs typeface="Times New Roman"/>
              </a:rPr>
              <a:t>agents</a:t>
            </a:r>
            <a:r>
              <a:rPr sz="1539" spc="192" dirty="0">
                <a:latin typeface="+mj-lt"/>
                <a:cs typeface="Times New Roman"/>
              </a:rPr>
              <a:t> </a:t>
            </a:r>
            <a:r>
              <a:rPr sz="1539" dirty="0">
                <a:latin typeface="+mj-lt"/>
                <a:cs typeface="Times New Roman"/>
              </a:rPr>
              <a:t>are</a:t>
            </a:r>
            <a:r>
              <a:rPr sz="1539" spc="192" dirty="0">
                <a:latin typeface="+mj-lt"/>
                <a:cs typeface="Times New Roman"/>
              </a:rPr>
              <a:t> </a:t>
            </a:r>
            <a:r>
              <a:rPr sz="1539" dirty="0">
                <a:latin typeface="+mj-lt"/>
                <a:cs typeface="Times New Roman"/>
              </a:rPr>
              <a:t>able</a:t>
            </a:r>
            <a:r>
              <a:rPr sz="1539" spc="192" dirty="0">
                <a:latin typeface="+mj-lt"/>
                <a:cs typeface="Times New Roman"/>
              </a:rPr>
              <a:t> </a:t>
            </a:r>
            <a:r>
              <a:rPr sz="1539" dirty="0">
                <a:latin typeface="+mj-lt"/>
                <a:cs typeface="Times New Roman"/>
              </a:rPr>
              <a:t>to</a:t>
            </a:r>
            <a:r>
              <a:rPr sz="1539" spc="192" dirty="0">
                <a:latin typeface="+mj-lt"/>
                <a:cs typeface="Times New Roman"/>
              </a:rPr>
              <a:t> </a:t>
            </a:r>
            <a:r>
              <a:rPr sz="1539" dirty="0">
                <a:latin typeface="+mj-lt"/>
                <a:cs typeface="Times New Roman"/>
              </a:rPr>
              <a:t>learn</a:t>
            </a:r>
            <a:r>
              <a:rPr sz="1539" spc="192" dirty="0">
                <a:latin typeface="+mj-lt"/>
                <a:cs typeface="Times New Roman"/>
              </a:rPr>
              <a:t> </a:t>
            </a:r>
            <a:r>
              <a:rPr sz="1539" dirty="0">
                <a:latin typeface="+mj-lt"/>
                <a:cs typeface="Times New Roman"/>
              </a:rPr>
              <a:t>by</a:t>
            </a:r>
            <a:r>
              <a:rPr sz="1539" spc="192" dirty="0">
                <a:latin typeface="+mj-lt"/>
                <a:cs typeface="Times New Roman"/>
              </a:rPr>
              <a:t> </a:t>
            </a:r>
            <a:r>
              <a:rPr sz="1539" dirty="0">
                <a:latin typeface="+mj-lt"/>
                <a:cs typeface="Times New Roman"/>
              </a:rPr>
              <a:t>actively</a:t>
            </a:r>
            <a:r>
              <a:rPr sz="1539" spc="192" dirty="0">
                <a:latin typeface="+mj-lt"/>
                <a:cs typeface="Times New Roman"/>
              </a:rPr>
              <a:t> </a:t>
            </a:r>
            <a:r>
              <a:rPr sz="1539" dirty="0">
                <a:latin typeface="+mj-lt"/>
                <a:cs typeface="Times New Roman"/>
              </a:rPr>
              <a:t>exploring</a:t>
            </a:r>
            <a:r>
              <a:rPr sz="1539" spc="192" dirty="0">
                <a:latin typeface="+mj-lt"/>
                <a:cs typeface="Times New Roman"/>
              </a:rPr>
              <a:t> </a:t>
            </a:r>
            <a:r>
              <a:rPr sz="1539" dirty="0">
                <a:latin typeface="+mj-lt"/>
                <a:cs typeface="Times New Roman"/>
              </a:rPr>
              <a:t>and</a:t>
            </a:r>
            <a:r>
              <a:rPr sz="1539" spc="192" dirty="0">
                <a:latin typeface="+mj-lt"/>
                <a:cs typeface="Times New Roman"/>
              </a:rPr>
              <a:t> </a:t>
            </a:r>
            <a:r>
              <a:rPr sz="1539" spc="-9" dirty="0">
                <a:latin typeface="+mj-lt"/>
                <a:cs typeface="Times New Roman"/>
              </a:rPr>
              <a:t>experimenting </a:t>
            </a:r>
            <a:r>
              <a:rPr sz="1539" dirty="0">
                <a:latin typeface="+mj-lt"/>
                <a:cs typeface="Times New Roman"/>
              </a:rPr>
              <a:t>with</a:t>
            </a:r>
            <a:r>
              <a:rPr sz="1539" spc="-17" dirty="0">
                <a:latin typeface="+mj-lt"/>
                <a:cs typeface="Times New Roman"/>
              </a:rPr>
              <a:t> </a:t>
            </a:r>
            <a:r>
              <a:rPr sz="1539" dirty="0">
                <a:latin typeface="+mj-lt"/>
                <a:cs typeface="Times New Roman"/>
              </a:rPr>
              <a:t>their</a:t>
            </a:r>
            <a:r>
              <a:rPr sz="1539" spc="-13" dirty="0">
                <a:latin typeface="+mj-lt"/>
                <a:cs typeface="Times New Roman"/>
              </a:rPr>
              <a:t> </a:t>
            </a:r>
            <a:r>
              <a:rPr sz="1539" spc="-9" dirty="0">
                <a:latin typeface="+mj-lt"/>
                <a:cs typeface="Times New Roman"/>
              </a:rPr>
              <a:t>environment.</a:t>
            </a:r>
            <a:endParaRPr sz="1539" dirty="0">
              <a:latin typeface="+mj-lt"/>
              <a:cs typeface="Times New Roman"/>
            </a:endParaRPr>
          </a:p>
          <a:p>
            <a:pPr>
              <a:spcBef>
                <a:spcPts val="158"/>
              </a:spcBef>
            </a:pPr>
            <a:endParaRPr sz="1539" dirty="0">
              <a:latin typeface="+mj-lt"/>
              <a:cs typeface="Times New Roman"/>
            </a:endParaRPr>
          </a:p>
          <a:p>
            <a:pPr marL="10860"/>
            <a:r>
              <a:rPr sz="1539" dirty="0">
                <a:latin typeface="+mj-lt"/>
                <a:cs typeface="Times New Roman"/>
              </a:rPr>
              <a:t>A</a:t>
            </a:r>
            <a:r>
              <a:rPr sz="1539" spc="-38" dirty="0">
                <a:latin typeface="+mj-lt"/>
                <a:cs typeface="Times New Roman"/>
              </a:rPr>
              <a:t> </a:t>
            </a:r>
            <a:r>
              <a:rPr sz="1539" dirty="0">
                <a:latin typeface="+mj-lt"/>
                <a:cs typeface="Times New Roman"/>
              </a:rPr>
              <a:t>general</a:t>
            </a:r>
            <a:r>
              <a:rPr sz="1539" spc="-30" dirty="0">
                <a:latin typeface="+mj-lt"/>
                <a:cs typeface="Times New Roman"/>
              </a:rPr>
              <a:t> </a:t>
            </a:r>
            <a:r>
              <a:rPr sz="1539" dirty="0">
                <a:latin typeface="+mj-lt"/>
                <a:cs typeface="Times New Roman"/>
              </a:rPr>
              <a:t>learning</a:t>
            </a:r>
            <a:r>
              <a:rPr sz="1539" spc="-30" dirty="0">
                <a:latin typeface="+mj-lt"/>
                <a:cs typeface="Times New Roman"/>
              </a:rPr>
              <a:t> </a:t>
            </a:r>
            <a:r>
              <a:rPr sz="1539" dirty="0">
                <a:latin typeface="+mj-lt"/>
                <a:cs typeface="Times New Roman"/>
              </a:rPr>
              <a:t>agent</a:t>
            </a:r>
            <a:r>
              <a:rPr sz="1539" spc="-34" dirty="0">
                <a:latin typeface="+mj-lt"/>
                <a:cs typeface="Times New Roman"/>
              </a:rPr>
              <a:t> </a:t>
            </a:r>
            <a:r>
              <a:rPr sz="1539" dirty="0">
                <a:latin typeface="+mj-lt"/>
                <a:cs typeface="Times New Roman"/>
              </a:rPr>
              <a:t>has</a:t>
            </a:r>
            <a:r>
              <a:rPr sz="1539" spc="-30" dirty="0">
                <a:latin typeface="+mj-lt"/>
                <a:cs typeface="Times New Roman"/>
              </a:rPr>
              <a:t> </a:t>
            </a:r>
            <a:r>
              <a:rPr sz="1539" dirty="0">
                <a:latin typeface="+mj-lt"/>
                <a:cs typeface="Times New Roman"/>
              </a:rPr>
              <a:t>four</a:t>
            </a:r>
            <a:r>
              <a:rPr sz="1539" spc="-30" dirty="0">
                <a:latin typeface="+mj-lt"/>
                <a:cs typeface="Times New Roman"/>
              </a:rPr>
              <a:t> </a:t>
            </a:r>
            <a:r>
              <a:rPr sz="1539" dirty="0">
                <a:latin typeface="+mj-lt"/>
                <a:cs typeface="Times New Roman"/>
              </a:rPr>
              <a:t>basic</a:t>
            </a:r>
            <a:r>
              <a:rPr sz="1539" spc="-30" dirty="0">
                <a:latin typeface="+mj-lt"/>
                <a:cs typeface="Times New Roman"/>
              </a:rPr>
              <a:t> </a:t>
            </a:r>
            <a:r>
              <a:rPr sz="1539" spc="-9" dirty="0">
                <a:latin typeface="+mj-lt"/>
                <a:cs typeface="Times New Roman"/>
              </a:rPr>
              <a:t>components:</a:t>
            </a:r>
            <a:endParaRPr sz="1539" dirty="0">
              <a:latin typeface="+mj-lt"/>
              <a:cs typeface="Times New Roman"/>
            </a:endParaRPr>
          </a:p>
          <a:p>
            <a:pPr marL="396382" marR="232942" indent="-386064">
              <a:lnSpc>
                <a:spcPct val="116700"/>
              </a:lnSpc>
              <a:spcBef>
                <a:spcPts val="1065"/>
              </a:spcBef>
              <a:buClr>
                <a:srgbClr val="000000"/>
              </a:buClr>
              <a:buFont typeface="Times New Roman"/>
              <a:buAutoNum type="arabicPeriod"/>
              <a:tabLst>
                <a:tab pos="396382" algn="l"/>
                <a:tab pos="2888699" algn="l"/>
                <a:tab pos="3104807" algn="l"/>
                <a:tab pos="3724358" algn="l"/>
                <a:tab pos="4267890" algn="l"/>
                <a:tab pos="4544271" algn="l"/>
                <a:tab pos="5354410" algn="l"/>
                <a:tab pos="5767080" algn="l"/>
                <a:tab pos="6506631" algn="l"/>
              </a:tabLst>
            </a:pPr>
            <a:r>
              <a:rPr sz="1539" b="1" dirty="0">
                <a:solidFill>
                  <a:srgbClr val="0000FF"/>
                </a:solidFill>
                <a:latin typeface="+mj-lt"/>
                <a:cs typeface="Times New Roman"/>
              </a:rPr>
              <a:t>The</a:t>
            </a:r>
            <a:r>
              <a:rPr sz="1539" b="1" spc="68" dirty="0">
                <a:solidFill>
                  <a:srgbClr val="0000FF"/>
                </a:solidFill>
                <a:latin typeface="+mj-lt"/>
                <a:cs typeface="Times New Roman"/>
              </a:rPr>
              <a:t>  </a:t>
            </a:r>
            <a:r>
              <a:rPr sz="1539" b="1" dirty="0">
                <a:solidFill>
                  <a:srgbClr val="0000FF"/>
                </a:solidFill>
                <a:latin typeface="+mj-lt"/>
                <a:cs typeface="Times New Roman"/>
              </a:rPr>
              <a:t>Performance</a:t>
            </a:r>
            <a:r>
              <a:rPr sz="1539" b="1" spc="73" dirty="0">
                <a:solidFill>
                  <a:srgbClr val="0000FF"/>
                </a:solidFill>
                <a:latin typeface="+mj-lt"/>
                <a:cs typeface="Times New Roman"/>
              </a:rPr>
              <a:t>  </a:t>
            </a:r>
            <a:r>
              <a:rPr sz="1539" b="1" spc="-9" dirty="0">
                <a:solidFill>
                  <a:srgbClr val="0000FF"/>
                </a:solidFill>
                <a:latin typeface="+mj-lt"/>
                <a:cs typeface="Times New Roman"/>
              </a:rPr>
              <a:t>Element</a:t>
            </a:r>
            <a:r>
              <a:rPr sz="1539" b="1" dirty="0">
                <a:solidFill>
                  <a:srgbClr val="0000FF"/>
                </a:solidFill>
                <a:latin typeface="+mj-lt"/>
                <a:cs typeface="Times New Roman"/>
              </a:rPr>
              <a:t>	</a:t>
            </a:r>
            <a:r>
              <a:rPr sz="1539" spc="-43" dirty="0">
                <a:latin typeface="+mj-lt"/>
                <a:cs typeface="Times New Roman"/>
              </a:rPr>
              <a:t>–</a:t>
            </a:r>
            <a:r>
              <a:rPr sz="1539" dirty="0">
                <a:latin typeface="+mj-lt"/>
                <a:cs typeface="Times New Roman"/>
              </a:rPr>
              <a:t>	</a:t>
            </a:r>
            <a:r>
              <a:rPr sz="1539" spc="-9" dirty="0">
                <a:latin typeface="+mj-lt"/>
                <a:cs typeface="Times New Roman"/>
              </a:rPr>
              <a:t>which</a:t>
            </a:r>
            <a:r>
              <a:rPr sz="1539" dirty="0">
                <a:latin typeface="+mj-lt"/>
                <a:cs typeface="Times New Roman"/>
              </a:rPr>
              <a:t>	</a:t>
            </a:r>
            <a:r>
              <a:rPr sz="1539" spc="-9" dirty="0">
                <a:latin typeface="+mj-lt"/>
                <a:cs typeface="Times New Roman"/>
              </a:rPr>
              <a:t>takes</a:t>
            </a:r>
            <a:r>
              <a:rPr sz="1539" dirty="0">
                <a:latin typeface="+mj-lt"/>
                <a:cs typeface="Times New Roman"/>
              </a:rPr>
              <a:t>	</a:t>
            </a:r>
            <a:r>
              <a:rPr sz="1539" spc="-21" dirty="0">
                <a:latin typeface="+mj-lt"/>
                <a:cs typeface="Times New Roman"/>
              </a:rPr>
              <a:t>in</a:t>
            </a:r>
            <a:r>
              <a:rPr sz="1539" dirty="0">
                <a:latin typeface="+mj-lt"/>
                <a:cs typeface="Times New Roman"/>
              </a:rPr>
              <a:t>	</a:t>
            </a:r>
            <a:r>
              <a:rPr sz="1539" spc="-9" dirty="0">
                <a:latin typeface="+mj-lt"/>
                <a:cs typeface="Times New Roman"/>
              </a:rPr>
              <a:t>percepts</a:t>
            </a:r>
            <a:r>
              <a:rPr sz="1539" dirty="0">
                <a:latin typeface="+mj-lt"/>
                <a:cs typeface="Times New Roman"/>
              </a:rPr>
              <a:t>	</a:t>
            </a:r>
            <a:r>
              <a:rPr sz="1539" spc="-21" dirty="0">
                <a:latin typeface="+mj-lt"/>
                <a:cs typeface="Times New Roman"/>
              </a:rPr>
              <a:t>and</a:t>
            </a:r>
            <a:r>
              <a:rPr sz="1539" dirty="0">
                <a:latin typeface="+mj-lt"/>
                <a:cs typeface="Times New Roman"/>
              </a:rPr>
              <a:t>	</a:t>
            </a:r>
            <a:r>
              <a:rPr sz="1539" spc="-9" dirty="0">
                <a:latin typeface="+mj-lt"/>
                <a:cs typeface="Times New Roman"/>
              </a:rPr>
              <a:t>decides</a:t>
            </a:r>
            <a:r>
              <a:rPr sz="1539" dirty="0">
                <a:latin typeface="+mj-lt"/>
                <a:cs typeface="Times New Roman"/>
              </a:rPr>
              <a:t>	</a:t>
            </a:r>
            <a:r>
              <a:rPr sz="1539" spc="21" dirty="0">
                <a:latin typeface="+mj-lt"/>
                <a:cs typeface="Times New Roman"/>
              </a:rPr>
              <a:t>on </a:t>
            </a:r>
            <a:r>
              <a:rPr sz="1539" dirty="0">
                <a:latin typeface="+mj-lt"/>
                <a:cs typeface="Times New Roman"/>
              </a:rPr>
              <a:t>appropriate</a:t>
            </a:r>
            <a:r>
              <a:rPr sz="1539" spc="-30" dirty="0">
                <a:latin typeface="+mj-lt"/>
                <a:cs typeface="Times New Roman"/>
              </a:rPr>
              <a:t> </a:t>
            </a:r>
            <a:r>
              <a:rPr sz="1539" dirty="0">
                <a:latin typeface="+mj-lt"/>
                <a:cs typeface="Times New Roman"/>
              </a:rPr>
              <a:t>actions</a:t>
            </a:r>
            <a:r>
              <a:rPr sz="1539" spc="-30" dirty="0">
                <a:latin typeface="+mj-lt"/>
                <a:cs typeface="Times New Roman"/>
              </a:rPr>
              <a:t> </a:t>
            </a:r>
            <a:r>
              <a:rPr sz="1539" dirty="0">
                <a:latin typeface="+mj-lt"/>
                <a:cs typeface="Times New Roman"/>
              </a:rPr>
              <a:t>in</a:t>
            </a:r>
            <a:r>
              <a:rPr sz="1539" spc="-26" dirty="0">
                <a:latin typeface="+mj-lt"/>
                <a:cs typeface="Times New Roman"/>
              </a:rPr>
              <a:t> </a:t>
            </a:r>
            <a:r>
              <a:rPr sz="1539" dirty="0">
                <a:latin typeface="+mj-lt"/>
                <a:cs typeface="Times New Roman"/>
              </a:rPr>
              <a:t>the</a:t>
            </a:r>
            <a:r>
              <a:rPr sz="1539" spc="-30" dirty="0">
                <a:latin typeface="+mj-lt"/>
                <a:cs typeface="Times New Roman"/>
              </a:rPr>
              <a:t> </a:t>
            </a:r>
            <a:r>
              <a:rPr sz="1539" dirty="0">
                <a:latin typeface="+mj-lt"/>
                <a:cs typeface="Times New Roman"/>
              </a:rPr>
              <a:t>same</a:t>
            </a:r>
            <a:r>
              <a:rPr sz="1539" spc="-26" dirty="0">
                <a:latin typeface="+mj-lt"/>
                <a:cs typeface="Times New Roman"/>
              </a:rPr>
              <a:t> </a:t>
            </a:r>
            <a:r>
              <a:rPr sz="1539" dirty="0">
                <a:latin typeface="+mj-lt"/>
                <a:cs typeface="Times New Roman"/>
              </a:rPr>
              <a:t>way</a:t>
            </a:r>
            <a:r>
              <a:rPr sz="1539" spc="-30" dirty="0">
                <a:latin typeface="+mj-lt"/>
                <a:cs typeface="Times New Roman"/>
              </a:rPr>
              <a:t> </a:t>
            </a:r>
            <a:r>
              <a:rPr sz="1539" dirty="0">
                <a:latin typeface="+mj-lt"/>
                <a:cs typeface="Times New Roman"/>
              </a:rPr>
              <a:t>as</a:t>
            </a:r>
            <a:r>
              <a:rPr sz="1539" spc="-30" dirty="0">
                <a:latin typeface="+mj-lt"/>
                <a:cs typeface="Times New Roman"/>
              </a:rPr>
              <a:t> </a:t>
            </a:r>
            <a:r>
              <a:rPr sz="1539" dirty="0">
                <a:latin typeface="+mj-lt"/>
                <a:cs typeface="Times New Roman"/>
              </a:rPr>
              <a:t>a</a:t>
            </a:r>
            <a:r>
              <a:rPr sz="1539" spc="-26" dirty="0">
                <a:latin typeface="+mj-lt"/>
                <a:cs typeface="Times New Roman"/>
              </a:rPr>
              <a:t> </a:t>
            </a:r>
            <a:r>
              <a:rPr sz="1539" spc="-9" dirty="0">
                <a:latin typeface="+mj-lt"/>
                <a:cs typeface="Times New Roman"/>
              </a:rPr>
              <a:t>non-</a:t>
            </a:r>
            <a:r>
              <a:rPr sz="1539" dirty="0">
                <a:latin typeface="+mj-lt"/>
                <a:cs typeface="Times New Roman"/>
              </a:rPr>
              <a:t>learning</a:t>
            </a:r>
            <a:r>
              <a:rPr sz="1539" spc="-30" dirty="0">
                <a:latin typeface="+mj-lt"/>
                <a:cs typeface="Times New Roman"/>
              </a:rPr>
              <a:t> </a:t>
            </a:r>
            <a:r>
              <a:rPr sz="1539" spc="-9" dirty="0">
                <a:latin typeface="+mj-lt"/>
                <a:cs typeface="Times New Roman"/>
              </a:rPr>
              <a:t>agent.</a:t>
            </a:r>
            <a:endParaRPr sz="1539" dirty="0">
              <a:latin typeface="+mj-lt"/>
              <a:cs typeface="Times New Roman"/>
            </a:endParaRPr>
          </a:p>
          <a:p>
            <a:pPr marL="396382" marR="236200" indent="-386064">
              <a:lnSpc>
                <a:spcPct val="115599"/>
              </a:lnSpc>
              <a:spcBef>
                <a:spcPts val="534"/>
              </a:spcBef>
              <a:buClr>
                <a:srgbClr val="000000"/>
              </a:buClr>
              <a:buFont typeface="Times New Roman"/>
              <a:buAutoNum type="arabicPeriod"/>
              <a:tabLst>
                <a:tab pos="396382" algn="l"/>
              </a:tabLst>
            </a:pPr>
            <a:r>
              <a:rPr sz="1539" b="1" dirty="0">
                <a:solidFill>
                  <a:srgbClr val="0000FF"/>
                </a:solidFill>
                <a:latin typeface="+mj-lt"/>
                <a:cs typeface="Times New Roman"/>
              </a:rPr>
              <a:t>The</a:t>
            </a:r>
            <a:r>
              <a:rPr sz="1539" b="1" spc="274" dirty="0">
                <a:solidFill>
                  <a:srgbClr val="0000FF"/>
                </a:solidFill>
                <a:latin typeface="+mj-lt"/>
                <a:cs typeface="Times New Roman"/>
              </a:rPr>
              <a:t> </a:t>
            </a:r>
            <a:r>
              <a:rPr sz="1539" b="1" dirty="0">
                <a:solidFill>
                  <a:srgbClr val="0000FF"/>
                </a:solidFill>
                <a:latin typeface="+mj-lt"/>
                <a:cs typeface="Times New Roman"/>
              </a:rPr>
              <a:t>Critic</a:t>
            </a:r>
            <a:r>
              <a:rPr sz="1539" b="1" spc="188" dirty="0">
                <a:solidFill>
                  <a:srgbClr val="0000FF"/>
                </a:solidFill>
                <a:latin typeface="+mj-lt"/>
                <a:cs typeface="Times New Roman"/>
              </a:rPr>
              <a:t> </a:t>
            </a:r>
            <a:r>
              <a:rPr sz="1539" dirty="0">
                <a:latin typeface="+mj-lt"/>
                <a:cs typeface="Times New Roman"/>
              </a:rPr>
              <a:t>–</a:t>
            </a:r>
            <a:r>
              <a:rPr sz="1539" spc="180" dirty="0">
                <a:latin typeface="+mj-lt"/>
                <a:cs typeface="Times New Roman"/>
              </a:rPr>
              <a:t> </a:t>
            </a:r>
            <a:r>
              <a:rPr sz="1539" dirty="0">
                <a:latin typeface="+mj-lt"/>
                <a:cs typeface="Times New Roman"/>
              </a:rPr>
              <a:t>which</a:t>
            </a:r>
            <a:r>
              <a:rPr sz="1539" spc="180" dirty="0">
                <a:latin typeface="+mj-lt"/>
                <a:cs typeface="Times New Roman"/>
              </a:rPr>
              <a:t> </a:t>
            </a:r>
            <a:r>
              <a:rPr sz="1539" dirty="0">
                <a:latin typeface="+mj-lt"/>
                <a:cs typeface="Times New Roman"/>
              </a:rPr>
              <a:t>uses</a:t>
            </a:r>
            <a:r>
              <a:rPr sz="1539" spc="180" dirty="0">
                <a:latin typeface="+mj-lt"/>
                <a:cs typeface="Times New Roman"/>
              </a:rPr>
              <a:t> </a:t>
            </a:r>
            <a:r>
              <a:rPr sz="1539" dirty="0">
                <a:latin typeface="+mj-lt"/>
                <a:cs typeface="Times New Roman"/>
              </a:rPr>
              <a:t>a</a:t>
            </a:r>
            <a:r>
              <a:rPr sz="1539" spc="174" dirty="0">
                <a:latin typeface="+mj-lt"/>
                <a:cs typeface="Times New Roman"/>
              </a:rPr>
              <a:t> </a:t>
            </a:r>
            <a:r>
              <a:rPr sz="1539" dirty="0">
                <a:latin typeface="+mj-lt"/>
                <a:cs typeface="Times New Roman"/>
              </a:rPr>
              <a:t>fixed</a:t>
            </a:r>
            <a:r>
              <a:rPr sz="1539" spc="180" dirty="0">
                <a:latin typeface="+mj-lt"/>
                <a:cs typeface="Times New Roman"/>
              </a:rPr>
              <a:t> </a:t>
            </a:r>
            <a:r>
              <a:rPr sz="1539" dirty="0">
                <a:latin typeface="+mj-lt"/>
                <a:cs typeface="Times New Roman"/>
              </a:rPr>
              <a:t>standard</a:t>
            </a:r>
            <a:r>
              <a:rPr sz="1539" spc="180" dirty="0">
                <a:latin typeface="+mj-lt"/>
                <a:cs typeface="Times New Roman"/>
              </a:rPr>
              <a:t> </a:t>
            </a:r>
            <a:r>
              <a:rPr sz="1539" dirty="0">
                <a:latin typeface="+mj-lt"/>
                <a:cs typeface="Times New Roman"/>
              </a:rPr>
              <a:t>of</a:t>
            </a:r>
            <a:r>
              <a:rPr sz="1539" spc="180" dirty="0">
                <a:latin typeface="+mj-lt"/>
                <a:cs typeface="Times New Roman"/>
              </a:rPr>
              <a:t> </a:t>
            </a:r>
            <a:r>
              <a:rPr sz="1539" dirty="0">
                <a:latin typeface="+mj-lt"/>
                <a:cs typeface="Times New Roman"/>
              </a:rPr>
              <a:t>performance</a:t>
            </a:r>
            <a:r>
              <a:rPr sz="1539" spc="180" dirty="0">
                <a:latin typeface="+mj-lt"/>
                <a:cs typeface="Times New Roman"/>
              </a:rPr>
              <a:t> </a:t>
            </a:r>
            <a:r>
              <a:rPr sz="1539" dirty="0">
                <a:latin typeface="+mj-lt"/>
                <a:cs typeface="Times New Roman"/>
              </a:rPr>
              <a:t>to</a:t>
            </a:r>
            <a:r>
              <a:rPr sz="1539" spc="180" dirty="0">
                <a:latin typeface="+mj-lt"/>
                <a:cs typeface="Times New Roman"/>
              </a:rPr>
              <a:t> </a:t>
            </a:r>
            <a:r>
              <a:rPr sz="1539" dirty="0">
                <a:latin typeface="+mj-lt"/>
                <a:cs typeface="Times New Roman"/>
              </a:rPr>
              <a:t>tell</a:t>
            </a:r>
            <a:r>
              <a:rPr sz="1539" spc="174" dirty="0">
                <a:latin typeface="+mj-lt"/>
                <a:cs typeface="Times New Roman"/>
              </a:rPr>
              <a:t> </a:t>
            </a:r>
            <a:r>
              <a:rPr sz="1539" dirty="0">
                <a:latin typeface="+mj-lt"/>
                <a:cs typeface="Times New Roman"/>
              </a:rPr>
              <a:t>the</a:t>
            </a:r>
            <a:r>
              <a:rPr sz="1539" spc="180" dirty="0">
                <a:latin typeface="+mj-lt"/>
                <a:cs typeface="Times New Roman"/>
              </a:rPr>
              <a:t> </a:t>
            </a:r>
            <a:r>
              <a:rPr sz="1539" spc="-9" dirty="0">
                <a:latin typeface="+mj-lt"/>
                <a:cs typeface="Times New Roman"/>
              </a:rPr>
              <a:t>learning </a:t>
            </a:r>
            <a:r>
              <a:rPr sz="1539" dirty="0">
                <a:latin typeface="+mj-lt"/>
                <a:cs typeface="Times New Roman"/>
              </a:rPr>
              <a:t>element</a:t>
            </a:r>
            <a:r>
              <a:rPr sz="1539" spc="-21" dirty="0">
                <a:latin typeface="+mj-lt"/>
                <a:cs typeface="Times New Roman"/>
              </a:rPr>
              <a:t> </a:t>
            </a:r>
            <a:r>
              <a:rPr sz="1539" dirty="0">
                <a:latin typeface="+mj-lt"/>
                <a:cs typeface="Times New Roman"/>
              </a:rPr>
              <a:t>how</a:t>
            </a:r>
            <a:r>
              <a:rPr sz="1539" spc="-21" dirty="0">
                <a:latin typeface="+mj-lt"/>
                <a:cs typeface="Times New Roman"/>
              </a:rPr>
              <a:t> </a:t>
            </a:r>
            <a:r>
              <a:rPr sz="1539" dirty="0">
                <a:latin typeface="+mj-lt"/>
                <a:cs typeface="Times New Roman"/>
              </a:rPr>
              <a:t>well</a:t>
            </a:r>
            <a:r>
              <a:rPr sz="1539" spc="-21" dirty="0">
                <a:latin typeface="+mj-lt"/>
                <a:cs typeface="Times New Roman"/>
              </a:rPr>
              <a:t> </a:t>
            </a:r>
            <a:r>
              <a:rPr sz="1539" dirty="0">
                <a:latin typeface="+mj-lt"/>
                <a:cs typeface="Times New Roman"/>
              </a:rPr>
              <a:t>the</a:t>
            </a:r>
            <a:r>
              <a:rPr sz="1539" spc="-21" dirty="0">
                <a:latin typeface="+mj-lt"/>
                <a:cs typeface="Times New Roman"/>
              </a:rPr>
              <a:t> </a:t>
            </a:r>
            <a:r>
              <a:rPr sz="1539" dirty="0">
                <a:latin typeface="+mj-lt"/>
                <a:cs typeface="Times New Roman"/>
              </a:rPr>
              <a:t>agent</a:t>
            </a:r>
            <a:r>
              <a:rPr sz="1539" spc="-21" dirty="0">
                <a:latin typeface="+mj-lt"/>
                <a:cs typeface="Times New Roman"/>
              </a:rPr>
              <a:t> </a:t>
            </a:r>
            <a:r>
              <a:rPr sz="1539" dirty="0">
                <a:latin typeface="+mj-lt"/>
                <a:cs typeface="Times New Roman"/>
              </a:rPr>
              <a:t>is</a:t>
            </a:r>
            <a:r>
              <a:rPr sz="1539" spc="-21" dirty="0">
                <a:latin typeface="+mj-lt"/>
                <a:cs typeface="Times New Roman"/>
              </a:rPr>
              <a:t> </a:t>
            </a:r>
            <a:r>
              <a:rPr sz="1539" spc="-9" dirty="0">
                <a:latin typeface="+mj-lt"/>
                <a:cs typeface="Times New Roman"/>
              </a:rPr>
              <a:t>doing.</a:t>
            </a:r>
            <a:endParaRPr sz="1539" dirty="0">
              <a:latin typeface="+mj-lt"/>
              <a:cs typeface="Times New Roman"/>
            </a:endParaRPr>
          </a:p>
          <a:p>
            <a:pPr marL="396382" marR="237286" indent="-386064">
              <a:lnSpc>
                <a:spcPct val="115599"/>
              </a:lnSpc>
              <a:spcBef>
                <a:spcPts val="513"/>
              </a:spcBef>
              <a:buClr>
                <a:srgbClr val="000000"/>
              </a:buClr>
              <a:buFont typeface="Times New Roman"/>
              <a:buAutoNum type="arabicPeriod"/>
              <a:tabLst>
                <a:tab pos="396382" algn="l"/>
              </a:tabLst>
            </a:pPr>
            <a:r>
              <a:rPr sz="1539" b="1" dirty="0">
                <a:solidFill>
                  <a:srgbClr val="0000FF"/>
                </a:solidFill>
                <a:latin typeface="+mj-lt"/>
                <a:cs typeface="Times New Roman"/>
              </a:rPr>
              <a:t>The</a:t>
            </a:r>
            <a:r>
              <a:rPr sz="1539" b="1" spc="97" dirty="0">
                <a:solidFill>
                  <a:srgbClr val="0000FF"/>
                </a:solidFill>
                <a:latin typeface="+mj-lt"/>
                <a:cs typeface="Times New Roman"/>
              </a:rPr>
              <a:t> </a:t>
            </a:r>
            <a:r>
              <a:rPr sz="1539" b="1" dirty="0">
                <a:solidFill>
                  <a:srgbClr val="0000FF"/>
                </a:solidFill>
                <a:latin typeface="+mj-lt"/>
                <a:cs typeface="Times New Roman"/>
              </a:rPr>
              <a:t>Learning</a:t>
            </a:r>
            <a:r>
              <a:rPr sz="1539" b="1" spc="103" dirty="0">
                <a:solidFill>
                  <a:srgbClr val="0000FF"/>
                </a:solidFill>
                <a:latin typeface="+mj-lt"/>
                <a:cs typeface="Times New Roman"/>
              </a:rPr>
              <a:t> </a:t>
            </a:r>
            <a:r>
              <a:rPr sz="1539" b="1" dirty="0">
                <a:solidFill>
                  <a:srgbClr val="0000FF"/>
                </a:solidFill>
                <a:latin typeface="+mj-lt"/>
                <a:cs typeface="Times New Roman"/>
              </a:rPr>
              <a:t>Element</a:t>
            </a:r>
            <a:r>
              <a:rPr sz="1539" b="1" spc="180" dirty="0">
                <a:solidFill>
                  <a:srgbClr val="0000FF"/>
                </a:solidFill>
                <a:latin typeface="+mj-lt"/>
                <a:cs typeface="Times New Roman"/>
              </a:rPr>
              <a:t> </a:t>
            </a:r>
            <a:r>
              <a:rPr sz="1539" dirty="0">
                <a:latin typeface="+mj-lt"/>
                <a:cs typeface="Times New Roman"/>
              </a:rPr>
              <a:t>–</a:t>
            </a:r>
            <a:r>
              <a:rPr sz="1539" spc="115" dirty="0">
                <a:latin typeface="+mj-lt"/>
                <a:cs typeface="Times New Roman"/>
              </a:rPr>
              <a:t> </a:t>
            </a:r>
            <a:r>
              <a:rPr sz="1539" dirty="0">
                <a:latin typeface="+mj-lt"/>
                <a:cs typeface="Times New Roman"/>
              </a:rPr>
              <a:t>that</a:t>
            </a:r>
            <a:r>
              <a:rPr sz="1539" spc="120" dirty="0">
                <a:latin typeface="+mj-lt"/>
                <a:cs typeface="Times New Roman"/>
              </a:rPr>
              <a:t> </a:t>
            </a:r>
            <a:r>
              <a:rPr sz="1539" dirty="0">
                <a:latin typeface="+mj-lt"/>
                <a:cs typeface="Times New Roman"/>
              </a:rPr>
              <a:t>receives</a:t>
            </a:r>
            <a:r>
              <a:rPr sz="1539" spc="120" dirty="0">
                <a:latin typeface="+mj-lt"/>
                <a:cs typeface="Times New Roman"/>
              </a:rPr>
              <a:t> </a:t>
            </a:r>
            <a:r>
              <a:rPr sz="1539" dirty="0">
                <a:latin typeface="+mj-lt"/>
                <a:cs typeface="Times New Roman"/>
              </a:rPr>
              <a:t>information</a:t>
            </a:r>
            <a:r>
              <a:rPr sz="1539" spc="120" dirty="0">
                <a:latin typeface="+mj-lt"/>
                <a:cs typeface="Times New Roman"/>
              </a:rPr>
              <a:t> </a:t>
            </a:r>
            <a:r>
              <a:rPr sz="1539" dirty="0">
                <a:latin typeface="+mj-lt"/>
                <a:cs typeface="Times New Roman"/>
              </a:rPr>
              <a:t>from</a:t>
            </a:r>
            <a:r>
              <a:rPr sz="1539" spc="115" dirty="0">
                <a:latin typeface="+mj-lt"/>
                <a:cs typeface="Times New Roman"/>
              </a:rPr>
              <a:t> </a:t>
            </a:r>
            <a:r>
              <a:rPr sz="1539" dirty="0">
                <a:latin typeface="+mj-lt"/>
                <a:cs typeface="Times New Roman"/>
              </a:rPr>
              <a:t>the</a:t>
            </a:r>
            <a:r>
              <a:rPr sz="1539" spc="120" dirty="0">
                <a:latin typeface="+mj-lt"/>
                <a:cs typeface="Times New Roman"/>
              </a:rPr>
              <a:t> </a:t>
            </a:r>
            <a:r>
              <a:rPr sz="1539" dirty="0">
                <a:latin typeface="+mj-lt"/>
                <a:cs typeface="Times New Roman"/>
              </a:rPr>
              <a:t>critic</a:t>
            </a:r>
            <a:r>
              <a:rPr sz="1539" spc="120" dirty="0">
                <a:latin typeface="+mj-lt"/>
                <a:cs typeface="Times New Roman"/>
              </a:rPr>
              <a:t> </a:t>
            </a:r>
            <a:r>
              <a:rPr sz="1539" dirty="0">
                <a:latin typeface="+mj-lt"/>
                <a:cs typeface="Times New Roman"/>
              </a:rPr>
              <a:t>and</a:t>
            </a:r>
            <a:r>
              <a:rPr sz="1539" spc="120" dirty="0">
                <a:latin typeface="+mj-lt"/>
                <a:cs typeface="Times New Roman"/>
              </a:rPr>
              <a:t> </a:t>
            </a:r>
            <a:r>
              <a:rPr sz="1539" spc="-9" dirty="0">
                <a:latin typeface="+mj-lt"/>
                <a:cs typeface="Times New Roman"/>
              </a:rPr>
              <a:t>makes </a:t>
            </a:r>
            <a:r>
              <a:rPr sz="1539" dirty="0">
                <a:latin typeface="+mj-lt"/>
                <a:cs typeface="Times New Roman"/>
              </a:rPr>
              <a:t>appropriate</a:t>
            </a:r>
            <a:r>
              <a:rPr sz="1539" spc="-51" dirty="0">
                <a:latin typeface="+mj-lt"/>
                <a:cs typeface="Times New Roman"/>
              </a:rPr>
              <a:t> </a:t>
            </a:r>
            <a:r>
              <a:rPr sz="1539" dirty="0">
                <a:latin typeface="+mj-lt"/>
                <a:cs typeface="Times New Roman"/>
              </a:rPr>
              <a:t>improvements</a:t>
            </a:r>
            <a:r>
              <a:rPr sz="1539" spc="-51" dirty="0">
                <a:latin typeface="+mj-lt"/>
                <a:cs typeface="Times New Roman"/>
              </a:rPr>
              <a:t> </a:t>
            </a:r>
            <a:r>
              <a:rPr sz="1539" dirty="0">
                <a:latin typeface="+mj-lt"/>
                <a:cs typeface="Times New Roman"/>
              </a:rPr>
              <a:t>to</a:t>
            </a:r>
            <a:r>
              <a:rPr sz="1539" spc="-51" dirty="0">
                <a:latin typeface="+mj-lt"/>
                <a:cs typeface="Times New Roman"/>
              </a:rPr>
              <a:t> </a:t>
            </a:r>
            <a:r>
              <a:rPr sz="1539" dirty="0">
                <a:latin typeface="+mj-lt"/>
                <a:cs typeface="Times New Roman"/>
              </a:rPr>
              <a:t>the</a:t>
            </a:r>
            <a:r>
              <a:rPr sz="1539" spc="-51" dirty="0">
                <a:latin typeface="+mj-lt"/>
                <a:cs typeface="Times New Roman"/>
              </a:rPr>
              <a:t> </a:t>
            </a:r>
            <a:r>
              <a:rPr sz="1539" dirty="0">
                <a:latin typeface="+mj-lt"/>
                <a:cs typeface="Times New Roman"/>
              </a:rPr>
              <a:t>performance</a:t>
            </a:r>
            <a:r>
              <a:rPr sz="1539" spc="-51" dirty="0">
                <a:latin typeface="+mj-lt"/>
                <a:cs typeface="Times New Roman"/>
              </a:rPr>
              <a:t> </a:t>
            </a:r>
            <a:r>
              <a:rPr sz="1539" spc="-9" dirty="0">
                <a:latin typeface="+mj-lt"/>
                <a:cs typeface="Times New Roman"/>
              </a:rPr>
              <a:t>element.</a:t>
            </a:r>
            <a:endParaRPr sz="1539" dirty="0">
              <a:latin typeface="+mj-lt"/>
              <a:cs typeface="Times New Roman"/>
            </a:endParaRPr>
          </a:p>
          <a:p>
            <a:pPr marL="396382" marR="236200" indent="-386064">
              <a:lnSpc>
                <a:spcPct val="115599"/>
              </a:lnSpc>
              <a:spcBef>
                <a:spcPts val="513"/>
              </a:spcBef>
              <a:buClr>
                <a:srgbClr val="000000"/>
              </a:buClr>
              <a:buFont typeface="Times New Roman"/>
              <a:buAutoNum type="arabicPeriod"/>
              <a:tabLst>
                <a:tab pos="396382" algn="l"/>
              </a:tabLst>
            </a:pPr>
            <a:r>
              <a:rPr sz="1539" b="1" dirty="0">
                <a:solidFill>
                  <a:srgbClr val="0000FF"/>
                </a:solidFill>
                <a:latin typeface="+mj-lt"/>
                <a:cs typeface="Times New Roman"/>
              </a:rPr>
              <a:t>The</a:t>
            </a:r>
            <a:r>
              <a:rPr sz="1539" b="1" spc="248" dirty="0">
                <a:solidFill>
                  <a:srgbClr val="0000FF"/>
                </a:solidFill>
                <a:latin typeface="+mj-lt"/>
                <a:cs typeface="Times New Roman"/>
              </a:rPr>
              <a:t> </a:t>
            </a:r>
            <a:r>
              <a:rPr sz="1539" b="1" dirty="0">
                <a:solidFill>
                  <a:srgbClr val="0000FF"/>
                </a:solidFill>
                <a:latin typeface="+mj-lt"/>
                <a:cs typeface="Times New Roman"/>
              </a:rPr>
              <a:t>Problem</a:t>
            </a:r>
            <a:r>
              <a:rPr sz="1539" b="1" spc="252" dirty="0">
                <a:solidFill>
                  <a:srgbClr val="0000FF"/>
                </a:solidFill>
                <a:latin typeface="+mj-lt"/>
                <a:cs typeface="Times New Roman"/>
              </a:rPr>
              <a:t> </a:t>
            </a:r>
            <a:r>
              <a:rPr sz="1539" b="1" dirty="0">
                <a:solidFill>
                  <a:srgbClr val="0000FF"/>
                </a:solidFill>
                <a:latin typeface="+mj-lt"/>
                <a:cs typeface="Times New Roman"/>
              </a:rPr>
              <a:t>Generator</a:t>
            </a:r>
            <a:r>
              <a:rPr sz="1539" b="1" spc="97" dirty="0">
                <a:solidFill>
                  <a:srgbClr val="0000FF"/>
                </a:solidFill>
                <a:latin typeface="+mj-lt"/>
                <a:cs typeface="Times New Roman"/>
              </a:rPr>
              <a:t> </a:t>
            </a:r>
            <a:r>
              <a:rPr sz="1539" dirty="0">
                <a:latin typeface="+mj-lt"/>
                <a:cs typeface="Times New Roman"/>
              </a:rPr>
              <a:t>–</a:t>
            </a:r>
            <a:r>
              <a:rPr sz="1539" spc="346" dirty="0">
                <a:latin typeface="+mj-lt"/>
                <a:cs typeface="Times New Roman"/>
              </a:rPr>
              <a:t> </a:t>
            </a:r>
            <a:r>
              <a:rPr sz="1539" dirty="0">
                <a:latin typeface="+mj-lt"/>
                <a:cs typeface="Times New Roman"/>
              </a:rPr>
              <a:t>that</a:t>
            </a:r>
            <a:r>
              <a:rPr sz="1539" spc="342" dirty="0">
                <a:latin typeface="+mj-lt"/>
                <a:cs typeface="Times New Roman"/>
              </a:rPr>
              <a:t> </a:t>
            </a:r>
            <a:r>
              <a:rPr sz="1539" dirty="0">
                <a:latin typeface="+mj-lt"/>
                <a:cs typeface="Times New Roman"/>
              </a:rPr>
              <a:t>suggests</a:t>
            </a:r>
            <a:r>
              <a:rPr sz="1539" spc="346" dirty="0">
                <a:latin typeface="+mj-lt"/>
                <a:cs typeface="Times New Roman"/>
              </a:rPr>
              <a:t> </a:t>
            </a:r>
            <a:r>
              <a:rPr sz="1539" dirty="0">
                <a:latin typeface="+mj-lt"/>
                <a:cs typeface="Times New Roman"/>
              </a:rPr>
              <a:t>actions</a:t>
            </a:r>
            <a:r>
              <a:rPr sz="1539" spc="342" dirty="0">
                <a:latin typeface="+mj-lt"/>
                <a:cs typeface="Times New Roman"/>
              </a:rPr>
              <a:t> </a:t>
            </a:r>
            <a:r>
              <a:rPr sz="1539" dirty="0">
                <a:latin typeface="+mj-lt"/>
                <a:cs typeface="Times New Roman"/>
              </a:rPr>
              <a:t>that</a:t>
            </a:r>
            <a:r>
              <a:rPr sz="1539" spc="346" dirty="0">
                <a:latin typeface="+mj-lt"/>
                <a:cs typeface="Times New Roman"/>
              </a:rPr>
              <a:t> </a:t>
            </a:r>
            <a:r>
              <a:rPr sz="1539" dirty="0">
                <a:latin typeface="+mj-lt"/>
                <a:cs typeface="Times New Roman"/>
              </a:rPr>
              <a:t>will</a:t>
            </a:r>
            <a:r>
              <a:rPr sz="1539" spc="342" dirty="0">
                <a:latin typeface="+mj-lt"/>
                <a:cs typeface="Times New Roman"/>
              </a:rPr>
              <a:t> </a:t>
            </a:r>
            <a:r>
              <a:rPr sz="1539" dirty="0">
                <a:latin typeface="+mj-lt"/>
                <a:cs typeface="Times New Roman"/>
              </a:rPr>
              <a:t>lead</a:t>
            </a:r>
            <a:r>
              <a:rPr sz="1539" spc="342" dirty="0">
                <a:latin typeface="+mj-lt"/>
                <a:cs typeface="Times New Roman"/>
              </a:rPr>
              <a:t> </a:t>
            </a:r>
            <a:r>
              <a:rPr sz="1539" dirty="0">
                <a:latin typeface="+mj-lt"/>
                <a:cs typeface="Times New Roman"/>
              </a:rPr>
              <a:t>to</a:t>
            </a:r>
            <a:r>
              <a:rPr sz="1539" spc="346" dirty="0">
                <a:latin typeface="+mj-lt"/>
                <a:cs typeface="Times New Roman"/>
              </a:rPr>
              <a:t> </a:t>
            </a:r>
            <a:r>
              <a:rPr sz="1539" dirty="0">
                <a:latin typeface="+mj-lt"/>
                <a:cs typeface="Times New Roman"/>
              </a:rPr>
              <a:t>new</a:t>
            </a:r>
            <a:r>
              <a:rPr sz="1539" spc="342" dirty="0">
                <a:latin typeface="+mj-lt"/>
                <a:cs typeface="Times New Roman"/>
              </a:rPr>
              <a:t> </a:t>
            </a:r>
            <a:r>
              <a:rPr sz="1539" spc="-21" dirty="0">
                <a:latin typeface="+mj-lt"/>
                <a:cs typeface="Times New Roman"/>
              </a:rPr>
              <a:t>and </a:t>
            </a:r>
            <a:r>
              <a:rPr sz="1539" dirty="0">
                <a:latin typeface="+mj-lt"/>
                <a:cs typeface="Times New Roman"/>
              </a:rPr>
              <a:t>informative</a:t>
            </a:r>
            <a:r>
              <a:rPr sz="1539" spc="-34" dirty="0">
                <a:latin typeface="+mj-lt"/>
                <a:cs typeface="Times New Roman"/>
              </a:rPr>
              <a:t> </a:t>
            </a:r>
            <a:r>
              <a:rPr sz="1539" dirty="0">
                <a:latin typeface="+mj-lt"/>
                <a:cs typeface="Times New Roman"/>
              </a:rPr>
              <a:t>experiences</a:t>
            </a:r>
            <a:r>
              <a:rPr sz="1539" spc="-34" dirty="0">
                <a:latin typeface="+mj-lt"/>
                <a:cs typeface="Times New Roman"/>
              </a:rPr>
              <a:t> </a:t>
            </a:r>
            <a:r>
              <a:rPr sz="1539" dirty="0">
                <a:latin typeface="+mj-lt"/>
                <a:cs typeface="Times New Roman"/>
              </a:rPr>
              <a:t>(e.g.</a:t>
            </a:r>
            <a:r>
              <a:rPr sz="1539" spc="-34" dirty="0">
                <a:latin typeface="+mj-lt"/>
                <a:cs typeface="Times New Roman"/>
              </a:rPr>
              <a:t> </a:t>
            </a:r>
            <a:r>
              <a:rPr sz="1539" dirty="0">
                <a:latin typeface="+mj-lt"/>
                <a:cs typeface="Times New Roman"/>
              </a:rPr>
              <a:t>as</a:t>
            </a:r>
            <a:r>
              <a:rPr sz="1539" spc="-34" dirty="0">
                <a:latin typeface="+mj-lt"/>
                <a:cs typeface="Times New Roman"/>
              </a:rPr>
              <a:t> </a:t>
            </a:r>
            <a:r>
              <a:rPr sz="1539" dirty="0">
                <a:latin typeface="+mj-lt"/>
                <a:cs typeface="Times New Roman"/>
              </a:rPr>
              <a:t>in</a:t>
            </a:r>
            <a:r>
              <a:rPr sz="1539" spc="-34" dirty="0">
                <a:latin typeface="+mj-lt"/>
                <a:cs typeface="Times New Roman"/>
              </a:rPr>
              <a:t> </a:t>
            </a:r>
            <a:r>
              <a:rPr sz="1539" dirty="0">
                <a:latin typeface="+mj-lt"/>
                <a:cs typeface="Times New Roman"/>
              </a:rPr>
              <a:t>carrying</a:t>
            </a:r>
            <a:r>
              <a:rPr sz="1539" spc="-34" dirty="0">
                <a:latin typeface="+mj-lt"/>
                <a:cs typeface="Times New Roman"/>
              </a:rPr>
              <a:t> </a:t>
            </a:r>
            <a:r>
              <a:rPr sz="1539" dirty="0">
                <a:latin typeface="+mj-lt"/>
                <a:cs typeface="Times New Roman"/>
              </a:rPr>
              <a:t>out</a:t>
            </a:r>
            <a:r>
              <a:rPr sz="1539" spc="-34" dirty="0">
                <a:latin typeface="+mj-lt"/>
                <a:cs typeface="Times New Roman"/>
              </a:rPr>
              <a:t> </a:t>
            </a:r>
            <a:r>
              <a:rPr sz="1539" spc="-9" dirty="0">
                <a:latin typeface="+mj-lt"/>
                <a:cs typeface="Times New Roman"/>
              </a:rPr>
              <a:t>experiments).</a:t>
            </a:r>
            <a:endParaRPr sz="1539" dirty="0">
              <a:latin typeface="+mj-lt"/>
              <a:cs typeface="Times New Roman"/>
            </a:endParaRPr>
          </a:p>
          <a:p>
            <a:pPr marL="10860" marR="4344">
              <a:lnSpc>
                <a:spcPct val="120000"/>
              </a:lnSpc>
              <a:spcBef>
                <a:spcPts val="1701"/>
              </a:spcBef>
            </a:pPr>
            <a:r>
              <a:rPr sz="1539" dirty="0">
                <a:latin typeface="+mj-lt"/>
                <a:cs typeface="Times New Roman"/>
              </a:rPr>
              <a:t>Note</a:t>
            </a:r>
            <a:r>
              <a:rPr sz="1539" spc="269" dirty="0">
                <a:latin typeface="+mj-lt"/>
                <a:cs typeface="Times New Roman"/>
              </a:rPr>
              <a:t> </a:t>
            </a:r>
            <a:r>
              <a:rPr sz="1539" dirty="0">
                <a:latin typeface="+mj-lt"/>
                <a:cs typeface="Times New Roman"/>
              </a:rPr>
              <a:t>that</a:t>
            </a:r>
            <a:r>
              <a:rPr sz="1539" spc="274" dirty="0">
                <a:latin typeface="+mj-lt"/>
                <a:cs typeface="Times New Roman"/>
              </a:rPr>
              <a:t> </a:t>
            </a:r>
            <a:r>
              <a:rPr sz="1539" dirty="0">
                <a:latin typeface="+mj-lt"/>
                <a:cs typeface="Times New Roman"/>
              </a:rPr>
              <a:t>not</a:t>
            </a:r>
            <a:r>
              <a:rPr sz="1539" spc="269" dirty="0">
                <a:latin typeface="+mj-lt"/>
                <a:cs typeface="Times New Roman"/>
              </a:rPr>
              <a:t> </a:t>
            </a:r>
            <a:r>
              <a:rPr sz="1539" dirty="0">
                <a:latin typeface="+mj-lt"/>
                <a:cs typeface="Times New Roman"/>
              </a:rPr>
              <a:t>all</a:t>
            </a:r>
            <a:r>
              <a:rPr sz="1539" spc="274" dirty="0">
                <a:latin typeface="+mj-lt"/>
                <a:cs typeface="Times New Roman"/>
              </a:rPr>
              <a:t> </a:t>
            </a:r>
            <a:r>
              <a:rPr sz="1539" dirty="0">
                <a:latin typeface="+mj-lt"/>
                <a:cs typeface="Times New Roman"/>
              </a:rPr>
              <a:t>learning</a:t>
            </a:r>
            <a:r>
              <a:rPr sz="1539" spc="269" dirty="0">
                <a:latin typeface="+mj-lt"/>
                <a:cs typeface="Times New Roman"/>
              </a:rPr>
              <a:t> </a:t>
            </a:r>
            <a:r>
              <a:rPr sz="1539" dirty="0">
                <a:latin typeface="+mj-lt"/>
                <a:cs typeface="Times New Roman"/>
              </a:rPr>
              <a:t>agents</a:t>
            </a:r>
            <a:r>
              <a:rPr sz="1539" spc="274" dirty="0">
                <a:latin typeface="+mj-lt"/>
                <a:cs typeface="Times New Roman"/>
              </a:rPr>
              <a:t> </a:t>
            </a:r>
            <a:r>
              <a:rPr sz="1539" dirty="0">
                <a:latin typeface="+mj-lt"/>
                <a:cs typeface="Times New Roman"/>
              </a:rPr>
              <a:t>will</a:t>
            </a:r>
            <a:r>
              <a:rPr sz="1539" spc="269" dirty="0">
                <a:latin typeface="+mj-lt"/>
                <a:cs typeface="Times New Roman"/>
              </a:rPr>
              <a:t> </a:t>
            </a:r>
            <a:r>
              <a:rPr sz="1539" dirty="0">
                <a:latin typeface="+mj-lt"/>
                <a:cs typeface="Times New Roman"/>
              </a:rPr>
              <a:t>need</a:t>
            </a:r>
            <a:r>
              <a:rPr sz="1539" spc="274" dirty="0">
                <a:latin typeface="+mj-lt"/>
                <a:cs typeface="Times New Roman"/>
              </a:rPr>
              <a:t> </a:t>
            </a:r>
            <a:r>
              <a:rPr sz="1539" dirty="0">
                <a:latin typeface="+mj-lt"/>
                <a:cs typeface="Times New Roman"/>
              </a:rPr>
              <a:t>a</a:t>
            </a:r>
            <a:r>
              <a:rPr sz="1539" spc="269" dirty="0">
                <a:latin typeface="+mj-lt"/>
                <a:cs typeface="Times New Roman"/>
              </a:rPr>
              <a:t> </a:t>
            </a:r>
            <a:r>
              <a:rPr sz="1539" dirty="0">
                <a:latin typeface="+mj-lt"/>
                <a:cs typeface="Times New Roman"/>
              </a:rPr>
              <a:t>problem</a:t>
            </a:r>
            <a:r>
              <a:rPr sz="1539" spc="274" dirty="0">
                <a:latin typeface="+mj-lt"/>
                <a:cs typeface="Times New Roman"/>
              </a:rPr>
              <a:t> </a:t>
            </a:r>
            <a:r>
              <a:rPr sz="1539" dirty="0">
                <a:latin typeface="+mj-lt"/>
                <a:cs typeface="Times New Roman"/>
              </a:rPr>
              <a:t>generator</a:t>
            </a:r>
            <a:r>
              <a:rPr sz="1539" spc="269" dirty="0">
                <a:latin typeface="+mj-lt"/>
                <a:cs typeface="Times New Roman"/>
              </a:rPr>
              <a:t> </a:t>
            </a:r>
            <a:r>
              <a:rPr sz="1539" dirty="0">
                <a:latin typeface="+mj-lt"/>
                <a:cs typeface="Times New Roman"/>
              </a:rPr>
              <a:t>–</a:t>
            </a:r>
            <a:r>
              <a:rPr sz="1539" spc="274" dirty="0">
                <a:latin typeface="+mj-lt"/>
                <a:cs typeface="Times New Roman"/>
              </a:rPr>
              <a:t> </a:t>
            </a:r>
            <a:r>
              <a:rPr sz="1539" dirty="0">
                <a:latin typeface="+mj-lt"/>
                <a:cs typeface="Times New Roman"/>
              </a:rPr>
              <a:t>a</a:t>
            </a:r>
            <a:r>
              <a:rPr sz="1539" spc="274" dirty="0">
                <a:latin typeface="+mj-lt"/>
                <a:cs typeface="Times New Roman"/>
              </a:rPr>
              <a:t> </a:t>
            </a:r>
            <a:r>
              <a:rPr sz="1539" dirty="0">
                <a:latin typeface="+mj-lt"/>
                <a:cs typeface="Times New Roman"/>
              </a:rPr>
              <a:t>teacher,</a:t>
            </a:r>
            <a:r>
              <a:rPr sz="1539" spc="269" dirty="0">
                <a:latin typeface="+mj-lt"/>
                <a:cs typeface="Times New Roman"/>
              </a:rPr>
              <a:t> </a:t>
            </a:r>
            <a:r>
              <a:rPr sz="1539" dirty="0">
                <a:latin typeface="+mj-lt"/>
                <a:cs typeface="Times New Roman"/>
              </a:rPr>
              <a:t>or</a:t>
            </a:r>
            <a:r>
              <a:rPr sz="1539" spc="274" dirty="0">
                <a:latin typeface="+mj-lt"/>
                <a:cs typeface="Times New Roman"/>
              </a:rPr>
              <a:t> </a:t>
            </a:r>
            <a:r>
              <a:rPr sz="1539" spc="-21" dirty="0">
                <a:latin typeface="+mj-lt"/>
                <a:cs typeface="Times New Roman"/>
              </a:rPr>
              <a:t>the </a:t>
            </a:r>
            <a:r>
              <a:rPr sz="1539" dirty="0">
                <a:latin typeface="+mj-lt"/>
                <a:cs typeface="Times New Roman"/>
              </a:rPr>
              <a:t>agent’s</a:t>
            </a:r>
            <a:r>
              <a:rPr sz="1539" spc="-43" dirty="0">
                <a:latin typeface="+mj-lt"/>
                <a:cs typeface="Times New Roman"/>
              </a:rPr>
              <a:t> </a:t>
            </a:r>
            <a:r>
              <a:rPr sz="1539" dirty="0">
                <a:latin typeface="+mj-lt"/>
                <a:cs typeface="Times New Roman"/>
              </a:rPr>
              <a:t>normal</a:t>
            </a:r>
            <a:r>
              <a:rPr sz="1539" spc="-38" dirty="0">
                <a:latin typeface="+mj-lt"/>
                <a:cs typeface="Times New Roman"/>
              </a:rPr>
              <a:t> </a:t>
            </a:r>
            <a:r>
              <a:rPr sz="1539" dirty="0">
                <a:latin typeface="+mj-lt"/>
                <a:cs typeface="Times New Roman"/>
              </a:rPr>
              <a:t>mode</a:t>
            </a:r>
            <a:r>
              <a:rPr sz="1539" spc="-43" dirty="0">
                <a:latin typeface="+mj-lt"/>
                <a:cs typeface="Times New Roman"/>
              </a:rPr>
              <a:t> </a:t>
            </a:r>
            <a:r>
              <a:rPr sz="1539" dirty="0">
                <a:latin typeface="+mj-lt"/>
                <a:cs typeface="Times New Roman"/>
              </a:rPr>
              <a:t>of</a:t>
            </a:r>
            <a:r>
              <a:rPr sz="1539" spc="-38" dirty="0">
                <a:latin typeface="+mj-lt"/>
                <a:cs typeface="Times New Roman"/>
              </a:rPr>
              <a:t> </a:t>
            </a:r>
            <a:r>
              <a:rPr sz="1539" dirty="0">
                <a:latin typeface="+mj-lt"/>
                <a:cs typeface="Times New Roman"/>
              </a:rPr>
              <a:t>operation,</a:t>
            </a:r>
            <a:r>
              <a:rPr sz="1539" spc="-43" dirty="0">
                <a:latin typeface="+mj-lt"/>
                <a:cs typeface="Times New Roman"/>
              </a:rPr>
              <a:t> </a:t>
            </a:r>
            <a:r>
              <a:rPr sz="1539" dirty="0">
                <a:latin typeface="+mj-lt"/>
                <a:cs typeface="Times New Roman"/>
              </a:rPr>
              <a:t>may</a:t>
            </a:r>
            <a:r>
              <a:rPr sz="1539" spc="-38" dirty="0">
                <a:latin typeface="+mj-lt"/>
                <a:cs typeface="Times New Roman"/>
              </a:rPr>
              <a:t> </a:t>
            </a:r>
            <a:r>
              <a:rPr sz="1539" dirty="0">
                <a:latin typeface="+mj-lt"/>
                <a:cs typeface="Times New Roman"/>
              </a:rPr>
              <a:t>provide</a:t>
            </a:r>
            <a:r>
              <a:rPr sz="1539" spc="-38" dirty="0">
                <a:latin typeface="+mj-lt"/>
                <a:cs typeface="Times New Roman"/>
              </a:rPr>
              <a:t> </a:t>
            </a:r>
            <a:r>
              <a:rPr sz="1539" dirty="0">
                <a:latin typeface="+mj-lt"/>
                <a:cs typeface="Times New Roman"/>
              </a:rPr>
              <a:t>sufficient</a:t>
            </a:r>
            <a:r>
              <a:rPr sz="1539" spc="-43" dirty="0">
                <a:latin typeface="+mj-lt"/>
                <a:cs typeface="Times New Roman"/>
              </a:rPr>
              <a:t> </a:t>
            </a:r>
            <a:r>
              <a:rPr sz="1539" dirty="0">
                <a:latin typeface="+mj-lt"/>
                <a:cs typeface="Times New Roman"/>
              </a:rPr>
              <a:t>feedback</a:t>
            </a:r>
            <a:r>
              <a:rPr sz="1539" spc="-38" dirty="0">
                <a:latin typeface="+mj-lt"/>
                <a:cs typeface="Times New Roman"/>
              </a:rPr>
              <a:t> </a:t>
            </a:r>
            <a:r>
              <a:rPr sz="1539" dirty="0">
                <a:latin typeface="+mj-lt"/>
                <a:cs typeface="Times New Roman"/>
              </a:rPr>
              <a:t>for</a:t>
            </a:r>
            <a:r>
              <a:rPr sz="1539" spc="-43" dirty="0">
                <a:latin typeface="+mj-lt"/>
                <a:cs typeface="Times New Roman"/>
              </a:rPr>
              <a:t> </a:t>
            </a:r>
            <a:r>
              <a:rPr sz="1539" spc="-9" dirty="0">
                <a:latin typeface="+mj-lt"/>
                <a:cs typeface="Times New Roman"/>
              </a:rPr>
              <a:t>learning.</a:t>
            </a:r>
            <a:endParaRPr sz="1539" dirty="0">
              <a:latin typeface="+mj-lt"/>
              <a:cs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214" y="429995"/>
            <a:ext cx="6010659" cy="626519"/>
          </a:xfrm>
          <a:prstGeom prst="rect">
            <a:avLst/>
          </a:prstGeom>
        </p:spPr>
        <p:txBody>
          <a:bodyPr vert="horz" wrap="square" lIns="0" tIns="10860" rIns="0" bIns="0" rtlCol="0">
            <a:spAutoFit/>
          </a:bodyPr>
          <a:lstStyle/>
          <a:p>
            <a:pPr marL="933397">
              <a:spcBef>
                <a:spcPts val="86"/>
              </a:spcBef>
            </a:pPr>
            <a:r>
              <a:rPr sz="4000" dirty="0"/>
              <a:t>The</a:t>
            </a:r>
            <a:r>
              <a:rPr sz="4000" spc="-30" dirty="0"/>
              <a:t> </a:t>
            </a:r>
            <a:r>
              <a:rPr sz="4000" dirty="0"/>
              <a:t>Agent</a:t>
            </a:r>
            <a:r>
              <a:rPr sz="4000" spc="-26" dirty="0"/>
              <a:t> </a:t>
            </a:r>
            <a:r>
              <a:rPr sz="4000" spc="-9" dirty="0"/>
              <a:t>Environments</a:t>
            </a:r>
          </a:p>
        </p:txBody>
      </p:sp>
      <p:sp>
        <p:nvSpPr>
          <p:cNvPr id="3" name="object 3"/>
          <p:cNvSpPr txBox="1">
            <a:spLocks noGrp="1"/>
          </p:cNvSpPr>
          <p:nvPr>
            <p:ph type="body" idx="1"/>
          </p:nvPr>
        </p:nvSpPr>
        <p:spPr>
          <a:xfrm>
            <a:off x="276926" y="1147249"/>
            <a:ext cx="8590147" cy="4563501"/>
          </a:xfrm>
          <a:prstGeom prst="rect">
            <a:avLst/>
          </a:prstGeom>
        </p:spPr>
        <p:txBody>
          <a:bodyPr vert="horz" wrap="square" lIns="0" tIns="11946" rIns="0" bIns="0" rtlCol="0">
            <a:spAutoFit/>
          </a:bodyPr>
          <a:lstStyle/>
          <a:p>
            <a:pPr marL="10860" marR="4344" algn="just">
              <a:lnSpc>
                <a:spcPct val="120600"/>
              </a:lnSpc>
              <a:spcBef>
                <a:spcPts val="94"/>
              </a:spcBef>
            </a:pPr>
            <a:r>
              <a:rPr sz="1600" dirty="0">
                <a:latin typeface="+mj-lt"/>
              </a:rPr>
              <a:t>We</a:t>
            </a:r>
            <a:r>
              <a:rPr sz="1600" spc="150" dirty="0">
                <a:latin typeface="+mj-lt"/>
              </a:rPr>
              <a:t> </a:t>
            </a:r>
            <a:r>
              <a:rPr sz="1600" dirty="0">
                <a:latin typeface="+mj-lt"/>
              </a:rPr>
              <a:t>have</a:t>
            </a:r>
            <a:r>
              <a:rPr sz="1600" spc="150" dirty="0">
                <a:latin typeface="+mj-lt"/>
              </a:rPr>
              <a:t> </a:t>
            </a:r>
            <a:r>
              <a:rPr sz="1600" dirty="0">
                <a:latin typeface="+mj-lt"/>
              </a:rPr>
              <a:t>talked</a:t>
            </a:r>
            <a:r>
              <a:rPr sz="1600" spc="150" dirty="0">
                <a:latin typeface="+mj-lt"/>
              </a:rPr>
              <a:t> </a:t>
            </a:r>
            <a:r>
              <a:rPr sz="1600" dirty="0">
                <a:latin typeface="+mj-lt"/>
              </a:rPr>
              <a:t>a</a:t>
            </a:r>
            <a:r>
              <a:rPr sz="1600" spc="154" dirty="0">
                <a:latin typeface="+mj-lt"/>
              </a:rPr>
              <a:t> </a:t>
            </a:r>
            <a:r>
              <a:rPr sz="1600" dirty="0">
                <a:latin typeface="+mj-lt"/>
              </a:rPr>
              <a:t>lot</a:t>
            </a:r>
            <a:r>
              <a:rPr sz="1600" spc="150" dirty="0">
                <a:latin typeface="+mj-lt"/>
              </a:rPr>
              <a:t> </a:t>
            </a:r>
            <a:r>
              <a:rPr sz="1600" dirty="0">
                <a:latin typeface="+mj-lt"/>
              </a:rPr>
              <a:t>about</a:t>
            </a:r>
            <a:r>
              <a:rPr sz="1600" spc="150" dirty="0">
                <a:latin typeface="+mj-lt"/>
              </a:rPr>
              <a:t> </a:t>
            </a:r>
            <a:r>
              <a:rPr sz="1600" dirty="0">
                <a:latin typeface="+mj-lt"/>
              </a:rPr>
              <a:t>intelligent</a:t>
            </a:r>
            <a:r>
              <a:rPr sz="1600" spc="150" dirty="0">
                <a:latin typeface="+mj-lt"/>
              </a:rPr>
              <a:t> </a:t>
            </a:r>
            <a:r>
              <a:rPr sz="1600" dirty="0">
                <a:latin typeface="+mj-lt"/>
              </a:rPr>
              <a:t>agents,</a:t>
            </a:r>
            <a:r>
              <a:rPr sz="1600" spc="154" dirty="0">
                <a:latin typeface="+mj-lt"/>
              </a:rPr>
              <a:t> </a:t>
            </a:r>
            <a:r>
              <a:rPr sz="1600" dirty="0">
                <a:latin typeface="+mj-lt"/>
              </a:rPr>
              <a:t>but</a:t>
            </a:r>
            <a:r>
              <a:rPr sz="1600" spc="150" dirty="0">
                <a:latin typeface="+mj-lt"/>
              </a:rPr>
              <a:t> </a:t>
            </a:r>
            <a:r>
              <a:rPr sz="1600" dirty="0">
                <a:latin typeface="+mj-lt"/>
              </a:rPr>
              <a:t>little</a:t>
            </a:r>
            <a:r>
              <a:rPr sz="1600" spc="150" dirty="0">
                <a:latin typeface="+mj-lt"/>
              </a:rPr>
              <a:t> </a:t>
            </a:r>
            <a:r>
              <a:rPr sz="1600" dirty="0">
                <a:latin typeface="+mj-lt"/>
              </a:rPr>
              <a:t>about</a:t>
            </a:r>
            <a:r>
              <a:rPr sz="1600" spc="150" dirty="0">
                <a:latin typeface="+mj-lt"/>
              </a:rPr>
              <a:t> </a:t>
            </a:r>
            <a:r>
              <a:rPr sz="1600" dirty="0">
                <a:latin typeface="+mj-lt"/>
              </a:rPr>
              <a:t>the</a:t>
            </a:r>
            <a:r>
              <a:rPr sz="1600" spc="154" dirty="0">
                <a:latin typeface="+mj-lt"/>
              </a:rPr>
              <a:t> </a:t>
            </a:r>
            <a:r>
              <a:rPr sz="1600" dirty="0">
                <a:latin typeface="+mj-lt"/>
              </a:rPr>
              <a:t>environments</a:t>
            </a:r>
            <a:r>
              <a:rPr sz="1600" spc="150" dirty="0">
                <a:latin typeface="+mj-lt"/>
              </a:rPr>
              <a:t> </a:t>
            </a:r>
            <a:r>
              <a:rPr sz="1600" spc="-17" dirty="0">
                <a:latin typeface="+mj-lt"/>
              </a:rPr>
              <a:t>with </a:t>
            </a:r>
            <a:r>
              <a:rPr sz="1600" dirty="0">
                <a:latin typeface="+mj-lt"/>
              </a:rPr>
              <a:t>which</a:t>
            </a:r>
            <a:r>
              <a:rPr sz="1600" spc="-21" dirty="0">
                <a:latin typeface="+mj-lt"/>
              </a:rPr>
              <a:t> </a:t>
            </a:r>
            <a:r>
              <a:rPr sz="1600" dirty="0">
                <a:latin typeface="+mj-lt"/>
              </a:rPr>
              <a:t>they</a:t>
            </a:r>
            <a:r>
              <a:rPr sz="1600" spc="-17" dirty="0">
                <a:latin typeface="+mj-lt"/>
              </a:rPr>
              <a:t> </a:t>
            </a:r>
            <a:r>
              <a:rPr sz="1600" dirty="0">
                <a:latin typeface="+mj-lt"/>
              </a:rPr>
              <a:t>interact.</a:t>
            </a:r>
            <a:r>
              <a:rPr sz="1600" spc="350" dirty="0">
                <a:latin typeface="+mj-lt"/>
              </a:rPr>
              <a:t> </a:t>
            </a:r>
            <a:r>
              <a:rPr sz="1600" dirty="0">
                <a:latin typeface="+mj-lt"/>
              </a:rPr>
              <a:t>There</a:t>
            </a:r>
            <a:r>
              <a:rPr sz="1600" spc="-17" dirty="0">
                <a:latin typeface="+mj-lt"/>
              </a:rPr>
              <a:t> </a:t>
            </a:r>
            <a:r>
              <a:rPr sz="1600" dirty="0">
                <a:latin typeface="+mj-lt"/>
              </a:rPr>
              <a:t>are</a:t>
            </a:r>
            <a:r>
              <a:rPr sz="1600" spc="-17" dirty="0">
                <a:latin typeface="+mj-lt"/>
              </a:rPr>
              <a:t> </a:t>
            </a:r>
            <a:r>
              <a:rPr sz="1600" dirty="0">
                <a:latin typeface="+mj-lt"/>
              </a:rPr>
              <a:t>five</a:t>
            </a:r>
            <a:r>
              <a:rPr sz="1600" spc="-17" dirty="0">
                <a:latin typeface="+mj-lt"/>
              </a:rPr>
              <a:t> </a:t>
            </a:r>
            <a:r>
              <a:rPr sz="1600" dirty="0">
                <a:latin typeface="+mj-lt"/>
              </a:rPr>
              <a:t>particularly</a:t>
            </a:r>
            <a:r>
              <a:rPr sz="1600" spc="-17" dirty="0">
                <a:latin typeface="+mj-lt"/>
              </a:rPr>
              <a:t> </a:t>
            </a:r>
            <a:r>
              <a:rPr sz="1600" dirty="0">
                <a:latin typeface="+mj-lt"/>
              </a:rPr>
              <a:t>useful</a:t>
            </a:r>
            <a:r>
              <a:rPr sz="1600" spc="-21" dirty="0">
                <a:latin typeface="+mj-lt"/>
              </a:rPr>
              <a:t> </a:t>
            </a:r>
            <a:r>
              <a:rPr sz="1600" dirty="0">
                <a:latin typeface="+mj-lt"/>
              </a:rPr>
              <a:t>dimensions</a:t>
            </a:r>
            <a:r>
              <a:rPr sz="1600" spc="-17" dirty="0">
                <a:latin typeface="+mj-lt"/>
              </a:rPr>
              <a:t> </a:t>
            </a:r>
            <a:r>
              <a:rPr sz="1600" dirty="0">
                <a:latin typeface="+mj-lt"/>
              </a:rPr>
              <a:t>along</a:t>
            </a:r>
            <a:r>
              <a:rPr sz="1600" spc="-17" dirty="0">
                <a:latin typeface="+mj-lt"/>
              </a:rPr>
              <a:t> </a:t>
            </a:r>
            <a:r>
              <a:rPr sz="1600" dirty="0">
                <a:latin typeface="+mj-lt"/>
              </a:rPr>
              <a:t>which</a:t>
            </a:r>
            <a:r>
              <a:rPr sz="1600" spc="-17" dirty="0">
                <a:latin typeface="+mj-lt"/>
              </a:rPr>
              <a:t> </a:t>
            </a:r>
            <a:r>
              <a:rPr sz="1600" dirty="0">
                <a:latin typeface="+mj-lt"/>
              </a:rPr>
              <a:t>one</a:t>
            </a:r>
            <a:r>
              <a:rPr sz="1600" spc="-17" dirty="0">
                <a:latin typeface="+mj-lt"/>
              </a:rPr>
              <a:t> </a:t>
            </a:r>
            <a:r>
              <a:rPr sz="1600" spc="-21" dirty="0">
                <a:latin typeface="+mj-lt"/>
              </a:rPr>
              <a:t>can </a:t>
            </a:r>
            <a:r>
              <a:rPr sz="1600" dirty="0">
                <a:latin typeface="+mj-lt"/>
              </a:rPr>
              <a:t>categorize</a:t>
            </a:r>
            <a:r>
              <a:rPr sz="1600" spc="-38" dirty="0">
                <a:latin typeface="+mj-lt"/>
              </a:rPr>
              <a:t> </a:t>
            </a:r>
            <a:r>
              <a:rPr sz="1600" dirty="0">
                <a:latin typeface="+mj-lt"/>
              </a:rPr>
              <a:t>the</a:t>
            </a:r>
            <a:r>
              <a:rPr sz="1600" spc="-34" dirty="0">
                <a:latin typeface="+mj-lt"/>
              </a:rPr>
              <a:t> </a:t>
            </a:r>
            <a:r>
              <a:rPr sz="1600" dirty="0">
                <a:latin typeface="+mj-lt"/>
              </a:rPr>
              <a:t>properties</a:t>
            </a:r>
            <a:r>
              <a:rPr sz="1600" spc="-38" dirty="0">
                <a:latin typeface="+mj-lt"/>
              </a:rPr>
              <a:t> </a:t>
            </a:r>
            <a:r>
              <a:rPr sz="1600" dirty="0">
                <a:latin typeface="+mj-lt"/>
              </a:rPr>
              <a:t>of</a:t>
            </a:r>
            <a:r>
              <a:rPr sz="1600" spc="-34" dirty="0">
                <a:latin typeface="+mj-lt"/>
              </a:rPr>
              <a:t> </a:t>
            </a:r>
            <a:r>
              <a:rPr sz="1600" dirty="0">
                <a:latin typeface="+mj-lt"/>
              </a:rPr>
              <a:t>an</a:t>
            </a:r>
            <a:r>
              <a:rPr sz="1600" spc="-34" dirty="0">
                <a:latin typeface="+mj-lt"/>
              </a:rPr>
              <a:t> </a:t>
            </a:r>
            <a:r>
              <a:rPr sz="1600" dirty="0">
                <a:latin typeface="+mj-lt"/>
              </a:rPr>
              <a:t>agent’s</a:t>
            </a:r>
            <a:r>
              <a:rPr sz="1600" spc="-38" dirty="0">
                <a:latin typeface="+mj-lt"/>
              </a:rPr>
              <a:t> </a:t>
            </a:r>
            <a:r>
              <a:rPr sz="1600" spc="-9" dirty="0">
                <a:latin typeface="+mj-lt"/>
              </a:rPr>
              <a:t>environment:</a:t>
            </a:r>
          </a:p>
          <a:p>
            <a:pPr>
              <a:spcBef>
                <a:spcPts val="299"/>
              </a:spcBef>
            </a:pPr>
            <a:endParaRPr spc="-9" dirty="0">
              <a:latin typeface="+mj-lt"/>
            </a:endParaRPr>
          </a:p>
          <a:p>
            <a:pPr marL="242716" marR="156381" indent="-232399" algn="just">
              <a:lnSpc>
                <a:spcPct val="115599"/>
              </a:lnSpc>
              <a:spcBef>
                <a:spcPts val="4"/>
              </a:spcBef>
            </a:pPr>
            <a:r>
              <a:rPr sz="1600" b="1" dirty="0">
                <a:solidFill>
                  <a:srgbClr val="0000FF"/>
                </a:solidFill>
                <a:latin typeface="+mj-lt"/>
                <a:cs typeface="Times New Roman"/>
              </a:rPr>
              <a:t>Accessible</a:t>
            </a:r>
            <a:r>
              <a:rPr sz="1600" b="1" spc="-9" dirty="0">
                <a:solidFill>
                  <a:srgbClr val="0000FF"/>
                </a:solidFill>
                <a:latin typeface="+mj-lt"/>
                <a:cs typeface="Times New Roman"/>
              </a:rPr>
              <a:t> </a:t>
            </a:r>
            <a:r>
              <a:rPr sz="1600" b="1" dirty="0">
                <a:solidFill>
                  <a:srgbClr val="0000FF"/>
                </a:solidFill>
                <a:latin typeface="+mj-lt"/>
                <a:cs typeface="Times New Roman"/>
              </a:rPr>
              <a:t>vs.</a:t>
            </a:r>
            <a:r>
              <a:rPr sz="1600" b="1" spc="-4" dirty="0">
                <a:solidFill>
                  <a:srgbClr val="0000FF"/>
                </a:solidFill>
                <a:latin typeface="+mj-lt"/>
                <a:cs typeface="Times New Roman"/>
              </a:rPr>
              <a:t> </a:t>
            </a:r>
            <a:r>
              <a:rPr sz="1600" b="1" dirty="0">
                <a:solidFill>
                  <a:srgbClr val="0000FF"/>
                </a:solidFill>
                <a:latin typeface="+mj-lt"/>
                <a:cs typeface="Times New Roman"/>
              </a:rPr>
              <a:t>Inaccessible</a:t>
            </a:r>
            <a:r>
              <a:rPr sz="1600" b="1" spc="-9" dirty="0">
                <a:solidFill>
                  <a:srgbClr val="0000FF"/>
                </a:solidFill>
                <a:latin typeface="+mj-lt"/>
                <a:cs typeface="Times New Roman"/>
              </a:rPr>
              <a:t> </a:t>
            </a:r>
            <a:r>
              <a:rPr sz="1600" dirty="0">
                <a:latin typeface="+mj-lt"/>
              </a:rPr>
              <a:t>– An</a:t>
            </a:r>
            <a:r>
              <a:rPr sz="1600" spc="-4" dirty="0">
                <a:latin typeface="+mj-lt"/>
              </a:rPr>
              <a:t> </a:t>
            </a:r>
            <a:r>
              <a:rPr sz="1600" dirty="0">
                <a:latin typeface="+mj-lt"/>
              </a:rPr>
              <a:t>environment is </a:t>
            </a:r>
            <a:r>
              <a:rPr sz="1600" b="1" i="1" dirty="0">
                <a:latin typeface="+mj-lt"/>
                <a:cs typeface="Times New Roman"/>
              </a:rPr>
              <a:t>accessible </a:t>
            </a:r>
            <a:r>
              <a:rPr sz="1600" dirty="0">
                <a:latin typeface="+mj-lt"/>
              </a:rPr>
              <a:t>to an</a:t>
            </a:r>
            <a:r>
              <a:rPr sz="1600" spc="-4" dirty="0">
                <a:latin typeface="+mj-lt"/>
              </a:rPr>
              <a:t> </a:t>
            </a:r>
            <a:r>
              <a:rPr sz="1600" dirty="0">
                <a:latin typeface="+mj-lt"/>
              </a:rPr>
              <a:t>agent if</a:t>
            </a:r>
            <a:r>
              <a:rPr sz="1600" spc="-4" dirty="0">
                <a:latin typeface="+mj-lt"/>
              </a:rPr>
              <a:t> </a:t>
            </a:r>
            <a:r>
              <a:rPr sz="1600" dirty="0">
                <a:latin typeface="+mj-lt"/>
              </a:rPr>
              <a:t>the </a:t>
            </a:r>
            <a:r>
              <a:rPr sz="1600" spc="-9" dirty="0">
                <a:latin typeface="+mj-lt"/>
              </a:rPr>
              <a:t>agent’s </a:t>
            </a:r>
            <a:r>
              <a:rPr sz="1600" dirty="0">
                <a:latin typeface="+mj-lt"/>
              </a:rPr>
              <a:t>sensory</a:t>
            </a:r>
            <a:r>
              <a:rPr sz="1600" spc="115" dirty="0">
                <a:latin typeface="+mj-lt"/>
              </a:rPr>
              <a:t> </a:t>
            </a:r>
            <a:r>
              <a:rPr sz="1600" dirty="0">
                <a:latin typeface="+mj-lt"/>
              </a:rPr>
              <a:t>apparatus</a:t>
            </a:r>
            <a:r>
              <a:rPr sz="1600" spc="120" dirty="0">
                <a:latin typeface="+mj-lt"/>
              </a:rPr>
              <a:t> </a:t>
            </a:r>
            <a:r>
              <a:rPr sz="1600" dirty="0">
                <a:latin typeface="+mj-lt"/>
              </a:rPr>
              <a:t>gives</a:t>
            </a:r>
            <a:r>
              <a:rPr sz="1600" spc="120" dirty="0">
                <a:latin typeface="+mj-lt"/>
              </a:rPr>
              <a:t> </a:t>
            </a:r>
            <a:r>
              <a:rPr sz="1600" dirty="0">
                <a:latin typeface="+mj-lt"/>
              </a:rPr>
              <a:t>it</a:t>
            </a:r>
            <a:r>
              <a:rPr sz="1600" spc="120" dirty="0">
                <a:latin typeface="+mj-lt"/>
              </a:rPr>
              <a:t> </a:t>
            </a:r>
            <a:r>
              <a:rPr sz="1600" dirty="0">
                <a:latin typeface="+mj-lt"/>
              </a:rPr>
              <a:t>access</a:t>
            </a:r>
            <a:r>
              <a:rPr sz="1600" spc="120" dirty="0">
                <a:latin typeface="+mj-lt"/>
              </a:rPr>
              <a:t> </a:t>
            </a:r>
            <a:r>
              <a:rPr sz="1600" dirty="0">
                <a:latin typeface="+mj-lt"/>
              </a:rPr>
              <a:t>to</a:t>
            </a:r>
            <a:r>
              <a:rPr sz="1600" spc="120" dirty="0">
                <a:latin typeface="+mj-lt"/>
              </a:rPr>
              <a:t> </a:t>
            </a:r>
            <a:r>
              <a:rPr sz="1600" dirty="0">
                <a:latin typeface="+mj-lt"/>
              </a:rPr>
              <a:t>the</a:t>
            </a:r>
            <a:r>
              <a:rPr sz="1600" spc="120" dirty="0">
                <a:latin typeface="+mj-lt"/>
              </a:rPr>
              <a:t> </a:t>
            </a:r>
            <a:r>
              <a:rPr sz="1600" dirty="0">
                <a:latin typeface="+mj-lt"/>
              </a:rPr>
              <a:t>complete</a:t>
            </a:r>
            <a:r>
              <a:rPr sz="1600" spc="120" dirty="0">
                <a:latin typeface="+mj-lt"/>
              </a:rPr>
              <a:t> </a:t>
            </a:r>
            <a:r>
              <a:rPr sz="1600" dirty="0">
                <a:latin typeface="+mj-lt"/>
              </a:rPr>
              <a:t>state</a:t>
            </a:r>
            <a:r>
              <a:rPr sz="1600" spc="120" dirty="0">
                <a:latin typeface="+mj-lt"/>
              </a:rPr>
              <a:t> </a:t>
            </a:r>
            <a:r>
              <a:rPr sz="1600" dirty="0">
                <a:latin typeface="+mj-lt"/>
              </a:rPr>
              <a:t>of</a:t>
            </a:r>
            <a:r>
              <a:rPr sz="1600" spc="120" dirty="0">
                <a:latin typeface="+mj-lt"/>
              </a:rPr>
              <a:t> </a:t>
            </a:r>
            <a:r>
              <a:rPr sz="1600" dirty="0">
                <a:latin typeface="+mj-lt"/>
              </a:rPr>
              <a:t>the</a:t>
            </a:r>
            <a:r>
              <a:rPr sz="1600" spc="115" dirty="0">
                <a:latin typeface="+mj-lt"/>
              </a:rPr>
              <a:t> </a:t>
            </a:r>
            <a:r>
              <a:rPr sz="1600" dirty="0">
                <a:latin typeface="+mj-lt"/>
              </a:rPr>
              <a:t>environment.</a:t>
            </a:r>
            <a:r>
              <a:rPr sz="1600" spc="115" dirty="0">
                <a:latin typeface="+mj-lt"/>
              </a:rPr>
              <a:t>  </a:t>
            </a:r>
            <a:r>
              <a:rPr sz="1600" spc="-21" dirty="0">
                <a:latin typeface="+mj-lt"/>
              </a:rPr>
              <a:t>The </a:t>
            </a:r>
            <a:r>
              <a:rPr sz="1600" dirty="0">
                <a:latin typeface="+mj-lt"/>
              </a:rPr>
              <a:t>agent</a:t>
            </a:r>
            <a:r>
              <a:rPr sz="1600" spc="-26" dirty="0">
                <a:latin typeface="+mj-lt"/>
              </a:rPr>
              <a:t> </a:t>
            </a:r>
            <a:r>
              <a:rPr sz="1600" dirty="0">
                <a:latin typeface="+mj-lt"/>
              </a:rPr>
              <a:t>will</a:t>
            </a:r>
            <a:r>
              <a:rPr sz="1600" spc="-21" dirty="0">
                <a:latin typeface="+mj-lt"/>
              </a:rPr>
              <a:t> </a:t>
            </a:r>
            <a:r>
              <a:rPr sz="1600" dirty="0">
                <a:latin typeface="+mj-lt"/>
              </a:rPr>
              <a:t>not</a:t>
            </a:r>
            <a:r>
              <a:rPr sz="1600" spc="-21" dirty="0">
                <a:latin typeface="+mj-lt"/>
              </a:rPr>
              <a:t> </a:t>
            </a:r>
            <a:r>
              <a:rPr sz="1600" dirty="0">
                <a:latin typeface="+mj-lt"/>
              </a:rPr>
              <a:t>then</a:t>
            </a:r>
            <a:r>
              <a:rPr sz="1600" spc="-21" dirty="0">
                <a:latin typeface="+mj-lt"/>
              </a:rPr>
              <a:t> </a:t>
            </a:r>
            <a:r>
              <a:rPr sz="1600" dirty="0">
                <a:latin typeface="+mj-lt"/>
              </a:rPr>
              <a:t>need</a:t>
            </a:r>
            <a:r>
              <a:rPr sz="1600" spc="-21" dirty="0">
                <a:latin typeface="+mj-lt"/>
              </a:rPr>
              <a:t> </a:t>
            </a:r>
            <a:r>
              <a:rPr sz="1600" dirty="0">
                <a:latin typeface="+mj-lt"/>
              </a:rPr>
              <a:t>to</a:t>
            </a:r>
            <a:r>
              <a:rPr sz="1600" spc="-21" dirty="0">
                <a:latin typeface="+mj-lt"/>
              </a:rPr>
              <a:t> </a:t>
            </a:r>
            <a:r>
              <a:rPr sz="1600" dirty="0">
                <a:latin typeface="+mj-lt"/>
              </a:rPr>
              <a:t>maintain</a:t>
            </a:r>
            <a:r>
              <a:rPr sz="1600" spc="-21" dirty="0">
                <a:latin typeface="+mj-lt"/>
              </a:rPr>
              <a:t> </a:t>
            </a:r>
            <a:r>
              <a:rPr sz="1600" dirty="0">
                <a:latin typeface="+mj-lt"/>
              </a:rPr>
              <a:t>an</a:t>
            </a:r>
            <a:r>
              <a:rPr sz="1600" spc="-21" dirty="0">
                <a:latin typeface="+mj-lt"/>
              </a:rPr>
              <a:t> </a:t>
            </a:r>
            <a:r>
              <a:rPr sz="1600" dirty="0">
                <a:latin typeface="+mj-lt"/>
              </a:rPr>
              <a:t>internal</a:t>
            </a:r>
            <a:r>
              <a:rPr sz="1600" spc="-21" dirty="0">
                <a:latin typeface="+mj-lt"/>
              </a:rPr>
              <a:t> </a:t>
            </a:r>
            <a:r>
              <a:rPr sz="1600" dirty="0">
                <a:latin typeface="+mj-lt"/>
              </a:rPr>
              <a:t>state</a:t>
            </a:r>
            <a:r>
              <a:rPr sz="1600" spc="-21" dirty="0">
                <a:latin typeface="+mj-lt"/>
              </a:rPr>
              <a:t> </a:t>
            </a:r>
            <a:r>
              <a:rPr sz="1600" dirty="0">
                <a:latin typeface="+mj-lt"/>
              </a:rPr>
              <a:t>to</a:t>
            </a:r>
            <a:r>
              <a:rPr sz="1600" spc="-21" dirty="0">
                <a:latin typeface="+mj-lt"/>
              </a:rPr>
              <a:t> </a:t>
            </a:r>
            <a:r>
              <a:rPr sz="1600" dirty="0">
                <a:latin typeface="+mj-lt"/>
              </a:rPr>
              <a:t>keep</a:t>
            </a:r>
            <a:r>
              <a:rPr sz="1600" spc="-21" dirty="0">
                <a:latin typeface="+mj-lt"/>
              </a:rPr>
              <a:t> </a:t>
            </a:r>
            <a:r>
              <a:rPr sz="1600" dirty="0">
                <a:latin typeface="+mj-lt"/>
              </a:rPr>
              <a:t>track</a:t>
            </a:r>
            <a:r>
              <a:rPr sz="1600" spc="-21" dirty="0">
                <a:latin typeface="+mj-lt"/>
              </a:rPr>
              <a:t> </a:t>
            </a:r>
            <a:r>
              <a:rPr sz="1600" dirty="0">
                <a:latin typeface="+mj-lt"/>
              </a:rPr>
              <a:t>of</a:t>
            </a:r>
            <a:r>
              <a:rPr sz="1600" spc="-21" dirty="0">
                <a:latin typeface="+mj-lt"/>
              </a:rPr>
              <a:t> </a:t>
            </a:r>
            <a:r>
              <a:rPr sz="1600" dirty="0">
                <a:latin typeface="+mj-lt"/>
              </a:rPr>
              <a:t>the</a:t>
            </a:r>
            <a:r>
              <a:rPr sz="1600" spc="-21" dirty="0">
                <a:latin typeface="+mj-lt"/>
              </a:rPr>
              <a:t> </a:t>
            </a:r>
            <a:r>
              <a:rPr sz="1600" spc="-9" dirty="0">
                <a:latin typeface="+mj-lt"/>
              </a:rPr>
              <a:t>world.</a:t>
            </a:r>
          </a:p>
          <a:p>
            <a:pPr>
              <a:spcBef>
                <a:spcPts val="299"/>
              </a:spcBef>
            </a:pPr>
            <a:endParaRPr sz="1600" spc="-9" dirty="0">
              <a:latin typeface="+mj-lt"/>
            </a:endParaRPr>
          </a:p>
          <a:p>
            <a:pPr marL="242716" marR="154752" indent="-232399" algn="just">
              <a:lnSpc>
                <a:spcPct val="115599"/>
              </a:lnSpc>
            </a:pPr>
            <a:r>
              <a:rPr sz="1600" b="1" dirty="0">
                <a:solidFill>
                  <a:srgbClr val="0000FF"/>
                </a:solidFill>
                <a:latin typeface="+mj-lt"/>
                <a:cs typeface="Times New Roman"/>
              </a:rPr>
              <a:t>Deterministic</a:t>
            </a:r>
            <a:r>
              <a:rPr sz="1600" b="1" spc="107" dirty="0">
                <a:solidFill>
                  <a:srgbClr val="0000FF"/>
                </a:solidFill>
                <a:latin typeface="+mj-lt"/>
                <a:cs typeface="Times New Roman"/>
              </a:rPr>
              <a:t> </a:t>
            </a:r>
            <a:r>
              <a:rPr sz="1600" b="1" dirty="0">
                <a:solidFill>
                  <a:srgbClr val="0000FF"/>
                </a:solidFill>
                <a:latin typeface="+mj-lt"/>
                <a:cs typeface="Times New Roman"/>
              </a:rPr>
              <a:t>vs.</a:t>
            </a:r>
            <a:r>
              <a:rPr sz="1600" b="1" spc="107" dirty="0">
                <a:solidFill>
                  <a:srgbClr val="0000FF"/>
                </a:solidFill>
                <a:latin typeface="+mj-lt"/>
                <a:cs typeface="Times New Roman"/>
              </a:rPr>
              <a:t> </a:t>
            </a:r>
            <a:r>
              <a:rPr sz="1600" b="1" dirty="0">
                <a:solidFill>
                  <a:srgbClr val="0000FF"/>
                </a:solidFill>
                <a:latin typeface="+mj-lt"/>
                <a:cs typeface="Times New Roman"/>
              </a:rPr>
              <a:t>Non-deterministic</a:t>
            </a:r>
            <a:r>
              <a:rPr sz="1600" b="1" spc="56" dirty="0">
                <a:solidFill>
                  <a:srgbClr val="0000FF"/>
                </a:solidFill>
                <a:latin typeface="+mj-lt"/>
                <a:cs typeface="Times New Roman"/>
              </a:rPr>
              <a:t> </a:t>
            </a:r>
            <a:r>
              <a:rPr sz="1600" dirty="0">
                <a:latin typeface="+mj-lt"/>
              </a:rPr>
              <a:t>–</a:t>
            </a:r>
            <a:r>
              <a:rPr sz="1600" spc="47" dirty="0">
                <a:latin typeface="+mj-lt"/>
              </a:rPr>
              <a:t> </a:t>
            </a:r>
            <a:r>
              <a:rPr sz="1600" dirty="0">
                <a:latin typeface="+mj-lt"/>
              </a:rPr>
              <a:t>The</a:t>
            </a:r>
            <a:r>
              <a:rPr sz="1600" spc="47" dirty="0">
                <a:latin typeface="+mj-lt"/>
              </a:rPr>
              <a:t> </a:t>
            </a:r>
            <a:r>
              <a:rPr sz="1600" dirty="0">
                <a:latin typeface="+mj-lt"/>
              </a:rPr>
              <a:t>environment</a:t>
            </a:r>
            <a:r>
              <a:rPr sz="1600" spc="47" dirty="0">
                <a:latin typeface="+mj-lt"/>
              </a:rPr>
              <a:t> </a:t>
            </a:r>
            <a:r>
              <a:rPr sz="1600" dirty="0">
                <a:latin typeface="+mj-lt"/>
              </a:rPr>
              <a:t>is</a:t>
            </a:r>
            <a:r>
              <a:rPr sz="1600" spc="34" dirty="0">
                <a:latin typeface="+mj-lt"/>
              </a:rPr>
              <a:t> </a:t>
            </a:r>
            <a:r>
              <a:rPr sz="1600" b="1" i="1" dirty="0">
                <a:latin typeface="+mj-lt"/>
                <a:cs typeface="Times New Roman"/>
              </a:rPr>
              <a:t>deterministic</a:t>
            </a:r>
            <a:r>
              <a:rPr sz="1600" b="1" i="1" spc="94" dirty="0">
                <a:latin typeface="+mj-lt"/>
                <a:cs typeface="Times New Roman"/>
              </a:rPr>
              <a:t> </a:t>
            </a:r>
            <a:r>
              <a:rPr sz="1600" dirty="0">
                <a:latin typeface="+mj-lt"/>
              </a:rPr>
              <a:t>if</a:t>
            </a:r>
            <a:r>
              <a:rPr sz="1600" spc="97" dirty="0">
                <a:latin typeface="+mj-lt"/>
              </a:rPr>
              <a:t> </a:t>
            </a:r>
            <a:r>
              <a:rPr sz="1600" dirty="0">
                <a:latin typeface="+mj-lt"/>
              </a:rPr>
              <a:t>its</a:t>
            </a:r>
            <a:r>
              <a:rPr sz="1600" spc="97" dirty="0">
                <a:latin typeface="+mj-lt"/>
              </a:rPr>
              <a:t> </a:t>
            </a:r>
            <a:r>
              <a:rPr sz="1600" spc="-17" dirty="0">
                <a:latin typeface="+mj-lt"/>
              </a:rPr>
              <a:t>next </a:t>
            </a:r>
            <a:r>
              <a:rPr sz="1600" dirty="0">
                <a:latin typeface="+mj-lt"/>
              </a:rPr>
              <a:t>state</a:t>
            </a:r>
            <a:r>
              <a:rPr sz="1600" spc="9" dirty="0">
                <a:latin typeface="+mj-lt"/>
              </a:rPr>
              <a:t> </a:t>
            </a:r>
            <a:r>
              <a:rPr sz="1600" dirty="0">
                <a:latin typeface="+mj-lt"/>
              </a:rPr>
              <a:t>is</a:t>
            </a:r>
            <a:r>
              <a:rPr sz="1600" spc="9" dirty="0">
                <a:latin typeface="+mj-lt"/>
              </a:rPr>
              <a:t> </a:t>
            </a:r>
            <a:r>
              <a:rPr sz="1600" dirty="0">
                <a:latin typeface="+mj-lt"/>
              </a:rPr>
              <a:t>determined</a:t>
            </a:r>
            <a:r>
              <a:rPr sz="1600" spc="9" dirty="0">
                <a:latin typeface="+mj-lt"/>
              </a:rPr>
              <a:t> </a:t>
            </a:r>
            <a:r>
              <a:rPr sz="1600" dirty="0">
                <a:latin typeface="+mj-lt"/>
              </a:rPr>
              <a:t>completely</a:t>
            </a:r>
            <a:r>
              <a:rPr sz="1600" spc="9" dirty="0">
                <a:latin typeface="+mj-lt"/>
              </a:rPr>
              <a:t> </a:t>
            </a:r>
            <a:r>
              <a:rPr sz="1600" dirty="0">
                <a:latin typeface="+mj-lt"/>
              </a:rPr>
              <a:t>by</a:t>
            </a:r>
            <a:r>
              <a:rPr sz="1600" spc="9" dirty="0">
                <a:latin typeface="+mj-lt"/>
              </a:rPr>
              <a:t> </a:t>
            </a:r>
            <a:r>
              <a:rPr sz="1600" dirty="0">
                <a:latin typeface="+mj-lt"/>
              </a:rPr>
              <a:t>its</a:t>
            </a:r>
            <a:r>
              <a:rPr sz="1600" spc="9" dirty="0">
                <a:latin typeface="+mj-lt"/>
              </a:rPr>
              <a:t> </a:t>
            </a:r>
            <a:r>
              <a:rPr sz="1600" dirty="0">
                <a:latin typeface="+mj-lt"/>
              </a:rPr>
              <a:t>current</a:t>
            </a:r>
            <a:r>
              <a:rPr sz="1600" spc="9" dirty="0">
                <a:latin typeface="+mj-lt"/>
              </a:rPr>
              <a:t> </a:t>
            </a:r>
            <a:r>
              <a:rPr sz="1600" dirty="0">
                <a:latin typeface="+mj-lt"/>
              </a:rPr>
              <a:t>state</a:t>
            </a:r>
            <a:r>
              <a:rPr sz="1600" spc="9" dirty="0">
                <a:latin typeface="+mj-lt"/>
              </a:rPr>
              <a:t> </a:t>
            </a:r>
            <a:r>
              <a:rPr sz="1600" dirty="0">
                <a:latin typeface="+mj-lt"/>
              </a:rPr>
              <a:t>and</a:t>
            </a:r>
            <a:r>
              <a:rPr sz="1600" spc="9" dirty="0">
                <a:latin typeface="+mj-lt"/>
              </a:rPr>
              <a:t> </a:t>
            </a:r>
            <a:r>
              <a:rPr sz="1600" dirty="0">
                <a:latin typeface="+mj-lt"/>
              </a:rPr>
              <a:t>the</a:t>
            </a:r>
            <a:r>
              <a:rPr sz="1600" spc="13" dirty="0">
                <a:latin typeface="+mj-lt"/>
              </a:rPr>
              <a:t> </a:t>
            </a:r>
            <a:r>
              <a:rPr sz="1600" dirty="0">
                <a:latin typeface="+mj-lt"/>
              </a:rPr>
              <a:t>actions</a:t>
            </a:r>
            <a:r>
              <a:rPr sz="1600" spc="9" dirty="0">
                <a:latin typeface="+mj-lt"/>
              </a:rPr>
              <a:t> </a:t>
            </a:r>
            <a:r>
              <a:rPr sz="1600" dirty="0">
                <a:latin typeface="+mj-lt"/>
              </a:rPr>
              <a:t>of</a:t>
            </a:r>
            <a:r>
              <a:rPr sz="1600" spc="9" dirty="0">
                <a:latin typeface="+mj-lt"/>
              </a:rPr>
              <a:t> </a:t>
            </a:r>
            <a:r>
              <a:rPr sz="1600" dirty="0">
                <a:latin typeface="+mj-lt"/>
              </a:rPr>
              <a:t>its</a:t>
            </a:r>
            <a:r>
              <a:rPr sz="1600" spc="9" dirty="0">
                <a:latin typeface="+mj-lt"/>
              </a:rPr>
              <a:t> </a:t>
            </a:r>
            <a:r>
              <a:rPr sz="1600" dirty="0">
                <a:latin typeface="+mj-lt"/>
              </a:rPr>
              <a:t>agents.</a:t>
            </a:r>
            <a:r>
              <a:rPr sz="1600" spc="406" dirty="0">
                <a:latin typeface="+mj-lt"/>
              </a:rPr>
              <a:t> </a:t>
            </a:r>
            <a:r>
              <a:rPr sz="1600" spc="-43" dirty="0">
                <a:latin typeface="+mj-lt"/>
              </a:rPr>
              <a:t>A </a:t>
            </a:r>
            <a:r>
              <a:rPr sz="1600" dirty="0">
                <a:latin typeface="+mj-lt"/>
              </a:rPr>
              <a:t>deterministic</a:t>
            </a:r>
            <a:r>
              <a:rPr sz="1600" spc="145" dirty="0">
                <a:latin typeface="+mj-lt"/>
              </a:rPr>
              <a:t> </a:t>
            </a:r>
            <a:r>
              <a:rPr sz="1600" dirty="0">
                <a:latin typeface="+mj-lt"/>
              </a:rPr>
              <a:t>but</a:t>
            </a:r>
            <a:r>
              <a:rPr sz="1600" spc="150" dirty="0">
                <a:latin typeface="+mj-lt"/>
              </a:rPr>
              <a:t> </a:t>
            </a:r>
            <a:r>
              <a:rPr sz="1600" dirty="0">
                <a:latin typeface="+mj-lt"/>
              </a:rPr>
              <a:t>inaccessible</a:t>
            </a:r>
            <a:r>
              <a:rPr sz="1600" spc="150" dirty="0">
                <a:latin typeface="+mj-lt"/>
              </a:rPr>
              <a:t> </a:t>
            </a:r>
            <a:r>
              <a:rPr sz="1600" dirty="0">
                <a:latin typeface="+mj-lt"/>
              </a:rPr>
              <a:t>environment</a:t>
            </a:r>
            <a:r>
              <a:rPr sz="1600" spc="145" dirty="0">
                <a:latin typeface="+mj-lt"/>
              </a:rPr>
              <a:t> </a:t>
            </a:r>
            <a:r>
              <a:rPr sz="1600" dirty="0">
                <a:latin typeface="+mj-lt"/>
              </a:rPr>
              <a:t>may</a:t>
            </a:r>
            <a:r>
              <a:rPr sz="1600" spc="141" dirty="0">
                <a:latin typeface="+mj-lt"/>
              </a:rPr>
              <a:t> </a:t>
            </a:r>
            <a:r>
              <a:rPr sz="1600" i="1" dirty="0">
                <a:latin typeface="+mj-lt"/>
                <a:cs typeface="Times New Roman"/>
              </a:rPr>
              <a:t>appear</a:t>
            </a:r>
            <a:r>
              <a:rPr sz="1600" i="1" spc="137" dirty="0">
                <a:latin typeface="+mj-lt"/>
                <a:cs typeface="Times New Roman"/>
              </a:rPr>
              <a:t> </a:t>
            </a:r>
            <a:r>
              <a:rPr sz="1600" dirty="0">
                <a:latin typeface="+mj-lt"/>
              </a:rPr>
              <a:t>non-deterministic</a:t>
            </a:r>
            <a:r>
              <a:rPr sz="1600" spc="128" dirty="0">
                <a:latin typeface="+mj-lt"/>
              </a:rPr>
              <a:t> </a:t>
            </a:r>
            <a:r>
              <a:rPr sz="1600" dirty="0">
                <a:latin typeface="+mj-lt"/>
              </a:rPr>
              <a:t>to</a:t>
            </a:r>
            <a:r>
              <a:rPr sz="1600" spc="124" dirty="0">
                <a:latin typeface="+mj-lt"/>
              </a:rPr>
              <a:t> </a:t>
            </a:r>
            <a:r>
              <a:rPr sz="1600" spc="-21" dirty="0">
                <a:latin typeface="+mj-lt"/>
              </a:rPr>
              <a:t>the </a:t>
            </a:r>
            <a:r>
              <a:rPr sz="1600" dirty="0">
                <a:latin typeface="+mj-lt"/>
              </a:rPr>
              <a:t>agent.</a:t>
            </a:r>
            <a:r>
              <a:rPr sz="1600" spc="111" dirty="0">
                <a:latin typeface="+mj-lt"/>
              </a:rPr>
              <a:t>  </a:t>
            </a:r>
            <a:r>
              <a:rPr sz="1600" dirty="0">
                <a:latin typeface="+mj-lt"/>
              </a:rPr>
              <a:t>Most</a:t>
            </a:r>
            <a:r>
              <a:rPr sz="1600" spc="124" dirty="0">
                <a:latin typeface="+mj-lt"/>
              </a:rPr>
              <a:t> </a:t>
            </a:r>
            <a:r>
              <a:rPr sz="1600" dirty="0">
                <a:latin typeface="+mj-lt"/>
              </a:rPr>
              <a:t>real</a:t>
            </a:r>
            <a:r>
              <a:rPr sz="1600" spc="115" dirty="0">
                <a:latin typeface="+mj-lt"/>
              </a:rPr>
              <a:t> </a:t>
            </a:r>
            <a:r>
              <a:rPr sz="1600" dirty="0">
                <a:latin typeface="+mj-lt"/>
              </a:rPr>
              <a:t>environments</a:t>
            </a:r>
            <a:r>
              <a:rPr sz="1600" spc="120" dirty="0">
                <a:latin typeface="+mj-lt"/>
              </a:rPr>
              <a:t> </a:t>
            </a:r>
            <a:r>
              <a:rPr sz="1600" dirty="0">
                <a:latin typeface="+mj-lt"/>
              </a:rPr>
              <a:t>are</a:t>
            </a:r>
            <a:r>
              <a:rPr sz="1600" spc="115" dirty="0">
                <a:latin typeface="+mj-lt"/>
              </a:rPr>
              <a:t> </a:t>
            </a:r>
            <a:r>
              <a:rPr sz="1600" dirty="0">
                <a:latin typeface="+mj-lt"/>
              </a:rPr>
              <a:t>so</a:t>
            </a:r>
            <a:r>
              <a:rPr sz="1600" spc="115" dirty="0">
                <a:latin typeface="+mj-lt"/>
              </a:rPr>
              <a:t> </a:t>
            </a:r>
            <a:r>
              <a:rPr sz="1600" dirty="0">
                <a:latin typeface="+mj-lt"/>
              </a:rPr>
              <a:t>complex</a:t>
            </a:r>
            <a:r>
              <a:rPr sz="1600" spc="120" dirty="0">
                <a:latin typeface="+mj-lt"/>
              </a:rPr>
              <a:t> </a:t>
            </a:r>
            <a:r>
              <a:rPr sz="1600" dirty="0">
                <a:latin typeface="+mj-lt"/>
              </a:rPr>
              <a:t>that,</a:t>
            </a:r>
            <a:r>
              <a:rPr sz="1600" spc="115" dirty="0">
                <a:latin typeface="+mj-lt"/>
              </a:rPr>
              <a:t> </a:t>
            </a:r>
            <a:r>
              <a:rPr sz="1600" dirty="0">
                <a:latin typeface="+mj-lt"/>
              </a:rPr>
              <a:t>in</a:t>
            </a:r>
            <a:r>
              <a:rPr sz="1600" spc="120" dirty="0">
                <a:latin typeface="+mj-lt"/>
              </a:rPr>
              <a:t> </a:t>
            </a:r>
            <a:r>
              <a:rPr sz="1600" dirty="0">
                <a:latin typeface="+mj-lt"/>
              </a:rPr>
              <a:t>practice,</a:t>
            </a:r>
            <a:r>
              <a:rPr sz="1600" spc="115" dirty="0">
                <a:latin typeface="+mj-lt"/>
              </a:rPr>
              <a:t> </a:t>
            </a:r>
            <a:r>
              <a:rPr sz="1600" dirty="0">
                <a:latin typeface="+mj-lt"/>
              </a:rPr>
              <a:t>they</a:t>
            </a:r>
            <a:r>
              <a:rPr sz="1600" spc="120" dirty="0">
                <a:latin typeface="+mj-lt"/>
              </a:rPr>
              <a:t> </a:t>
            </a:r>
            <a:r>
              <a:rPr sz="1600" dirty="0">
                <a:latin typeface="+mj-lt"/>
              </a:rPr>
              <a:t>have</a:t>
            </a:r>
            <a:r>
              <a:rPr sz="1600" spc="115" dirty="0">
                <a:latin typeface="+mj-lt"/>
              </a:rPr>
              <a:t> </a:t>
            </a:r>
            <a:r>
              <a:rPr sz="1600" dirty="0">
                <a:latin typeface="+mj-lt"/>
              </a:rPr>
              <a:t>to</a:t>
            </a:r>
            <a:r>
              <a:rPr sz="1600" spc="115" dirty="0">
                <a:latin typeface="+mj-lt"/>
              </a:rPr>
              <a:t> </a:t>
            </a:r>
            <a:r>
              <a:rPr sz="1600" spc="-21" dirty="0">
                <a:latin typeface="+mj-lt"/>
              </a:rPr>
              <a:t>be </a:t>
            </a:r>
            <a:r>
              <a:rPr sz="1600" dirty="0">
                <a:latin typeface="+mj-lt"/>
              </a:rPr>
              <a:t>treated</a:t>
            </a:r>
            <a:r>
              <a:rPr sz="1600" spc="-26" dirty="0">
                <a:latin typeface="+mj-lt"/>
              </a:rPr>
              <a:t> </a:t>
            </a:r>
            <a:r>
              <a:rPr sz="1600" dirty="0">
                <a:latin typeface="+mj-lt"/>
              </a:rPr>
              <a:t>as</a:t>
            </a:r>
            <a:r>
              <a:rPr sz="1600" spc="-26" dirty="0">
                <a:latin typeface="+mj-lt"/>
              </a:rPr>
              <a:t> </a:t>
            </a:r>
            <a:r>
              <a:rPr sz="1600" spc="-9" dirty="0">
                <a:latin typeface="+mj-lt"/>
              </a:rPr>
              <a:t>non-deterministic.</a:t>
            </a:r>
          </a:p>
          <a:p>
            <a:pPr>
              <a:spcBef>
                <a:spcPts val="261"/>
              </a:spcBef>
            </a:pPr>
            <a:endParaRPr sz="1600" spc="-9" dirty="0">
              <a:latin typeface="+mj-lt"/>
            </a:endParaRPr>
          </a:p>
          <a:p>
            <a:pPr marL="242716" marR="155838" indent="-232399" algn="just">
              <a:lnSpc>
                <a:spcPct val="116700"/>
              </a:lnSpc>
            </a:pPr>
            <a:r>
              <a:rPr sz="1600" b="1" dirty="0">
                <a:solidFill>
                  <a:srgbClr val="0000FF"/>
                </a:solidFill>
                <a:latin typeface="+mj-lt"/>
                <a:cs typeface="Times New Roman"/>
              </a:rPr>
              <a:t>Discrete</a:t>
            </a:r>
            <a:r>
              <a:rPr sz="1600" b="1" spc="312" dirty="0">
                <a:solidFill>
                  <a:srgbClr val="0000FF"/>
                </a:solidFill>
                <a:latin typeface="+mj-lt"/>
                <a:cs typeface="Times New Roman"/>
              </a:rPr>
              <a:t> </a:t>
            </a:r>
            <a:r>
              <a:rPr sz="1600" b="1" dirty="0">
                <a:solidFill>
                  <a:srgbClr val="0000FF"/>
                </a:solidFill>
                <a:latin typeface="+mj-lt"/>
                <a:cs typeface="Times New Roman"/>
              </a:rPr>
              <a:t>vs.</a:t>
            </a:r>
            <a:r>
              <a:rPr sz="1600" b="1" spc="316" dirty="0">
                <a:solidFill>
                  <a:srgbClr val="0000FF"/>
                </a:solidFill>
                <a:latin typeface="+mj-lt"/>
                <a:cs typeface="Times New Roman"/>
              </a:rPr>
              <a:t> </a:t>
            </a:r>
            <a:r>
              <a:rPr sz="1600" b="1" dirty="0">
                <a:solidFill>
                  <a:srgbClr val="0000FF"/>
                </a:solidFill>
                <a:latin typeface="+mj-lt"/>
                <a:cs typeface="Times New Roman"/>
              </a:rPr>
              <a:t>Continuous</a:t>
            </a:r>
            <a:r>
              <a:rPr sz="1600" b="1" spc="115" dirty="0">
                <a:solidFill>
                  <a:srgbClr val="0000FF"/>
                </a:solidFill>
                <a:latin typeface="+mj-lt"/>
                <a:cs typeface="Times New Roman"/>
              </a:rPr>
              <a:t> </a:t>
            </a:r>
            <a:r>
              <a:rPr sz="1600" dirty="0">
                <a:latin typeface="+mj-lt"/>
              </a:rPr>
              <a:t>–</a:t>
            </a:r>
            <a:r>
              <a:rPr sz="1600" spc="103" dirty="0">
                <a:latin typeface="+mj-lt"/>
              </a:rPr>
              <a:t> </a:t>
            </a:r>
            <a:r>
              <a:rPr sz="1600" dirty="0">
                <a:latin typeface="+mj-lt"/>
              </a:rPr>
              <a:t>A</a:t>
            </a:r>
            <a:r>
              <a:rPr sz="1600" spc="90" dirty="0">
                <a:latin typeface="+mj-lt"/>
              </a:rPr>
              <a:t> </a:t>
            </a:r>
            <a:r>
              <a:rPr sz="1600" b="1" i="1" dirty="0">
                <a:latin typeface="+mj-lt"/>
                <a:cs typeface="Times New Roman"/>
              </a:rPr>
              <a:t>discrete</a:t>
            </a:r>
            <a:r>
              <a:rPr sz="1600" b="1" i="1" spc="192" dirty="0">
                <a:latin typeface="+mj-lt"/>
                <a:cs typeface="Times New Roman"/>
              </a:rPr>
              <a:t> </a:t>
            </a:r>
            <a:r>
              <a:rPr sz="1600" dirty="0">
                <a:latin typeface="+mj-lt"/>
              </a:rPr>
              <a:t>environment</a:t>
            </a:r>
            <a:r>
              <a:rPr sz="1600" spc="174" dirty="0">
                <a:latin typeface="+mj-lt"/>
              </a:rPr>
              <a:t> </a:t>
            </a:r>
            <a:r>
              <a:rPr sz="1600" dirty="0">
                <a:latin typeface="+mj-lt"/>
              </a:rPr>
              <a:t>has</a:t>
            </a:r>
            <a:r>
              <a:rPr sz="1600" spc="174" dirty="0">
                <a:latin typeface="+mj-lt"/>
              </a:rPr>
              <a:t> </a:t>
            </a:r>
            <a:r>
              <a:rPr sz="1600" dirty="0">
                <a:latin typeface="+mj-lt"/>
              </a:rPr>
              <a:t>a</a:t>
            </a:r>
            <a:r>
              <a:rPr sz="1600" spc="180" dirty="0">
                <a:latin typeface="+mj-lt"/>
              </a:rPr>
              <a:t> </a:t>
            </a:r>
            <a:r>
              <a:rPr sz="1600" dirty="0">
                <a:latin typeface="+mj-lt"/>
              </a:rPr>
              <a:t>limited/finite</a:t>
            </a:r>
            <a:r>
              <a:rPr sz="1600" spc="174" dirty="0">
                <a:latin typeface="+mj-lt"/>
              </a:rPr>
              <a:t> </a:t>
            </a:r>
            <a:r>
              <a:rPr sz="1600" dirty="0">
                <a:latin typeface="+mj-lt"/>
              </a:rPr>
              <a:t>number</a:t>
            </a:r>
            <a:r>
              <a:rPr sz="1600" spc="174" dirty="0">
                <a:latin typeface="+mj-lt"/>
              </a:rPr>
              <a:t> </a:t>
            </a:r>
            <a:r>
              <a:rPr sz="1600" spc="-21" dirty="0">
                <a:latin typeface="+mj-lt"/>
              </a:rPr>
              <a:t>of </a:t>
            </a:r>
            <a:r>
              <a:rPr sz="1600" dirty="0">
                <a:latin typeface="+mj-lt"/>
              </a:rPr>
              <a:t>distinct,</a:t>
            </a:r>
            <a:r>
              <a:rPr sz="1600" spc="-47" dirty="0">
                <a:latin typeface="+mj-lt"/>
              </a:rPr>
              <a:t> </a:t>
            </a:r>
            <a:r>
              <a:rPr sz="1600" dirty="0">
                <a:latin typeface="+mj-lt"/>
              </a:rPr>
              <a:t>clearly</a:t>
            </a:r>
            <a:r>
              <a:rPr sz="1600" spc="-43" dirty="0">
                <a:latin typeface="+mj-lt"/>
              </a:rPr>
              <a:t> </a:t>
            </a:r>
            <a:r>
              <a:rPr sz="1600" dirty="0">
                <a:latin typeface="+mj-lt"/>
              </a:rPr>
              <a:t>defined</a:t>
            </a:r>
            <a:r>
              <a:rPr sz="1600" spc="-43" dirty="0">
                <a:latin typeface="+mj-lt"/>
              </a:rPr>
              <a:t> </a:t>
            </a:r>
            <a:r>
              <a:rPr sz="1600" dirty="0">
                <a:latin typeface="+mj-lt"/>
              </a:rPr>
              <a:t>percepts</a:t>
            </a:r>
            <a:r>
              <a:rPr sz="1600" spc="-43" dirty="0">
                <a:latin typeface="+mj-lt"/>
              </a:rPr>
              <a:t> </a:t>
            </a:r>
            <a:r>
              <a:rPr sz="1600" dirty="0">
                <a:latin typeface="+mj-lt"/>
              </a:rPr>
              <a:t>and</a:t>
            </a:r>
            <a:r>
              <a:rPr sz="1600" spc="-43" dirty="0">
                <a:latin typeface="+mj-lt"/>
              </a:rPr>
              <a:t> </a:t>
            </a:r>
            <a:r>
              <a:rPr sz="1600" spc="-9" dirty="0">
                <a:latin typeface="+mj-lt"/>
              </a:rPr>
              <a:t>actions.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0" y="838200"/>
            <a:ext cx="6876462" cy="5470595"/>
          </a:xfrm>
          <a:prstGeom prst="rect">
            <a:avLst/>
          </a:prstGeom>
        </p:spPr>
        <p:txBody>
          <a:bodyPr vert="horz" wrap="square" lIns="0" tIns="9774" rIns="0" bIns="0" rtlCol="0">
            <a:spAutoFit/>
          </a:bodyPr>
          <a:lstStyle/>
          <a:p>
            <a:pPr marL="242716" marR="160182" indent="-232399" algn="just">
              <a:lnSpc>
                <a:spcPct val="115900"/>
              </a:lnSpc>
              <a:spcBef>
                <a:spcPts val="77"/>
              </a:spcBef>
            </a:pPr>
            <a:r>
              <a:rPr sz="1539" b="1" dirty="0">
                <a:solidFill>
                  <a:srgbClr val="0000FF"/>
                </a:solidFill>
                <a:latin typeface="+mj-lt"/>
                <a:cs typeface="Times New Roman"/>
              </a:rPr>
              <a:t>Episodic</a:t>
            </a:r>
            <a:r>
              <a:rPr sz="1539" b="1" spc="47" dirty="0">
                <a:solidFill>
                  <a:srgbClr val="0000FF"/>
                </a:solidFill>
                <a:latin typeface="+mj-lt"/>
                <a:cs typeface="Times New Roman"/>
              </a:rPr>
              <a:t> </a:t>
            </a:r>
            <a:r>
              <a:rPr sz="1539" b="1" dirty="0">
                <a:solidFill>
                  <a:srgbClr val="0000FF"/>
                </a:solidFill>
                <a:latin typeface="+mj-lt"/>
                <a:cs typeface="Times New Roman"/>
              </a:rPr>
              <a:t>vs.</a:t>
            </a:r>
            <a:r>
              <a:rPr sz="1539" b="1" spc="47" dirty="0">
                <a:solidFill>
                  <a:srgbClr val="0000FF"/>
                </a:solidFill>
                <a:latin typeface="+mj-lt"/>
                <a:cs typeface="Times New Roman"/>
              </a:rPr>
              <a:t> </a:t>
            </a:r>
            <a:r>
              <a:rPr sz="1539" b="1" dirty="0">
                <a:solidFill>
                  <a:srgbClr val="0000FF"/>
                </a:solidFill>
                <a:latin typeface="+mj-lt"/>
                <a:cs typeface="Times New Roman"/>
              </a:rPr>
              <a:t>Non-episodic</a:t>
            </a:r>
            <a:r>
              <a:rPr sz="1539" b="1" spc="47" dirty="0">
                <a:solidFill>
                  <a:srgbClr val="0000FF"/>
                </a:solidFill>
                <a:latin typeface="+mj-lt"/>
                <a:cs typeface="Times New Roman"/>
              </a:rPr>
              <a:t> </a:t>
            </a:r>
            <a:r>
              <a:rPr sz="1539" dirty="0">
                <a:latin typeface="+mj-lt"/>
                <a:cs typeface="Times New Roman"/>
              </a:rPr>
              <a:t>–</a:t>
            </a:r>
            <a:r>
              <a:rPr sz="1539" spc="43" dirty="0">
                <a:latin typeface="+mj-lt"/>
                <a:cs typeface="Times New Roman"/>
              </a:rPr>
              <a:t> </a:t>
            </a:r>
            <a:r>
              <a:rPr sz="1539" dirty="0">
                <a:latin typeface="+mj-lt"/>
                <a:cs typeface="Times New Roman"/>
              </a:rPr>
              <a:t>In</a:t>
            </a:r>
            <a:r>
              <a:rPr sz="1539" spc="43" dirty="0">
                <a:latin typeface="+mj-lt"/>
                <a:cs typeface="Times New Roman"/>
              </a:rPr>
              <a:t> </a:t>
            </a:r>
            <a:r>
              <a:rPr sz="1539" dirty="0">
                <a:latin typeface="+mj-lt"/>
                <a:cs typeface="Times New Roman"/>
              </a:rPr>
              <a:t>an</a:t>
            </a:r>
            <a:r>
              <a:rPr sz="1539" spc="47" dirty="0">
                <a:latin typeface="+mj-lt"/>
                <a:cs typeface="Times New Roman"/>
              </a:rPr>
              <a:t> </a:t>
            </a:r>
            <a:r>
              <a:rPr sz="1539" b="1" i="1" dirty="0">
                <a:latin typeface="+mj-lt"/>
                <a:cs typeface="Times New Roman"/>
              </a:rPr>
              <a:t>episodic</a:t>
            </a:r>
            <a:r>
              <a:rPr sz="1539" b="1" i="1" spc="51" dirty="0">
                <a:latin typeface="+mj-lt"/>
                <a:cs typeface="Times New Roman"/>
              </a:rPr>
              <a:t> </a:t>
            </a:r>
            <a:r>
              <a:rPr sz="1539" dirty="0">
                <a:latin typeface="+mj-lt"/>
                <a:cs typeface="Times New Roman"/>
              </a:rPr>
              <a:t>environment</a:t>
            </a:r>
            <a:r>
              <a:rPr sz="1539" spc="60" dirty="0">
                <a:latin typeface="+mj-lt"/>
                <a:cs typeface="Times New Roman"/>
              </a:rPr>
              <a:t> </a:t>
            </a:r>
            <a:r>
              <a:rPr sz="1539" dirty="0">
                <a:latin typeface="+mj-lt"/>
                <a:cs typeface="Times New Roman"/>
              </a:rPr>
              <a:t>the</a:t>
            </a:r>
            <a:r>
              <a:rPr sz="1539" spc="60" dirty="0">
                <a:latin typeface="+mj-lt"/>
                <a:cs typeface="Times New Roman"/>
              </a:rPr>
              <a:t> </a:t>
            </a:r>
            <a:r>
              <a:rPr sz="1539" dirty="0">
                <a:latin typeface="+mj-lt"/>
                <a:cs typeface="Times New Roman"/>
              </a:rPr>
              <a:t>agent’s</a:t>
            </a:r>
            <a:r>
              <a:rPr sz="1539" spc="60" dirty="0">
                <a:latin typeface="+mj-lt"/>
                <a:cs typeface="Times New Roman"/>
              </a:rPr>
              <a:t> </a:t>
            </a:r>
            <a:r>
              <a:rPr sz="1539" dirty="0">
                <a:latin typeface="+mj-lt"/>
                <a:cs typeface="Times New Roman"/>
              </a:rPr>
              <a:t>experience</a:t>
            </a:r>
            <a:r>
              <a:rPr sz="1539" spc="64" dirty="0">
                <a:latin typeface="+mj-lt"/>
                <a:cs typeface="Times New Roman"/>
              </a:rPr>
              <a:t> </a:t>
            </a:r>
            <a:r>
              <a:rPr sz="1539" spc="-21" dirty="0">
                <a:latin typeface="+mj-lt"/>
                <a:cs typeface="Times New Roman"/>
              </a:rPr>
              <a:t>can </a:t>
            </a:r>
            <a:r>
              <a:rPr sz="1539" dirty="0">
                <a:latin typeface="+mj-lt"/>
                <a:cs typeface="Times New Roman"/>
              </a:rPr>
              <a:t>be</a:t>
            </a:r>
            <a:r>
              <a:rPr sz="1539" spc="60" dirty="0">
                <a:latin typeface="+mj-lt"/>
                <a:cs typeface="Times New Roman"/>
              </a:rPr>
              <a:t> </a:t>
            </a:r>
            <a:r>
              <a:rPr sz="1539" dirty="0">
                <a:latin typeface="+mj-lt"/>
                <a:cs typeface="Times New Roman"/>
              </a:rPr>
              <a:t>divided</a:t>
            </a:r>
            <a:r>
              <a:rPr sz="1539" spc="64" dirty="0">
                <a:latin typeface="+mj-lt"/>
                <a:cs typeface="Times New Roman"/>
              </a:rPr>
              <a:t> </a:t>
            </a:r>
            <a:r>
              <a:rPr sz="1539" dirty="0">
                <a:latin typeface="+mj-lt"/>
                <a:cs typeface="Times New Roman"/>
              </a:rPr>
              <a:t>into</a:t>
            </a:r>
            <a:r>
              <a:rPr sz="1539" spc="64" dirty="0">
                <a:latin typeface="+mj-lt"/>
                <a:cs typeface="Times New Roman"/>
              </a:rPr>
              <a:t> </a:t>
            </a:r>
            <a:r>
              <a:rPr sz="1539" dirty="0">
                <a:latin typeface="+mj-lt"/>
                <a:cs typeface="Times New Roman"/>
              </a:rPr>
              <a:t>“episodes”</a:t>
            </a:r>
            <a:r>
              <a:rPr sz="1539" spc="64" dirty="0">
                <a:latin typeface="+mj-lt"/>
                <a:cs typeface="Times New Roman"/>
              </a:rPr>
              <a:t> </a:t>
            </a:r>
            <a:r>
              <a:rPr sz="1539" dirty="0">
                <a:latin typeface="+mj-lt"/>
                <a:cs typeface="Times New Roman"/>
              </a:rPr>
              <a:t>consisting</a:t>
            </a:r>
            <a:r>
              <a:rPr sz="1539" spc="64" dirty="0">
                <a:latin typeface="+mj-lt"/>
                <a:cs typeface="Times New Roman"/>
              </a:rPr>
              <a:t> </a:t>
            </a:r>
            <a:r>
              <a:rPr sz="1539" dirty="0">
                <a:latin typeface="+mj-lt"/>
                <a:cs typeface="Times New Roman"/>
              </a:rPr>
              <a:t>of</a:t>
            </a:r>
            <a:r>
              <a:rPr sz="1539" spc="64" dirty="0">
                <a:latin typeface="+mj-lt"/>
                <a:cs typeface="Times New Roman"/>
              </a:rPr>
              <a:t> </a:t>
            </a:r>
            <a:r>
              <a:rPr sz="1539" dirty="0">
                <a:latin typeface="+mj-lt"/>
                <a:cs typeface="Times New Roman"/>
              </a:rPr>
              <a:t>the</a:t>
            </a:r>
            <a:r>
              <a:rPr sz="1539" spc="64" dirty="0">
                <a:latin typeface="+mj-lt"/>
                <a:cs typeface="Times New Roman"/>
              </a:rPr>
              <a:t> </a:t>
            </a:r>
            <a:r>
              <a:rPr sz="1539" dirty="0">
                <a:latin typeface="+mj-lt"/>
                <a:cs typeface="Times New Roman"/>
              </a:rPr>
              <a:t>agent</a:t>
            </a:r>
            <a:r>
              <a:rPr sz="1539" spc="64" dirty="0">
                <a:latin typeface="+mj-lt"/>
                <a:cs typeface="Times New Roman"/>
              </a:rPr>
              <a:t> </a:t>
            </a:r>
            <a:r>
              <a:rPr sz="1539" dirty="0">
                <a:latin typeface="+mj-lt"/>
                <a:cs typeface="Times New Roman"/>
              </a:rPr>
              <a:t>perceiving</a:t>
            </a:r>
            <a:r>
              <a:rPr sz="1539" spc="64" dirty="0">
                <a:latin typeface="+mj-lt"/>
                <a:cs typeface="Times New Roman"/>
              </a:rPr>
              <a:t> </a:t>
            </a:r>
            <a:r>
              <a:rPr sz="1539" dirty="0">
                <a:latin typeface="+mj-lt"/>
                <a:cs typeface="Times New Roman"/>
              </a:rPr>
              <a:t>and</a:t>
            </a:r>
            <a:r>
              <a:rPr sz="1539" spc="64" dirty="0">
                <a:latin typeface="+mj-lt"/>
                <a:cs typeface="Times New Roman"/>
              </a:rPr>
              <a:t> </a:t>
            </a:r>
            <a:r>
              <a:rPr sz="1539" dirty="0">
                <a:latin typeface="+mj-lt"/>
                <a:cs typeface="Times New Roman"/>
              </a:rPr>
              <a:t>then</a:t>
            </a:r>
            <a:r>
              <a:rPr sz="1539" spc="64" dirty="0">
                <a:latin typeface="+mj-lt"/>
                <a:cs typeface="Times New Roman"/>
              </a:rPr>
              <a:t> </a:t>
            </a:r>
            <a:r>
              <a:rPr sz="1539" spc="-9" dirty="0">
                <a:latin typeface="+mj-lt"/>
                <a:cs typeface="Times New Roman"/>
              </a:rPr>
              <a:t>producing </a:t>
            </a:r>
            <a:r>
              <a:rPr sz="1539" dirty="0">
                <a:latin typeface="+mj-lt"/>
                <a:cs typeface="Times New Roman"/>
              </a:rPr>
              <a:t>actions</a:t>
            </a:r>
            <a:r>
              <a:rPr sz="1539" spc="60" dirty="0">
                <a:latin typeface="+mj-lt"/>
                <a:cs typeface="Times New Roman"/>
              </a:rPr>
              <a:t> </a:t>
            </a:r>
            <a:r>
              <a:rPr sz="1539" dirty="0">
                <a:latin typeface="+mj-lt"/>
                <a:cs typeface="Times New Roman"/>
              </a:rPr>
              <a:t>that</a:t>
            </a:r>
            <a:r>
              <a:rPr sz="1539" spc="64" dirty="0">
                <a:latin typeface="+mj-lt"/>
                <a:cs typeface="Times New Roman"/>
              </a:rPr>
              <a:t> </a:t>
            </a:r>
            <a:r>
              <a:rPr sz="1539" dirty="0">
                <a:latin typeface="+mj-lt"/>
                <a:cs typeface="Times New Roman"/>
              </a:rPr>
              <a:t>depend</a:t>
            </a:r>
            <a:r>
              <a:rPr sz="1539" spc="64" dirty="0">
                <a:latin typeface="+mj-lt"/>
                <a:cs typeface="Times New Roman"/>
              </a:rPr>
              <a:t> </a:t>
            </a:r>
            <a:r>
              <a:rPr sz="1539" dirty="0">
                <a:latin typeface="+mj-lt"/>
                <a:cs typeface="Times New Roman"/>
              </a:rPr>
              <a:t>only</a:t>
            </a:r>
            <a:r>
              <a:rPr sz="1539" spc="64" dirty="0">
                <a:latin typeface="+mj-lt"/>
                <a:cs typeface="Times New Roman"/>
              </a:rPr>
              <a:t> </a:t>
            </a:r>
            <a:r>
              <a:rPr sz="1539" dirty="0">
                <a:latin typeface="+mj-lt"/>
                <a:cs typeface="Times New Roman"/>
              </a:rPr>
              <a:t>on</a:t>
            </a:r>
            <a:r>
              <a:rPr sz="1539" spc="64" dirty="0">
                <a:latin typeface="+mj-lt"/>
                <a:cs typeface="Times New Roman"/>
              </a:rPr>
              <a:t> </a:t>
            </a:r>
            <a:r>
              <a:rPr sz="1539" dirty="0">
                <a:latin typeface="+mj-lt"/>
                <a:cs typeface="Times New Roman"/>
              </a:rPr>
              <a:t>that</a:t>
            </a:r>
            <a:r>
              <a:rPr sz="1539" spc="64" dirty="0">
                <a:latin typeface="+mj-lt"/>
                <a:cs typeface="Times New Roman"/>
              </a:rPr>
              <a:t> </a:t>
            </a:r>
            <a:r>
              <a:rPr sz="1539" dirty="0">
                <a:latin typeface="+mj-lt"/>
                <a:cs typeface="Times New Roman"/>
              </a:rPr>
              <a:t>episode.</a:t>
            </a:r>
            <a:r>
              <a:rPr sz="1539" spc="60" dirty="0">
                <a:latin typeface="+mj-lt"/>
                <a:cs typeface="Times New Roman"/>
              </a:rPr>
              <a:t>  </a:t>
            </a:r>
            <a:r>
              <a:rPr sz="1539" dirty="0">
                <a:latin typeface="+mj-lt"/>
                <a:cs typeface="Times New Roman"/>
              </a:rPr>
              <a:t>Subsequent</a:t>
            </a:r>
            <a:r>
              <a:rPr sz="1539" spc="68" dirty="0">
                <a:latin typeface="+mj-lt"/>
                <a:cs typeface="Times New Roman"/>
              </a:rPr>
              <a:t> </a:t>
            </a:r>
            <a:r>
              <a:rPr sz="1539" dirty="0">
                <a:latin typeface="+mj-lt"/>
                <a:cs typeface="Times New Roman"/>
              </a:rPr>
              <a:t>episodes</a:t>
            </a:r>
            <a:r>
              <a:rPr sz="1539" spc="64" dirty="0">
                <a:latin typeface="+mj-lt"/>
                <a:cs typeface="Times New Roman"/>
              </a:rPr>
              <a:t> </a:t>
            </a:r>
            <a:r>
              <a:rPr sz="1539" dirty="0">
                <a:latin typeface="+mj-lt"/>
                <a:cs typeface="Times New Roman"/>
              </a:rPr>
              <a:t>do</a:t>
            </a:r>
            <a:r>
              <a:rPr sz="1539" spc="64" dirty="0">
                <a:latin typeface="+mj-lt"/>
                <a:cs typeface="Times New Roman"/>
              </a:rPr>
              <a:t> </a:t>
            </a:r>
            <a:r>
              <a:rPr sz="1539" dirty="0">
                <a:latin typeface="+mj-lt"/>
                <a:cs typeface="Times New Roman"/>
              </a:rPr>
              <a:t>not</a:t>
            </a:r>
            <a:r>
              <a:rPr sz="1539" spc="60" dirty="0">
                <a:latin typeface="+mj-lt"/>
                <a:cs typeface="Times New Roman"/>
              </a:rPr>
              <a:t> </a:t>
            </a:r>
            <a:r>
              <a:rPr sz="1539" dirty="0">
                <a:latin typeface="+mj-lt"/>
                <a:cs typeface="Times New Roman"/>
              </a:rPr>
              <a:t>depend</a:t>
            </a:r>
            <a:r>
              <a:rPr sz="1539" spc="64" dirty="0">
                <a:latin typeface="+mj-lt"/>
                <a:cs typeface="Times New Roman"/>
              </a:rPr>
              <a:t> </a:t>
            </a:r>
            <a:r>
              <a:rPr sz="1539" spc="-21" dirty="0">
                <a:latin typeface="+mj-lt"/>
                <a:cs typeface="Times New Roman"/>
              </a:rPr>
              <a:t>on </a:t>
            </a:r>
            <a:r>
              <a:rPr sz="1539" dirty="0">
                <a:latin typeface="+mj-lt"/>
                <a:cs typeface="Times New Roman"/>
              </a:rPr>
              <a:t>previous</a:t>
            </a:r>
            <a:r>
              <a:rPr sz="1539" spc="-21" dirty="0">
                <a:latin typeface="+mj-lt"/>
                <a:cs typeface="Times New Roman"/>
              </a:rPr>
              <a:t> </a:t>
            </a:r>
            <a:r>
              <a:rPr sz="1539" dirty="0">
                <a:latin typeface="+mj-lt"/>
                <a:cs typeface="Times New Roman"/>
              </a:rPr>
              <a:t>episodes,</a:t>
            </a:r>
            <a:r>
              <a:rPr sz="1539" spc="-17" dirty="0">
                <a:latin typeface="+mj-lt"/>
                <a:cs typeface="Times New Roman"/>
              </a:rPr>
              <a:t> </a:t>
            </a:r>
            <a:r>
              <a:rPr sz="1539" dirty="0">
                <a:latin typeface="+mj-lt"/>
                <a:cs typeface="Times New Roman"/>
              </a:rPr>
              <a:t>and</a:t>
            </a:r>
            <a:r>
              <a:rPr sz="1539" spc="-17" dirty="0">
                <a:latin typeface="+mj-lt"/>
                <a:cs typeface="Times New Roman"/>
              </a:rPr>
              <a:t> </a:t>
            </a:r>
            <a:r>
              <a:rPr sz="1539" dirty="0">
                <a:latin typeface="+mj-lt"/>
                <a:cs typeface="Times New Roman"/>
              </a:rPr>
              <a:t>so</a:t>
            </a:r>
            <a:r>
              <a:rPr sz="1539" spc="-21" dirty="0">
                <a:latin typeface="+mj-lt"/>
                <a:cs typeface="Times New Roman"/>
              </a:rPr>
              <a:t> </a:t>
            </a:r>
            <a:r>
              <a:rPr sz="1539" dirty="0">
                <a:latin typeface="+mj-lt"/>
                <a:cs typeface="Times New Roman"/>
              </a:rPr>
              <a:t>the</a:t>
            </a:r>
            <a:r>
              <a:rPr sz="1539" spc="-17" dirty="0">
                <a:latin typeface="+mj-lt"/>
                <a:cs typeface="Times New Roman"/>
              </a:rPr>
              <a:t> </a:t>
            </a:r>
            <a:r>
              <a:rPr sz="1539" dirty="0">
                <a:latin typeface="+mj-lt"/>
                <a:cs typeface="Times New Roman"/>
              </a:rPr>
              <a:t>agent</a:t>
            </a:r>
            <a:r>
              <a:rPr sz="1539" spc="-17" dirty="0">
                <a:latin typeface="+mj-lt"/>
                <a:cs typeface="Times New Roman"/>
              </a:rPr>
              <a:t> </a:t>
            </a:r>
            <a:r>
              <a:rPr sz="1539" dirty="0">
                <a:latin typeface="+mj-lt"/>
                <a:cs typeface="Times New Roman"/>
              </a:rPr>
              <a:t>can</a:t>
            </a:r>
            <a:r>
              <a:rPr sz="1539" spc="-21" dirty="0">
                <a:latin typeface="+mj-lt"/>
                <a:cs typeface="Times New Roman"/>
              </a:rPr>
              <a:t> </a:t>
            </a:r>
            <a:r>
              <a:rPr sz="1539" dirty="0">
                <a:latin typeface="+mj-lt"/>
                <a:cs typeface="Times New Roman"/>
              </a:rPr>
              <a:t>limit</a:t>
            </a:r>
            <a:r>
              <a:rPr sz="1539" spc="-17" dirty="0">
                <a:latin typeface="+mj-lt"/>
                <a:cs typeface="Times New Roman"/>
              </a:rPr>
              <a:t> </a:t>
            </a:r>
            <a:r>
              <a:rPr sz="1539" dirty="0">
                <a:latin typeface="+mj-lt"/>
                <a:cs typeface="Times New Roman"/>
              </a:rPr>
              <a:t>how</a:t>
            </a:r>
            <a:r>
              <a:rPr sz="1539" spc="-17" dirty="0">
                <a:latin typeface="+mj-lt"/>
                <a:cs typeface="Times New Roman"/>
              </a:rPr>
              <a:t> </a:t>
            </a:r>
            <a:r>
              <a:rPr sz="1539" dirty="0">
                <a:latin typeface="+mj-lt"/>
                <a:cs typeface="Times New Roman"/>
              </a:rPr>
              <a:t>far</a:t>
            </a:r>
            <a:r>
              <a:rPr sz="1539" spc="-21" dirty="0">
                <a:latin typeface="+mj-lt"/>
                <a:cs typeface="Times New Roman"/>
              </a:rPr>
              <a:t> </a:t>
            </a:r>
            <a:r>
              <a:rPr sz="1539" dirty="0">
                <a:latin typeface="+mj-lt"/>
                <a:cs typeface="Times New Roman"/>
              </a:rPr>
              <a:t>it</a:t>
            </a:r>
            <a:r>
              <a:rPr sz="1539" spc="-17" dirty="0">
                <a:latin typeface="+mj-lt"/>
                <a:cs typeface="Times New Roman"/>
              </a:rPr>
              <a:t> </a:t>
            </a:r>
            <a:r>
              <a:rPr sz="1539" dirty="0">
                <a:latin typeface="+mj-lt"/>
                <a:cs typeface="Times New Roman"/>
              </a:rPr>
              <a:t>needs</a:t>
            </a:r>
            <a:r>
              <a:rPr sz="1539" spc="-17" dirty="0">
                <a:latin typeface="+mj-lt"/>
                <a:cs typeface="Times New Roman"/>
              </a:rPr>
              <a:t> </a:t>
            </a:r>
            <a:r>
              <a:rPr sz="1539" dirty="0">
                <a:latin typeface="+mj-lt"/>
                <a:cs typeface="Times New Roman"/>
              </a:rPr>
              <a:t>to</a:t>
            </a:r>
            <a:r>
              <a:rPr sz="1539" spc="-17" dirty="0">
                <a:latin typeface="+mj-lt"/>
                <a:cs typeface="Times New Roman"/>
              </a:rPr>
              <a:t> </a:t>
            </a:r>
            <a:r>
              <a:rPr sz="1539" dirty="0">
                <a:latin typeface="+mj-lt"/>
                <a:cs typeface="Times New Roman"/>
              </a:rPr>
              <a:t>think</a:t>
            </a:r>
            <a:r>
              <a:rPr sz="1539" spc="-21" dirty="0">
                <a:latin typeface="+mj-lt"/>
                <a:cs typeface="Times New Roman"/>
              </a:rPr>
              <a:t> </a:t>
            </a:r>
            <a:r>
              <a:rPr sz="1539" spc="-9" dirty="0">
                <a:latin typeface="+mj-lt"/>
                <a:cs typeface="Times New Roman"/>
              </a:rPr>
              <a:t>ahead.</a:t>
            </a:r>
            <a:endParaRPr sz="1539" dirty="0">
              <a:latin typeface="+mj-lt"/>
              <a:cs typeface="Times New Roman"/>
            </a:endParaRPr>
          </a:p>
          <a:p>
            <a:pPr>
              <a:spcBef>
                <a:spcPts val="90"/>
              </a:spcBef>
            </a:pPr>
            <a:endParaRPr sz="1539" dirty="0">
              <a:latin typeface="+mj-lt"/>
              <a:cs typeface="Times New Roman"/>
            </a:endParaRPr>
          </a:p>
          <a:p>
            <a:pPr marL="242716" marR="158010" indent="-232399" algn="just">
              <a:lnSpc>
                <a:spcPct val="116100"/>
              </a:lnSpc>
            </a:pPr>
            <a:r>
              <a:rPr sz="1539" b="1" dirty="0">
                <a:solidFill>
                  <a:srgbClr val="0000FF"/>
                </a:solidFill>
                <a:latin typeface="+mj-lt"/>
                <a:cs typeface="Times New Roman"/>
              </a:rPr>
              <a:t>Static</a:t>
            </a:r>
            <a:r>
              <a:rPr sz="1539" b="1" spc="295" dirty="0">
                <a:solidFill>
                  <a:srgbClr val="0000FF"/>
                </a:solidFill>
                <a:latin typeface="+mj-lt"/>
                <a:cs typeface="Times New Roman"/>
              </a:rPr>
              <a:t> </a:t>
            </a:r>
            <a:r>
              <a:rPr sz="1539" b="1" dirty="0">
                <a:solidFill>
                  <a:srgbClr val="0000FF"/>
                </a:solidFill>
                <a:latin typeface="+mj-lt"/>
                <a:cs typeface="Times New Roman"/>
              </a:rPr>
              <a:t>vs.</a:t>
            </a:r>
            <a:r>
              <a:rPr sz="1539" b="1" spc="295" dirty="0">
                <a:solidFill>
                  <a:srgbClr val="0000FF"/>
                </a:solidFill>
                <a:latin typeface="+mj-lt"/>
                <a:cs typeface="Times New Roman"/>
              </a:rPr>
              <a:t> </a:t>
            </a:r>
            <a:r>
              <a:rPr sz="1539" b="1" dirty="0">
                <a:solidFill>
                  <a:srgbClr val="0000FF"/>
                </a:solidFill>
                <a:latin typeface="+mj-lt"/>
                <a:cs typeface="Times New Roman"/>
              </a:rPr>
              <a:t>Dynamic</a:t>
            </a:r>
            <a:r>
              <a:rPr sz="1539" b="1" spc="158" dirty="0">
                <a:solidFill>
                  <a:srgbClr val="0000FF"/>
                </a:solidFill>
                <a:latin typeface="+mj-lt"/>
                <a:cs typeface="Times New Roman"/>
              </a:rPr>
              <a:t> </a:t>
            </a:r>
            <a:r>
              <a:rPr sz="1539" dirty="0">
                <a:latin typeface="+mj-lt"/>
                <a:cs typeface="Times New Roman"/>
              </a:rPr>
              <a:t>–</a:t>
            </a:r>
            <a:r>
              <a:rPr sz="1539" spc="162" dirty="0">
                <a:latin typeface="+mj-lt"/>
                <a:cs typeface="Times New Roman"/>
              </a:rPr>
              <a:t> </a:t>
            </a:r>
            <a:r>
              <a:rPr sz="1539" dirty="0">
                <a:latin typeface="+mj-lt"/>
                <a:cs typeface="Times New Roman"/>
              </a:rPr>
              <a:t>A</a:t>
            </a:r>
            <a:r>
              <a:rPr sz="1539" spc="158" dirty="0">
                <a:latin typeface="+mj-lt"/>
                <a:cs typeface="Times New Roman"/>
              </a:rPr>
              <a:t> </a:t>
            </a:r>
            <a:r>
              <a:rPr sz="1539" b="1" i="1" spc="51" dirty="0">
                <a:latin typeface="+mj-lt"/>
                <a:cs typeface="Times New Roman"/>
              </a:rPr>
              <a:t>static</a:t>
            </a:r>
            <a:r>
              <a:rPr sz="1539" b="1" i="1" spc="21" dirty="0">
                <a:latin typeface="+mj-lt"/>
                <a:cs typeface="Times New Roman"/>
              </a:rPr>
              <a:t>  </a:t>
            </a:r>
            <a:r>
              <a:rPr sz="1539" dirty="0">
                <a:latin typeface="+mj-lt"/>
                <a:cs typeface="Times New Roman"/>
              </a:rPr>
              <a:t>environment</a:t>
            </a:r>
            <a:r>
              <a:rPr sz="1539" spc="392" dirty="0">
                <a:latin typeface="+mj-lt"/>
                <a:cs typeface="Times New Roman"/>
              </a:rPr>
              <a:t> </a:t>
            </a:r>
            <a:r>
              <a:rPr sz="1539" dirty="0">
                <a:latin typeface="+mj-lt"/>
                <a:cs typeface="Times New Roman"/>
              </a:rPr>
              <a:t>does</a:t>
            </a:r>
            <a:r>
              <a:rPr sz="1539" spc="389" dirty="0">
                <a:latin typeface="+mj-lt"/>
                <a:cs typeface="Times New Roman"/>
              </a:rPr>
              <a:t> </a:t>
            </a:r>
            <a:r>
              <a:rPr sz="1539" dirty="0">
                <a:latin typeface="+mj-lt"/>
                <a:cs typeface="Times New Roman"/>
              </a:rPr>
              <a:t>not</a:t>
            </a:r>
            <a:r>
              <a:rPr sz="1539" spc="389" dirty="0">
                <a:latin typeface="+mj-lt"/>
                <a:cs typeface="Times New Roman"/>
              </a:rPr>
              <a:t> </a:t>
            </a:r>
            <a:r>
              <a:rPr sz="1539" dirty="0">
                <a:latin typeface="+mj-lt"/>
                <a:cs typeface="Times New Roman"/>
              </a:rPr>
              <a:t>change</a:t>
            </a:r>
            <a:r>
              <a:rPr sz="1539" spc="389" dirty="0">
                <a:latin typeface="+mj-lt"/>
                <a:cs typeface="Times New Roman"/>
              </a:rPr>
              <a:t> </a:t>
            </a:r>
            <a:r>
              <a:rPr sz="1539" dirty="0">
                <a:latin typeface="+mj-lt"/>
                <a:cs typeface="Times New Roman"/>
              </a:rPr>
              <a:t>while</a:t>
            </a:r>
            <a:r>
              <a:rPr sz="1539" spc="389" dirty="0">
                <a:latin typeface="+mj-lt"/>
                <a:cs typeface="Times New Roman"/>
              </a:rPr>
              <a:t> </a:t>
            </a:r>
            <a:r>
              <a:rPr sz="1539" dirty="0">
                <a:latin typeface="+mj-lt"/>
                <a:cs typeface="Times New Roman"/>
              </a:rPr>
              <a:t>an</a:t>
            </a:r>
            <a:r>
              <a:rPr sz="1539" spc="389" dirty="0">
                <a:latin typeface="+mj-lt"/>
                <a:cs typeface="Times New Roman"/>
              </a:rPr>
              <a:t> </a:t>
            </a:r>
            <a:r>
              <a:rPr sz="1539" dirty="0">
                <a:latin typeface="+mj-lt"/>
                <a:cs typeface="Times New Roman"/>
              </a:rPr>
              <a:t>agent</a:t>
            </a:r>
            <a:r>
              <a:rPr sz="1539" spc="389" dirty="0">
                <a:latin typeface="+mj-lt"/>
                <a:cs typeface="Times New Roman"/>
              </a:rPr>
              <a:t> </a:t>
            </a:r>
            <a:r>
              <a:rPr sz="1539" spc="-21" dirty="0">
                <a:latin typeface="+mj-lt"/>
                <a:cs typeface="Times New Roman"/>
              </a:rPr>
              <a:t>is </a:t>
            </a:r>
            <a:r>
              <a:rPr sz="1539" dirty="0">
                <a:latin typeface="+mj-lt"/>
                <a:cs typeface="Times New Roman"/>
              </a:rPr>
              <a:t>deliberating.</a:t>
            </a:r>
            <a:r>
              <a:rPr sz="1539" spc="43" dirty="0">
                <a:latin typeface="+mj-lt"/>
                <a:cs typeface="Times New Roman"/>
              </a:rPr>
              <a:t>  </a:t>
            </a:r>
            <a:r>
              <a:rPr sz="1539" dirty="0">
                <a:latin typeface="+mj-lt"/>
                <a:cs typeface="Times New Roman"/>
              </a:rPr>
              <a:t>The</a:t>
            </a:r>
            <a:r>
              <a:rPr sz="1539" spc="56" dirty="0">
                <a:latin typeface="+mj-lt"/>
                <a:cs typeface="Times New Roman"/>
              </a:rPr>
              <a:t> </a:t>
            </a:r>
            <a:r>
              <a:rPr sz="1539" dirty="0">
                <a:latin typeface="+mj-lt"/>
                <a:cs typeface="Times New Roman"/>
              </a:rPr>
              <a:t>agent</a:t>
            </a:r>
            <a:r>
              <a:rPr sz="1539" spc="47" dirty="0">
                <a:latin typeface="+mj-lt"/>
                <a:cs typeface="Times New Roman"/>
              </a:rPr>
              <a:t> </a:t>
            </a:r>
            <a:r>
              <a:rPr sz="1539" dirty="0">
                <a:latin typeface="+mj-lt"/>
                <a:cs typeface="Times New Roman"/>
              </a:rPr>
              <a:t>will</a:t>
            </a:r>
            <a:r>
              <a:rPr sz="1539" spc="51" dirty="0">
                <a:latin typeface="+mj-lt"/>
                <a:cs typeface="Times New Roman"/>
              </a:rPr>
              <a:t> </a:t>
            </a:r>
            <a:r>
              <a:rPr sz="1539" dirty="0">
                <a:latin typeface="+mj-lt"/>
                <a:cs typeface="Times New Roman"/>
              </a:rPr>
              <a:t>then</a:t>
            </a:r>
            <a:r>
              <a:rPr sz="1539" spc="47" dirty="0">
                <a:latin typeface="+mj-lt"/>
                <a:cs typeface="Times New Roman"/>
              </a:rPr>
              <a:t> </a:t>
            </a:r>
            <a:r>
              <a:rPr sz="1539" dirty="0">
                <a:latin typeface="+mj-lt"/>
                <a:cs typeface="Times New Roman"/>
              </a:rPr>
              <a:t>have</a:t>
            </a:r>
            <a:r>
              <a:rPr sz="1539" spc="51" dirty="0">
                <a:latin typeface="+mj-lt"/>
                <a:cs typeface="Times New Roman"/>
              </a:rPr>
              <a:t> </a:t>
            </a:r>
            <a:r>
              <a:rPr sz="1539" dirty="0">
                <a:latin typeface="+mj-lt"/>
                <a:cs typeface="Times New Roman"/>
              </a:rPr>
              <a:t>no</a:t>
            </a:r>
            <a:r>
              <a:rPr sz="1539" spc="47" dirty="0">
                <a:latin typeface="+mj-lt"/>
                <a:cs typeface="Times New Roman"/>
              </a:rPr>
              <a:t> </a:t>
            </a:r>
            <a:r>
              <a:rPr sz="1539" dirty="0">
                <a:latin typeface="+mj-lt"/>
                <a:cs typeface="Times New Roman"/>
              </a:rPr>
              <a:t>need</a:t>
            </a:r>
            <a:r>
              <a:rPr sz="1539" spc="47" dirty="0">
                <a:latin typeface="+mj-lt"/>
                <a:cs typeface="Times New Roman"/>
              </a:rPr>
              <a:t> </a:t>
            </a:r>
            <a:r>
              <a:rPr sz="1539" dirty="0">
                <a:latin typeface="+mj-lt"/>
                <a:cs typeface="Times New Roman"/>
              </a:rPr>
              <a:t>to</a:t>
            </a:r>
            <a:r>
              <a:rPr sz="1539" spc="51" dirty="0">
                <a:latin typeface="+mj-lt"/>
                <a:cs typeface="Times New Roman"/>
              </a:rPr>
              <a:t> </a:t>
            </a:r>
            <a:r>
              <a:rPr sz="1539" dirty="0">
                <a:latin typeface="+mj-lt"/>
                <a:cs typeface="Times New Roman"/>
              </a:rPr>
              <a:t>keep</a:t>
            </a:r>
            <a:r>
              <a:rPr sz="1539" spc="47" dirty="0">
                <a:latin typeface="+mj-lt"/>
                <a:cs typeface="Times New Roman"/>
              </a:rPr>
              <a:t> </a:t>
            </a:r>
            <a:r>
              <a:rPr sz="1539" dirty="0">
                <a:latin typeface="+mj-lt"/>
                <a:cs typeface="Times New Roman"/>
              </a:rPr>
              <a:t>checking</a:t>
            </a:r>
            <a:r>
              <a:rPr sz="1539" spc="51" dirty="0">
                <a:latin typeface="+mj-lt"/>
                <a:cs typeface="Times New Roman"/>
              </a:rPr>
              <a:t> </a:t>
            </a:r>
            <a:r>
              <a:rPr sz="1539" dirty="0">
                <a:latin typeface="+mj-lt"/>
                <a:cs typeface="Times New Roman"/>
              </a:rPr>
              <a:t>the</a:t>
            </a:r>
            <a:r>
              <a:rPr sz="1539" spc="47" dirty="0">
                <a:latin typeface="+mj-lt"/>
                <a:cs typeface="Times New Roman"/>
              </a:rPr>
              <a:t> </a:t>
            </a:r>
            <a:r>
              <a:rPr sz="1539" dirty="0">
                <a:latin typeface="+mj-lt"/>
                <a:cs typeface="Times New Roman"/>
              </a:rPr>
              <a:t>world</a:t>
            </a:r>
            <a:r>
              <a:rPr sz="1539" spc="51" dirty="0">
                <a:latin typeface="+mj-lt"/>
                <a:cs typeface="Times New Roman"/>
              </a:rPr>
              <a:t> </a:t>
            </a:r>
            <a:r>
              <a:rPr sz="1539" spc="-9" dirty="0">
                <a:latin typeface="+mj-lt"/>
                <a:cs typeface="Times New Roman"/>
              </a:rPr>
              <a:t>while </a:t>
            </a:r>
            <a:r>
              <a:rPr sz="1539" dirty="0">
                <a:latin typeface="+mj-lt"/>
                <a:cs typeface="Times New Roman"/>
              </a:rPr>
              <a:t>it</a:t>
            </a:r>
            <a:r>
              <a:rPr sz="1539" spc="-26" dirty="0">
                <a:latin typeface="+mj-lt"/>
                <a:cs typeface="Times New Roman"/>
              </a:rPr>
              <a:t> </a:t>
            </a:r>
            <a:r>
              <a:rPr sz="1539" dirty="0">
                <a:latin typeface="+mj-lt"/>
                <a:cs typeface="Times New Roman"/>
              </a:rPr>
              <a:t>is</a:t>
            </a:r>
            <a:r>
              <a:rPr sz="1539" spc="-21" dirty="0">
                <a:latin typeface="+mj-lt"/>
                <a:cs typeface="Times New Roman"/>
              </a:rPr>
              <a:t> </a:t>
            </a:r>
            <a:r>
              <a:rPr sz="1539" dirty="0">
                <a:latin typeface="+mj-lt"/>
                <a:cs typeface="Times New Roman"/>
              </a:rPr>
              <a:t>deciding</a:t>
            </a:r>
            <a:r>
              <a:rPr sz="1539" spc="-26" dirty="0">
                <a:latin typeface="+mj-lt"/>
                <a:cs typeface="Times New Roman"/>
              </a:rPr>
              <a:t> </a:t>
            </a:r>
            <a:r>
              <a:rPr sz="1539" dirty="0">
                <a:latin typeface="+mj-lt"/>
                <a:cs typeface="Times New Roman"/>
              </a:rPr>
              <a:t>on</a:t>
            </a:r>
            <a:r>
              <a:rPr sz="1539" spc="-21" dirty="0">
                <a:latin typeface="+mj-lt"/>
                <a:cs typeface="Times New Roman"/>
              </a:rPr>
              <a:t> </a:t>
            </a:r>
            <a:r>
              <a:rPr sz="1539" dirty="0">
                <a:latin typeface="+mj-lt"/>
                <a:cs typeface="Times New Roman"/>
              </a:rPr>
              <a:t>an</a:t>
            </a:r>
            <a:r>
              <a:rPr sz="1539" spc="-26" dirty="0">
                <a:latin typeface="+mj-lt"/>
                <a:cs typeface="Times New Roman"/>
              </a:rPr>
              <a:t> </a:t>
            </a:r>
            <a:r>
              <a:rPr sz="1539" dirty="0">
                <a:latin typeface="+mj-lt"/>
                <a:cs typeface="Times New Roman"/>
              </a:rPr>
              <a:t>action,</a:t>
            </a:r>
            <a:r>
              <a:rPr sz="1539" spc="-21" dirty="0">
                <a:latin typeface="+mj-lt"/>
                <a:cs typeface="Times New Roman"/>
              </a:rPr>
              <a:t> </a:t>
            </a:r>
            <a:r>
              <a:rPr sz="1539" dirty="0">
                <a:latin typeface="+mj-lt"/>
                <a:cs typeface="Times New Roman"/>
              </a:rPr>
              <a:t>nor</a:t>
            </a:r>
            <a:r>
              <a:rPr sz="1539" spc="-26" dirty="0">
                <a:latin typeface="+mj-lt"/>
                <a:cs typeface="Times New Roman"/>
              </a:rPr>
              <a:t> </a:t>
            </a:r>
            <a:r>
              <a:rPr sz="1539" dirty="0">
                <a:latin typeface="+mj-lt"/>
                <a:cs typeface="Times New Roman"/>
              </a:rPr>
              <a:t>worry</a:t>
            </a:r>
            <a:r>
              <a:rPr sz="1539" spc="-21" dirty="0">
                <a:latin typeface="+mj-lt"/>
                <a:cs typeface="Times New Roman"/>
              </a:rPr>
              <a:t> </a:t>
            </a:r>
            <a:r>
              <a:rPr sz="1539" dirty="0">
                <a:latin typeface="+mj-lt"/>
                <a:cs typeface="Times New Roman"/>
              </a:rPr>
              <a:t>about</a:t>
            </a:r>
            <a:r>
              <a:rPr sz="1539" spc="-26" dirty="0">
                <a:latin typeface="+mj-lt"/>
                <a:cs typeface="Times New Roman"/>
              </a:rPr>
              <a:t> </a:t>
            </a:r>
            <a:r>
              <a:rPr sz="1539" dirty="0">
                <a:latin typeface="+mj-lt"/>
                <a:cs typeface="Times New Roman"/>
              </a:rPr>
              <a:t>the</a:t>
            </a:r>
            <a:r>
              <a:rPr sz="1539" spc="-21" dirty="0">
                <a:latin typeface="+mj-lt"/>
                <a:cs typeface="Times New Roman"/>
              </a:rPr>
              <a:t> </a:t>
            </a:r>
            <a:r>
              <a:rPr sz="1539" dirty="0">
                <a:latin typeface="+mj-lt"/>
                <a:cs typeface="Times New Roman"/>
              </a:rPr>
              <a:t>passage</a:t>
            </a:r>
            <a:r>
              <a:rPr sz="1539" spc="-26" dirty="0">
                <a:latin typeface="+mj-lt"/>
                <a:cs typeface="Times New Roman"/>
              </a:rPr>
              <a:t> </a:t>
            </a:r>
            <a:r>
              <a:rPr sz="1539" dirty="0">
                <a:latin typeface="+mj-lt"/>
                <a:cs typeface="Times New Roman"/>
              </a:rPr>
              <a:t>of</a:t>
            </a:r>
            <a:r>
              <a:rPr sz="1539" spc="-21" dirty="0">
                <a:latin typeface="+mj-lt"/>
                <a:cs typeface="Times New Roman"/>
              </a:rPr>
              <a:t> </a:t>
            </a:r>
            <a:r>
              <a:rPr sz="1539" spc="-9" dirty="0">
                <a:latin typeface="+mj-lt"/>
                <a:cs typeface="Times New Roman"/>
              </a:rPr>
              <a:t>time.</a:t>
            </a:r>
            <a:endParaRPr sz="1539" dirty="0">
              <a:latin typeface="+mj-lt"/>
              <a:cs typeface="Times New Roman"/>
            </a:endParaRPr>
          </a:p>
          <a:p>
            <a:pPr>
              <a:spcBef>
                <a:spcPts val="94"/>
              </a:spcBef>
            </a:pPr>
            <a:endParaRPr sz="1539" dirty="0">
              <a:latin typeface="+mj-lt"/>
              <a:cs typeface="Times New Roman"/>
            </a:endParaRPr>
          </a:p>
          <a:p>
            <a:pPr marL="10860" marR="5430" algn="just">
              <a:lnSpc>
                <a:spcPct val="120000"/>
              </a:lnSpc>
              <a:spcBef>
                <a:spcPts val="4"/>
              </a:spcBef>
            </a:pPr>
            <a:r>
              <a:rPr sz="1539" dirty="0">
                <a:latin typeface="+mj-lt"/>
                <a:cs typeface="Times New Roman"/>
              </a:rPr>
              <a:t>It</a:t>
            </a:r>
            <a:r>
              <a:rPr sz="1539" spc="107" dirty="0">
                <a:latin typeface="+mj-lt"/>
                <a:cs typeface="Times New Roman"/>
              </a:rPr>
              <a:t> </a:t>
            </a:r>
            <a:r>
              <a:rPr sz="1539" dirty="0">
                <a:latin typeface="+mj-lt"/>
                <a:cs typeface="Times New Roman"/>
              </a:rPr>
              <a:t>is</a:t>
            </a:r>
            <a:r>
              <a:rPr sz="1539" spc="107" dirty="0">
                <a:latin typeface="+mj-lt"/>
                <a:cs typeface="Times New Roman"/>
              </a:rPr>
              <a:t> </a:t>
            </a:r>
            <a:r>
              <a:rPr sz="1539" dirty="0">
                <a:latin typeface="+mj-lt"/>
                <a:cs typeface="Times New Roman"/>
              </a:rPr>
              <a:t>clear</a:t>
            </a:r>
            <a:r>
              <a:rPr sz="1539" spc="111" dirty="0">
                <a:latin typeface="+mj-lt"/>
                <a:cs typeface="Times New Roman"/>
              </a:rPr>
              <a:t> </a:t>
            </a:r>
            <a:r>
              <a:rPr sz="1539" dirty="0">
                <a:latin typeface="+mj-lt"/>
                <a:cs typeface="Times New Roman"/>
              </a:rPr>
              <a:t>that</a:t>
            </a:r>
            <a:r>
              <a:rPr sz="1539" spc="107" dirty="0">
                <a:latin typeface="+mj-lt"/>
                <a:cs typeface="Times New Roman"/>
              </a:rPr>
              <a:t> </a:t>
            </a:r>
            <a:r>
              <a:rPr sz="1539" dirty="0">
                <a:latin typeface="+mj-lt"/>
                <a:cs typeface="Times New Roman"/>
              </a:rPr>
              <a:t>different</a:t>
            </a:r>
            <a:r>
              <a:rPr sz="1539" spc="111" dirty="0">
                <a:latin typeface="+mj-lt"/>
                <a:cs typeface="Times New Roman"/>
              </a:rPr>
              <a:t> </a:t>
            </a:r>
            <a:r>
              <a:rPr sz="1539" dirty="0">
                <a:latin typeface="+mj-lt"/>
                <a:cs typeface="Times New Roman"/>
              </a:rPr>
              <a:t>types</a:t>
            </a:r>
            <a:r>
              <a:rPr sz="1539" spc="107" dirty="0">
                <a:latin typeface="+mj-lt"/>
                <a:cs typeface="Times New Roman"/>
              </a:rPr>
              <a:t> </a:t>
            </a:r>
            <a:r>
              <a:rPr sz="1539" dirty="0">
                <a:latin typeface="+mj-lt"/>
                <a:cs typeface="Times New Roman"/>
              </a:rPr>
              <a:t>of</a:t>
            </a:r>
            <a:r>
              <a:rPr sz="1539" spc="107" dirty="0">
                <a:latin typeface="+mj-lt"/>
                <a:cs typeface="Times New Roman"/>
              </a:rPr>
              <a:t> </a:t>
            </a:r>
            <a:r>
              <a:rPr sz="1539" dirty="0">
                <a:latin typeface="+mj-lt"/>
                <a:cs typeface="Times New Roman"/>
              </a:rPr>
              <a:t>environment</a:t>
            </a:r>
            <a:r>
              <a:rPr sz="1539" spc="111" dirty="0">
                <a:latin typeface="+mj-lt"/>
                <a:cs typeface="Times New Roman"/>
              </a:rPr>
              <a:t> </a:t>
            </a:r>
            <a:r>
              <a:rPr sz="1539" dirty="0">
                <a:latin typeface="+mj-lt"/>
                <a:cs typeface="Times New Roman"/>
              </a:rPr>
              <a:t>will</a:t>
            </a:r>
            <a:r>
              <a:rPr sz="1539" spc="107" dirty="0">
                <a:latin typeface="+mj-lt"/>
                <a:cs typeface="Times New Roman"/>
              </a:rPr>
              <a:t> </a:t>
            </a:r>
            <a:r>
              <a:rPr sz="1539" dirty="0">
                <a:latin typeface="+mj-lt"/>
                <a:cs typeface="Times New Roman"/>
              </a:rPr>
              <a:t>require</a:t>
            </a:r>
            <a:r>
              <a:rPr sz="1539" spc="111" dirty="0">
                <a:latin typeface="+mj-lt"/>
                <a:cs typeface="Times New Roman"/>
              </a:rPr>
              <a:t> </a:t>
            </a:r>
            <a:r>
              <a:rPr sz="1539" dirty="0">
                <a:latin typeface="+mj-lt"/>
                <a:cs typeface="Times New Roman"/>
              </a:rPr>
              <a:t>different</a:t>
            </a:r>
            <a:r>
              <a:rPr sz="1539" spc="107" dirty="0">
                <a:latin typeface="+mj-lt"/>
                <a:cs typeface="Times New Roman"/>
              </a:rPr>
              <a:t> </a:t>
            </a:r>
            <a:r>
              <a:rPr sz="1539" dirty="0">
                <a:latin typeface="+mj-lt"/>
                <a:cs typeface="Times New Roman"/>
              </a:rPr>
              <a:t>types</a:t>
            </a:r>
            <a:r>
              <a:rPr sz="1539" spc="107" dirty="0">
                <a:latin typeface="+mj-lt"/>
                <a:cs typeface="Times New Roman"/>
              </a:rPr>
              <a:t> </a:t>
            </a:r>
            <a:r>
              <a:rPr sz="1539" dirty="0">
                <a:latin typeface="+mj-lt"/>
                <a:cs typeface="Times New Roman"/>
              </a:rPr>
              <a:t>of</a:t>
            </a:r>
            <a:r>
              <a:rPr sz="1539" spc="111" dirty="0">
                <a:latin typeface="+mj-lt"/>
                <a:cs typeface="Times New Roman"/>
              </a:rPr>
              <a:t> </a:t>
            </a:r>
            <a:r>
              <a:rPr sz="1539" dirty="0">
                <a:latin typeface="+mj-lt"/>
                <a:cs typeface="Times New Roman"/>
              </a:rPr>
              <a:t>agents</a:t>
            </a:r>
            <a:r>
              <a:rPr sz="1539" spc="107" dirty="0">
                <a:latin typeface="+mj-lt"/>
                <a:cs typeface="Times New Roman"/>
              </a:rPr>
              <a:t> </a:t>
            </a:r>
            <a:r>
              <a:rPr sz="1539" spc="-21" dirty="0">
                <a:latin typeface="+mj-lt"/>
                <a:cs typeface="Times New Roman"/>
              </a:rPr>
              <a:t>to </a:t>
            </a:r>
            <a:r>
              <a:rPr sz="1539" dirty="0">
                <a:latin typeface="+mj-lt"/>
                <a:cs typeface="Times New Roman"/>
              </a:rPr>
              <a:t>deal</a:t>
            </a:r>
            <a:r>
              <a:rPr sz="1539" spc="-21" dirty="0">
                <a:latin typeface="+mj-lt"/>
                <a:cs typeface="Times New Roman"/>
              </a:rPr>
              <a:t> </a:t>
            </a:r>
            <a:r>
              <a:rPr sz="1539" dirty="0">
                <a:latin typeface="+mj-lt"/>
                <a:cs typeface="Times New Roman"/>
              </a:rPr>
              <a:t>with</a:t>
            </a:r>
            <a:r>
              <a:rPr sz="1539" spc="-17" dirty="0">
                <a:latin typeface="+mj-lt"/>
                <a:cs typeface="Times New Roman"/>
              </a:rPr>
              <a:t> </a:t>
            </a:r>
            <a:r>
              <a:rPr sz="1539" dirty="0">
                <a:latin typeface="+mj-lt"/>
                <a:cs typeface="Times New Roman"/>
              </a:rPr>
              <a:t>them</a:t>
            </a:r>
            <a:r>
              <a:rPr sz="1539" spc="-21" dirty="0">
                <a:latin typeface="+mj-lt"/>
                <a:cs typeface="Times New Roman"/>
              </a:rPr>
              <a:t> </a:t>
            </a:r>
            <a:r>
              <a:rPr sz="1539" spc="-9" dirty="0">
                <a:latin typeface="+mj-lt"/>
                <a:cs typeface="Times New Roman"/>
              </a:rPr>
              <a:t>effectively.</a:t>
            </a:r>
            <a:endParaRPr sz="1539" dirty="0">
              <a:latin typeface="+mj-lt"/>
              <a:cs typeface="Times New Roman"/>
            </a:endParaRPr>
          </a:p>
          <a:p>
            <a:pPr>
              <a:spcBef>
                <a:spcPts val="115"/>
              </a:spcBef>
            </a:pPr>
            <a:endParaRPr sz="1539" dirty="0">
              <a:latin typeface="+mj-lt"/>
              <a:cs typeface="Times New Roman"/>
            </a:endParaRPr>
          </a:p>
          <a:p>
            <a:pPr marL="10860" marR="6516" algn="just">
              <a:lnSpc>
                <a:spcPct val="120000"/>
              </a:lnSpc>
            </a:pPr>
            <a:r>
              <a:rPr sz="1539" dirty="0">
                <a:latin typeface="+mj-lt"/>
                <a:cs typeface="Times New Roman"/>
              </a:rPr>
              <a:t>The</a:t>
            </a:r>
            <a:r>
              <a:rPr sz="1539" spc="60" dirty="0">
                <a:latin typeface="+mj-lt"/>
                <a:cs typeface="Times New Roman"/>
              </a:rPr>
              <a:t>  </a:t>
            </a:r>
            <a:r>
              <a:rPr sz="1539" dirty="0">
                <a:latin typeface="+mj-lt"/>
                <a:cs typeface="Times New Roman"/>
              </a:rPr>
              <a:t>hardest</a:t>
            </a:r>
            <a:r>
              <a:rPr sz="1539" spc="64" dirty="0">
                <a:latin typeface="+mj-lt"/>
                <a:cs typeface="Times New Roman"/>
              </a:rPr>
              <a:t>  </a:t>
            </a:r>
            <a:r>
              <a:rPr sz="1539" dirty="0">
                <a:latin typeface="+mj-lt"/>
                <a:cs typeface="Times New Roman"/>
              </a:rPr>
              <a:t>environments</a:t>
            </a:r>
            <a:r>
              <a:rPr sz="1539" spc="64" dirty="0">
                <a:latin typeface="+mj-lt"/>
                <a:cs typeface="Times New Roman"/>
              </a:rPr>
              <a:t>  </a:t>
            </a:r>
            <a:r>
              <a:rPr sz="1539" dirty="0">
                <a:latin typeface="+mj-lt"/>
                <a:cs typeface="Times New Roman"/>
              </a:rPr>
              <a:t>to</a:t>
            </a:r>
            <a:r>
              <a:rPr sz="1539" spc="64" dirty="0">
                <a:latin typeface="+mj-lt"/>
                <a:cs typeface="Times New Roman"/>
              </a:rPr>
              <a:t>  </a:t>
            </a:r>
            <a:r>
              <a:rPr sz="1539" dirty="0">
                <a:latin typeface="+mj-lt"/>
                <a:cs typeface="Times New Roman"/>
              </a:rPr>
              <a:t>cope</a:t>
            </a:r>
            <a:r>
              <a:rPr sz="1539" spc="64" dirty="0">
                <a:latin typeface="+mj-lt"/>
                <a:cs typeface="Times New Roman"/>
              </a:rPr>
              <a:t>  </a:t>
            </a:r>
            <a:r>
              <a:rPr sz="1539" dirty="0">
                <a:latin typeface="+mj-lt"/>
                <a:cs typeface="Times New Roman"/>
              </a:rPr>
              <a:t>with</a:t>
            </a:r>
            <a:r>
              <a:rPr sz="1539" spc="64" dirty="0">
                <a:latin typeface="+mj-lt"/>
                <a:cs typeface="Times New Roman"/>
              </a:rPr>
              <a:t>  </a:t>
            </a:r>
            <a:r>
              <a:rPr sz="1539" dirty="0">
                <a:latin typeface="+mj-lt"/>
                <a:cs typeface="Times New Roman"/>
              </a:rPr>
              <a:t>will</a:t>
            </a:r>
            <a:r>
              <a:rPr sz="1539" spc="64" dirty="0">
                <a:latin typeface="+mj-lt"/>
                <a:cs typeface="Times New Roman"/>
              </a:rPr>
              <a:t>  </a:t>
            </a:r>
            <a:r>
              <a:rPr sz="1539" dirty="0">
                <a:latin typeface="+mj-lt"/>
                <a:cs typeface="Times New Roman"/>
              </a:rPr>
              <a:t>be</a:t>
            </a:r>
            <a:r>
              <a:rPr sz="1539" spc="64" dirty="0">
                <a:latin typeface="+mj-lt"/>
                <a:cs typeface="Times New Roman"/>
              </a:rPr>
              <a:t>  </a:t>
            </a:r>
            <a:r>
              <a:rPr sz="1539" dirty="0">
                <a:latin typeface="+mj-lt"/>
                <a:cs typeface="Times New Roman"/>
              </a:rPr>
              <a:t>inaccessible,</a:t>
            </a:r>
            <a:r>
              <a:rPr sz="1539" spc="64" dirty="0">
                <a:latin typeface="+mj-lt"/>
                <a:cs typeface="Times New Roman"/>
              </a:rPr>
              <a:t>  </a:t>
            </a:r>
            <a:r>
              <a:rPr sz="1539" dirty="0">
                <a:latin typeface="+mj-lt"/>
                <a:cs typeface="Times New Roman"/>
              </a:rPr>
              <a:t>non-</a:t>
            </a:r>
            <a:r>
              <a:rPr sz="1539" spc="-9" dirty="0">
                <a:latin typeface="+mj-lt"/>
                <a:cs typeface="Times New Roman"/>
              </a:rPr>
              <a:t>deterministic, </a:t>
            </a:r>
            <a:r>
              <a:rPr sz="1539" dirty="0">
                <a:latin typeface="+mj-lt"/>
                <a:cs typeface="Times New Roman"/>
              </a:rPr>
              <a:t>continuous,</a:t>
            </a:r>
            <a:r>
              <a:rPr sz="1539" spc="304" dirty="0">
                <a:latin typeface="+mj-lt"/>
                <a:cs typeface="Times New Roman"/>
              </a:rPr>
              <a:t> </a:t>
            </a:r>
            <a:r>
              <a:rPr sz="1539" spc="-9" dirty="0">
                <a:latin typeface="+mj-lt"/>
                <a:cs typeface="Times New Roman"/>
              </a:rPr>
              <a:t>non-</a:t>
            </a:r>
            <a:r>
              <a:rPr sz="1539" dirty="0">
                <a:latin typeface="+mj-lt"/>
                <a:cs typeface="Times New Roman"/>
              </a:rPr>
              <a:t>episodic,</a:t>
            </a:r>
            <a:r>
              <a:rPr sz="1539" spc="-34" dirty="0">
                <a:latin typeface="+mj-lt"/>
                <a:cs typeface="Times New Roman"/>
              </a:rPr>
              <a:t> </a:t>
            </a:r>
            <a:r>
              <a:rPr sz="1539" dirty="0">
                <a:latin typeface="+mj-lt"/>
                <a:cs typeface="Times New Roman"/>
              </a:rPr>
              <a:t>and</a:t>
            </a:r>
            <a:r>
              <a:rPr sz="1539" spc="-38" dirty="0">
                <a:latin typeface="+mj-lt"/>
                <a:cs typeface="Times New Roman"/>
              </a:rPr>
              <a:t> </a:t>
            </a:r>
            <a:r>
              <a:rPr sz="1539" spc="-9" dirty="0">
                <a:latin typeface="+mj-lt"/>
                <a:cs typeface="Times New Roman"/>
              </a:rPr>
              <a:t>dynamic.</a:t>
            </a:r>
            <a:endParaRPr sz="1539" dirty="0">
              <a:latin typeface="+mj-lt"/>
              <a:cs typeface="Times New Roman"/>
            </a:endParaRPr>
          </a:p>
          <a:p>
            <a:pPr>
              <a:spcBef>
                <a:spcPts val="107"/>
              </a:spcBef>
            </a:pPr>
            <a:endParaRPr sz="1539" dirty="0">
              <a:latin typeface="+mj-lt"/>
              <a:cs typeface="Times New Roman"/>
            </a:endParaRPr>
          </a:p>
          <a:p>
            <a:pPr marL="10860" marR="4344" algn="just">
              <a:lnSpc>
                <a:spcPct val="120600"/>
              </a:lnSpc>
            </a:pPr>
            <a:r>
              <a:rPr sz="1539" dirty="0">
                <a:latin typeface="+mj-lt"/>
                <a:cs typeface="Times New Roman"/>
              </a:rPr>
              <a:t>Often we run an</a:t>
            </a:r>
            <a:r>
              <a:rPr sz="1539" spc="13" dirty="0">
                <a:latin typeface="+mj-lt"/>
                <a:cs typeface="Times New Roman"/>
              </a:rPr>
              <a:t> </a:t>
            </a:r>
            <a:r>
              <a:rPr sz="1539" b="1" i="1" dirty="0">
                <a:solidFill>
                  <a:srgbClr val="0000FF"/>
                </a:solidFill>
                <a:latin typeface="+mj-lt"/>
                <a:cs typeface="Times New Roman"/>
              </a:rPr>
              <a:t>environment</a:t>
            </a:r>
            <a:r>
              <a:rPr sz="1539" b="1" i="1" spc="13" dirty="0">
                <a:solidFill>
                  <a:srgbClr val="0000FF"/>
                </a:solidFill>
                <a:latin typeface="+mj-lt"/>
                <a:cs typeface="Times New Roman"/>
              </a:rPr>
              <a:t> </a:t>
            </a:r>
            <a:r>
              <a:rPr sz="1539" b="1" i="1" dirty="0">
                <a:solidFill>
                  <a:srgbClr val="0000FF"/>
                </a:solidFill>
                <a:latin typeface="+mj-lt"/>
                <a:cs typeface="Times New Roman"/>
              </a:rPr>
              <a:t>program</a:t>
            </a:r>
            <a:r>
              <a:rPr sz="1539" b="1" i="1" spc="-4" dirty="0">
                <a:solidFill>
                  <a:srgbClr val="0000FF"/>
                </a:solidFill>
                <a:latin typeface="+mj-lt"/>
                <a:cs typeface="Times New Roman"/>
              </a:rPr>
              <a:t> </a:t>
            </a:r>
            <a:r>
              <a:rPr sz="1539" dirty="0">
                <a:latin typeface="+mj-lt"/>
                <a:cs typeface="Times New Roman"/>
              </a:rPr>
              <a:t>for our</a:t>
            </a:r>
            <a:r>
              <a:rPr sz="1539" spc="-4" dirty="0">
                <a:latin typeface="+mj-lt"/>
                <a:cs typeface="Times New Roman"/>
              </a:rPr>
              <a:t> </a:t>
            </a:r>
            <a:r>
              <a:rPr sz="1539" dirty="0">
                <a:latin typeface="+mj-lt"/>
                <a:cs typeface="Times New Roman"/>
              </a:rPr>
              <a:t>agents</a:t>
            </a:r>
            <a:r>
              <a:rPr sz="1539" spc="-4" dirty="0">
                <a:latin typeface="+mj-lt"/>
                <a:cs typeface="Times New Roman"/>
              </a:rPr>
              <a:t> </a:t>
            </a:r>
            <a:r>
              <a:rPr sz="1539" dirty="0">
                <a:latin typeface="+mj-lt"/>
                <a:cs typeface="Times New Roman"/>
              </a:rPr>
              <a:t>to</a:t>
            </a:r>
            <a:r>
              <a:rPr sz="1539" spc="-4" dirty="0">
                <a:latin typeface="+mj-lt"/>
                <a:cs typeface="Times New Roman"/>
              </a:rPr>
              <a:t> </a:t>
            </a:r>
            <a:r>
              <a:rPr sz="1539" dirty="0">
                <a:latin typeface="+mj-lt"/>
                <a:cs typeface="Times New Roman"/>
              </a:rPr>
              <a:t>interact</a:t>
            </a:r>
            <a:r>
              <a:rPr sz="1539" spc="-4" dirty="0">
                <a:latin typeface="+mj-lt"/>
                <a:cs typeface="Times New Roman"/>
              </a:rPr>
              <a:t> </a:t>
            </a:r>
            <a:r>
              <a:rPr sz="1539" dirty="0">
                <a:latin typeface="+mj-lt"/>
                <a:cs typeface="Times New Roman"/>
              </a:rPr>
              <a:t>with.</a:t>
            </a:r>
            <a:r>
              <a:rPr sz="1539" spc="376" dirty="0">
                <a:latin typeface="+mj-lt"/>
                <a:cs typeface="Times New Roman"/>
              </a:rPr>
              <a:t> </a:t>
            </a:r>
            <a:r>
              <a:rPr sz="1539" dirty="0">
                <a:latin typeface="+mj-lt"/>
                <a:cs typeface="Times New Roman"/>
              </a:rPr>
              <a:t>This</a:t>
            </a:r>
            <a:r>
              <a:rPr sz="1539" spc="-4" dirty="0">
                <a:latin typeface="+mj-lt"/>
                <a:cs typeface="Times New Roman"/>
              </a:rPr>
              <a:t> </a:t>
            </a:r>
            <a:r>
              <a:rPr sz="1539" dirty="0">
                <a:latin typeface="+mj-lt"/>
                <a:cs typeface="Times New Roman"/>
              </a:rPr>
              <a:t>gives</a:t>
            </a:r>
            <a:r>
              <a:rPr sz="1539" spc="-4" dirty="0">
                <a:latin typeface="+mj-lt"/>
                <a:cs typeface="Times New Roman"/>
              </a:rPr>
              <a:t> </a:t>
            </a:r>
            <a:r>
              <a:rPr sz="1539" spc="-17" dirty="0">
                <a:latin typeface="+mj-lt"/>
                <a:cs typeface="Times New Roman"/>
              </a:rPr>
              <a:t>each </a:t>
            </a:r>
            <a:r>
              <a:rPr sz="1539" dirty="0">
                <a:latin typeface="+mj-lt"/>
                <a:cs typeface="Times New Roman"/>
              </a:rPr>
              <a:t>agent</a:t>
            </a:r>
            <a:r>
              <a:rPr sz="1539" spc="107" dirty="0">
                <a:latin typeface="+mj-lt"/>
                <a:cs typeface="Times New Roman"/>
              </a:rPr>
              <a:t>  </a:t>
            </a:r>
            <a:r>
              <a:rPr sz="1539" dirty="0">
                <a:latin typeface="+mj-lt"/>
                <a:cs typeface="Times New Roman"/>
              </a:rPr>
              <a:t>its</a:t>
            </a:r>
            <a:r>
              <a:rPr sz="1539" spc="107" dirty="0">
                <a:latin typeface="+mj-lt"/>
                <a:cs typeface="Times New Roman"/>
              </a:rPr>
              <a:t>  </a:t>
            </a:r>
            <a:r>
              <a:rPr sz="1539" dirty="0">
                <a:latin typeface="+mj-lt"/>
                <a:cs typeface="Times New Roman"/>
              </a:rPr>
              <a:t>percepts,</a:t>
            </a:r>
            <a:r>
              <a:rPr sz="1539" spc="107" dirty="0">
                <a:latin typeface="+mj-lt"/>
                <a:cs typeface="Times New Roman"/>
              </a:rPr>
              <a:t>  </a:t>
            </a:r>
            <a:r>
              <a:rPr sz="1539" dirty="0">
                <a:latin typeface="+mj-lt"/>
                <a:cs typeface="Times New Roman"/>
              </a:rPr>
              <a:t>receives</a:t>
            </a:r>
            <a:r>
              <a:rPr sz="1539" spc="107" dirty="0">
                <a:latin typeface="+mj-lt"/>
                <a:cs typeface="Times New Roman"/>
              </a:rPr>
              <a:t>  </a:t>
            </a:r>
            <a:r>
              <a:rPr sz="1539" dirty="0">
                <a:latin typeface="+mj-lt"/>
                <a:cs typeface="Times New Roman"/>
              </a:rPr>
              <a:t>an</a:t>
            </a:r>
            <a:r>
              <a:rPr sz="1539" spc="107" dirty="0">
                <a:latin typeface="+mj-lt"/>
                <a:cs typeface="Times New Roman"/>
              </a:rPr>
              <a:t>  </a:t>
            </a:r>
            <a:r>
              <a:rPr sz="1539" dirty="0">
                <a:latin typeface="+mj-lt"/>
                <a:cs typeface="Times New Roman"/>
              </a:rPr>
              <a:t>action</a:t>
            </a:r>
            <a:r>
              <a:rPr sz="1539" spc="107" dirty="0">
                <a:latin typeface="+mj-lt"/>
                <a:cs typeface="Times New Roman"/>
              </a:rPr>
              <a:t>  </a:t>
            </a:r>
            <a:r>
              <a:rPr sz="1539" dirty="0">
                <a:latin typeface="+mj-lt"/>
                <a:cs typeface="Times New Roman"/>
              </a:rPr>
              <a:t>from</a:t>
            </a:r>
            <a:r>
              <a:rPr sz="1539" spc="111" dirty="0">
                <a:latin typeface="+mj-lt"/>
                <a:cs typeface="Times New Roman"/>
              </a:rPr>
              <a:t>  </a:t>
            </a:r>
            <a:r>
              <a:rPr sz="1539" dirty="0">
                <a:latin typeface="+mj-lt"/>
                <a:cs typeface="Times New Roman"/>
              </a:rPr>
              <a:t>each</a:t>
            </a:r>
            <a:r>
              <a:rPr sz="1539" spc="107" dirty="0">
                <a:latin typeface="+mj-lt"/>
                <a:cs typeface="Times New Roman"/>
              </a:rPr>
              <a:t>  </a:t>
            </a:r>
            <a:r>
              <a:rPr sz="1539" dirty="0">
                <a:latin typeface="+mj-lt"/>
                <a:cs typeface="Times New Roman"/>
              </a:rPr>
              <a:t>agent,</a:t>
            </a:r>
            <a:r>
              <a:rPr sz="1539" spc="107" dirty="0">
                <a:latin typeface="+mj-lt"/>
                <a:cs typeface="Times New Roman"/>
              </a:rPr>
              <a:t>  </a:t>
            </a:r>
            <a:r>
              <a:rPr sz="1539" dirty="0">
                <a:latin typeface="+mj-lt"/>
                <a:cs typeface="Times New Roman"/>
              </a:rPr>
              <a:t>and</a:t>
            </a:r>
            <a:r>
              <a:rPr sz="1539" spc="107" dirty="0">
                <a:latin typeface="+mj-lt"/>
                <a:cs typeface="Times New Roman"/>
              </a:rPr>
              <a:t>  </a:t>
            </a:r>
            <a:r>
              <a:rPr sz="1539" dirty="0">
                <a:latin typeface="+mj-lt"/>
                <a:cs typeface="Times New Roman"/>
              </a:rPr>
              <a:t>then</a:t>
            </a:r>
            <a:r>
              <a:rPr sz="1539" spc="107" dirty="0">
                <a:latin typeface="+mj-lt"/>
                <a:cs typeface="Times New Roman"/>
              </a:rPr>
              <a:t>  </a:t>
            </a:r>
            <a:r>
              <a:rPr sz="1539" dirty="0">
                <a:latin typeface="+mj-lt"/>
                <a:cs typeface="Times New Roman"/>
              </a:rPr>
              <a:t>updates</a:t>
            </a:r>
            <a:r>
              <a:rPr sz="1539" spc="107" dirty="0">
                <a:latin typeface="+mj-lt"/>
                <a:cs typeface="Times New Roman"/>
              </a:rPr>
              <a:t>  </a:t>
            </a:r>
            <a:r>
              <a:rPr sz="1539" spc="-21" dirty="0">
                <a:latin typeface="+mj-lt"/>
                <a:cs typeface="Times New Roman"/>
              </a:rPr>
              <a:t>the </a:t>
            </a:r>
            <a:r>
              <a:rPr sz="1539" dirty="0">
                <a:latin typeface="+mj-lt"/>
                <a:cs typeface="Times New Roman"/>
              </a:rPr>
              <a:t>environment.</a:t>
            </a:r>
            <a:r>
              <a:rPr sz="1539" spc="321" dirty="0">
                <a:latin typeface="+mj-lt"/>
                <a:cs typeface="Times New Roman"/>
              </a:rPr>
              <a:t> </a:t>
            </a:r>
            <a:r>
              <a:rPr sz="1539" dirty="0">
                <a:latin typeface="+mj-lt"/>
                <a:cs typeface="Times New Roman"/>
              </a:rPr>
              <a:t>It</a:t>
            </a:r>
            <a:r>
              <a:rPr sz="1539" spc="-34" dirty="0">
                <a:latin typeface="+mj-lt"/>
                <a:cs typeface="Times New Roman"/>
              </a:rPr>
              <a:t> </a:t>
            </a:r>
            <a:r>
              <a:rPr sz="1539" dirty="0">
                <a:latin typeface="+mj-lt"/>
                <a:cs typeface="Times New Roman"/>
              </a:rPr>
              <a:t>may</a:t>
            </a:r>
            <a:r>
              <a:rPr sz="1539" spc="-30" dirty="0">
                <a:latin typeface="+mj-lt"/>
                <a:cs typeface="Times New Roman"/>
              </a:rPr>
              <a:t> </a:t>
            </a:r>
            <a:r>
              <a:rPr sz="1539" dirty="0">
                <a:latin typeface="+mj-lt"/>
                <a:cs typeface="Times New Roman"/>
              </a:rPr>
              <a:t>also</a:t>
            </a:r>
            <a:r>
              <a:rPr sz="1539" spc="-34" dirty="0">
                <a:latin typeface="+mj-lt"/>
                <a:cs typeface="Times New Roman"/>
              </a:rPr>
              <a:t> </a:t>
            </a:r>
            <a:r>
              <a:rPr sz="1539" dirty="0">
                <a:latin typeface="+mj-lt"/>
                <a:cs typeface="Times New Roman"/>
              </a:rPr>
              <a:t>keep</a:t>
            </a:r>
            <a:r>
              <a:rPr sz="1539" spc="-30" dirty="0">
                <a:latin typeface="+mj-lt"/>
                <a:cs typeface="Times New Roman"/>
              </a:rPr>
              <a:t> </a:t>
            </a:r>
            <a:r>
              <a:rPr sz="1539" dirty="0">
                <a:latin typeface="+mj-lt"/>
                <a:cs typeface="Times New Roman"/>
              </a:rPr>
              <a:t>track</a:t>
            </a:r>
            <a:r>
              <a:rPr sz="1539" spc="-34" dirty="0">
                <a:latin typeface="+mj-lt"/>
                <a:cs typeface="Times New Roman"/>
              </a:rPr>
              <a:t> </a:t>
            </a:r>
            <a:r>
              <a:rPr sz="1539" dirty="0">
                <a:latin typeface="+mj-lt"/>
                <a:cs typeface="Times New Roman"/>
              </a:rPr>
              <a:t>of</a:t>
            </a:r>
            <a:r>
              <a:rPr sz="1539" spc="-30" dirty="0">
                <a:latin typeface="+mj-lt"/>
                <a:cs typeface="Times New Roman"/>
              </a:rPr>
              <a:t> </a:t>
            </a:r>
            <a:r>
              <a:rPr sz="1539" dirty="0">
                <a:latin typeface="+mj-lt"/>
                <a:cs typeface="Times New Roman"/>
              </a:rPr>
              <a:t>the</a:t>
            </a:r>
            <a:r>
              <a:rPr sz="1539" spc="-34" dirty="0">
                <a:latin typeface="+mj-lt"/>
                <a:cs typeface="Times New Roman"/>
              </a:rPr>
              <a:t> </a:t>
            </a:r>
            <a:r>
              <a:rPr sz="1539" dirty="0">
                <a:latin typeface="+mj-lt"/>
                <a:cs typeface="Times New Roman"/>
              </a:rPr>
              <a:t>performance</a:t>
            </a:r>
            <a:r>
              <a:rPr sz="1539" spc="-30" dirty="0">
                <a:latin typeface="+mj-lt"/>
                <a:cs typeface="Times New Roman"/>
              </a:rPr>
              <a:t> </a:t>
            </a:r>
            <a:r>
              <a:rPr sz="1539" dirty="0">
                <a:latin typeface="+mj-lt"/>
                <a:cs typeface="Times New Roman"/>
              </a:rPr>
              <a:t>measures</a:t>
            </a:r>
            <a:r>
              <a:rPr sz="1539" spc="-34" dirty="0">
                <a:latin typeface="+mj-lt"/>
                <a:cs typeface="Times New Roman"/>
              </a:rPr>
              <a:t> </a:t>
            </a:r>
            <a:r>
              <a:rPr sz="1539" dirty="0">
                <a:latin typeface="+mj-lt"/>
                <a:cs typeface="Times New Roman"/>
              </a:rPr>
              <a:t>for</a:t>
            </a:r>
            <a:r>
              <a:rPr sz="1539" spc="-30" dirty="0">
                <a:latin typeface="+mj-lt"/>
                <a:cs typeface="Times New Roman"/>
              </a:rPr>
              <a:t> </a:t>
            </a:r>
            <a:r>
              <a:rPr sz="1539" dirty="0">
                <a:latin typeface="+mj-lt"/>
                <a:cs typeface="Times New Roman"/>
              </a:rPr>
              <a:t>each</a:t>
            </a:r>
            <a:r>
              <a:rPr sz="1539" spc="-34" dirty="0">
                <a:latin typeface="+mj-lt"/>
                <a:cs typeface="Times New Roman"/>
              </a:rPr>
              <a:t> </a:t>
            </a:r>
            <a:r>
              <a:rPr sz="1539" spc="-9" dirty="0">
                <a:latin typeface="+mj-lt"/>
                <a:cs typeface="Times New Roman"/>
              </a:rPr>
              <a:t>agent.</a:t>
            </a:r>
            <a:endParaRPr sz="1539" dirty="0">
              <a:latin typeface="+mj-lt"/>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FC4FA28-6876-EDE2-6A17-FD7714D40E4B}"/>
              </a:ext>
            </a:extLst>
          </p:cNvPr>
          <p:cNvSpPr>
            <a:spLocks noGrp="1" noChangeArrowheads="1"/>
          </p:cNvSpPr>
          <p:nvPr>
            <p:ph type="title"/>
          </p:nvPr>
        </p:nvSpPr>
        <p:spPr>
          <a:xfrm>
            <a:off x="518778" y="699135"/>
            <a:ext cx="8153400" cy="762000"/>
          </a:xfrm>
        </p:spPr>
        <p:txBody>
          <a:bodyPr/>
          <a:lstStyle/>
          <a:p>
            <a:pPr eaLnBrk="1" hangingPunct="1"/>
            <a:r>
              <a:rPr lang="en-US" altLang="en-US" dirty="0"/>
              <a:t>How to design an intelligent agent?</a:t>
            </a:r>
          </a:p>
        </p:txBody>
      </p:sp>
      <p:sp>
        <p:nvSpPr>
          <p:cNvPr id="15363" name="Rectangle 3">
            <a:extLst>
              <a:ext uri="{FF2B5EF4-FFF2-40B4-BE49-F238E27FC236}">
                <a16:creationId xmlns:a16="http://schemas.microsoft.com/office/drawing/2014/main" id="{A6CC2E64-EAD8-20FF-019C-574C329CB7E9}"/>
              </a:ext>
            </a:extLst>
          </p:cNvPr>
          <p:cNvSpPr>
            <a:spLocks noGrp="1" noChangeArrowheads="1"/>
          </p:cNvSpPr>
          <p:nvPr>
            <p:ph type="body" idx="1"/>
          </p:nvPr>
        </p:nvSpPr>
        <p:spPr>
          <a:xfrm>
            <a:off x="457200" y="2286000"/>
            <a:ext cx="8130540" cy="3491865"/>
          </a:xfrm>
        </p:spPr>
        <p:txBody>
          <a:bodyPr/>
          <a:lstStyle/>
          <a:p>
            <a:pPr eaLnBrk="1" hangingPunct="1">
              <a:lnSpc>
                <a:spcPct val="90000"/>
              </a:lnSpc>
            </a:pPr>
            <a:r>
              <a:rPr lang="en-US" altLang="en-US" sz="2400" b="1" dirty="0"/>
              <a:t>Definition</a:t>
            </a:r>
            <a:r>
              <a:rPr lang="en-US" altLang="en-US" sz="2400" dirty="0"/>
              <a:t>:  An </a:t>
            </a:r>
            <a:r>
              <a:rPr lang="en-US" altLang="en-US" sz="2400" i="1" dirty="0"/>
              <a:t>agent</a:t>
            </a:r>
            <a:r>
              <a:rPr lang="en-US" altLang="en-US" sz="2400" dirty="0"/>
              <a:t> perceives its environment via sensors and acts in that environment with its effectors.</a:t>
            </a:r>
          </a:p>
          <a:p>
            <a:pPr eaLnBrk="1" hangingPunct="1">
              <a:lnSpc>
                <a:spcPct val="90000"/>
              </a:lnSpc>
              <a:buFontTx/>
              <a:buNone/>
            </a:pPr>
            <a:r>
              <a:rPr lang="en-US" altLang="en-US" sz="2400" dirty="0"/>
              <a:t>	Hence, an agent gets percepts one at a time, and maps this percept sequence to actions (one action at a time)</a:t>
            </a:r>
          </a:p>
          <a:p>
            <a:pPr eaLnBrk="1" hangingPunct="1">
              <a:lnSpc>
                <a:spcPct val="90000"/>
              </a:lnSpc>
              <a:buFontTx/>
              <a:buNone/>
            </a:pPr>
            <a:endParaRPr lang="en-US" altLang="en-US" sz="2400" dirty="0"/>
          </a:p>
          <a:p>
            <a:pPr eaLnBrk="1" hangingPunct="1">
              <a:lnSpc>
                <a:spcPct val="90000"/>
              </a:lnSpc>
            </a:pPr>
            <a:r>
              <a:rPr lang="en-US" altLang="en-US" sz="2400" b="1" dirty="0"/>
              <a:t>Properties</a:t>
            </a:r>
            <a:r>
              <a:rPr lang="en-US" altLang="en-US" sz="2400" dirty="0"/>
              <a:t>:</a:t>
            </a:r>
          </a:p>
          <a:p>
            <a:pPr lvl="1" eaLnBrk="1" hangingPunct="1">
              <a:lnSpc>
                <a:spcPct val="90000"/>
              </a:lnSpc>
            </a:pPr>
            <a:r>
              <a:rPr lang="en-US" altLang="en-US" sz="2000" dirty="0"/>
              <a:t>Autonomous</a:t>
            </a:r>
          </a:p>
          <a:p>
            <a:pPr lvl="1" eaLnBrk="1" hangingPunct="1">
              <a:lnSpc>
                <a:spcPct val="90000"/>
              </a:lnSpc>
            </a:pPr>
            <a:r>
              <a:rPr lang="en-US" altLang="en-US" sz="2000" dirty="0"/>
              <a:t>Interacts with other agents plus the environment</a:t>
            </a:r>
          </a:p>
          <a:p>
            <a:pPr lvl="1" eaLnBrk="1" hangingPunct="1">
              <a:lnSpc>
                <a:spcPct val="90000"/>
              </a:lnSpc>
            </a:pPr>
            <a:r>
              <a:rPr lang="en-US" altLang="en-US" sz="2000" dirty="0"/>
              <a:t>Reactive to the environment</a:t>
            </a:r>
          </a:p>
          <a:p>
            <a:pPr lvl="1" eaLnBrk="1" hangingPunct="1">
              <a:lnSpc>
                <a:spcPct val="90000"/>
              </a:lnSpc>
            </a:pPr>
            <a:r>
              <a:rPr lang="en-US" altLang="en-US" sz="2000" dirty="0"/>
              <a:t>Pro-active (goal-directed)</a:t>
            </a:r>
          </a:p>
          <a:p>
            <a:pPr eaLnBrk="1" hangingPunct="1">
              <a:lnSpc>
                <a:spcPct val="90000"/>
              </a:lnSpc>
              <a:buFontTx/>
              <a:buNone/>
            </a:pPr>
            <a:r>
              <a:rPr lang="en-US" altLang="en-US" sz="2400"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62C21B0-2E43-C918-71CA-FF4344720FC0}"/>
              </a:ext>
            </a:extLst>
          </p:cNvPr>
          <p:cNvSpPr>
            <a:spLocks noGrp="1" noChangeArrowheads="1"/>
          </p:cNvSpPr>
          <p:nvPr>
            <p:ph type="title"/>
          </p:nvPr>
        </p:nvSpPr>
        <p:spPr>
          <a:xfrm>
            <a:off x="685800" y="304800"/>
            <a:ext cx="7772400" cy="838200"/>
          </a:xfrm>
        </p:spPr>
        <p:txBody>
          <a:bodyPr/>
          <a:lstStyle/>
          <a:p>
            <a:pPr eaLnBrk="1" hangingPunct="1"/>
            <a:r>
              <a:rPr lang="en-US" altLang="en-US" dirty="0"/>
              <a:t>Properties of environments</a:t>
            </a:r>
          </a:p>
        </p:txBody>
      </p:sp>
      <p:sp>
        <p:nvSpPr>
          <p:cNvPr id="36867" name="Text Box 3">
            <a:extLst>
              <a:ext uri="{FF2B5EF4-FFF2-40B4-BE49-F238E27FC236}">
                <a16:creationId xmlns:a16="http://schemas.microsoft.com/office/drawing/2014/main" id="{8FC858B2-E6B4-769B-1B1C-5EA938FE0FD7}"/>
              </a:ext>
            </a:extLst>
          </p:cNvPr>
          <p:cNvSpPr txBox="1">
            <a:spLocks noChangeArrowheads="1"/>
          </p:cNvSpPr>
          <p:nvPr/>
        </p:nvSpPr>
        <p:spPr bwMode="auto">
          <a:xfrm>
            <a:off x="838200" y="1524000"/>
            <a:ext cx="79248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b="1" dirty="0">
                <a:solidFill>
                  <a:schemeClr val="accent2"/>
                </a:solidFill>
                <a:latin typeface="+mj-lt"/>
                <a:sym typeface="Wingdings" panose="05000000000000000000" pitchFamily="2" charset="2"/>
              </a:rPr>
              <a:t>Accessible</a:t>
            </a:r>
            <a:r>
              <a:rPr lang="en-US" altLang="en-US" sz="2000" dirty="0">
                <a:latin typeface="+mj-lt"/>
                <a:sym typeface="Wingdings" panose="05000000000000000000" pitchFamily="2" charset="2"/>
              </a:rPr>
              <a:t> (observable) :  The agent’s sensory apparatus gives it access to the complete state of the environment</a:t>
            </a:r>
          </a:p>
          <a:p>
            <a:pPr eaLnBrk="1" hangingPunct="1"/>
            <a:endParaRPr lang="en-US" altLang="en-US" sz="2000" dirty="0">
              <a:latin typeface="+mj-lt"/>
              <a:sym typeface="Wingdings" panose="05000000000000000000" pitchFamily="2" charset="2"/>
            </a:endParaRPr>
          </a:p>
          <a:p>
            <a:pPr eaLnBrk="1" hangingPunct="1"/>
            <a:r>
              <a:rPr lang="en-US" altLang="en-US" sz="2000" b="1" dirty="0">
                <a:solidFill>
                  <a:schemeClr val="accent2"/>
                </a:solidFill>
                <a:latin typeface="+mj-lt"/>
                <a:sym typeface="Wingdings" panose="05000000000000000000" pitchFamily="2" charset="2"/>
              </a:rPr>
              <a:t>Deterministic</a:t>
            </a:r>
            <a:r>
              <a:rPr lang="en-US" altLang="en-US" sz="2000" dirty="0">
                <a:latin typeface="+mj-lt"/>
                <a:sym typeface="Wingdings" panose="05000000000000000000" pitchFamily="2" charset="2"/>
              </a:rPr>
              <a:t>:  The next state of the environment is completely determined by the current state and the actions selected by the agent</a:t>
            </a:r>
          </a:p>
          <a:p>
            <a:pPr eaLnBrk="1" hangingPunct="1"/>
            <a:endParaRPr lang="en-US" altLang="en-US" sz="2000" dirty="0">
              <a:latin typeface="+mj-lt"/>
              <a:sym typeface="Wingdings" panose="05000000000000000000" pitchFamily="2" charset="2"/>
            </a:endParaRPr>
          </a:p>
          <a:p>
            <a:pPr eaLnBrk="1" hangingPunct="1"/>
            <a:r>
              <a:rPr lang="en-US" altLang="en-US" sz="2000" i="1" dirty="0">
                <a:latin typeface="+mj-lt"/>
                <a:sym typeface="Wingdings" panose="05000000000000000000" pitchFamily="2" charset="2"/>
              </a:rPr>
              <a:t>Subjective</a:t>
            </a:r>
            <a:r>
              <a:rPr lang="en-US" altLang="en-US" sz="2000" dirty="0">
                <a:latin typeface="+mj-lt"/>
                <a:sym typeface="Wingdings" panose="05000000000000000000" pitchFamily="2" charset="2"/>
              </a:rPr>
              <a:t> non-determinism</a:t>
            </a:r>
          </a:p>
          <a:p>
            <a:pPr eaLnBrk="1" hangingPunct="1"/>
            <a:r>
              <a:rPr lang="en-US" altLang="en-US" sz="2000" dirty="0">
                <a:latin typeface="+mj-lt"/>
                <a:sym typeface="Wingdings" panose="05000000000000000000" pitchFamily="2" charset="2"/>
              </a:rPr>
              <a:t>   - Limited memory (poker)</a:t>
            </a:r>
          </a:p>
          <a:p>
            <a:pPr eaLnBrk="1" hangingPunct="1"/>
            <a:r>
              <a:rPr lang="en-US" altLang="en-US" sz="2000" dirty="0">
                <a:latin typeface="+mj-lt"/>
                <a:sym typeface="Wingdings" panose="05000000000000000000" pitchFamily="2" charset="2"/>
              </a:rPr>
              <a:t>   - Too complex environment to model directly (weather, dice)</a:t>
            </a:r>
          </a:p>
          <a:p>
            <a:pPr eaLnBrk="1" hangingPunct="1"/>
            <a:r>
              <a:rPr lang="en-US" altLang="en-US" sz="2000" dirty="0">
                <a:latin typeface="+mj-lt"/>
                <a:sym typeface="Wingdings" panose="05000000000000000000" pitchFamily="2" charset="2"/>
              </a:rPr>
              <a:t>   - Inaccessibility</a:t>
            </a:r>
          </a:p>
          <a:p>
            <a:pPr eaLnBrk="1" hangingPunct="1"/>
            <a:endParaRPr lang="en-US" altLang="en-US" sz="2000" dirty="0">
              <a:latin typeface="+mj-lt"/>
              <a:sym typeface="Wingdings" panose="05000000000000000000" pitchFamily="2" charset="2"/>
            </a:endParaRPr>
          </a:p>
          <a:p>
            <a:pPr eaLnBrk="1" hangingPunct="1"/>
            <a:r>
              <a:rPr lang="en-US" altLang="en-US" sz="2000" b="1" dirty="0">
                <a:solidFill>
                  <a:schemeClr val="accent2"/>
                </a:solidFill>
                <a:latin typeface="+mj-lt"/>
                <a:sym typeface="Wingdings" panose="05000000000000000000" pitchFamily="2" charset="2"/>
              </a:rPr>
              <a:t>Episodic</a:t>
            </a:r>
            <a:r>
              <a:rPr lang="en-US" altLang="en-US" sz="2000" dirty="0">
                <a:latin typeface="+mj-lt"/>
                <a:sym typeface="Wingdings" panose="05000000000000000000" pitchFamily="2" charset="2"/>
              </a:rPr>
              <a:t>:  The agent’s experience is divided into independent “episodes,” each episode consisting of agent perceiving and then acting.  Quality of action depends just on the episode itself, because subsequent episodes do not depend on what actions occur in previous episodes.   Do not need to think ahead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A4937A2-B79C-D99D-6BCD-70EF442079B1}"/>
              </a:ext>
            </a:extLst>
          </p:cNvPr>
          <p:cNvSpPr>
            <a:spLocks noGrp="1" noChangeArrowheads="1"/>
          </p:cNvSpPr>
          <p:nvPr>
            <p:ph type="title"/>
          </p:nvPr>
        </p:nvSpPr>
        <p:spPr>
          <a:xfrm>
            <a:off x="457200" y="152400"/>
            <a:ext cx="8229600" cy="1143000"/>
          </a:xfrm>
        </p:spPr>
        <p:txBody>
          <a:bodyPr/>
          <a:lstStyle/>
          <a:p>
            <a:pPr eaLnBrk="1" hangingPunct="1"/>
            <a:r>
              <a:rPr lang="en-US" altLang="en-US" dirty="0"/>
              <a:t>Properties of environments …</a:t>
            </a:r>
          </a:p>
        </p:txBody>
      </p:sp>
      <p:sp>
        <p:nvSpPr>
          <p:cNvPr id="37891" name="Text Box 3">
            <a:extLst>
              <a:ext uri="{FF2B5EF4-FFF2-40B4-BE49-F238E27FC236}">
                <a16:creationId xmlns:a16="http://schemas.microsoft.com/office/drawing/2014/main" id="{916176B2-94F0-5BD7-E0B5-4F52094D10F8}"/>
              </a:ext>
            </a:extLst>
          </p:cNvPr>
          <p:cNvSpPr txBox="1">
            <a:spLocks noChangeArrowheads="1"/>
          </p:cNvSpPr>
          <p:nvPr/>
        </p:nvSpPr>
        <p:spPr bwMode="auto">
          <a:xfrm>
            <a:off x="914400" y="1752600"/>
            <a:ext cx="73914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b="1" dirty="0">
                <a:solidFill>
                  <a:schemeClr val="accent2"/>
                </a:solidFill>
                <a:latin typeface="+mj-lt"/>
                <a:sym typeface="Wingdings" panose="05000000000000000000" pitchFamily="2" charset="2"/>
              </a:rPr>
              <a:t>Static</a:t>
            </a:r>
            <a:r>
              <a:rPr lang="en-US" altLang="en-US" sz="2000" dirty="0">
                <a:latin typeface="+mj-lt"/>
                <a:sym typeface="Wingdings" panose="05000000000000000000" pitchFamily="2" charset="2"/>
              </a:rPr>
              <a:t>:  If the environment can change while the agent is deliberating, then the environment is dynamic; otherwise it’s static. </a:t>
            </a:r>
          </a:p>
          <a:p>
            <a:pPr eaLnBrk="1" hangingPunct="1"/>
            <a:endParaRPr lang="en-US" altLang="en-US" sz="2000" dirty="0">
              <a:latin typeface="+mj-lt"/>
              <a:sym typeface="Wingdings" panose="05000000000000000000" pitchFamily="2" charset="2"/>
            </a:endParaRPr>
          </a:p>
          <a:p>
            <a:pPr eaLnBrk="1" hangingPunct="1"/>
            <a:endParaRPr lang="en-US" altLang="en-US" sz="2000" dirty="0">
              <a:latin typeface="+mj-lt"/>
              <a:sym typeface="Wingdings" panose="05000000000000000000" pitchFamily="2" charset="2"/>
            </a:endParaRPr>
          </a:p>
          <a:p>
            <a:pPr eaLnBrk="1" hangingPunct="1"/>
            <a:endParaRPr lang="en-US" altLang="en-US" sz="2000" dirty="0">
              <a:latin typeface="+mj-lt"/>
              <a:sym typeface="Wingdings" panose="05000000000000000000" pitchFamily="2" charset="2"/>
            </a:endParaRPr>
          </a:p>
          <a:p>
            <a:pPr eaLnBrk="1" hangingPunct="1"/>
            <a:endParaRPr lang="en-US" altLang="en-US" sz="2000" dirty="0">
              <a:latin typeface="+mj-lt"/>
              <a:sym typeface="Wingdings" panose="05000000000000000000" pitchFamily="2" charset="2"/>
            </a:endParaRPr>
          </a:p>
          <a:p>
            <a:pPr eaLnBrk="1" hangingPunct="1"/>
            <a:endParaRPr lang="en-US" altLang="en-US" sz="2000" dirty="0">
              <a:latin typeface="+mj-lt"/>
              <a:sym typeface="Wingdings" panose="05000000000000000000" pitchFamily="2" charset="2"/>
            </a:endParaRPr>
          </a:p>
          <a:p>
            <a:pPr eaLnBrk="1" hangingPunct="1"/>
            <a:r>
              <a:rPr lang="en-US" altLang="en-US" sz="2000" b="1" dirty="0">
                <a:solidFill>
                  <a:schemeClr val="accent2"/>
                </a:solidFill>
                <a:latin typeface="+mj-lt"/>
                <a:sym typeface="Wingdings" panose="05000000000000000000" pitchFamily="2" charset="2"/>
              </a:rPr>
              <a:t>Discrete</a:t>
            </a:r>
            <a:r>
              <a:rPr lang="en-US" altLang="en-US" sz="2000" dirty="0">
                <a:latin typeface="+mj-lt"/>
                <a:sym typeface="Wingdings" panose="05000000000000000000" pitchFamily="2" charset="2"/>
              </a:rPr>
              <a:t>:  There are a limited number of distinct, clearly defined percepts and actions we say that environment is discrete.</a:t>
            </a:r>
          </a:p>
        </p:txBody>
      </p:sp>
      <p:sp>
        <p:nvSpPr>
          <p:cNvPr id="37892" name="Text Box 4">
            <a:extLst>
              <a:ext uri="{FF2B5EF4-FFF2-40B4-BE49-F238E27FC236}">
                <a16:creationId xmlns:a16="http://schemas.microsoft.com/office/drawing/2014/main" id="{648C8D1E-289C-A302-0F05-E79E201A3F48}"/>
              </a:ext>
            </a:extLst>
          </p:cNvPr>
          <p:cNvSpPr txBox="1">
            <a:spLocks noChangeArrowheads="1"/>
          </p:cNvSpPr>
          <p:nvPr/>
        </p:nvSpPr>
        <p:spPr bwMode="auto">
          <a:xfrm>
            <a:off x="1524000" y="2895600"/>
            <a:ext cx="1114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sym typeface="Wingdings" panose="05000000000000000000" pitchFamily="2" charset="2"/>
              </a:rPr>
              <a:t>Dynamic</a:t>
            </a:r>
          </a:p>
        </p:txBody>
      </p:sp>
      <p:sp>
        <p:nvSpPr>
          <p:cNvPr id="37893" name="Line 5">
            <a:extLst>
              <a:ext uri="{FF2B5EF4-FFF2-40B4-BE49-F238E27FC236}">
                <a16:creationId xmlns:a16="http://schemas.microsoft.com/office/drawing/2014/main" id="{921E65A1-14FF-522E-7867-33C761C792AF}"/>
              </a:ext>
            </a:extLst>
          </p:cNvPr>
          <p:cNvSpPr>
            <a:spLocks noChangeShapeType="1"/>
          </p:cNvSpPr>
          <p:nvPr/>
        </p:nvSpPr>
        <p:spPr bwMode="auto">
          <a:xfrm>
            <a:off x="2743200" y="3200400"/>
            <a:ext cx="609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ZA" dirty="0"/>
          </a:p>
        </p:txBody>
      </p:sp>
      <p:sp>
        <p:nvSpPr>
          <p:cNvPr id="37894" name="Line 6">
            <a:extLst>
              <a:ext uri="{FF2B5EF4-FFF2-40B4-BE49-F238E27FC236}">
                <a16:creationId xmlns:a16="http://schemas.microsoft.com/office/drawing/2014/main" id="{3F5AAB57-9545-D1AE-CAFD-4867D0A9D6B3}"/>
              </a:ext>
            </a:extLst>
          </p:cNvPr>
          <p:cNvSpPr>
            <a:spLocks noChangeShapeType="1"/>
          </p:cNvSpPr>
          <p:nvPr/>
        </p:nvSpPr>
        <p:spPr bwMode="auto">
          <a:xfrm flipV="1">
            <a:off x="2743200" y="2743200"/>
            <a:ext cx="609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ZA" dirty="0"/>
          </a:p>
        </p:txBody>
      </p:sp>
      <p:sp>
        <p:nvSpPr>
          <p:cNvPr id="37895" name="Text Box 7">
            <a:extLst>
              <a:ext uri="{FF2B5EF4-FFF2-40B4-BE49-F238E27FC236}">
                <a16:creationId xmlns:a16="http://schemas.microsoft.com/office/drawing/2014/main" id="{703EFDDB-E4FF-C6EC-4E2B-8566893A8D7C}"/>
              </a:ext>
            </a:extLst>
          </p:cNvPr>
          <p:cNvSpPr txBox="1">
            <a:spLocks noChangeArrowheads="1"/>
          </p:cNvSpPr>
          <p:nvPr/>
        </p:nvSpPr>
        <p:spPr bwMode="auto">
          <a:xfrm>
            <a:off x="3489325" y="2528888"/>
            <a:ext cx="2790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sym typeface="Wingdings" panose="05000000000000000000" pitchFamily="2" charset="2"/>
              </a:rPr>
              <a:t>Need to worry about time</a:t>
            </a:r>
          </a:p>
        </p:txBody>
      </p:sp>
      <p:sp>
        <p:nvSpPr>
          <p:cNvPr id="37896" name="Text Box 8">
            <a:extLst>
              <a:ext uri="{FF2B5EF4-FFF2-40B4-BE49-F238E27FC236}">
                <a16:creationId xmlns:a16="http://schemas.microsoft.com/office/drawing/2014/main" id="{10752D58-C9DD-686F-21F2-A51B764945B4}"/>
              </a:ext>
            </a:extLst>
          </p:cNvPr>
          <p:cNvSpPr txBox="1">
            <a:spLocks noChangeArrowheads="1"/>
          </p:cNvSpPr>
          <p:nvPr/>
        </p:nvSpPr>
        <p:spPr bwMode="auto">
          <a:xfrm>
            <a:off x="3505200" y="3276600"/>
            <a:ext cx="3733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sym typeface="Wingdings" panose="05000000000000000000" pitchFamily="2" charset="2"/>
              </a:rPr>
              <a:t>Need to observe while deliberating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Slide Number Placeholder 5">
            <a:extLst>
              <a:ext uri="{FF2B5EF4-FFF2-40B4-BE49-F238E27FC236}">
                <a16:creationId xmlns:a16="http://schemas.microsoft.com/office/drawing/2014/main" id="{400DA925-B463-EC1F-E5BF-1BD89A055918}"/>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49</a:t>
            </a:fld>
            <a:endParaRPr kumimoji="0" lang="en-US" altLang="zh-CN" sz="2600">
              <a:solidFill>
                <a:schemeClr val="bg1"/>
              </a:solidFill>
              <a:ea typeface="宋体" panose="02010600030101010101" pitchFamily="2" charset="-122"/>
            </a:endParaRPr>
          </a:p>
        </p:txBody>
      </p:sp>
      <p:sp>
        <p:nvSpPr>
          <p:cNvPr id="29701" name="Rectangle 2">
            <a:extLst>
              <a:ext uri="{FF2B5EF4-FFF2-40B4-BE49-F238E27FC236}">
                <a16:creationId xmlns:a16="http://schemas.microsoft.com/office/drawing/2014/main" id="{91420D32-EA84-6435-F249-332FAC63790F}"/>
              </a:ext>
            </a:extLst>
          </p:cNvPr>
          <p:cNvSpPr>
            <a:spLocks noGrp="1" noChangeArrowheads="1"/>
          </p:cNvSpPr>
          <p:nvPr>
            <p:ph type="title"/>
          </p:nvPr>
        </p:nvSpPr>
        <p:spPr>
          <a:xfrm>
            <a:off x="1057434" y="685800"/>
            <a:ext cx="7029132" cy="795719"/>
          </a:xfrm>
        </p:spPr>
        <p:txBody>
          <a:bodyPr/>
          <a:lstStyle/>
          <a:p>
            <a:pPr eaLnBrk="1" hangingPunct="1"/>
            <a:r>
              <a:rPr lang="en-US" altLang="zh-CN" dirty="0"/>
              <a:t>Type of environment </a:t>
            </a:r>
          </a:p>
        </p:txBody>
      </p:sp>
      <p:sp>
        <p:nvSpPr>
          <p:cNvPr id="29702" name="Rectangle 3">
            <a:extLst>
              <a:ext uri="{FF2B5EF4-FFF2-40B4-BE49-F238E27FC236}">
                <a16:creationId xmlns:a16="http://schemas.microsoft.com/office/drawing/2014/main" id="{0CA170D8-6BB6-6E94-7A69-15164EAA734F}"/>
              </a:ext>
            </a:extLst>
          </p:cNvPr>
          <p:cNvSpPr>
            <a:spLocks noGrp="1" noChangeArrowheads="1"/>
          </p:cNvSpPr>
          <p:nvPr>
            <p:ph type="body" idx="1"/>
          </p:nvPr>
        </p:nvSpPr>
        <p:spPr>
          <a:xfrm>
            <a:off x="762000" y="1676400"/>
            <a:ext cx="8153400" cy="4001095"/>
          </a:xfrm>
        </p:spPr>
        <p:txBody>
          <a:bodyPr/>
          <a:lstStyle/>
          <a:p>
            <a:pPr eaLnBrk="1" hangingPunct="1"/>
            <a:r>
              <a:rPr lang="en-US" altLang="zh-CN" dirty="0"/>
              <a:t>An agent will not have </a:t>
            </a:r>
            <a:r>
              <a:rPr lang="en-US" altLang="zh-CN" u="sng" dirty="0">
                <a:solidFill>
                  <a:srgbClr val="FF3300"/>
                </a:solidFill>
              </a:rPr>
              <a:t>complete</a:t>
            </a:r>
            <a:r>
              <a:rPr lang="en-US" altLang="zh-CN" dirty="0"/>
              <a:t> control over its environment, but have </a:t>
            </a:r>
            <a:r>
              <a:rPr lang="en-US" altLang="zh-CN" u="sng" dirty="0">
                <a:solidFill>
                  <a:srgbClr val="FF3300"/>
                </a:solidFill>
              </a:rPr>
              <a:t>partial</a:t>
            </a:r>
            <a:r>
              <a:rPr lang="en-US" altLang="zh-CN" dirty="0"/>
              <a:t> control, in that it can </a:t>
            </a:r>
            <a:r>
              <a:rPr lang="en-US" altLang="zh-CN" u="sng" dirty="0">
                <a:solidFill>
                  <a:srgbClr val="FF3300"/>
                </a:solidFill>
              </a:rPr>
              <a:t>influence</a:t>
            </a:r>
            <a:r>
              <a:rPr lang="en-US" altLang="zh-CN" dirty="0"/>
              <a:t> it.</a:t>
            </a:r>
          </a:p>
          <a:p>
            <a:pPr eaLnBrk="1" hangingPunct="1"/>
            <a:endParaRPr lang="en-US" altLang="zh-CN" dirty="0"/>
          </a:p>
          <a:p>
            <a:pPr eaLnBrk="1" hangingPunct="1"/>
            <a:r>
              <a:rPr lang="en-US" altLang="zh-CN" dirty="0"/>
              <a:t>Classification of environment properties </a:t>
            </a:r>
          </a:p>
          <a:p>
            <a:pPr eaLnBrk="1" hangingPunct="1"/>
            <a:r>
              <a:rPr lang="en-US" altLang="zh-CN" sz="2000" dirty="0">
                <a:solidFill>
                  <a:srgbClr val="FF3300"/>
                </a:solidFill>
              </a:rPr>
              <a:t>        Accessible vs. inaccessible</a:t>
            </a:r>
          </a:p>
          <a:p>
            <a:pPr lvl="1" eaLnBrk="1" hangingPunct="1"/>
            <a:r>
              <a:rPr lang="en-US" altLang="zh-CN" sz="2000" dirty="0">
                <a:solidFill>
                  <a:srgbClr val="FF3300"/>
                </a:solidFill>
              </a:rPr>
              <a:t>Deterministic vs. non-deterministic</a:t>
            </a:r>
          </a:p>
          <a:p>
            <a:pPr lvl="1" eaLnBrk="1" hangingPunct="1"/>
            <a:r>
              <a:rPr lang="en-US" altLang="zh-CN" sz="2000" dirty="0">
                <a:solidFill>
                  <a:srgbClr val="FF3300"/>
                </a:solidFill>
              </a:rPr>
              <a:t>Episodic vs. non-episodic</a:t>
            </a:r>
          </a:p>
          <a:p>
            <a:pPr lvl="1" eaLnBrk="1" hangingPunct="1"/>
            <a:r>
              <a:rPr lang="en-US" altLang="zh-CN" sz="2000" dirty="0">
                <a:solidFill>
                  <a:srgbClr val="FF3300"/>
                </a:solidFill>
              </a:rPr>
              <a:t>Static vs. dynamic</a:t>
            </a:r>
          </a:p>
          <a:p>
            <a:pPr lvl="1" eaLnBrk="1" hangingPunct="1"/>
            <a:r>
              <a:rPr lang="en-US" altLang="zh-CN" sz="2000" dirty="0">
                <a:solidFill>
                  <a:srgbClr val="FF3300"/>
                </a:solidFill>
              </a:rPr>
              <a:t>Discrete vs. continuous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Slide Number Placeholder 5">
            <a:extLst>
              <a:ext uri="{FF2B5EF4-FFF2-40B4-BE49-F238E27FC236}">
                <a16:creationId xmlns:a16="http://schemas.microsoft.com/office/drawing/2014/main" id="{61E06E5F-1844-EEC3-0F45-BFACD01868D4}"/>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50</a:t>
            </a:fld>
            <a:endParaRPr kumimoji="0" lang="en-US" altLang="zh-CN" sz="2600">
              <a:solidFill>
                <a:schemeClr val="bg1"/>
              </a:solidFill>
              <a:ea typeface="宋体" panose="02010600030101010101" pitchFamily="2" charset="-122"/>
            </a:endParaRPr>
          </a:p>
        </p:txBody>
      </p:sp>
      <p:sp>
        <p:nvSpPr>
          <p:cNvPr id="30725" name="Rectangle 2">
            <a:extLst>
              <a:ext uri="{FF2B5EF4-FFF2-40B4-BE49-F238E27FC236}">
                <a16:creationId xmlns:a16="http://schemas.microsoft.com/office/drawing/2014/main" id="{13D71D0F-AFAD-3195-F0E6-ED465AE8F898}"/>
              </a:ext>
            </a:extLst>
          </p:cNvPr>
          <p:cNvSpPr>
            <a:spLocks noGrp="1" noChangeArrowheads="1"/>
          </p:cNvSpPr>
          <p:nvPr>
            <p:ph type="title"/>
          </p:nvPr>
        </p:nvSpPr>
        <p:spPr>
          <a:xfrm>
            <a:off x="914400" y="914400"/>
            <a:ext cx="7029132" cy="719519"/>
          </a:xfrm>
        </p:spPr>
        <p:txBody>
          <a:bodyPr/>
          <a:lstStyle/>
          <a:p>
            <a:pPr eaLnBrk="1" hangingPunct="1"/>
            <a:r>
              <a:rPr lang="en-US" altLang="zh-CN" dirty="0"/>
              <a:t>Accessible vs. inaccessible</a:t>
            </a:r>
          </a:p>
        </p:txBody>
      </p:sp>
      <p:sp>
        <p:nvSpPr>
          <p:cNvPr id="30726" name="Rectangle 3">
            <a:extLst>
              <a:ext uri="{FF2B5EF4-FFF2-40B4-BE49-F238E27FC236}">
                <a16:creationId xmlns:a16="http://schemas.microsoft.com/office/drawing/2014/main" id="{1C753934-E878-DCC0-3B7C-8864F3B92EB0}"/>
              </a:ext>
            </a:extLst>
          </p:cNvPr>
          <p:cNvSpPr>
            <a:spLocks noGrp="1" noChangeArrowheads="1"/>
          </p:cNvSpPr>
          <p:nvPr>
            <p:ph type="body" idx="1"/>
          </p:nvPr>
        </p:nvSpPr>
        <p:spPr>
          <a:xfrm>
            <a:off x="381000" y="2337117"/>
            <a:ext cx="8130540" cy="2729865"/>
          </a:xfrm>
        </p:spPr>
        <p:txBody>
          <a:bodyPr/>
          <a:lstStyle/>
          <a:p>
            <a:pPr eaLnBrk="1" hangingPunct="1">
              <a:lnSpc>
                <a:spcPct val="120000"/>
              </a:lnSpc>
            </a:pPr>
            <a:r>
              <a:rPr lang="en-US" altLang="zh-CN" dirty="0">
                <a:solidFill>
                  <a:srgbClr val="FF3300"/>
                </a:solidFill>
              </a:rPr>
              <a:t>Accessible vs. inaccessible</a:t>
            </a:r>
          </a:p>
          <a:p>
            <a:pPr lvl="1" eaLnBrk="1" hangingPunct="1">
              <a:lnSpc>
                <a:spcPct val="120000"/>
              </a:lnSpc>
            </a:pPr>
            <a:r>
              <a:rPr lang="en-US" altLang="zh-CN" dirty="0">
                <a:solidFill>
                  <a:schemeClr val="accent1"/>
                </a:solidFill>
              </a:rPr>
              <a:t>An accessible environment is one in which the agent can obtain complete, accurate, up-to-date information about the environment’s state. (also complete observable vs. partial observable)</a:t>
            </a:r>
          </a:p>
          <a:p>
            <a:pPr lvl="1" eaLnBrk="1" hangingPunct="1">
              <a:lnSpc>
                <a:spcPct val="120000"/>
              </a:lnSpc>
            </a:pPr>
            <a:r>
              <a:rPr lang="en-US" altLang="zh-CN" dirty="0">
                <a:solidFill>
                  <a:schemeClr val="accent2"/>
                </a:solidFill>
              </a:rPr>
              <a:t>Accessible: sensor give complete state of the environment.</a:t>
            </a:r>
          </a:p>
          <a:p>
            <a:pPr lvl="1" eaLnBrk="1" hangingPunct="1">
              <a:lnSpc>
                <a:spcPct val="120000"/>
              </a:lnSpc>
            </a:pPr>
            <a:r>
              <a:rPr lang="en-US" altLang="zh-CN" dirty="0">
                <a:solidFill>
                  <a:schemeClr val="folHlink"/>
                </a:solidFill>
              </a:rPr>
              <a:t>In an accessible environment, agent needn’t keep track of the world through its </a:t>
            </a:r>
            <a:r>
              <a:rPr lang="en-US" altLang="zh-CN" i="1" u="sng" dirty="0">
                <a:solidFill>
                  <a:schemeClr val="folHlink"/>
                </a:solidFill>
              </a:rPr>
              <a:t>internal state</a:t>
            </a:r>
            <a:r>
              <a:rPr lang="en-US" altLang="zh-CN" dirty="0">
                <a:solidFill>
                  <a:schemeClr val="folHlink"/>
                </a:solidFill>
              </a:rPr>
              <a:t>.</a:t>
            </a:r>
          </a:p>
          <a:p>
            <a:pPr eaLnBrk="1" hangingPunct="1"/>
            <a:endParaRPr lang="en-US" altLang="zh-CN" dirty="0">
              <a:solidFill>
                <a:schemeClr val="folHlink"/>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Slide Number Placeholder 5">
            <a:extLst>
              <a:ext uri="{FF2B5EF4-FFF2-40B4-BE49-F238E27FC236}">
                <a16:creationId xmlns:a16="http://schemas.microsoft.com/office/drawing/2014/main" id="{6B52DEB0-2E99-0FED-021A-B0F4DF327F85}"/>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51</a:t>
            </a:fld>
            <a:endParaRPr kumimoji="0" lang="en-US" altLang="zh-CN" sz="2600">
              <a:solidFill>
                <a:schemeClr val="bg1"/>
              </a:solidFill>
              <a:ea typeface="宋体" panose="02010600030101010101" pitchFamily="2" charset="-122"/>
            </a:endParaRPr>
          </a:p>
        </p:txBody>
      </p:sp>
      <p:sp>
        <p:nvSpPr>
          <p:cNvPr id="31749" name="Rectangle 2">
            <a:extLst>
              <a:ext uri="{FF2B5EF4-FFF2-40B4-BE49-F238E27FC236}">
                <a16:creationId xmlns:a16="http://schemas.microsoft.com/office/drawing/2014/main" id="{BE47A64B-3F86-C9FF-DE0B-6A55F8C0FFE9}"/>
              </a:ext>
            </a:extLst>
          </p:cNvPr>
          <p:cNvSpPr>
            <a:spLocks noGrp="1" noChangeArrowheads="1"/>
          </p:cNvSpPr>
          <p:nvPr>
            <p:ph type="title"/>
          </p:nvPr>
        </p:nvSpPr>
        <p:spPr>
          <a:xfrm>
            <a:off x="359290" y="921782"/>
            <a:ext cx="7420198" cy="615553"/>
          </a:xfrm>
        </p:spPr>
        <p:txBody>
          <a:bodyPr/>
          <a:lstStyle/>
          <a:p>
            <a:pPr eaLnBrk="1" hangingPunct="1"/>
            <a:r>
              <a:rPr lang="en-US" altLang="zh-CN" sz="4000" dirty="0"/>
              <a:t>Deterministic vs. non-deterministic</a:t>
            </a:r>
          </a:p>
        </p:txBody>
      </p:sp>
      <p:sp>
        <p:nvSpPr>
          <p:cNvPr id="31750" name="Rectangle 3">
            <a:extLst>
              <a:ext uri="{FF2B5EF4-FFF2-40B4-BE49-F238E27FC236}">
                <a16:creationId xmlns:a16="http://schemas.microsoft.com/office/drawing/2014/main" id="{5F5BDC76-E240-65D6-540F-80B382F69359}"/>
              </a:ext>
            </a:extLst>
          </p:cNvPr>
          <p:cNvSpPr>
            <a:spLocks noGrp="1" noChangeArrowheads="1"/>
          </p:cNvSpPr>
          <p:nvPr>
            <p:ph type="body" idx="1"/>
          </p:nvPr>
        </p:nvSpPr>
        <p:spPr>
          <a:xfrm>
            <a:off x="381000" y="2362200"/>
            <a:ext cx="8130540" cy="2958465"/>
          </a:xfrm>
        </p:spPr>
        <p:txBody>
          <a:bodyPr/>
          <a:lstStyle/>
          <a:p>
            <a:pPr eaLnBrk="1" hangingPunct="1">
              <a:lnSpc>
                <a:spcPct val="120000"/>
              </a:lnSpc>
            </a:pPr>
            <a:r>
              <a:rPr lang="en-US" altLang="zh-CN" dirty="0">
                <a:solidFill>
                  <a:srgbClr val="FF3300"/>
                </a:solidFill>
              </a:rPr>
              <a:t>Deterministic vs. non-deterministic</a:t>
            </a:r>
          </a:p>
          <a:p>
            <a:pPr lvl="1" eaLnBrk="1" hangingPunct="1">
              <a:lnSpc>
                <a:spcPct val="120000"/>
              </a:lnSpc>
            </a:pPr>
            <a:r>
              <a:rPr lang="en-US" altLang="zh-CN" dirty="0">
                <a:solidFill>
                  <a:schemeClr val="accent1"/>
                </a:solidFill>
              </a:rPr>
              <a:t>A deterministic environment is one in which any action has a single guaranteed effect , there is no uncertainty about the state that will result from performing an action.</a:t>
            </a:r>
          </a:p>
          <a:p>
            <a:pPr lvl="1" eaLnBrk="1" hangingPunct="1">
              <a:lnSpc>
                <a:spcPct val="120000"/>
              </a:lnSpc>
            </a:pPr>
            <a:r>
              <a:rPr lang="en-US" altLang="zh-CN" dirty="0">
                <a:solidFill>
                  <a:schemeClr val="accent2"/>
                </a:solidFill>
              </a:rPr>
              <a:t>That is, next state of the environment is completely determined by the </a:t>
            </a:r>
            <a:r>
              <a:rPr lang="en-US" altLang="zh-CN" i="1" u="sng" dirty="0">
                <a:solidFill>
                  <a:schemeClr val="accent2"/>
                </a:solidFill>
              </a:rPr>
              <a:t>current state</a:t>
            </a:r>
            <a:r>
              <a:rPr lang="en-US" altLang="zh-CN" dirty="0">
                <a:solidFill>
                  <a:schemeClr val="accent2"/>
                </a:solidFill>
              </a:rPr>
              <a:t> and the </a:t>
            </a:r>
            <a:r>
              <a:rPr lang="en-US" altLang="zh-CN" i="1" u="sng" dirty="0">
                <a:solidFill>
                  <a:schemeClr val="accent2"/>
                </a:solidFill>
              </a:rPr>
              <a:t>action</a:t>
            </a:r>
            <a:r>
              <a:rPr lang="en-US" altLang="zh-CN" dirty="0">
                <a:solidFill>
                  <a:schemeClr val="accent2"/>
                </a:solidFill>
              </a:rPr>
              <a:t> select by the agent.</a:t>
            </a:r>
          </a:p>
          <a:p>
            <a:pPr lvl="1" eaLnBrk="1" hangingPunct="1">
              <a:lnSpc>
                <a:spcPct val="120000"/>
              </a:lnSpc>
            </a:pPr>
            <a:r>
              <a:rPr lang="en-US" altLang="zh-CN" dirty="0">
                <a:solidFill>
                  <a:schemeClr val="folHlink"/>
                </a:solidFill>
              </a:rPr>
              <a:t>Non-deterministic: a probabilistic model could be available.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Slide Number Placeholder 5">
            <a:extLst>
              <a:ext uri="{FF2B5EF4-FFF2-40B4-BE49-F238E27FC236}">
                <a16:creationId xmlns:a16="http://schemas.microsoft.com/office/drawing/2014/main" id="{7F232AD7-43B5-959C-63D7-BBBC1E666C2F}"/>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52</a:t>
            </a:fld>
            <a:endParaRPr kumimoji="0" lang="en-US" altLang="zh-CN" sz="2600">
              <a:solidFill>
                <a:schemeClr val="bg1"/>
              </a:solidFill>
              <a:ea typeface="宋体" panose="02010600030101010101" pitchFamily="2" charset="-122"/>
            </a:endParaRPr>
          </a:p>
        </p:txBody>
      </p:sp>
      <p:sp>
        <p:nvSpPr>
          <p:cNvPr id="32773" name="Rectangle 2">
            <a:extLst>
              <a:ext uri="{FF2B5EF4-FFF2-40B4-BE49-F238E27FC236}">
                <a16:creationId xmlns:a16="http://schemas.microsoft.com/office/drawing/2014/main" id="{A741A152-B105-1814-1C09-97D5CF51C3F7}"/>
              </a:ext>
            </a:extLst>
          </p:cNvPr>
          <p:cNvSpPr>
            <a:spLocks noGrp="1" noChangeArrowheads="1"/>
          </p:cNvSpPr>
          <p:nvPr>
            <p:ph type="title"/>
          </p:nvPr>
        </p:nvSpPr>
        <p:spPr>
          <a:xfrm>
            <a:off x="990600" y="1143000"/>
            <a:ext cx="7029132" cy="795719"/>
          </a:xfrm>
        </p:spPr>
        <p:txBody>
          <a:bodyPr/>
          <a:lstStyle/>
          <a:p>
            <a:pPr eaLnBrk="1" hangingPunct="1"/>
            <a:r>
              <a:rPr lang="en-US" altLang="zh-CN" dirty="0"/>
              <a:t>Episodic vs. non-episodic</a:t>
            </a:r>
          </a:p>
        </p:txBody>
      </p:sp>
      <p:sp>
        <p:nvSpPr>
          <p:cNvPr id="32774" name="Rectangle 3">
            <a:extLst>
              <a:ext uri="{FF2B5EF4-FFF2-40B4-BE49-F238E27FC236}">
                <a16:creationId xmlns:a16="http://schemas.microsoft.com/office/drawing/2014/main" id="{7268DB3B-28CA-EA05-D975-5C2B86001B35}"/>
              </a:ext>
            </a:extLst>
          </p:cNvPr>
          <p:cNvSpPr>
            <a:spLocks noGrp="1" noChangeArrowheads="1"/>
          </p:cNvSpPr>
          <p:nvPr>
            <p:ph type="body" idx="1"/>
          </p:nvPr>
        </p:nvSpPr>
        <p:spPr>
          <a:xfrm>
            <a:off x="457200" y="2209800"/>
            <a:ext cx="8130540" cy="2729865"/>
          </a:xfrm>
        </p:spPr>
        <p:txBody>
          <a:bodyPr/>
          <a:lstStyle/>
          <a:p>
            <a:pPr eaLnBrk="1" hangingPunct="1">
              <a:lnSpc>
                <a:spcPct val="120000"/>
              </a:lnSpc>
            </a:pPr>
            <a:r>
              <a:rPr lang="en-US" altLang="zh-CN" dirty="0">
                <a:solidFill>
                  <a:srgbClr val="FF3300"/>
                </a:solidFill>
              </a:rPr>
              <a:t>Episodic vs. non-episodic</a:t>
            </a:r>
          </a:p>
          <a:p>
            <a:pPr lvl="1" eaLnBrk="1" hangingPunct="1">
              <a:lnSpc>
                <a:spcPct val="120000"/>
              </a:lnSpc>
            </a:pPr>
            <a:r>
              <a:rPr lang="en-US" altLang="zh-CN" dirty="0">
                <a:solidFill>
                  <a:schemeClr val="accent1"/>
                </a:solidFill>
              </a:rPr>
              <a:t>In an episodic environment, the performance of an agent is dependent on a number of discrete episodes, with no link between the performance of an agent in different scenarios. It need not reason about the interaction between this and future episodes. (such as a game of chess)</a:t>
            </a:r>
          </a:p>
          <a:p>
            <a:pPr lvl="1" eaLnBrk="1" hangingPunct="1">
              <a:lnSpc>
                <a:spcPct val="120000"/>
              </a:lnSpc>
            </a:pPr>
            <a:r>
              <a:rPr lang="en-US" altLang="zh-CN" dirty="0">
                <a:solidFill>
                  <a:schemeClr val="accent2"/>
                </a:solidFill>
              </a:rPr>
              <a:t>In an episodic environment, agent doesn’t need to remember the past, and doesn’t have to think the next episodic ahead. </a:t>
            </a:r>
          </a:p>
          <a:p>
            <a:pPr eaLnBrk="1" hangingPunct="1"/>
            <a:endParaRPr lang="en-US" altLang="zh-CN" dirty="0">
              <a:solidFill>
                <a:schemeClr val="accent2"/>
              </a:solidFill>
            </a:endParaRPr>
          </a:p>
          <a:p>
            <a:pPr lvl="1" eaLnBrk="1" hangingPunct="1"/>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Slide Number Placeholder 5">
            <a:extLst>
              <a:ext uri="{FF2B5EF4-FFF2-40B4-BE49-F238E27FC236}">
                <a16:creationId xmlns:a16="http://schemas.microsoft.com/office/drawing/2014/main" id="{BB7E6AA9-3397-1EE4-F1F6-B76290A92ED1}"/>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53</a:t>
            </a:fld>
            <a:endParaRPr kumimoji="0" lang="en-US" altLang="zh-CN" sz="2600">
              <a:solidFill>
                <a:schemeClr val="bg1"/>
              </a:solidFill>
              <a:ea typeface="宋体" panose="02010600030101010101" pitchFamily="2" charset="-122"/>
            </a:endParaRPr>
          </a:p>
        </p:txBody>
      </p:sp>
      <p:sp>
        <p:nvSpPr>
          <p:cNvPr id="34821" name="Rectangle 2">
            <a:extLst>
              <a:ext uri="{FF2B5EF4-FFF2-40B4-BE49-F238E27FC236}">
                <a16:creationId xmlns:a16="http://schemas.microsoft.com/office/drawing/2014/main" id="{33A96A1F-8849-7E02-9F70-6722F8760AB3}"/>
              </a:ext>
            </a:extLst>
          </p:cNvPr>
          <p:cNvSpPr>
            <a:spLocks noGrp="1" noChangeArrowheads="1"/>
          </p:cNvSpPr>
          <p:nvPr>
            <p:ph type="title"/>
          </p:nvPr>
        </p:nvSpPr>
        <p:spPr>
          <a:xfrm>
            <a:off x="1057434" y="1066800"/>
            <a:ext cx="4886166" cy="719519"/>
          </a:xfrm>
        </p:spPr>
        <p:txBody>
          <a:bodyPr/>
          <a:lstStyle/>
          <a:p>
            <a:pPr eaLnBrk="1" hangingPunct="1"/>
            <a:r>
              <a:rPr lang="en-US" altLang="zh-CN" dirty="0"/>
              <a:t>Static vs. dynamic</a:t>
            </a:r>
          </a:p>
        </p:txBody>
      </p:sp>
      <p:sp>
        <p:nvSpPr>
          <p:cNvPr id="34822" name="Rectangle 3">
            <a:extLst>
              <a:ext uri="{FF2B5EF4-FFF2-40B4-BE49-F238E27FC236}">
                <a16:creationId xmlns:a16="http://schemas.microsoft.com/office/drawing/2014/main" id="{CDCE530C-2BB3-AE9F-F73A-F4EEEA028FE4}"/>
              </a:ext>
            </a:extLst>
          </p:cNvPr>
          <p:cNvSpPr>
            <a:spLocks noGrp="1" noChangeArrowheads="1"/>
          </p:cNvSpPr>
          <p:nvPr>
            <p:ph type="body" idx="1"/>
          </p:nvPr>
        </p:nvSpPr>
        <p:spPr>
          <a:xfrm>
            <a:off x="381000" y="2375217"/>
            <a:ext cx="8130540" cy="2806065"/>
          </a:xfrm>
        </p:spPr>
        <p:txBody>
          <a:bodyPr/>
          <a:lstStyle/>
          <a:p>
            <a:pPr eaLnBrk="1" hangingPunct="1">
              <a:lnSpc>
                <a:spcPct val="130000"/>
              </a:lnSpc>
            </a:pPr>
            <a:r>
              <a:rPr lang="en-US" altLang="zh-CN" dirty="0">
                <a:solidFill>
                  <a:srgbClr val="FF3300"/>
                </a:solidFill>
              </a:rPr>
              <a:t>Static vs. dynamic</a:t>
            </a:r>
          </a:p>
          <a:p>
            <a:pPr lvl="1" eaLnBrk="1" hangingPunct="1">
              <a:lnSpc>
                <a:spcPct val="130000"/>
              </a:lnSpc>
            </a:pPr>
            <a:r>
              <a:rPr lang="en-US" altLang="zh-CN" dirty="0">
                <a:solidFill>
                  <a:schemeClr val="accent1"/>
                </a:solidFill>
              </a:rPr>
              <a:t>A static environment is one that can assumed to remain unchanged expect by the performance of actions by the agents. </a:t>
            </a:r>
          </a:p>
          <a:p>
            <a:pPr lvl="1" eaLnBrk="1" hangingPunct="1">
              <a:lnSpc>
                <a:spcPct val="130000"/>
              </a:lnSpc>
            </a:pPr>
            <a:r>
              <a:rPr lang="en-US" altLang="zh-CN" dirty="0">
                <a:solidFill>
                  <a:schemeClr val="accent2"/>
                </a:solidFill>
              </a:rPr>
              <a:t>A dynamic environment is one that has other processes operating on it which hence changes in ways beyond the agent’s control.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Slide Number Placeholder 5">
            <a:extLst>
              <a:ext uri="{FF2B5EF4-FFF2-40B4-BE49-F238E27FC236}">
                <a16:creationId xmlns:a16="http://schemas.microsoft.com/office/drawing/2014/main" id="{AFFDFDF3-A433-895A-129D-10D18D3DA4C7}"/>
              </a:ext>
            </a:extLst>
          </p:cNvPr>
          <p:cNvSpPr>
            <a:spLocks noGrp="1"/>
          </p:cNvSpPr>
          <p:nvPr>
            <p:ph type="sldNum" sz="quarter" idx="12"/>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defPPr>
              <a:defRPr lang="zh-CN"/>
            </a:defPPr>
            <a:lvl1pPr algn="l" rtl="0" eaLnBrk="1" fontAlgn="base" hangingPunct="1">
              <a:spcBef>
                <a:spcPct val="0"/>
              </a:spcBef>
              <a:spcAft>
                <a:spcPct val="0"/>
              </a:spcAft>
              <a:buClrTx/>
              <a:buSzTx/>
              <a:buFontTx/>
              <a:buNone/>
              <a:defRPr kumimoji="0" sz="2600" b="1" kern="1200" smtClean="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2pPr>
            <a:lvl3pPr marL="9144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3pPr>
            <a:lvl4pPr marL="13716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4pPr>
            <a:lvl5pPr marL="1828800" algn="l" rtl="0" eaLnBrk="0" fontAlgn="base" hangingPunct="0">
              <a:spcBef>
                <a:spcPct val="0"/>
              </a:spcBef>
              <a:spcAft>
                <a:spcPct val="0"/>
              </a:spcAft>
              <a:defRPr kumimoji="1" sz="2400" b="1" kern="1200">
                <a:solidFill>
                  <a:schemeClr val="hlink"/>
                </a:solidFill>
                <a:latin typeface="Arial" panose="020B0604020202020204" pitchFamily="34" charset="0"/>
                <a:ea typeface="隶书" pitchFamily="49" charset="-122"/>
                <a:cs typeface="+mn-cs"/>
              </a:defRPr>
            </a:lvl5pPr>
            <a:lvl6pPr marL="22860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6pPr>
            <a:lvl7pPr marL="27432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7pPr>
            <a:lvl8pPr marL="32004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8pPr>
            <a:lvl9pPr marL="3657600" algn="l" defTabSz="914400" rtl="0" eaLnBrk="1" latinLnBrk="0" hangingPunct="1">
              <a:defRPr kumimoji="1" sz="2400" b="1" kern="1200">
                <a:solidFill>
                  <a:schemeClr val="hlink"/>
                </a:solidFill>
                <a:latin typeface="Arial" panose="020B0604020202020204" pitchFamily="34" charset="0"/>
                <a:ea typeface="隶书" pitchFamily="49" charset="-122"/>
                <a:cs typeface="+mn-cs"/>
              </a:defRPr>
            </a:lvl9pPr>
          </a:lstStyle>
          <a:p>
            <a:pPr>
              <a:spcBef>
                <a:spcPct val="0"/>
              </a:spcBef>
              <a:buClrTx/>
              <a:buSzTx/>
              <a:buFontTx/>
              <a:buNone/>
              <a:defRPr/>
            </a:pPr>
            <a:fld id="{7F7A7A22-46FA-4A0C-85E6-8E9E5B8D579B}" type="slidenum">
              <a:rPr lang="en-US" altLang="zh-CN" smtClean="0"/>
              <a:pPr>
                <a:spcBef>
                  <a:spcPct val="0"/>
                </a:spcBef>
                <a:buClrTx/>
                <a:buSzTx/>
                <a:buFontTx/>
                <a:buNone/>
                <a:defRPr/>
              </a:pPr>
              <a:t>54</a:t>
            </a:fld>
            <a:endParaRPr kumimoji="0" lang="en-US" altLang="zh-CN" sz="2600">
              <a:solidFill>
                <a:schemeClr val="bg1"/>
              </a:solidFill>
              <a:ea typeface="宋体" panose="02010600030101010101" pitchFamily="2" charset="-122"/>
            </a:endParaRPr>
          </a:p>
        </p:txBody>
      </p:sp>
      <p:sp>
        <p:nvSpPr>
          <p:cNvPr id="35845" name="Rectangle 2">
            <a:extLst>
              <a:ext uri="{FF2B5EF4-FFF2-40B4-BE49-F238E27FC236}">
                <a16:creationId xmlns:a16="http://schemas.microsoft.com/office/drawing/2014/main" id="{48D29423-F353-5150-EF9E-E60C7A969B1F}"/>
              </a:ext>
            </a:extLst>
          </p:cNvPr>
          <p:cNvSpPr>
            <a:spLocks noGrp="1" noChangeArrowheads="1"/>
          </p:cNvSpPr>
          <p:nvPr>
            <p:ph type="title"/>
          </p:nvPr>
        </p:nvSpPr>
        <p:spPr>
          <a:xfrm>
            <a:off x="1143000" y="990600"/>
            <a:ext cx="5538058" cy="719519"/>
          </a:xfrm>
        </p:spPr>
        <p:txBody>
          <a:bodyPr/>
          <a:lstStyle/>
          <a:p>
            <a:pPr eaLnBrk="1" hangingPunct="1"/>
            <a:r>
              <a:rPr lang="en-US" altLang="zh-CN" dirty="0"/>
              <a:t>Discrete vs. continuous</a:t>
            </a:r>
          </a:p>
        </p:txBody>
      </p:sp>
      <p:sp>
        <p:nvSpPr>
          <p:cNvPr id="35846" name="Rectangle 3">
            <a:extLst>
              <a:ext uri="{FF2B5EF4-FFF2-40B4-BE49-F238E27FC236}">
                <a16:creationId xmlns:a16="http://schemas.microsoft.com/office/drawing/2014/main" id="{485F95E9-D7E6-B5B7-DC83-BADA824BCD84}"/>
              </a:ext>
            </a:extLst>
          </p:cNvPr>
          <p:cNvSpPr>
            <a:spLocks noGrp="1" noChangeArrowheads="1"/>
          </p:cNvSpPr>
          <p:nvPr>
            <p:ph type="body" idx="1"/>
          </p:nvPr>
        </p:nvSpPr>
        <p:spPr>
          <a:xfrm>
            <a:off x="381000" y="2133600"/>
            <a:ext cx="8130540" cy="2425065"/>
          </a:xfrm>
        </p:spPr>
        <p:txBody>
          <a:bodyPr/>
          <a:lstStyle/>
          <a:p>
            <a:pPr eaLnBrk="1" hangingPunct="1"/>
            <a:r>
              <a:rPr lang="en-US" altLang="zh-CN" dirty="0">
                <a:solidFill>
                  <a:srgbClr val="FF3300"/>
                </a:solidFill>
              </a:rPr>
              <a:t>Discrete vs. continuous</a:t>
            </a:r>
          </a:p>
          <a:p>
            <a:pPr lvl="1" eaLnBrk="1" hangingPunct="1"/>
            <a:r>
              <a:rPr lang="en-US" altLang="zh-CN" dirty="0"/>
              <a:t>An environment is discrete if there are a fixed, finite number of actions and percepts in it.</a:t>
            </a:r>
          </a:p>
          <a:p>
            <a:pPr eaLnBrk="1" hangingPunct="1"/>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354647" rIns="0" bIns="0" rtlCol="0">
            <a:spAutoFit/>
          </a:bodyPr>
          <a:lstStyle/>
          <a:p>
            <a:pPr marL="1957070">
              <a:lnSpc>
                <a:spcPct val="100000"/>
              </a:lnSpc>
              <a:spcBef>
                <a:spcPts val="105"/>
              </a:spcBef>
            </a:pPr>
            <a:r>
              <a:rPr dirty="0"/>
              <a:t>Foundations</a:t>
            </a:r>
            <a:r>
              <a:rPr spc="-135" dirty="0"/>
              <a:t> </a:t>
            </a:r>
            <a:r>
              <a:rPr dirty="0"/>
              <a:t>of</a:t>
            </a:r>
            <a:r>
              <a:rPr spc="-114" dirty="0"/>
              <a:t> </a:t>
            </a:r>
            <a:r>
              <a:rPr spc="-25" dirty="0"/>
              <a:t>AI</a:t>
            </a:r>
          </a:p>
        </p:txBody>
      </p:sp>
      <p:sp>
        <p:nvSpPr>
          <p:cNvPr id="4" name="object 4"/>
          <p:cNvSpPr txBox="1"/>
          <p:nvPr/>
        </p:nvSpPr>
        <p:spPr>
          <a:xfrm>
            <a:off x="1261308" y="1937324"/>
            <a:ext cx="7064375" cy="3636645"/>
          </a:xfrm>
          <a:prstGeom prst="rect">
            <a:avLst/>
          </a:prstGeom>
        </p:spPr>
        <p:txBody>
          <a:bodyPr vert="horz" wrap="square" lIns="0" tIns="102235" rIns="0" bIns="0" rtlCol="0">
            <a:spAutoFit/>
          </a:bodyPr>
          <a:lstStyle/>
          <a:p>
            <a:pPr marL="355600" indent="-342900">
              <a:lnSpc>
                <a:spcPct val="100000"/>
              </a:lnSpc>
              <a:spcBef>
                <a:spcPts val="805"/>
              </a:spcBef>
              <a:buFont typeface="Arial"/>
              <a:buChar char="•"/>
              <a:tabLst>
                <a:tab pos="355600" algn="l"/>
              </a:tabLst>
            </a:pPr>
            <a:r>
              <a:rPr sz="2800" dirty="0">
                <a:latin typeface="Calibri"/>
                <a:cs typeface="Calibri"/>
              </a:rPr>
              <a:t>Philosophy:</a:t>
            </a:r>
            <a:r>
              <a:rPr sz="2800" spc="-70" dirty="0">
                <a:latin typeface="Calibri"/>
                <a:cs typeface="Calibri"/>
              </a:rPr>
              <a:t> </a:t>
            </a:r>
            <a:r>
              <a:rPr sz="2800" dirty="0">
                <a:latin typeface="Calibri"/>
                <a:cs typeface="Calibri"/>
              </a:rPr>
              <a:t>logic,</a:t>
            </a:r>
            <a:r>
              <a:rPr sz="2800" spc="-100" dirty="0">
                <a:latin typeface="Calibri"/>
                <a:cs typeface="Calibri"/>
              </a:rPr>
              <a:t> </a:t>
            </a:r>
            <a:r>
              <a:rPr sz="2800" dirty="0">
                <a:latin typeface="Calibri"/>
                <a:cs typeface="Calibri"/>
              </a:rPr>
              <a:t>mind,</a:t>
            </a:r>
            <a:r>
              <a:rPr sz="2800" spc="-70" dirty="0">
                <a:latin typeface="Calibri"/>
                <a:cs typeface="Calibri"/>
              </a:rPr>
              <a:t> </a:t>
            </a:r>
            <a:r>
              <a:rPr sz="2800" spc="-10" dirty="0">
                <a:latin typeface="Calibri"/>
                <a:cs typeface="Calibri"/>
              </a:rPr>
              <a:t>knowledge</a:t>
            </a:r>
            <a:endParaRPr sz="2800">
              <a:latin typeface="Calibri"/>
              <a:cs typeface="Calibri"/>
            </a:endParaRPr>
          </a:p>
          <a:p>
            <a:pPr marL="355600" indent="-342900">
              <a:lnSpc>
                <a:spcPct val="100000"/>
              </a:lnSpc>
              <a:spcBef>
                <a:spcPts val="710"/>
              </a:spcBef>
              <a:buFont typeface="Arial"/>
              <a:buChar char="•"/>
              <a:tabLst>
                <a:tab pos="355600" algn="l"/>
              </a:tabLst>
            </a:pPr>
            <a:r>
              <a:rPr sz="2800" spc="-10" dirty="0">
                <a:latin typeface="Calibri"/>
                <a:cs typeface="Calibri"/>
              </a:rPr>
              <a:t>Mathematics:</a:t>
            </a:r>
            <a:r>
              <a:rPr sz="2800" spc="-70" dirty="0">
                <a:latin typeface="Calibri"/>
                <a:cs typeface="Calibri"/>
              </a:rPr>
              <a:t> </a:t>
            </a:r>
            <a:r>
              <a:rPr sz="2800" spc="-30" dirty="0">
                <a:latin typeface="Calibri"/>
                <a:cs typeface="Calibri"/>
              </a:rPr>
              <a:t>proof,</a:t>
            </a:r>
            <a:r>
              <a:rPr sz="2800" spc="-75" dirty="0">
                <a:latin typeface="Calibri"/>
                <a:cs typeface="Calibri"/>
              </a:rPr>
              <a:t> </a:t>
            </a:r>
            <a:r>
              <a:rPr sz="2800" spc="-25" dirty="0">
                <a:latin typeface="Calibri"/>
                <a:cs typeface="Calibri"/>
              </a:rPr>
              <a:t>computability,</a:t>
            </a:r>
            <a:r>
              <a:rPr sz="2800" spc="-35" dirty="0">
                <a:latin typeface="Calibri"/>
                <a:cs typeface="Calibri"/>
              </a:rPr>
              <a:t> </a:t>
            </a:r>
            <a:r>
              <a:rPr sz="2800" spc="-10" dirty="0">
                <a:latin typeface="Calibri"/>
                <a:cs typeface="Calibri"/>
              </a:rPr>
              <a:t>probability</a:t>
            </a:r>
            <a:endParaRPr sz="2800">
              <a:latin typeface="Calibri"/>
              <a:cs typeface="Calibri"/>
            </a:endParaRPr>
          </a:p>
          <a:p>
            <a:pPr marL="355600" indent="-342900">
              <a:lnSpc>
                <a:spcPct val="100000"/>
              </a:lnSpc>
              <a:spcBef>
                <a:spcPts val="700"/>
              </a:spcBef>
              <a:buFont typeface="Arial"/>
              <a:buChar char="•"/>
              <a:tabLst>
                <a:tab pos="355600" algn="l"/>
              </a:tabLst>
            </a:pPr>
            <a:r>
              <a:rPr sz="2800" spc="-10" dirty="0">
                <a:latin typeface="Calibri"/>
                <a:cs typeface="Calibri"/>
              </a:rPr>
              <a:t>Economics:</a:t>
            </a:r>
            <a:r>
              <a:rPr sz="2800" spc="-90" dirty="0">
                <a:latin typeface="Calibri"/>
                <a:cs typeface="Calibri"/>
              </a:rPr>
              <a:t> </a:t>
            </a:r>
            <a:r>
              <a:rPr sz="2800" dirty="0">
                <a:latin typeface="Calibri"/>
                <a:cs typeface="Calibri"/>
              </a:rPr>
              <a:t>maximizing</a:t>
            </a:r>
            <a:r>
              <a:rPr sz="2800" spc="-95" dirty="0">
                <a:latin typeface="Calibri"/>
                <a:cs typeface="Calibri"/>
              </a:rPr>
              <a:t> </a:t>
            </a:r>
            <a:r>
              <a:rPr sz="2800" spc="-10" dirty="0">
                <a:latin typeface="Calibri"/>
                <a:cs typeface="Calibri"/>
              </a:rPr>
              <a:t>payoffs</a:t>
            </a:r>
            <a:endParaRPr sz="2800">
              <a:latin typeface="Calibri"/>
              <a:cs typeface="Calibri"/>
            </a:endParaRPr>
          </a:p>
          <a:p>
            <a:pPr marL="355600" indent="-342900">
              <a:lnSpc>
                <a:spcPct val="100000"/>
              </a:lnSpc>
              <a:spcBef>
                <a:spcPts val="695"/>
              </a:spcBef>
              <a:buFont typeface="Arial"/>
              <a:buChar char="•"/>
              <a:tabLst>
                <a:tab pos="355600" algn="l"/>
              </a:tabLst>
            </a:pPr>
            <a:r>
              <a:rPr sz="2800" dirty="0">
                <a:latin typeface="Calibri"/>
                <a:cs typeface="Calibri"/>
              </a:rPr>
              <a:t>Neuroscience:</a:t>
            </a:r>
            <a:r>
              <a:rPr sz="2800" spc="-80" dirty="0">
                <a:latin typeface="Calibri"/>
                <a:cs typeface="Calibri"/>
              </a:rPr>
              <a:t> </a:t>
            </a:r>
            <a:r>
              <a:rPr sz="2800" dirty="0">
                <a:latin typeface="Calibri"/>
                <a:cs typeface="Calibri"/>
              </a:rPr>
              <a:t>brain</a:t>
            </a:r>
            <a:r>
              <a:rPr sz="2800" spc="-100" dirty="0">
                <a:latin typeface="Calibri"/>
                <a:cs typeface="Calibri"/>
              </a:rPr>
              <a:t> </a:t>
            </a:r>
            <a:r>
              <a:rPr sz="2800" dirty="0">
                <a:latin typeface="Calibri"/>
                <a:cs typeface="Calibri"/>
              </a:rPr>
              <a:t>and</a:t>
            </a:r>
            <a:r>
              <a:rPr sz="2800" spc="-105" dirty="0">
                <a:latin typeface="Calibri"/>
                <a:cs typeface="Calibri"/>
              </a:rPr>
              <a:t> </a:t>
            </a:r>
            <a:r>
              <a:rPr sz="2800" spc="-10" dirty="0">
                <a:latin typeface="Calibri"/>
                <a:cs typeface="Calibri"/>
              </a:rPr>
              <a:t>neurons</a:t>
            </a:r>
            <a:endParaRPr sz="2800">
              <a:latin typeface="Calibri"/>
              <a:cs typeface="Calibri"/>
            </a:endParaRPr>
          </a:p>
          <a:p>
            <a:pPr marL="355600" indent="-342900">
              <a:lnSpc>
                <a:spcPct val="100000"/>
              </a:lnSpc>
              <a:spcBef>
                <a:spcPts val="710"/>
              </a:spcBef>
              <a:buFont typeface="Arial"/>
              <a:buChar char="•"/>
              <a:tabLst>
                <a:tab pos="355600" algn="l"/>
              </a:tabLst>
            </a:pPr>
            <a:r>
              <a:rPr sz="2800" spc="-10" dirty="0">
                <a:latin typeface="Calibri"/>
                <a:cs typeface="Calibri"/>
              </a:rPr>
              <a:t>Psychology:</a:t>
            </a:r>
            <a:r>
              <a:rPr sz="2800" spc="-110" dirty="0">
                <a:latin typeface="Calibri"/>
                <a:cs typeface="Calibri"/>
              </a:rPr>
              <a:t> </a:t>
            </a:r>
            <a:r>
              <a:rPr sz="2800" dirty="0">
                <a:latin typeface="Calibri"/>
                <a:cs typeface="Calibri"/>
              </a:rPr>
              <a:t>thought,</a:t>
            </a:r>
            <a:r>
              <a:rPr sz="2800" spc="-110" dirty="0">
                <a:latin typeface="Calibri"/>
                <a:cs typeface="Calibri"/>
              </a:rPr>
              <a:t> </a:t>
            </a:r>
            <a:r>
              <a:rPr sz="2800" dirty="0">
                <a:latin typeface="Calibri"/>
                <a:cs typeface="Calibri"/>
              </a:rPr>
              <a:t>perception,</a:t>
            </a:r>
            <a:r>
              <a:rPr sz="2800" spc="-110" dirty="0">
                <a:latin typeface="Calibri"/>
                <a:cs typeface="Calibri"/>
              </a:rPr>
              <a:t> </a:t>
            </a:r>
            <a:r>
              <a:rPr sz="2800" spc="-10" dirty="0">
                <a:latin typeface="Calibri"/>
                <a:cs typeface="Calibri"/>
              </a:rPr>
              <a:t>action</a:t>
            </a:r>
            <a:endParaRPr sz="2800">
              <a:latin typeface="Calibri"/>
              <a:cs typeface="Calibri"/>
            </a:endParaRPr>
          </a:p>
          <a:p>
            <a:pPr marL="355600" indent="-342900">
              <a:lnSpc>
                <a:spcPct val="100000"/>
              </a:lnSpc>
              <a:spcBef>
                <a:spcPts val="695"/>
              </a:spcBef>
              <a:buFont typeface="Arial"/>
              <a:buChar char="•"/>
              <a:tabLst>
                <a:tab pos="355600" algn="l"/>
              </a:tabLst>
            </a:pPr>
            <a:r>
              <a:rPr sz="2800" dirty="0">
                <a:latin typeface="Calibri"/>
                <a:cs typeface="Calibri"/>
              </a:rPr>
              <a:t>Control</a:t>
            </a:r>
            <a:r>
              <a:rPr sz="2800" spc="-105" dirty="0">
                <a:latin typeface="Calibri"/>
                <a:cs typeface="Calibri"/>
              </a:rPr>
              <a:t> </a:t>
            </a:r>
            <a:r>
              <a:rPr sz="2800" dirty="0">
                <a:latin typeface="Calibri"/>
                <a:cs typeface="Calibri"/>
              </a:rPr>
              <a:t>Theory:</a:t>
            </a:r>
            <a:r>
              <a:rPr sz="2800" spc="-95" dirty="0">
                <a:latin typeface="Calibri"/>
                <a:cs typeface="Calibri"/>
              </a:rPr>
              <a:t> </a:t>
            </a:r>
            <a:r>
              <a:rPr sz="2800" dirty="0">
                <a:latin typeface="Calibri"/>
                <a:cs typeface="Calibri"/>
              </a:rPr>
              <a:t>stable</a:t>
            </a:r>
            <a:r>
              <a:rPr sz="2800" spc="-100" dirty="0">
                <a:latin typeface="Calibri"/>
                <a:cs typeface="Calibri"/>
              </a:rPr>
              <a:t> </a:t>
            </a:r>
            <a:r>
              <a:rPr sz="2800" dirty="0">
                <a:latin typeface="Calibri"/>
                <a:cs typeface="Calibri"/>
              </a:rPr>
              <a:t>feedback</a:t>
            </a:r>
            <a:r>
              <a:rPr sz="2800" spc="-100" dirty="0">
                <a:latin typeface="Calibri"/>
                <a:cs typeface="Calibri"/>
              </a:rPr>
              <a:t> </a:t>
            </a:r>
            <a:r>
              <a:rPr sz="2800" spc="-10" dirty="0">
                <a:latin typeface="Calibri"/>
                <a:cs typeface="Calibri"/>
              </a:rPr>
              <a:t>systems</a:t>
            </a:r>
            <a:endParaRPr sz="2800">
              <a:latin typeface="Calibri"/>
              <a:cs typeface="Calibri"/>
            </a:endParaRPr>
          </a:p>
          <a:p>
            <a:pPr marL="355600" indent="-342900">
              <a:lnSpc>
                <a:spcPct val="100000"/>
              </a:lnSpc>
              <a:spcBef>
                <a:spcPts val="695"/>
              </a:spcBef>
              <a:buFont typeface="Arial"/>
              <a:buChar char="•"/>
              <a:tabLst>
                <a:tab pos="355600" algn="l"/>
              </a:tabLst>
            </a:pPr>
            <a:r>
              <a:rPr sz="2800" dirty="0">
                <a:latin typeface="Calibri"/>
                <a:cs typeface="Calibri"/>
              </a:rPr>
              <a:t>Linguistics:</a:t>
            </a:r>
            <a:r>
              <a:rPr sz="2800" spc="-114" dirty="0">
                <a:latin typeface="Calibri"/>
                <a:cs typeface="Calibri"/>
              </a:rPr>
              <a:t> </a:t>
            </a:r>
            <a:r>
              <a:rPr sz="2800" dirty="0">
                <a:latin typeface="Calibri"/>
                <a:cs typeface="Calibri"/>
              </a:rPr>
              <a:t>knowledge</a:t>
            </a:r>
            <a:r>
              <a:rPr sz="2800" spc="-135" dirty="0">
                <a:latin typeface="Calibri"/>
                <a:cs typeface="Calibri"/>
              </a:rPr>
              <a:t> </a:t>
            </a:r>
            <a:r>
              <a:rPr sz="2800" spc="-10" dirty="0">
                <a:latin typeface="Calibri"/>
                <a:cs typeface="Calibri"/>
              </a:rPr>
              <a:t>representation,</a:t>
            </a:r>
            <a:r>
              <a:rPr sz="2800" spc="-125" dirty="0">
                <a:latin typeface="Calibri"/>
                <a:cs typeface="Calibri"/>
              </a:rPr>
              <a:t> </a:t>
            </a:r>
            <a:r>
              <a:rPr sz="2800" spc="-10" dirty="0">
                <a:latin typeface="Calibri"/>
                <a:cs typeface="Calibri"/>
              </a:rPr>
              <a:t>syntax</a:t>
            </a:r>
            <a:endParaRPr sz="2800">
              <a:latin typeface="Calibri"/>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351C8D6-9BE8-DBBD-B2DF-D5168E31C57F}"/>
              </a:ext>
            </a:extLst>
          </p:cNvPr>
          <p:cNvSpPr>
            <a:spLocks noGrp="1" noChangeArrowheads="1"/>
          </p:cNvSpPr>
          <p:nvPr>
            <p:ph type="title"/>
          </p:nvPr>
        </p:nvSpPr>
        <p:spPr>
          <a:xfrm>
            <a:off x="1828800" y="685800"/>
            <a:ext cx="3937858" cy="643319"/>
          </a:xfrm>
        </p:spPr>
        <p:txBody>
          <a:bodyPr/>
          <a:lstStyle/>
          <a:p>
            <a:pPr eaLnBrk="1" hangingPunct="1"/>
            <a:r>
              <a:rPr lang="en-US" altLang="zh-TW" dirty="0"/>
              <a:t>Learning Agents</a:t>
            </a:r>
          </a:p>
        </p:txBody>
      </p:sp>
      <p:sp>
        <p:nvSpPr>
          <p:cNvPr id="58371" name="Rectangle 3">
            <a:extLst>
              <a:ext uri="{FF2B5EF4-FFF2-40B4-BE49-F238E27FC236}">
                <a16:creationId xmlns:a16="http://schemas.microsoft.com/office/drawing/2014/main" id="{D4CA6755-BBB0-5AC3-0303-A4F13B27AD8A}"/>
              </a:ext>
            </a:extLst>
          </p:cNvPr>
          <p:cNvSpPr>
            <a:spLocks noGrp="1" noChangeArrowheads="1"/>
          </p:cNvSpPr>
          <p:nvPr>
            <p:ph type="body" idx="1"/>
          </p:nvPr>
        </p:nvSpPr>
        <p:spPr>
          <a:xfrm>
            <a:off x="685800" y="1752600"/>
            <a:ext cx="7772400" cy="3019288"/>
          </a:xfrm>
        </p:spPr>
        <p:txBody>
          <a:bodyPr/>
          <a:lstStyle/>
          <a:p>
            <a:pPr eaLnBrk="1" hangingPunct="1">
              <a:lnSpc>
                <a:spcPct val="90000"/>
              </a:lnSpc>
            </a:pPr>
            <a:r>
              <a:rPr lang="en-US" altLang="zh-TW" dirty="0"/>
              <a:t>After an agent is programmed, can it work immediately?</a:t>
            </a:r>
          </a:p>
          <a:p>
            <a:pPr lvl="1" eaLnBrk="1" hangingPunct="1">
              <a:lnSpc>
                <a:spcPct val="90000"/>
              </a:lnSpc>
            </a:pPr>
            <a:r>
              <a:rPr lang="en-US" altLang="zh-TW" dirty="0"/>
              <a:t>No, it still needs teaching</a:t>
            </a:r>
          </a:p>
          <a:p>
            <a:pPr eaLnBrk="1" hangingPunct="1">
              <a:lnSpc>
                <a:spcPct val="90000"/>
              </a:lnSpc>
            </a:pPr>
            <a:r>
              <a:rPr lang="en-US" altLang="zh-TW" dirty="0"/>
              <a:t>In AI,</a:t>
            </a:r>
          </a:p>
          <a:p>
            <a:pPr lvl="1" eaLnBrk="1" hangingPunct="1">
              <a:lnSpc>
                <a:spcPct val="90000"/>
              </a:lnSpc>
            </a:pPr>
            <a:r>
              <a:rPr lang="en-US" altLang="zh-TW" dirty="0"/>
              <a:t>Once an agent is done</a:t>
            </a:r>
          </a:p>
          <a:p>
            <a:pPr lvl="1" eaLnBrk="1" hangingPunct="1">
              <a:lnSpc>
                <a:spcPct val="90000"/>
              </a:lnSpc>
            </a:pPr>
            <a:r>
              <a:rPr lang="en-US" altLang="zh-TW" dirty="0"/>
              <a:t>We teach it by giving it a set of examples</a:t>
            </a:r>
          </a:p>
          <a:p>
            <a:pPr lvl="1" eaLnBrk="1" hangingPunct="1">
              <a:lnSpc>
                <a:spcPct val="90000"/>
              </a:lnSpc>
            </a:pPr>
            <a:r>
              <a:rPr lang="en-US" altLang="zh-TW" dirty="0"/>
              <a:t>Test it by using another set of examples</a:t>
            </a:r>
          </a:p>
          <a:p>
            <a:pPr eaLnBrk="1" hangingPunct="1">
              <a:lnSpc>
                <a:spcPct val="90000"/>
              </a:lnSpc>
            </a:pPr>
            <a:r>
              <a:rPr lang="en-US" altLang="zh-TW" dirty="0"/>
              <a:t>We then say the agent learns</a:t>
            </a:r>
          </a:p>
          <a:p>
            <a:pPr lvl="1" eaLnBrk="1" hangingPunct="1">
              <a:lnSpc>
                <a:spcPct val="90000"/>
              </a:lnSpc>
            </a:pPr>
            <a:r>
              <a:rPr lang="en-US" altLang="zh-TW" dirty="0"/>
              <a:t>A learning agent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777239" y="2013965"/>
            <a:ext cx="216407" cy="227075"/>
          </a:xfrm>
          <a:prstGeom prst="rect">
            <a:avLst/>
          </a:prstGeom>
        </p:spPr>
      </p:pic>
      <p:sp>
        <p:nvSpPr>
          <p:cNvPr id="3" name="object 3"/>
          <p:cNvSpPr txBox="1"/>
          <p:nvPr/>
        </p:nvSpPr>
        <p:spPr>
          <a:xfrm>
            <a:off x="1105916" y="1816862"/>
            <a:ext cx="7471409" cy="4291330"/>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Calibri"/>
                <a:cs typeface="Calibri"/>
              </a:rPr>
              <a:t>Sometimes,</a:t>
            </a:r>
            <a:r>
              <a:rPr sz="3200" spc="-45" dirty="0">
                <a:latin typeface="Calibri"/>
                <a:cs typeface="Calibri"/>
              </a:rPr>
              <a:t> </a:t>
            </a:r>
            <a:r>
              <a:rPr sz="3200" dirty="0">
                <a:latin typeface="Calibri"/>
                <a:cs typeface="Calibri"/>
              </a:rPr>
              <a:t>the</a:t>
            </a:r>
            <a:r>
              <a:rPr sz="3200" spc="-45" dirty="0">
                <a:latin typeface="Calibri"/>
                <a:cs typeface="Calibri"/>
              </a:rPr>
              <a:t> </a:t>
            </a:r>
            <a:r>
              <a:rPr sz="3200" dirty="0">
                <a:latin typeface="Calibri"/>
                <a:cs typeface="Calibri"/>
              </a:rPr>
              <a:t>environment</a:t>
            </a:r>
            <a:r>
              <a:rPr sz="3200" spc="-45" dirty="0">
                <a:latin typeface="Calibri"/>
                <a:cs typeface="Calibri"/>
              </a:rPr>
              <a:t> </a:t>
            </a:r>
            <a:r>
              <a:rPr sz="3200" dirty="0">
                <a:latin typeface="Calibri"/>
                <a:cs typeface="Calibri"/>
              </a:rPr>
              <a:t>may</a:t>
            </a:r>
            <a:r>
              <a:rPr sz="3200" spc="-45" dirty="0">
                <a:latin typeface="Calibri"/>
                <a:cs typeface="Calibri"/>
              </a:rPr>
              <a:t> </a:t>
            </a:r>
            <a:r>
              <a:rPr sz="3200" dirty="0">
                <a:latin typeface="Calibri"/>
                <a:cs typeface="Calibri"/>
              </a:rPr>
              <a:t>not</a:t>
            </a:r>
            <a:r>
              <a:rPr sz="3200" spc="-45" dirty="0">
                <a:latin typeface="Calibri"/>
                <a:cs typeface="Calibri"/>
              </a:rPr>
              <a:t> </a:t>
            </a:r>
            <a:r>
              <a:rPr sz="3200" dirty="0">
                <a:latin typeface="Calibri"/>
                <a:cs typeface="Calibri"/>
              </a:rPr>
              <a:t>be</a:t>
            </a:r>
            <a:r>
              <a:rPr sz="3200" spc="-45" dirty="0">
                <a:latin typeface="Calibri"/>
                <a:cs typeface="Calibri"/>
              </a:rPr>
              <a:t> </a:t>
            </a:r>
            <a:r>
              <a:rPr sz="3200" spc="-25" dirty="0">
                <a:latin typeface="Calibri"/>
                <a:cs typeface="Calibri"/>
              </a:rPr>
              <a:t>the </a:t>
            </a:r>
            <a:r>
              <a:rPr sz="3200" dirty="0">
                <a:latin typeface="Calibri"/>
                <a:cs typeface="Calibri"/>
              </a:rPr>
              <a:t>real</a:t>
            </a:r>
            <a:r>
              <a:rPr sz="3200" spc="-90" dirty="0">
                <a:latin typeface="Calibri"/>
                <a:cs typeface="Calibri"/>
              </a:rPr>
              <a:t> </a:t>
            </a:r>
            <a:r>
              <a:rPr sz="3200" spc="-10" dirty="0">
                <a:latin typeface="Calibri"/>
                <a:cs typeface="Calibri"/>
              </a:rPr>
              <a:t>world</a:t>
            </a:r>
            <a:endParaRPr sz="3200">
              <a:latin typeface="Calibri"/>
              <a:cs typeface="Calibri"/>
            </a:endParaRPr>
          </a:p>
          <a:p>
            <a:pPr marL="412750" indent="-284480">
              <a:lnSpc>
                <a:spcPct val="100000"/>
              </a:lnSpc>
              <a:spcBef>
                <a:spcPts val="720"/>
              </a:spcBef>
              <a:buClr>
                <a:srgbClr val="C09E4A"/>
              </a:buClr>
              <a:buSzPct val="69642"/>
              <a:buFont typeface="Wingdings"/>
              <a:buChar char=""/>
              <a:tabLst>
                <a:tab pos="412750" algn="l"/>
              </a:tabLst>
            </a:pPr>
            <a:r>
              <a:rPr sz="2800" dirty="0">
                <a:latin typeface="Calibri"/>
                <a:cs typeface="Calibri"/>
              </a:rPr>
              <a:t>E.g.,</a:t>
            </a:r>
            <a:r>
              <a:rPr sz="2800" spc="-60" dirty="0">
                <a:latin typeface="Calibri"/>
                <a:cs typeface="Calibri"/>
              </a:rPr>
              <a:t> </a:t>
            </a:r>
            <a:r>
              <a:rPr sz="2800" dirty="0">
                <a:latin typeface="Calibri"/>
                <a:cs typeface="Calibri"/>
              </a:rPr>
              <a:t>flight</a:t>
            </a:r>
            <a:r>
              <a:rPr sz="2800" spc="-45" dirty="0">
                <a:latin typeface="Calibri"/>
                <a:cs typeface="Calibri"/>
              </a:rPr>
              <a:t> </a:t>
            </a:r>
            <a:r>
              <a:rPr sz="2800" dirty="0">
                <a:latin typeface="Calibri"/>
                <a:cs typeface="Calibri"/>
              </a:rPr>
              <a:t>simulator,</a:t>
            </a:r>
            <a:r>
              <a:rPr sz="2800" spc="-35" dirty="0">
                <a:latin typeface="Calibri"/>
                <a:cs typeface="Calibri"/>
              </a:rPr>
              <a:t> </a:t>
            </a:r>
            <a:r>
              <a:rPr sz="2800" dirty="0">
                <a:latin typeface="Calibri"/>
                <a:cs typeface="Calibri"/>
              </a:rPr>
              <a:t>video</a:t>
            </a:r>
            <a:r>
              <a:rPr sz="2800" spc="-40" dirty="0">
                <a:latin typeface="Calibri"/>
                <a:cs typeface="Calibri"/>
              </a:rPr>
              <a:t> </a:t>
            </a:r>
            <a:r>
              <a:rPr sz="2800" dirty="0">
                <a:latin typeface="Calibri"/>
                <a:cs typeface="Calibri"/>
              </a:rPr>
              <a:t>games,</a:t>
            </a:r>
            <a:r>
              <a:rPr sz="2800" spc="-55" dirty="0">
                <a:latin typeface="Calibri"/>
                <a:cs typeface="Calibri"/>
              </a:rPr>
              <a:t> </a:t>
            </a:r>
            <a:r>
              <a:rPr sz="2800" spc="-10" dirty="0">
                <a:latin typeface="Calibri"/>
                <a:cs typeface="Calibri"/>
              </a:rPr>
              <a:t>Internet</a:t>
            </a:r>
            <a:endParaRPr sz="2800">
              <a:latin typeface="Calibri"/>
              <a:cs typeface="Calibri"/>
            </a:endParaRPr>
          </a:p>
          <a:p>
            <a:pPr marL="413384" marR="1567180" indent="-285115">
              <a:lnSpc>
                <a:spcPct val="100000"/>
              </a:lnSpc>
              <a:spcBef>
                <a:spcPts val="695"/>
              </a:spcBef>
              <a:buClr>
                <a:srgbClr val="C09E4A"/>
              </a:buClr>
              <a:buSzPct val="69642"/>
              <a:buFont typeface="Wingdings"/>
              <a:buChar char=""/>
              <a:tabLst>
                <a:tab pos="413384" algn="l"/>
              </a:tabLst>
            </a:pPr>
            <a:r>
              <a:rPr sz="2800" dirty="0">
                <a:latin typeface="Calibri"/>
                <a:cs typeface="Calibri"/>
              </a:rPr>
              <a:t>They</a:t>
            </a:r>
            <a:r>
              <a:rPr sz="2800" spc="-40" dirty="0">
                <a:latin typeface="Calibri"/>
                <a:cs typeface="Calibri"/>
              </a:rPr>
              <a:t> </a:t>
            </a:r>
            <a:r>
              <a:rPr sz="2800" dirty="0">
                <a:latin typeface="Calibri"/>
                <a:cs typeface="Calibri"/>
              </a:rPr>
              <a:t>are</a:t>
            </a:r>
            <a:r>
              <a:rPr sz="2800" spc="-30" dirty="0">
                <a:latin typeface="Calibri"/>
                <a:cs typeface="Calibri"/>
              </a:rPr>
              <a:t> </a:t>
            </a:r>
            <a:r>
              <a:rPr sz="2800" dirty="0">
                <a:latin typeface="Calibri"/>
                <a:cs typeface="Calibri"/>
              </a:rPr>
              <a:t>all</a:t>
            </a:r>
            <a:r>
              <a:rPr sz="2800" spc="-40" dirty="0">
                <a:latin typeface="Calibri"/>
                <a:cs typeface="Calibri"/>
              </a:rPr>
              <a:t> </a:t>
            </a:r>
            <a:r>
              <a:rPr sz="2800" dirty="0">
                <a:latin typeface="Calibri"/>
                <a:cs typeface="Calibri"/>
              </a:rPr>
              <a:t>artificial</a:t>
            </a:r>
            <a:r>
              <a:rPr sz="2800" spc="-50" dirty="0">
                <a:latin typeface="Calibri"/>
                <a:cs typeface="Calibri"/>
              </a:rPr>
              <a:t> </a:t>
            </a:r>
            <a:r>
              <a:rPr sz="2800" dirty="0">
                <a:latin typeface="Calibri"/>
                <a:cs typeface="Calibri"/>
              </a:rPr>
              <a:t>but</a:t>
            </a:r>
            <a:r>
              <a:rPr sz="2800" spc="5" dirty="0">
                <a:latin typeface="Calibri"/>
                <a:cs typeface="Calibri"/>
              </a:rPr>
              <a:t> </a:t>
            </a:r>
            <a:r>
              <a:rPr sz="2800" dirty="0">
                <a:latin typeface="Calibri"/>
                <a:cs typeface="Calibri"/>
              </a:rPr>
              <a:t>very</a:t>
            </a:r>
            <a:r>
              <a:rPr sz="2800" spc="-40" dirty="0">
                <a:latin typeface="Calibri"/>
                <a:cs typeface="Calibri"/>
              </a:rPr>
              <a:t> </a:t>
            </a:r>
            <a:r>
              <a:rPr sz="2800" spc="-10" dirty="0">
                <a:latin typeface="Calibri"/>
                <a:cs typeface="Calibri"/>
              </a:rPr>
              <a:t>complex environments</a:t>
            </a:r>
            <a:endParaRPr sz="2800">
              <a:latin typeface="Calibri"/>
              <a:cs typeface="Calibri"/>
            </a:endParaRPr>
          </a:p>
          <a:p>
            <a:pPr marL="413384" marR="33020" indent="-285115">
              <a:lnSpc>
                <a:spcPct val="100000"/>
              </a:lnSpc>
              <a:spcBef>
                <a:spcPts val="700"/>
              </a:spcBef>
              <a:buClr>
                <a:srgbClr val="C09E4A"/>
              </a:buClr>
              <a:buSzPct val="69642"/>
              <a:buFont typeface="Wingdings"/>
              <a:buChar char=""/>
              <a:tabLst>
                <a:tab pos="413384" algn="l"/>
              </a:tabLst>
            </a:pPr>
            <a:r>
              <a:rPr sz="2800" dirty="0">
                <a:latin typeface="Calibri"/>
                <a:cs typeface="Calibri"/>
              </a:rPr>
              <a:t>Those</a:t>
            </a:r>
            <a:r>
              <a:rPr sz="2800" spc="-65" dirty="0">
                <a:latin typeface="Calibri"/>
                <a:cs typeface="Calibri"/>
              </a:rPr>
              <a:t> </a:t>
            </a:r>
            <a:r>
              <a:rPr sz="2800" dirty="0">
                <a:latin typeface="Calibri"/>
                <a:cs typeface="Calibri"/>
              </a:rPr>
              <a:t>agents</a:t>
            </a:r>
            <a:r>
              <a:rPr sz="2800" spc="-80" dirty="0">
                <a:latin typeface="Calibri"/>
                <a:cs typeface="Calibri"/>
              </a:rPr>
              <a:t> </a:t>
            </a:r>
            <a:r>
              <a:rPr sz="2800" dirty="0">
                <a:latin typeface="Calibri"/>
                <a:cs typeface="Calibri"/>
              </a:rPr>
              <a:t>working</a:t>
            </a:r>
            <a:r>
              <a:rPr sz="2800" spc="-65" dirty="0">
                <a:latin typeface="Calibri"/>
                <a:cs typeface="Calibri"/>
              </a:rPr>
              <a:t> </a:t>
            </a:r>
            <a:r>
              <a:rPr sz="2800" dirty="0">
                <a:latin typeface="Calibri"/>
                <a:cs typeface="Calibri"/>
              </a:rPr>
              <a:t>in</a:t>
            </a:r>
            <a:r>
              <a:rPr sz="2800" spc="-65" dirty="0">
                <a:latin typeface="Calibri"/>
                <a:cs typeface="Calibri"/>
              </a:rPr>
              <a:t> </a:t>
            </a:r>
            <a:r>
              <a:rPr sz="2800" dirty="0">
                <a:latin typeface="Calibri"/>
                <a:cs typeface="Calibri"/>
              </a:rPr>
              <a:t>these</a:t>
            </a:r>
            <a:r>
              <a:rPr sz="2800" spc="-65" dirty="0">
                <a:latin typeface="Calibri"/>
                <a:cs typeface="Calibri"/>
              </a:rPr>
              <a:t> </a:t>
            </a:r>
            <a:r>
              <a:rPr sz="2800" dirty="0">
                <a:latin typeface="Calibri"/>
                <a:cs typeface="Calibri"/>
              </a:rPr>
              <a:t>environments</a:t>
            </a:r>
            <a:r>
              <a:rPr sz="2800" spc="-40" dirty="0">
                <a:latin typeface="Calibri"/>
                <a:cs typeface="Calibri"/>
              </a:rPr>
              <a:t> </a:t>
            </a:r>
            <a:r>
              <a:rPr sz="2800" spc="-25" dirty="0">
                <a:latin typeface="Calibri"/>
                <a:cs typeface="Calibri"/>
              </a:rPr>
              <a:t>are </a:t>
            </a:r>
            <a:r>
              <a:rPr sz="2800" spc="-10" dirty="0">
                <a:latin typeface="Calibri"/>
                <a:cs typeface="Calibri"/>
              </a:rPr>
              <a:t>called</a:t>
            </a:r>
            <a:endParaRPr sz="2800">
              <a:latin typeface="Calibri"/>
              <a:cs typeface="Calibri"/>
            </a:endParaRPr>
          </a:p>
          <a:p>
            <a:pPr marL="813435" lvl="1" indent="-227965">
              <a:lnSpc>
                <a:spcPct val="100000"/>
              </a:lnSpc>
              <a:spcBef>
                <a:spcPts val="625"/>
              </a:spcBef>
              <a:buClr>
                <a:srgbClr val="666699"/>
              </a:buClr>
              <a:buSzPct val="64583"/>
              <a:buFont typeface="Wingdings"/>
              <a:buChar char=""/>
              <a:tabLst>
                <a:tab pos="813435" algn="l"/>
              </a:tabLst>
            </a:pPr>
            <a:r>
              <a:rPr sz="2400" dirty="0">
                <a:latin typeface="Calibri"/>
                <a:cs typeface="Calibri"/>
              </a:rPr>
              <a:t>Software</a:t>
            </a:r>
            <a:r>
              <a:rPr sz="2400" spc="-40" dirty="0">
                <a:latin typeface="Calibri"/>
                <a:cs typeface="Calibri"/>
              </a:rPr>
              <a:t> </a:t>
            </a:r>
            <a:r>
              <a:rPr sz="2400" dirty="0">
                <a:latin typeface="Calibri"/>
                <a:cs typeface="Calibri"/>
              </a:rPr>
              <a:t>agent</a:t>
            </a:r>
            <a:r>
              <a:rPr sz="2400" spc="-40" dirty="0">
                <a:latin typeface="Calibri"/>
                <a:cs typeface="Calibri"/>
              </a:rPr>
              <a:t> </a:t>
            </a:r>
            <a:r>
              <a:rPr sz="2400" spc="-10" dirty="0">
                <a:latin typeface="Calibri"/>
                <a:cs typeface="Calibri"/>
              </a:rPr>
              <a:t>(softbots)</a:t>
            </a:r>
            <a:endParaRPr sz="2400">
              <a:latin typeface="Calibri"/>
              <a:cs typeface="Calibri"/>
            </a:endParaRPr>
          </a:p>
          <a:p>
            <a:pPr marL="813435" lvl="1" indent="-227965">
              <a:lnSpc>
                <a:spcPct val="100000"/>
              </a:lnSpc>
              <a:spcBef>
                <a:spcPts val="600"/>
              </a:spcBef>
              <a:buClr>
                <a:srgbClr val="666699"/>
              </a:buClr>
              <a:buSzPct val="64583"/>
              <a:buFont typeface="Wingdings"/>
              <a:buChar char=""/>
              <a:tabLst>
                <a:tab pos="813435" algn="l"/>
              </a:tabLst>
            </a:pPr>
            <a:r>
              <a:rPr sz="2400" dirty="0">
                <a:latin typeface="Calibri"/>
                <a:cs typeface="Calibri"/>
              </a:rPr>
              <a:t>Because</a:t>
            </a:r>
            <a:r>
              <a:rPr sz="2400" spc="-40" dirty="0">
                <a:latin typeface="Calibri"/>
                <a:cs typeface="Calibri"/>
              </a:rPr>
              <a:t> </a:t>
            </a:r>
            <a:r>
              <a:rPr sz="2400" dirty="0">
                <a:latin typeface="Calibri"/>
                <a:cs typeface="Calibri"/>
              </a:rPr>
              <a:t>all</a:t>
            </a:r>
            <a:r>
              <a:rPr sz="2400" spc="-40" dirty="0">
                <a:latin typeface="Calibri"/>
                <a:cs typeface="Calibri"/>
              </a:rPr>
              <a:t> </a:t>
            </a:r>
            <a:r>
              <a:rPr sz="2400" dirty="0">
                <a:latin typeface="Calibri"/>
                <a:cs typeface="Calibri"/>
              </a:rPr>
              <a:t>parts</a:t>
            </a:r>
            <a:r>
              <a:rPr sz="2400" spc="-45" dirty="0">
                <a:latin typeface="Calibri"/>
                <a:cs typeface="Calibri"/>
              </a:rPr>
              <a:t> </a:t>
            </a:r>
            <a:r>
              <a:rPr sz="2400" dirty="0">
                <a:latin typeface="Calibri"/>
                <a:cs typeface="Calibri"/>
              </a:rPr>
              <a:t>of</a:t>
            </a:r>
            <a:r>
              <a:rPr sz="2400" spc="-25"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agent</a:t>
            </a:r>
            <a:r>
              <a:rPr sz="2400" spc="-45" dirty="0">
                <a:latin typeface="Calibri"/>
                <a:cs typeface="Calibri"/>
              </a:rPr>
              <a:t> </a:t>
            </a:r>
            <a:r>
              <a:rPr sz="2400" dirty="0">
                <a:latin typeface="Calibri"/>
                <a:cs typeface="Calibri"/>
              </a:rPr>
              <a:t>are</a:t>
            </a:r>
            <a:r>
              <a:rPr sz="2400" spc="-35" dirty="0">
                <a:latin typeface="Calibri"/>
                <a:cs typeface="Calibri"/>
              </a:rPr>
              <a:t> </a:t>
            </a:r>
            <a:r>
              <a:rPr sz="2400" spc="-10" dirty="0">
                <a:latin typeface="Calibri"/>
                <a:cs typeface="Calibri"/>
              </a:rPr>
              <a:t>software</a:t>
            </a:r>
            <a:endParaRPr sz="2400">
              <a:latin typeface="Calibri"/>
              <a:cs typeface="Calibri"/>
            </a:endParaRPr>
          </a:p>
        </p:txBody>
      </p:sp>
      <p:sp>
        <p:nvSpPr>
          <p:cNvPr id="4" name="object 4"/>
          <p:cNvSpPr txBox="1">
            <a:spLocks noGrp="1"/>
          </p:cNvSpPr>
          <p:nvPr>
            <p:ph type="title"/>
          </p:nvPr>
        </p:nvSpPr>
        <p:spPr>
          <a:prstGeom prst="rect">
            <a:avLst/>
          </a:prstGeom>
        </p:spPr>
        <p:txBody>
          <a:bodyPr vert="horz" wrap="square" lIns="0" tIns="405447" rIns="0" bIns="0" rtlCol="0">
            <a:spAutoFit/>
          </a:bodyPr>
          <a:lstStyle/>
          <a:p>
            <a:pPr marL="1618615">
              <a:lnSpc>
                <a:spcPct val="100000"/>
              </a:lnSpc>
              <a:spcBef>
                <a:spcPts val="105"/>
              </a:spcBef>
            </a:pPr>
            <a:r>
              <a:rPr dirty="0"/>
              <a:t>Software</a:t>
            </a:r>
            <a:r>
              <a:rPr spc="-229" dirty="0"/>
              <a:t> </a:t>
            </a:r>
            <a:r>
              <a:rPr spc="-10" dirty="0"/>
              <a:t>Agents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777239" y="2185415"/>
            <a:ext cx="216407" cy="227075"/>
          </a:xfrm>
          <a:prstGeom prst="rect">
            <a:avLst/>
          </a:prstGeom>
        </p:spPr>
      </p:pic>
      <p:sp>
        <p:nvSpPr>
          <p:cNvPr id="3" name="object 3"/>
          <p:cNvSpPr txBox="1"/>
          <p:nvPr/>
        </p:nvSpPr>
        <p:spPr>
          <a:xfrm>
            <a:off x="1105916" y="1882481"/>
            <a:ext cx="6347460" cy="4014470"/>
          </a:xfrm>
          <a:prstGeom prst="rect">
            <a:avLst/>
          </a:prstGeom>
        </p:spPr>
        <p:txBody>
          <a:bodyPr vert="horz" wrap="square" lIns="0" tIns="118745" rIns="0" bIns="0" rtlCol="0">
            <a:spAutoFit/>
          </a:bodyPr>
          <a:lstStyle/>
          <a:p>
            <a:pPr marL="12700">
              <a:lnSpc>
                <a:spcPct val="100000"/>
              </a:lnSpc>
              <a:spcBef>
                <a:spcPts val="935"/>
              </a:spcBef>
            </a:pPr>
            <a:r>
              <a:rPr sz="3200" dirty="0">
                <a:latin typeface="Calibri"/>
                <a:cs typeface="Calibri"/>
              </a:rPr>
              <a:t>Single</a:t>
            </a:r>
            <a:r>
              <a:rPr sz="3200" spc="-80" dirty="0">
                <a:latin typeface="Calibri"/>
                <a:cs typeface="Calibri"/>
              </a:rPr>
              <a:t> </a:t>
            </a:r>
            <a:r>
              <a:rPr sz="3200" dirty="0">
                <a:latin typeface="Calibri"/>
                <a:cs typeface="Calibri"/>
              </a:rPr>
              <a:t>agent</a:t>
            </a:r>
            <a:r>
              <a:rPr sz="3200" spc="-85" dirty="0">
                <a:latin typeface="Calibri"/>
                <a:cs typeface="Calibri"/>
              </a:rPr>
              <a:t> </a:t>
            </a:r>
            <a:r>
              <a:rPr sz="3200" dirty="0">
                <a:latin typeface="Calibri"/>
                <a:cs typeface="Calibri"/>
              </a:rPr>
              <a:t>VS.</a:t>
            </a:r>
            <a:r>
              <a:rPr sz="3200" spc="-80" dirty="0">
                <a:latin typeface="Calibri"/>
                <a:cs typeface="Calibri"/>
              </a:rPr>
              <a:t> </a:t>
            </a:r>
            <a:r>
              <a:rPr sz="3200" spc="-10" dirty="0">
                <a:latin typeface="Calibri"/>
                <a:cs typeface="Calibri"/>
              </a:rPr>
              <a:t>multiagent</a:t>
            </a:r>
            <a:endParaRPr sz="3200">
              <a:latin typeface="Calibri"/>
              <a:cs typeface="Calibri"/>
            </a:endParaRPr>
          </a:p>
          <a:p>
            <a:pPr marL="412750" indent="-284480">
              <a:lnSpc>
                <a:spcPct val="100000"/>
              </a:lnSpc>
              <a:spcBef>
                <a:spcPts val="725"/>
              </a:spcBef>
              <a:buClr>
                <a:srgbClr val="C09E4A"/>
              </a:buClr>
              <a:buSzPct val="69642"/>
              <a:buFont typeface="Wingdings"/>
              <a:buChar char=""/>
              <a:tabLst>
                <a:tab pos="412750" algn="l"/>
              </a:tabLst>
            </a:pPr>
            <a:r>
              <a:rPr sz="2800" dirty="0">
                <a:latin typeface="Calibri"/>
                <a:cs typeface="Calibri"/>
              </a:rPr>
              <a:t>Playing</a:t>
            </a:r>
            <a:r>
              <a:rPr sz="2800" spc="-35"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crossword</a:t>
            </a:r>
            <a:r>
              <a:rPr sz="2800" spc="-30" dirty="0">
                <a:latin typeface="Calibri"/>
                <a:cs typeface="Calibri"/>
              </a:rPr>
              <a:t> </a:t>
            </a:r>
            <a:r>
              <a:rPr sz="2800" dirty="0">
                <a:latin typeface="Calibri"/>
                <a:cs typeface="Calibri"/>
              </a:rPr>
              <a:t>puzzle</a:t>
            </a:r>
            <a:r>
              <a:rPr sz="2800" spc="-3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single</a:t>
            </a:r>
            <a:r>
              <a:rPr sz="2800" spc="-35" dirty="0">
                <a:latin typeface="Calibri"/>
                <a:cs typeface="Calibri"/>
              </a:rPr>
              <a:t> </a:t>
            </a:r>
            <a:r>
              <a:rPr sz="2800" spc="-10" dirty="0">
                <a:latin typeface="Calibri"/>
                <a:cs typeface="Calibri"/>
              </a:rPr>
              <a:t>agent</a:t>
            </a:r>
            <a:endParaRPr sz="2800">
              <a:latin typeface="Calibri"/>
              <a:cs typeface="Calibri"/>
            </a:endParaRPr>
          </a:p>
          <a:p>
            <a:pPr marL="412750" indent="-284480">
              <a:lnSpc>
                <a:spcPct val="100000"/>
              </a:lnSpc>
              <a:spcBef>
                <a:spcPts val="695"/>
              </a:spcBef>
              <a:buClr>
                <a:srgbClr val="C09E4A"/>
              </a:buClr>
              <a:buSzPct val="69642"/>
              <a:buFont typeface="Wingdings"/>
              <a:buChar char=""/>
              <a:tabLst>
                <a:tab pos="412750" algn="l"/>
              </a:tabLst>
            </a:pPr>
            <a:r>
              <a:rPr sz="2800" dirty="0">
                <a:latin typeface="Calibri"/>
                <a:cs typeface="Calibri"/>
              </a:rPr>
              <a:t>Chess</a:t>
            </a:r>
            <a:r>
              <a:rPr sz="2800" spc="-20" dirty="0">
                <a:latin typeface="Calibri"/>
                <a:cs typeface="Calibri"/>
              </a:rPr>
              <a:t> </a:t>
            </a:r>
            <a:r>
              <a:rPr sz="2800" dirty="0">
                <a:latin typeface="Calibri"/>
                <a:cs typeface="Calibri"/>
              </a:rPr>
              <a:t>playing</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two</a:t>
            </a:r>
            <a:r>
              <a:rPr sz="2800" spc="-35" dirty="0">
                <a:latin typeface="Calibri"/>
                <a:cs typeface="Calibri"/>
              </a:rPr>
              <a:t> </a:t>
            </a:r>
            <a:r>
              <a:rPr sz="2800" spc="-10" dirty="0">
                <a:latin typeface="Calibri"/>
                <a:cs typeface="Calibri"/>
              </a:rPr>
              <a:t>agents</a:t>
            </a:r>
            <a:endParaRPr sz="2800">
              <a:latin typeface="Calibri"/>
              <a:cs typeface="Calibri"/>
            </a:endParaRPr>
          </a:p>
          <a:p>
            <a:pPr marL="412750" indent="-284480">
              <a:lnSpc>
                <a:spcPct val="100000"/>
              </a:lnSpc>
              <a:spcBef>
                <a:spcPts val="695"/>
              </a:spcBef>
              <a:buClr>
                <a:srgbClr val="C09E4A"/>
              </a:buClr>
              <a:buSzPct val="69642"/>
              <a:buFont typeface="Wingdings"/>
              <a:buChar char=""/>
              <a:tabLst>
                <a:tab pos="412750" algn="l"/>
              </a:tabLst>
            </a:pPr>
            <a:r>
              <a:rPr sz="2800" dirty="0">
                <a:latin typeface="Calibri"/>
                <a:cs typeface="Calibri"/>
              </a:rPr>
              <a:t>Competitive</a:t>
            </a:r>
            <a:r>
              <a:rPr sz="2800" spc="-100" dirty="0">
                <a:latin typeface="Calibri"/>
                <a:cs typeface="Calibri"/>
              </a:rPr>
              <a:t> </a:t>
            </a:r>
            <a:r>
              <a:rPr sz="2800" dirty="0">
                <a:latin typeface="Calibri"/>
                <a:cs typeface="Calibri"/>
              </a:rPr>
              <a:t>multiagent</a:t>
            </a:r>
            <a:r>
              <a:rPr sz="2800" spc="-90" dirty="0">
                <a:latin typeface="Calibri"/>
                <a:cs typeface="Calibri"/>
              </a:rPr>
              <a:t> </a:t>
            </a:r>
            <a:r>
              <a:rPr sz="2800" spc="-10" dirty="0">
                <a:latin typeface="Calibri"/>
                <a:cs typeface="Calibri"/>
              </a:rPr>
              <a:t>environment</a:t>
            </a:r>
            <a:endParaRPr sz="2800">
              <a:latin typeface="Calibri"/>
              <a:cs typeface="Calibri"/>
            </a:endParaRPr>
          </a:p>
          <a:p>
            <a:pPr marL="813435" lvl="1" indent="-227965">
              <a:lnSpc>
                <a:spcPct val="100000"/>
              </a:lnSpc>
              <a:spcBef>
                <a:spcPts val="630"/>
              </a:spcBef>
              <a:buClr>
                <a:srgbClr val="666699"/>
              </a:buClr>
              <a:buSzPct val="64583"/>
              <a:buFont typeface="Wingdings"/>
              <a:buChar char=""/>
              <a:tabLst>
                <a:tab pos="813435" algn="l"/>
              </a:tabLst>
            </a:pPr>
            <a:r>
              <a:rPr sz="2400" dirty="0">
                <a:latin typeface="Calibri"/>
                <a:cs typeface="Calibri"/>
              </a:rPr>
              <a:t>Chess</a:t>
            </a:r>
            <a:r>
              <a:rPr sz="2400" spc="-45" dirty="0">
                <a:latin typeface="Calibri"/>
                <a:cs typeface="Calibri"/>
              </a:rPr>
              <a:t> </a:t>
            </a:r>
            <a:r>
              <a:rPr sz="2400" spc="-10" dirty="0">
                <a:latin typeface="Calibri"/>
                <a:cs typeface="Calibri"/>
              </a:rPr>
              <a:t>playing</a:t>
            </a:r>
            <a:endParaRPr sz="2400">
              <a:latin typeface="Calibri"/>
              <a:cs typeface="Calibri"/>
            </a:endParaRPr>
          </a:p>
          <a:p>
            <a:pPr marL="412750" indent="-284480">
              <a:lnSpc>
                <a:spcPct val="100000"/>
              </a:lnSpc>
              <a:spcBef>
                <a:spcPts val="680"/>
              </a:spcBef>
              <a:buClr>
                <a:srgbClr val="C09E4A"/>
              </a:buClr>
              <a:buSzPct val="69642"/>
              <a:buFont typeface="Wingdings"/>
              <a:buChar char=""/>
              <a:tabLst>
                <a:tab pos="412750" algn="l"/>
              </a:tabLst>
            </a:pPr>
            <a:r>
              <a:rPr sz="2800" dirty="0">
                <a:latin typeface="Calibri"/>
                <a:cs typeface="Calibri"/>
              </a:rPr>
              <a:t>Cooperative</a:t>
            </a:r>
            <a:r>
              <a:rPr sz="2800" spc="-100" dirty="0">
                <a:latin typeface="Calibri"/>
                <a:cs typeface="Calibri"/>
              </a:rPr>
              <a:t> </a:t>
            </a:r>
            <a:r>
              <a:rPr sz="2800" dirty="0">
                <a:latin typeface="Calibri"/>
                <a:cs typeface="Calibri"/>
              </a:rPr>
              <a:t>multiagent</a:t>
            </a:r>
            <a:r>
              <a:rPr sz="2800" spc="-70" dirty="0">
                <a:latin typeface="Calibri"/>
                <a:cs typeface="Calibri"/>
              </a:rPr>
              <a:t> </a:t>
            </a:r>
            <a:r>
              <a:rPr sz="2800" spc="-10" dirty="0">
                <a:latin typeface="Calibri"/>
                <a:cs typeface="Calibri"/>
              </a:rPr>
              <a:t>environment</a:t>
            </a:r>
            <a:endParaRPr sz="2800">
              <a:latin typeface="Calibri"/>
              <a:cs typeface="Calibri"/>
            </a:endParaRPr>
          </a:p>
          <a:p>
            <a:pPr marL="813435" lvl="1" indent="-227965">
              <a:lnSpc>
                <a:spcPct val="100000"/>
              </a:lnSpc>
              <a:spcBef>
                <a:spcPts val="630"/>
              </a:spcBef>
              <a:buClr>
                <a:srgbClr val="666699"/>
              </a:buClr>
              <a:buSzPct val="64583"/>
              <a:buFont typeface="Wingdings"/>
              <a:buChar char=""/>
              <a:tabLst>
                <a:tab pos="813435" algn="l"/>
              </a:tabLst>
            </a:pPr>
            <a:r>
              <a:rPr sz="2400" dirty="0">
                <a:latin typeface="Calibri"/>
                <a:cs typeface="Calibri"/>
              </a:rPr>
              <a:t>Automated</a:t>
            </a:r>
            <a:r>
              <a:rPr sz="2400" spc="-55" dirty="0">
                <a:latin typeface="Calibri"/>
                <a:cs typeface="Calibri"/>
              </a:rPr>
              <a:t> </a:t>
            </a:r>
            <a:r>
              <a:rPr sz="2400" dirty="0">
                <a:latin typeface="Calibri"/>
                <a:cs typeface="Calibri"/>
              </a:rPr>
              <a:t>taxi</a:t>
            </a:r>
            <a:r>
              <a:rPr sz="2400" spc="-60" dirty="0">
                <a:latin typeface="Calibri"/>
                <a:cs typeface="Calibri"/>
              </a:rPr>
              <a:t> </a:t>
            </a:r>
            <a:r>
              <a:rPr sz="2400" spc="-10" dirty="0">
                <a:latin typeface="Calibri"/>
                <a:cs typeface="Calibri"/>
              </a:rPr>
              <a:t>driver</a:t>
            </a:r>
            <a:endParaRPr sz="2400">
              <a:latin typeface="Calibri"/>
              <a:cs typeface="Calibri"/>
            </a:endParaRPr>
          </a:p>
          <a:p>
            <a:pPr marL="813435" lvl="1" indent="-227965">
              <a:lnSpc>
                <a:spcPct val="100000"/>
              </a:lnSpc>
              <a:spcBef>
                <a:spcPts val="600"/>
              </a:spcBef>
              <a:buClr>
                <a:srgbClr val="666699"/>
              </a:buClr>
              <a:buSzPct val="64583"/>
              <a:buFont typeface="Wingdings"/>
              <a:buChar char=""/>
              <a:tabLst>
                <a:tab pos="813435" algn="l"/>
              </a:tabLst>
            </a:pPr>
            <a:r>
              <a:rPr sz="2400" dirty="0">
                <a:latin typeface="Calibri"/>
                <a:cs typeface="Calibri"/>
              </a:rPr>
              <a:t>Avoiding</a:t>
            </a:r>
            <a:r>
              <a:rPr sz="2400" spc="-95" dirty="0">
                <a:latin typeface="Calibri"/>
                <a:cs typeface="Calibri"/>
              </a:rPr>
              <a:t> </a:t>
            </a:r>
            <a:r>
              <a:rPr sz="2400" spc="-10" dirty="0">
                <a:latin typeface="Calibri"/>
                <a:cs typeface="Calibri"/>
              </a:rPr>
              <a:t>collision</a:t>
            </a:r>
            <a:endParaRPr sz="2400">
              <a:latin typeface="Calibri"/>
              <a:cs typeface="Calibri"/>
            </a:endParaRPr>
          </a:p>
        </p:txBody>
      </p:sp>
      <p:sp>
        <p:nvSpPr>
          <p:cNvPr id="4" name="object 4"/>
          <p:cNvSpPr txBox="1">
            <a:spLocks noGrp="1"/>
          </p:cNvSpPr>
          <p:nvPr>
            <p:ph type="title"/>
          </p:nvPr>
        </p:nvSpPr>
        <p:spPr>
          <a:prstGeom prst="rect">
            <a:avLst/>
          </a:prstGeom>
        </p:spPr>
        <p:txBody>
          <a:bodyPr vert="horz" wrap="square" lIns="0" tIns="351599" rIns="0" bIns="0" rtlCol="0">
            <a:spAutoFit/>
          </a:bodyPr>
          <a:lstStyle/>
          <a:p>
            <a:pPr marL="12700">
              <a:lnSpc>
                <a:spcPct val="100000"/>
              </a:lnSpc>
              <a:spcBef>
                <a:spcPts val="95"/>
              </a:spcBef>
            </a:pPr>
            <a:r>
              <a:rPr sz="4000" dirty="0"/>
              <a:t>Properties</a:t>
            </a:r>
            <a:r>
              <a:rPr sz="4000" spc="-90" dirty="0"/>
              <a:t> </a:t>
            </a:r>
            <a:r>
              <a:rPr sz="4000" dirty="0"/>
              <a:t>of</a:t>
            </a:r>
            <a:r>
              <a:rPr sz="4000" spc="-80" dirty="0"/>
              <a:t> </a:t>
            </a:r>
            <a:r>
              <a:rPr sz="4000" dirty="0"/>
              <a:t>task</a:t>
            </a:r>
            <a:r>
              <a:rPr sz="4000" spc="-90" dirty="0"/>
              <a:t> </a:t>
            </a:r>
            <a:r>
              <a:rPr sz="4000" spc="-10" dirty="0"/>
              <a:t>environments…</a:t>
            </a:r>
            <a:endParaRPr sz="4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1599" rIns="0" bIns="0" rtlCol="0">
            <a:spAutoFit/>
          </a:bodyPr>
          <a:lstStyle/>
          <a:p>
            <a:pPr marL="12700">
              <a:lnSpc>
                <a:spcPct val="100000"/>
              </a:lnSpc>
              <a:spcBef>
                <a:spcPts val="95"/>
              </a:spcBef>
            </a:pPr>
            <a:r>
              <a:rPr sz="4000" dirty="0"/>
              <a:t>Properties</a:t>
            </a:r>
            <a:r>
              <a:rPr sz="4000" spc="-90" dirty="0"/>
              <a:t> </a:t>
            </a:r>
            <a:r>
              <a:rPr sz="4000" dirty="0"/>
              <a:t>of</a:t>
            </a:r>
            <a:r>
              <a:rPr sz="4000" spc="-80" dirty="0"/>
              <a:t> </a:t>
            </a:r>
            <a:r>
              <a:rPr sz="4000" dirty="0"/>
              <a:t>task</a:t>
            </a:r>
            <a:r>
              <a:rPr sz="4000" spc="-90" dirty="0"/>
              <a:t> </a:t>
            </a:r>
            <a:r>
              <a:rPr sz="4000" spc="-10" dirty="0"/>
              <a:t>environments…</a:t>
            </a:r>
            <a:endParaRPr sz="4000"/>
          </a:p>
        </p:txBody>
      </p:sp>
      <p:pic>
        <p:nvPicPr>
          <p:cNvPr id="3" name="object 3"/>
          <p:cNvPicPr/>
          <p:nvPr/>
        </p:nvPicPr>
        <p:blipFill>
          <a:blip r:embed="rId3" cstate="print"/>
          <a:stretch>
            <a:fillRect/>
          </a:stretch>
        </p:blipFill>
        <p:spPr>
          <a:xfrm>
            <a:off x="777239" y="2185415"/>
            <a:ext cx="216407" cy="227075"/>
          </a:xfrm>
          <a:prstGeom prst="rect">
            <a:avLst/>
          </a:prstGeom>
        </p:spPr>
      </p:pic>
      <p:sp>
        <p:nvSpPr>
          <p:cNvPr id="4" name="object 4"/>
          <p:cNvSpPr txBox="1"/>
          <p:nvPr/>
        </p:nvSpPr>
        <p:spPr>
          <a:xfrm>
            <a:off x="766063" y="1879260"/>
            <a:ext cx="7606030" cy="3859529"/>
          </a:xfrm>
          <a:prstGeom prst="rect">
            <a:avLst/>
          </a:prstGeom>
        </p:spPr>
        <p:txBody>
          <a:bodyPr vert="horz" wrap="square" lIns="0" tIns="121920" rIns="0" bIns="0" rtlCol="0">
            <a:spAutoFit/>
          </a:bodyPr>
          <a:lstStyle/>
          <a:p>
            <a:pPr marL="352425">
              <a:lnSpc>
                <a:spcPct val="100000"/>
              </a:lnSpc>
              <a:spcBef>
                <a:spcPts val="960"/>
              </a:spcBef>
            </a:pPr>
            <a:r>
              <a:rPr sz="3200" dirty="0">
                <a:latin typeface="Calibri"/>
                <a:cs typeface="Calibri"/>
              </a:rPr>
              <a:t>Known</a:t>
            </a:r>
            <a:r>
              <a:rPr sz="3200" spc="-90" dirty="0">
                <a:latin typeface="Calibri"/>
                <a:cs typeface="Calibri"/>
              </a:rPr>
              <a:t> </a:t>
            </a:r>
            <a:r>
              <a:rPr sz="3200" dirty="0">
                <a:latin typeface="Calibri"/>
                <a:cs typeface="Calibri"/>
              </a:rPr>
              <a:t>vs.</a:t>
            </a:r>
            <a:r>
              <a:rPr sz="3200" spc="-90" dirty="0">
                <a:latin typeface="Calibri"/>
                <a:cs typeface="Calibri"/>
              </a:rPr>
              <a:t> </a:t>
            </a:r>
            <a:r>
              <a:rPr sz="3200" spc="-10" dirty="0">
                <a:latin typeface="Calibri"/>
                <a:cs typeface="Calibri"/>
              </a:rPr>
              <a:t>unknown</a:t>
            </a:r>
            <a:endParaRPr sz="3200">
              <a:latin typeface="Calibri"/>
              <a:cs typeface="Calibri"/>
            </a:endParaRPr>
          </a:p>
          <a:p>
            <a:pPr marL="352425" marR="5080" indent="-340360">
              <a:lnSpc>
                <a:spcPct val="100000"/>
              </a:lnSpc>
              <a:spcBef>
                <a:spcPts val="645"/>
              </a:spcBef>
            </a:pPr>
            <a:r>
              <a:rPr sz="2400" dirty="0">
                <a:latin typeface="Calibri"/>
                <a:cs typeface="Calibri"/>
              </a:rPr>
              <a:t>This</a:t>
            </a:r>
            <a:r>
              <a:rPr sz="2400" spc="-35" dirty="0">
                <a:latin typeface="Calibri"/>
                <a:cs typeface="Calibri"/>
              </a:rPr>
              <a:t> </a:t>
            </a:r>
            <a:r>
              <a:rPr sz="2400" dirty="0">
                <a:latin typeface="Calibri"/>
                <a:cs typeface="Calibri"/>
              </a:rPr>
              <a:t>distinction</a:t>
            </a:r>
            <a:r>
              <a:rPr sz="2400" spc="-60" dirty="0">
                <a:latin typeface="Calibri"/>
                <a:cs typeface="Calibri"/>
              </a:rPr>
              <a:t> </a:t>
            </a:r>
            <a:r>
              <a:rPr sz="2400" spc="-20" dirty="0">
                <a:latin typeface="Calibri"/>
                <a:cs typeface="Calibri"/>
              </a:rPr>
              <a:t>refers</a:t>
            </a:r>
            <a:r>
              <a:rPr sz="2400" spc="-50" dirty="0">
                <a:latin typeface="Calibri"/>
                <a:cs typeface="Calibri"/>
              </a:rPr>
              <a:t> </a:t>
            </a:r>
            <a:r>
              <a:rPr sz="2400" dirty="0">
                <a:latin typeface="Calibri"/>
                <a:cs typeface="Calibri"/>
              </a:rPr>
              <a:t>not</a:t>
            </a:r>
            <a:r>
              <a:rPr sz="2400" spc="-4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environment</a:t>
            </a:r>
            <a:r>
              <a:rPr sz="2400" spc="-45" dirty="0">
                <a:latin typeface="Calibri"/>
                <a:cs typeface="Calibri"/>
              </a:rPr>
              <a:t> </a:t>
            </a:r>
            <a:r>
              <a:rPr sz="2400" dirty="0">
                <a:latin typeface="Calibri"/>
                <a:cs typeface="Calibri"/>
              </a:rPr>
              <a:t>itself</a:t>
            </a:r>
            <a:r>
              <a:rPr sz="2400" spc="-60" dirty="0">
                <a:latin typeface="Calibri"/>
                <a:cs typeface="Calibri"/>
              </a:rPr>
              <a:t> </a:t>
            </a:r>
            <a:r>
              <a:rPr sz="2400" dirty="0">
                <a:latin typeface="Calibri"/>
                <a:cs typeface="Calibri"/>
              </a:rPr>
              <a:t>but</a:t>
            </a:r>
            <a:r>
              <a:rPr sz="2400" spc="-45" dirty="0">
                <a:latin typeface="Calibri"/>
                <a:cs typeface="Calibri"/>
              </a:rPr>
              <a:t> </a:t>
            </a:r>
            <a:r>
              <a:rPr sz="2400" dirty="0">
                <a:latin typeface="Calibri"/>
                <a:cs typeface="Calibri"/>
              </a:rPr>
              <a:t>to</a:t>
            </a:r>
            <a:r>
              <a:rPr sz="2400" spc="-45" dirty="0">
                <a:latin typeface="Calibri"/>
                <a:cs typeface="Calibri"/>
              </a:rPr>
              <a:t> </a:t>
            </a:r>
            <a:r>
              <a:rPr sz="2400" spc="-25" dirty="0">
                <a:latin typeface="Calibri"/>
                <a:cs typeface="Calibri"/>
              </a:rPr>
              <a:t>the </a:t>
            </a:r>
            <a:r>
              <a:rPr sz="2400" spc="-10" dirty="0">
                <a:solidFill>
                  <a:srgbClr val="C00000"/>
                </a:solidFill>
                <a:latin typeface="Calibri"/>
                <a:cs typeface="Calibri"/>
              </a:rPr>
              <a:t>agent’s</a:t>
            </a:r>
            <a:r>
              <a:rPr sz="2400" spc="-60" dirty="0">
                <a:solidFill>
                  <a:srgbClr val="C00000"/>
                </a:solidFill>
                <a:latin typeface="Calibri"/>
                <a:cs typeface="Calibri"/>
              </a:rPr>
              <a:t> </a:t>
            </a:r>
            <a:r>
              <a:rPr sz="2400" dirty="0">
                <a:solidFill>
                  <a:srgbClr val="C00000"/>
                </a:solidFill>
                <a:latin typeface="Calibri"/>
                <a:cs typeface="Calibri"/>
              </a:rPr>
              <a:t>(or</a:t>
            </a:r>
            <a:r>
              <a:rPr sz="2400" spc="-65" dirty="0">
                <a:solidFill>
                  <a:srgbClr val="C00000"/>
                </a:solidFill>
                <a:latin typeface="Calibri"/>
                <a:cs typeface="Calibri"/>
              </a:rPr>
              <a:t> </a:t>
            </a:r>
            <a:r>
              <a:rPr sz="2400" spc="-10" dirty="0">
                <a:solidFill>
                  <a:srgbClr val="C00000"/>
                </a:solidFill>
                <a:latin typeface="Calibri"/>
                <a:cs typeface="Calibri"/>
              </a:rPr>
              <a:t>designer’s)</a:t>
            </a:r>
            <a:r>
              <a:rPr sz="2400" spc="-60" dirty="0">
                <a:solidFill>
                  <a:srgbClr val="C00000"/>
                </a:solidFill>
                <a:latin typeface="Calibri"/>
                <a:cs typeface="Calibri"/>
              </a:rPr>
              <a:t> </a:t>
            </a:r>
            <a:r>
              <a:rPr sz="2400" spc="-10" dirty="0">
                <a:latin typeface="Calibri"/>
                <a:cs typeface="Calibri"/>
              </a:rPr>
              <a:t>state</a:t>
            </a:r>
            <a:r>
              <a:rPr sz="2400" spc="-7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knowledge</a:t>
            </a:r>
            <a:r>
              <a:rPr sz="2400" spc="-50" dirty="0">
                <a:latin typeface="Calibri"/>
                <a:cs typeface="Calibri"/>
              </a:rPr>
              <a:t> </a:t>
            </a:r>
            <a:r>
              <a:rPr sz="2400" dirty="0">
                <a:latin typeface="Calibri"/>
                <a:cs typeface="Calibri"/>
              </a:rPr>
              <a:t>about</a:t>
            </a:r>
            <a:r>
              <a:rPr sz="2400" spc="-50" dirty="0">
                <a:latin typeface="Calibri"/>
                <a:cs typeface="Calibri"/>
              </a:rPr>
              <a:t> </a:t>
            </a:r>
            <a:r>
              <a:rPr sz="2400" spc="-25" dirty="0">
                <a:latin typeface="Calibri"/>
                <a:cs typeface="Calibri"/>
              </a:rPr>
              <a:t>the </a:t>
            </a:r>
            <a:r>
              <a:rPr sz="2400" spc="-10" dirty="0">
                <a:latin typeface="Calibri"/>
                <a:cs typeface="Calibri"/>
              </a:rPr>
              <a:t>environment.</a:t>
            </a:r>
            <a:endParaRPr sz="2400">
              <a:latin typeface="Calibri"/>
              <a:cs typeface="Calibri"/>
            </a:endParaRPr>
          </a:p>
          <a:p>
            <a:pPr marL="12700" marR="645160">
              <a:lnSpc>
                <a:spcPct val="120800"/>
              </a:lnSpc>
              <a:tabLst>
                <a:tab pos="885825" algn="l"/>
              </a:tabLst>
            </a:pPr>
            <a:r>
              <a:rPr sz="2400" spc="-20" dirty="0">
                <a:latin typeface="Calibri"/>
                <a:cs typeface="Calibri"/>
              </a:rPr>
              <a:t>-</a:t>
            </a:r>
            <a:r>
              <a:rPr sz="2400" dirty="0">
                <a:latin typeface="Calibri"/>
                <a:cs typeface="Calibri"/>
              </a:rPr>
              <a:t>In</a:t>
            </a:r>
            <a:r>
              <a:rPr sz="2400" spc="-40" dirty="0">
                <a:latin typeface="Calibri"/>
                <a:cs typeface="Calibri"/>
              </a:rPr>
              <a:t> </a:t>
            </a:r>
            <a:r>
              <a:rPr sz="2400" dirty="0">
                <a:latin typeface="Calibri"/>
                <a:cs typeface="Calibri"/>
              </a:rPr>
              <a:t>known</a:t>
            </a:r>
            <a:r>
              <a:rPr sz="2400" spc="-35" dirty="0">
                <a:latin typeface="Calibri"/>
                <a:cs typeface="Calibri"/>
              </a:rPr>
              <a:t> </a:t>
            </a:r>
            <a:r>
              <a:rPr sz="2400" spc="-10" dirty="0">
                <a:latin typeface="Calibri"/>
                <a:cs typeface="Calibri"/>
              </a:rPr>
              <a:t>environment,</a:t>
            </a:r>
            <a:r>
              <a:rPr sz="2400" spc="-40" dirty="0">
                <a:latin typeface="Calibri"/>
                <a:cs typeface="Calibri"/>
              </a:rPr>
              <a:t> </a:t>
            </a:r>
            <a:r>
              <a:rPr sz="2400" dirty="0">
                <a:latin typeface="Calibri"/>
                <a:cs typeface="Calibri"/>
              </a:rPr>
              <a:t>the</a:t>
            </a:r>
            <a:r>
              <a:rPr sz="2400" spc="-35" dirty="0">
                <a:latin typeface="Calibri"/>
                <a:cs typeface="Calibri"/>
              </a:rPr>
              <a:t> </a:t>
            </a:r>
            <a:r>
              <a:rPr sz="2400" spc="-10" dirty="0">
                <a:solidFill>
                  <a:srgbClr val="C00000"/>
                </a:solidFill>
                <a:latin typeface="Calibri"/>
                <a:cs typeface="Calibri"/>
              </a:rPr>
              <a:t>outcomes</a:t>
            </a:r>
            <a:r>
              <a:rPr sz="2400" spc="-60" dirty="0">
                <a:solidFill>
                  <a:srgbClr val="C00000"/>
                </a:solidFill>
                <a:latin typeface="Calibri"/>
                <a:cs typeface="Calibri"/>
              </a:rPr>
              <a:t> </a:t>
            </a:r>
            <a:r>
              <a:rPr sz="2400" dirty="0">
                <a:solidFill>
                  <a:srgbClr val="C00000"/>
                </a:solidFill>
                <a:latin typeface="Calibri"/>
                <a:cs typeface="Calibri"/>
              </a:rPr>
              <a:t>for</a:t>
            </a:r>
            <a:r>
              <a:rPr sz="2400" spc="-30" dirty="0">
                <a:solidFill>
                  <a:srgbClr val="C00000"/>
                </a:solidFill>
                <a:latin typeface="Calibri"/>
                <a:cs typeface="Calibri"/>
              </a:rPr>
              <a:t> </a:t>
            </a:r>
            <a:r>
              <a:rPr sz="2400" dirty="0">
                <a:solidFill>
                  <a:srgbClr val="C00000"/>
                </a:solidFill>
                <a:latin typeface="Calibri"/>
                <a:cs typeface="Calibri"/>
              </a:rPr>
              <a:t>all</a:t>
            </a:r>
            <a:r>
              <a:rPr sz="2400" spc="-40" dirty="0">
                <a:solidFill>
                  <a:srgbClr val="C00000"/>
                </a:solidFill>
                <a:latin typeface="Calibri"/>
                <a:cs typeface="Calibri"/>
              </a:rPr>
              <a:t> </a:t>
            </a:r>
            <a:r>
              <a:rPr sz="2400" dirty="0">
                <a:solidFill>
                  <a:srgbClr val="C00000"/>
                </a:solidFill>
                <a:latin typeface="Calibri"/>
                <a:cs typeface="Calibri"/>
              </a:rPr>
              <a:t>actions</a:t>
            </a:r>
            <a:r>
              <a:rPr sz="2400" spc="-50" dirty="0">
                <a:solidFill>
                  <a:srgbClr val="C00000"/>
                </a:solidFill>
                <a:latin typeface="Calibri"/>
                <a:cs typeface="Calibri"/>
              </a:rPr>
              <a:t> </a:t>
            </a:r>
            <a:r>
              <a:rPr sz="2400" spc="-25" dirty="0">
                <a:solidFill>
                  <a:srgbClr val="C00000"/>
                </a:solidFill>
                <a:latin typeface="Calibri"/>
                <a:cs typeface="Calibri"/>
              </a:rPr>
              <a:t>are </a:t>
            </a:r>
            <a:r>
              <a:rPr sz="2400" spc="-10" dirty="0">
                <a:solidFill>
                  <a:srgbClr val="C00000"/>
                </a:solidFill>
                <a:latin typeface="Calibri"/>
                <a:cs typeface="Calibri"/>
              </a:rPr>
              <a:t>given</a:t>
            </a:r>
            <a:r>
              <a:rPr sz="2400" spc="-10" dirty="0">
                <a:latin typeface="Calibri"/>
                <a:cs typeface="Calibri"/>
              </a:rPr>
              <a:t>.</a:t>
            </a:r>
            <a:r>
              <a:rPr sz="2400" dirty="0">
                <a:latin typeface="Calibri"/>
                <a:cs typeface="Calibri"/>
              </a:rPr>
              <a:t>	</a:t>
            </a:r>
            <a:r>
              <a:rPr sz="2400" spc="-10" dirty="0">
                <a:latin typeface="Calibri"/>
                <a:cs typeface="Calibri"/>
              </a:rPr>
              <a:t>(example:</a:t>
            </a:r>
            <a:r>
              <a:rPr sz="2400" spc="-110" dirty="0">
                <a:latin typeface="Calibri"/>
                <a:cs typeface="Calibri"/>
              </a:rPr>
              <a:t> </a:t>
            </a:r>
            <a:r>
              <a:rPr sz="2400" dirty="0">
                <a:latin typeface="Calibri"/>
                <a:cs typeface="Calibri"/>
              </a:rPr>
              <a:t>solitaire</a:t>
            </a:r>
            <a:r>
              <a:rPr sz="2400" spc="-80" dirty="0">
                <a:latin typeface="Calibri"/>
                <a:cs typeface="Calibri"/>
              </a:rPr>
              <a:t> </a:t>
            </a:r>
            <a:r>
              <a:rPr sz="2400" dirty="0">
                <a:latin typeface="Calibri"/>
                <a:cs typeface="Calibri"/>
              </a:rPr>
              <a:t>card</a:t>
            </a:r>
            <a:r>
              <a:rPr sz="2400" spc="-80" dirty="0">
                <a:latin typeface="Calibri"/>
                <a:cs typeface="Calibri"/>
              </a:rPr>
              <a:t> </a:t>
            </a:r>
            <a:r>
              <a:rPr sz="2400" spc="-10" dirty="0">
                <a:latin typeface="Calibri"/>
                <a:cs typeface="Calibri"/>
              </a:rPr>
              <a:t>games).</a:t>
            </a:r>
            <a:endParaRPr sz="2400">
              <a:latin typeface="Calibri"/>
              <a:cs typeface="Calibri"/>
            </a:endParaRPr>
          </a:p>
          <a:p>
            <a:pPr marL="352425" marR="119380" indent="-340360">
              <a:lnSpc>
                <a:spcPct val="100000"/>
              </a:lnSpc>
              <a:spcBef>
                <a:spcPts val="600"/>
              </a:spcBef>
            </a:pPr>
            <a:r>
              <a:rPr sz="2400" dirty="0">
                <a:latin typeface="Calibri"/>
                <a:cs typeface="Calibri"/>
              </a:rPr>
              <a:t>-</a:t>
            </a:r>
            <a:r>
              <a:rPr sz="2400" spc="-50" dirty="0">
                <a:latin typeface="Calibri"/>
                <a:cs typeface="Calibri"/>
              </a:rPr>
              <a:t> </a:t>
            </a:r>
            <a:r>
              <a:rPr sz="2400" dirty="0">
                <a:latin typeface="Calibri"/>
                <a:cs typeface="Calibri"/>
              </a:rPr>
              <a:t>If</a:t>
            </a:r>
            <a:r>
              <a:rPr sz="2400" spc="-45" dirty="0">
                <a:latin typeface="Calibri"/>
                <a:cs typeface="Calibri"/>
              </a:rPr>
              <a:t> </a:t>
            </a:r>
            <a:r>
              <a:rPr sz="2400" dirty="0">
                <a:latin typeface="Calibri"/>
                <a:cs typeface="Calibri"/>
              </a:rPr>
              <a:t>the</a:t>
            </a:r>
            <a:r>
              <a:rPr sz="2400" spc="-35" dirty="0">
                <a:latin typeface="Calibri"/>
                <a:cs typeface="Calibri"/>
              </a:rPr>
              <a:t> </a:t>
            </a:r>
            <a:r>
              <a:rPr sz="2400" spc="-10" dirty="0">
                <a:latin typeface="Calibri"/>
                <a:cs typeface="Calibri"/>
              </a:rPr>
              <a:t>environment</a:t>
            </a:r>
            <a:r>
              <a:rPr sz="2400" spc="-45"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unknown,</a:t>
            </a:r>
            <a:r>
              <a:rPr sz="2400" spc="-3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agent</a:t>
            </a:r>
            <a:r>
              <a:rPr sz="2400" spc="-40" dirty="0">
                <a:latin typeface="Calibri"/>
                <a:cs typeface="Calibri"/>
              </a:rPr>
              <a:t> </a:t>
            </a:r>
            <a:r>
              <a:rPr sz="2400" dirty="0">
                <a:latin typeface="Calibri"/>
                <a:cs typeface="Calibri"/>
              </a:rPr>
              <a:t>will</a:t>
            </a:r>
            <a:r>
              <a:rPr sz="2400" spc="-55" dirty="0">
                <a:latin typeface="Calibri"/>
                <a:cs typeface="Calibri"/>
              </a:rPr>
              <a:t> </a:t>
            </a:r>
            <a:r>
              <a:rPr sz="2400" dirty="0">
                <a:latin typeface="Calibri"/>
                <a:cs typeface="Calibri"/>
              </a:rPr>
              <a:t>have</a:t>
            </a:r>
            <a:r>
              <a:rPr sz="2400" spc="-35" dirty="0">
                <a:latin typeface="Calibri"/>
                <a:cs typeface="Calibri"/>
              </a:rPr>
              <a:t> </a:t>
            </a:r>
            <a:r>
              <a:rPr sz="2400" dirty="0">
                <a:latin typeface="Calibri"/>
                <a:cs typeface="Calibri"/>
              </a:rPr>
              <a:t>to</a:t>
            </a:r>
            <a:r>
              <a:rPr sz="2400" spc="-50" dirty="0">
                <a:latin typeface="Calibri"/>
                <a:cs typeface="Calibri"/>
              </a:rPr>
              <a:t> </a:t>
            </a:r>
            <a:r>
              <a:rPr sz="2400" spc="-10" dirty="0">
                <a:solidFill>
                  <a:srgbClr val="C00000"/>
                </a:solidFill>
                <a:latin typeface="Calibri"/>
                <a:cs typeface="Calibri"/>
              </a:rPr>
              <a:t>learn </a:t>
            </a:r>
            <a:r>
              <a:rPr sz="2400" dirty="0">
                <a:latin typeface="Calibri"/>
                <a:cs typeface="Calibri"/>
              </a:rPr>
              <a:t>how</a:t>
            </a:r>
            <a:r>
              <a:rPr sz="2400" spc="-55" dirty="0">
                <a:latin typeface="Calibri"/>
                <a:cs typeface="Calibri"/>
              </a:rPr>
              <a:t> </a:t>
            </a:r>
            <a:r>
              <a:rPr sz="2400" dirty="0">
                <a:latin typeface="Calibri"/>
                <a:cs typeface="Calibri"/>
              </a:rPr>
              <a:t>it</a:t>
            </a:r>
            <a:r>
              <a:rPr sz="2400" spc="-55" dirty="0">
                <a:latin typeface="Calibri"/>
                <a:cs typeface="Calibri"/>
              </a:rPr>
              <a:t> </a:t>
            </a:r>
            <a:r>
              <a:rPr sz="2400" dirty="0">
                <a:latin typeface="Calibri"/>
                <a:cs typeface="Calibri"/>
              </a:rPr>
              <a:t>works</a:t>
            </a:r>
            <a:r>
              <a:rPr sz="2400" spc="-55" dirty="0">
                <a:latin typeface="Calibri"/>
                <a:cs typeface="Calibri"/>
              </a:rPr>
              <a:t> </a:t>
            </a:r>
            <a:r>
              <a:rPr sz="2400" dirty="0">
                <a:latin typeface="Calibri"/>
                <a:cs typeface="Calibri"/>
              </a:rPr>
              <a:t>in</a:t>
            </a:r>
            <a:r>
              <a:rPr sz="2400" spc="-55" dirty="0">
                <a:latin typeface="Calibri"/>
                <a:cs typeface="Calibri"/>
              </a:rPr>
              <a:t> </a:t>
            </a:r>
            <a:r>
              <a:rPr sz="2400" dirty="0">
                <a:latin typeface="Calibri"/>
                <a:cs typeface="Calibri"/>
              </a:rPr>
              <a:t>order</a:t>
            </a:r>
            <a:r>
              <a:rPr sz="2400" spc="-45"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make</a:t>
            </a:r>
            <a:r>
              <a:rPr sz="2400" spc="-65" dirty="0">
                <a:latin typeface="Calibri"/>
                <a:cs typeface="Calibri"/>
              </a:rPr>
              <a:t> </a:t>
            </a:r>
            <a:r>
              <a:rPr sz="2400" dirty="0">
                <a:latin typeface="Calibri"/>
                <a:cs typeface="Calibri"/>
              </a:rPr>
              <a:t>good</a:t>
            </a:r>
            <a:r>
              <a:rPr sz="2400" spc="-65" dirty="0">
                <a:latin typeface="Calibri"/>
                <a:cs typeface="Calibri"/>
              </a:rPr>
              <a:t> </a:t>
            </a:r>
            <a:r>
              <a:rPr sz="2400" spc="-10" dirty="0">
                <a:latin typeface="Calibri"/>
                <a:cs typeface="Calibri"/>
              </a:rPr>
              <a:t>decisions.(example: </a:t>
            </a:r>
            <a:r>
              <a:rPr sz="2400" dirty="0">
                <a:latin typeface="Calibri"/>
                <a:cs typeface="Calibri"/>
              </a:rPr>
              <a:t>new</a:t>
            </a:r>
            <a:r>
              <a:rPr sz="2400" spc="-45" dirty="0">
                <a:latin typeface="Calibri"/>
                <a:cs typeface="Calibri"/>
              </a:rPr>
              <a:t> </a:t>
            </a:r>
            <a:r>
              <a:rPr sz="2400" dirty="0">
                <a:latin typeface="Calibri"/>
                <a:cs typeface="Calibri"/>
              </a:rPr>
              <a:t>video</a:t>
            </a:r>
            <a:r>
              <a:rPr sz="2400" spc="-45" dirty="0">
                <a:latin typeface="Calibri"/>
                <a:cs typeface="Calibri"/>
              </a:rPr>
              <a:t> </a:t>
            </a:r>
            <a:r>
              <a:rPr sz="2400" spc="-10" dirty="0">
                <a:latin typeface="Calibri"/>
                <a:cs typeface="Calibri"/>
              </a:rPr>
              <a:t>game).</a:t>
            </a:r>
            <a:endParaRPr sz="240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23" y="160735"/>
            <a:ext cx="9140951" cy="6697264"/>
          </a:xfrm>
          <a:prstGeom prst="rect">
            <a:avLst/>
          </a:prstGeom>
        </p:spPr>
      </p:pic>
      <p:sp>
        <p:nvSpPr>
          <p:cNvPr id="3" name="object 3"/>
          <p:cNvSpPr txBox="1">
            <a:spLocks noGrp="1"/>
          </p:cNvSpPr>
          <p:nvPr>
            <p:ph type="title"/>
          </p:nvPr>
        </p:nvSpPr>
        <p:spPr>
          <a:prstGeom prst="rect">
            <a:avLst/>
          </a:prstGeom>
        </p:spPr>
        <p:txBody>
          <a:bodyPr vert="horz" wrap="square" lIns="0" tIns="351599" rIns="0" bIns="0" rtlCol="0">
            <a:spAutoFit/>
          </a:bodyPr>
          <a:lstStyle/>
          <a:p>
            <a:pPr marL="108585">
              <a:lnSpc>
                <a:spcPct val="100000"/>
              </a:lnSpc>
              <a:spcBef>
                <a:spcPts val="95"/>
              </a:spcBef>
            </a:pPr>
            <a:r>
              <a:rPr sz="4000" dirty="0"/>
              <a:t>Examples</a:t>
            </a:r>
            <a:r>
              <a:rPr sz="4000" spc="-85" dirty="0"/>
              <a:t> </a:t>
            </a:r>
            <a:r>
              <a:rPr sz="4000" dirty="0"/>
              <a:t>of</a:t>
            </a:r>
            <a:r>
              <a:rPr sz="4000" spc="-85" dirty="0"/>
              <a:t> </a:t>
            </a:r>
            <a:r>
              <a:rPr sz="4000" dirty="0"/>
              <a:t>task</a:t>
            </a:r>
            <a:r>
              <a:rPr sz="4000" spc="-95" dirty="0"/>
              <a:t> </a:t>
            </a:r>
            <a:r>
              <a:rPr sz="4000" spc="-10" dirty="0"/>
              <a:t>environments…</a:t>
            </a:r>
            <a:endParaRPr sz="4000"/>
          </a:p>
        </p:txBody>
      </p:sp>
      <p:pic>
        <p:nvPicPr>
          <p:cNvPr id="4" name="object 4"/>
          <p:cNvPicPr/>
          <p:nvPr/>
        </p:nvPicPr>
        <p:blipFill>
          <a:blip r:embed="rId4" cstate="print"/>
          <a:stretch>
            <a:fillRect/>
          </a:stretch>
        </p:blipFill>
        <p:spPr>
          <a:xfrm>
            <a:off x="0" y="1751076"/>
            <a:ext cx="9143999" cy="449732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5626" y="-79755"/>
            <a:ext cx="5104130" cy="696595"/>
          </a:xfrm>
          <a:prstGeom prst="rect">
            <a:avLst/>
          </a:prstGeom>
        </p:spPr>
        <p:txBody>
          <a:bodyPr vert="horz" wrap="square" lIns="0" tIns="12700" rIns="0" bIns="0" rtlCol="0">
            <a:spAutoFit/>
          </a:bodyPr>
          <a:lstStyle/>
          <a:p>
            <a:pPr marL="12700">
              <a:lnSpc>
                <a:spcPct val="100000"/>
              </a:lnSpc>
              <a:spcBef>
                <a:spcPts val="100"/>
              </a:spcBef>
            </a:pPr>
            <a:r>
              <a:rPr dirty="0"/>
              <a:t>Summary:</a:t>
            </a:r>
            <a:r>
              <a:rPr spc="-80" dirty="0"/>
              <a:t> </a:t>
            </a:r>
            <a:r>
              <a:rPr dirty="0"/>
              <a:t>agent</a:t>
            </a:r>
            <a:r>
              <a:rPr spc="-90" dirty="0"/>
              <a:t> </a:t>
            </a:r>
            <a:r>
              <a:rPr spc="-10" dirty="0"/>
              <a:t>types</a:t>
            </a:r>
          </a:p>
        </p:txBody>
      </p:sp>
      <p:sp>
        <p:nvSpPr>
          <p:cNvPr id="3" name="object 3"/>
          <p:cNvSpPr txBox="1"/>
          <p:nvPr/>
        </p:nvSpPr>
        <p:spPr>
          <a:xfrm>
            <a:off x="459740" y="877315"/>
            <a:ext cx="8418195" cy="4414520"/>
          </a:xfrm>
          <a:prstGeom prst="rect">
            <a:avLst/>
          </a:prstGeom>
        </p:spPr>
        <p:txBody>
          <a:bodyPr vert="horz" wrap="square" lIns="0" tIns="67310" rIns="0" bIns="0" rtlCol="0">
            <a:spAutoFit/>
          </a:bodyPr>
          <a:lstStyle/>
          <a:p>
            <a:pPr marL="354965" indent="-342265">
              <a:lnSpc>
                <a:spcPct val="100000"/>
              </a:lnSpc>
              <a:spcBef>
                <a:spcPts val="530"/>
              </a:spcBef>
              <a:buFont typeface="Arial"/>
              <a:buChar char="•"/>
              <a:tabLst>
                <a:tab pos="354965" algn="l"/>
              </a:tabLst>
            </a:pPr>
            <a:r>
              <a:rPr sz="1800" b="1" dirty="0">
                <a:solidFill>
                  <a:srgbClr val="FF0000"/>
                </a:solidFill>
                <a:latin typeface="Calibri"/>
                <a:cs typeface="Calibri"/>
              </a:rPr>
              <a:t>(1)</a:t>
            </a:r>
            <a:r>
              <a:rPr sz="1800" b="1" spc="-35" dirty="0">
                <a:solidFill>
                  <a:srgbClr val="FF0000"/>
                </a:solidFill>
                <a:latin typeface="Calibri"/>
                <a:cs typeface="Calibri"/>
              </a:rPr>
              <a:t> </a:t>
            </a:r>
            <a:r>
              <a:rPr sz="1800" b="1" dirty="0">
                <a:solidFill>
                  <a:srgbClr val="FF0000"/>
                </a:solidFill>
                <a:latin typeface="Calibri"/>
                <a:cs typeface="Calibri"/>
              </a:rPr>
              <a:t>Simple</a:t>
            </a:r>
            <a:r>
              <a:rPr sz="1800" b="1" spc="-60" dirty="0">
                <a:solidFill>
                  <a:srgbClr val="FF0000"/>
                </a:solidFill>
                <a:latin typeface="Calibri"/>
                <a:cs typeface="Calibri"/>
              </a:rPr>
              <a:t> </a:t>
            </a:r>
            <a:r>
              <a:rPr sz="1800" b="1" dirty="0">
                <a:solidFill>
                  <a:srgbClr val="FF0000"/>
                </a:solidFill>
                <a:latin typeface="Calibri"/>
                <a:cs typeface="Calibri"/>
              </a:rPr>
              <a:t>reflex</a:t>
            </a:r>
            <a:r>
              <a:rPr sz="1800" b="1" spc="-45" dirty="0">
                <a:solidFill>
                  <a:srgbClr val="FF0000"/>
                </a:solidFill>
                <a:latin typeface="Calibri"/>
                <a:cs typeface="Calibri"/>
              </a:rPr>
              <a:t> </a:t>
            </a:r>
            <a:r>
              <a:rPr sz="1800" b="1" spc="-10" dirty="0">
                <a:solidFill>
                  <a:srgbClr val="FF0000"/>
                </a:solidFill>
                <a:latin typeface="Calibri"/>
                <a:cs typeface="Calibri"/>
              </a:rPr>
              <a:t>agents</a:t>
            </a:r>
            <a:endParaRPr sz="1800">
              <a:latin typeface="Calibri"/>
              <a:cs typeface="Calibri"/>
            </a:endParaRPr>
          </a:p>
          <a:p>
            <a:pPr marL="756285" marR="5080" lvl="1" indent="-287020">
              <a:lnSpc>
                <a:spcPct val="100000"/>
              </a:lnSpc>
              <a:spcBef>
                <a:spcPts val="434"/>
              </a:spcBef>
              <a:buFont typeface="Arial"/>
              <a:buChar char="–"/>
              <a:tabLst>
                <a:tab pos="756285" algn="l"/>
              </a:tabLst>
            </a:pPr>
            <a:r>
              <a:rPr sz="1800" b="1" dirty="0">
                <a:solidFill>
                  <a:srgbClr val="3333CC"/>
                </a:solidFill>
                <a:latin typeface="Calibri"/>
                <a:cs typeface="Calibri"/>
              </a:rPr>
              <a:t>are</a:t>
            </a:r>
            <a:r>
              <a:rPr sz="1800" b="1" spc="-5" dirty="0">
                <a:solidFill>
                  <a:srgbClr val="3333CC"/>
                </a:solidFill>
                <a:latin typeface="Calibri"/>
                <a:cs typeface="Calibri"/>
              </a:rPr>
              <a:t> </a:t>
            </a:r>
            <a:r>
              <a:rPr sz="1800" b="1" dirty="0">
                <a:solidFill>
                  <a:srgbClr val="3333CC"/>
                </a:solidFill>
                <a:latin typeface="Calibri"/>
                <a:cs typeface="Calibri"/>
              </a:rPr>
              <a:t>based</a:t>
            </a:r>
            <a:r>
              <a:rPr sz="1800" b="1" spc="-40" dirty="0">
                <a:solidFill>
                  <a:srgbClr val="3333CC"/>
                </a:solidFill>
                <a:latin typeface="Calibri"/>
                <a:cs typeface="Calibri"/>
              </a:rPr>
              <a:t> </a:t>
            </a:r>
            <a:r>
              <a:rPr sz="1800" b="1" dirty="0">
                <a:solidFill>
                  <a:srgbClr val="3333CC"/>
                </a:solidFill>
                <a:latin typeface="Calibri"/>
                <a:cs typeface="Calibri"/>
              </a:rPr>
              <a:t>on</a:t>
            </a:r>
            <a:r>
              <a:rPr sz="1800" b="1" spc="-10" dirty="0">
                <a:solidFill>
                  <a:srgbClr val="3333CC"/>
                </a:solidFill>
                <a:latin typeface="Calibri"/>
                <a:cs typeface="Calibri"/>
              </a:rPr>
              <a:t> condition-</a:t>
            </a:r>
            <a:r>
              <a:rPr sz="1800" b="1" dirty="0">
                <a:solidFill>
                  <a:srgbClr val="3333CC"/>
                </a:solidFill>
                <a:latin typeface="Calibri"/>
                <a:cs typeface="Calibri"/>
              </a:rPr>
              <a:t>action</a:t>
            </a:r>
            <a:r>
              <a:rPr sz="1800" b="1" spc="-55" dirty="0">
                <a:solidFill>
                  <a:srgbClr val="3333CC"/>
                </a:solidFill>
                <a:latin typeface="Calibri"/>
                <a:cs typeface="Calibri"/>
              </a:rPr>
              <a:t> </a:t>
            </a:r>
            <a:r>
              <a:rPr sz="1800" b="1" dirty="0">
                <a:solidFill>
                  <a:srgbClr val="3333CC"/>
                </a:solidFill>
                <a:latin typeface="Calibri"/>
                <a:cs typeface="Calibri"/>
              </a:rPr>
              <a:t>rules,</a:t>
            </a:r>
            <a:r>
              <a:rPr sz="1800" b="1" spc="-40" dirty="0">
                <a:solidFill>
                  <a:srgbClr val="3333CC"/>
                </a:solidFill>
                <a:latin typeface="Calibri"/>
                <a:cs typeface="Calibri"/>
              </a:rPr>
              <a:t> </a:t>
            </a:r>
            <a:r>
              <a:rPr sz="1800" b="1" dirty="0">
                <a:solidFill>
                  <a:srgbClr val="3333CC"/>
                </a:solidFill>
                <a:latin typeface="Calibri"/>
                <a:cs typeface="Calibri"/>
              </a:rPr>
              <a:t>implemented</a:t>
            </a:r>
            <a:r>
              <a:rPr sz="1800" b="1" spc="-15" dirty="0">
                <a:solidFill>
                  <a:srgbClr val="3333CC"/>
                </a:solidFill>
                <a:latin typeface="Calibri"/>
                <a:cs typeface="Calibri"/>
              </a:rPr>
              <a:t> </a:t>
            </a:r>
            <a:r>
              <a:rPr sz="1800" b="1" dirty="0">
                <a:solidFill>
                  <a:srgbClr val="3333CC"/>
                </a:solidFill>
                <a:latin typeface="Calibri"/>
                <a:cs typeface="Calibri"/>
              </a:rPr>
              <a:t>with</a:t>
            </a:r>
            <a:r>
              <a:rPr sz="1800" b="1" spc="-50" dirty="0">
                <a:solidFill>
                  <a:srgbClr val="3333CC"/>
                </a:solidFill>
                <a:latin typeface="Calibri"/>
                <a:cs typeface="Calibri"/>
              </a:rPr>
              <a:t> </a:t>
            </a:r>
            <a:r>
              <a:rPr sz="1800" b="1" dirty="0">
                <a:solidFill>
                  <a:srgbClr val="3333CC"/>
                </a:solidFill>
                <a:latin typeface="Calibri"/>
                <a:cs typeface="Calibri"/>
              </a:rPr>
              <a:t>an</a:t>
            </a:r>
            <a:r>
              <a:rPr sz="1800" b="1" spc="-5" dirty="0">
                <a:solidFill>
                  <a:srgbClr val="3333CC"/>
                </a:solidFill>
                <a:latin typeface="Calibri"/>
                <a:cs typeface="Calibri"/>
              </a:rPr>
              <a:t> </a:t>
            </a:r>
            <a:r>
              <a:rPr sz="1800" b="1" spc="-10" dirty="0">
                <a:solidFill>
                  <a:srgbClr val="3333CC"/>
                </a:solidFill>
                <a:latin typeface="Calibri"/>
                <a:cs typeface="Calibri"/>
              </a:rPr>
              <a:t>appropriate </a:t>
            </a:r>
            <a:r>
              <a:rPr sz="1800" b="1" dirty="0">
                <a:solidFill>
                  <a:srgbClr val="3333CC"/>
                </a:solidFill>
                <a:latin typeface="Calibri"/>
                <a:cs typeface="Calibri"/>
              </a:rPr>
              <a:t>production</a:t>
            </a:r>
            <a:r>
              <a:rPr sz="1800" b="1" spc="-45" dirty="0">
                <a:solidFill>
                  <a:srgbClr val="3333CC"/>
                </a:solidFill>
                <a:latin typeface="Calibri"/>
                <a:cs typeface="Calibri"/>
              </a:rPr>
              <a:t> </a:t>
            </a:r>
            <a:r>
              <a:rPr sz="1800" b="1" spc="-10" dirty="0">
                <a:solidFill>
                  <a:srgbClr val="3333CC"/>
                </a:solidFill>
                <a:latin typeface="Calibri"/>
                <a:cs typeface="Calibri"/>
              </a:rPr>
              <a:t>system.</a:t>
            </a:r>
            <a:r>
              <a:rPr sz="1800" b="1" spc="-40" dirty="0">
                <a:solidFill>
                  <a:srgbClr val="3333CC"/>
                </a:solidFill>
                <a:latin typeface="Calibri"/>
                <a:cs typeface="Calibri"/>
              </a:rPr>
              <a:t> </a:t>
            </a:r>
            <a:r>
              <a:rPr sz="1800" b="1" dirty="0">
                <a:solidFill>
                  <a:srgbClr val="3333CC"/>
                </a:solidFill>
                <a:latin typeface="Calibri"/>
                <a:cs typeface="Calibri"/>
              </a:rPr>
              <a:t>They</a:t>
            </a:r>
            <a:r>
              <a:rPr sz="1800" b="1" spc="-40" dirty="0">
                <a:solidFill>
                  <a:srgbClr val="3333CC"/>
                </a:solidFill>
                <a:latin typeface="Calibri"/>
                <a:cs typeface="Calibri"/>
              </a:rPr>
              <a:t> </a:t>
            </a:r>
            <a:r>
              <a:rPr sz="1800" b="1" dirty="0">
                <a:solidFill>
                  <a:srgbClr val="3333CC"/>
                </a:solidFill>
                <a:latin typeface="Calibri"/>
                <a:cs typeface="Calibri"/>
              </a:rPr>
              <a:t>are</a:t>
            </a:r>
            <a:r>
              <a:rPr sz="1800" b="1" spc="-5" dirty="0">
                <a:solidFill>
                  <a:srgbClr val="3333CC"/>
                </a:solidFill>
                <a:latin typeface="Calibri"/>
                <a:cs typeface="Calibri"/>
              </a:rPr>
              <a:t> </a:t>
            </a:r>
            <a:r>
              <a:rPr sz="1800" b="1" u="sng" spc="-10" dirty="0">
                <a:solidFill>
                  <a:srgbClr val="3333CC"/>
                </a:solidFill>
                <a:uFill>
                  <a:solidFill>
                    <a:srgbClr val="3333CC"/>
                  </a:solidFill>
                </a:uFill>
                <a:latin typeface="Calibri"/>
                <a:cs typeface="Calibri"/>
              </a:rPr>
              <a:t>stateless</a:t>
            </a:r>
            <a:r>
              <a:rPr sz="1800" b="1" u="sng" spc="-60"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devices</a:t>
            </a:r>
            <a:r>
              <a:rPr sz="1800" b="1" u="sng" spc="-60"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which</a:t>
            </a:r>
            <a:r>
              <a:rPr sz="1800" b="1" u="sng" spc="-35"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do</a:t>
            </a:r>
            <a:r>
              <a:rPr sz="1800" b="1" u="sng" spc="-35"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not</a:t>
            </a:r>
            <a:r>
              <a:rPr sz="1800" b="1" u="sng" spc="-30"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have</a:t>
            </a:r>
            <a:r>
              <a:rPr sz="1800" b="1" u="sng" spc="-35"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memory</a:t>
            </a:r>
            <a:r>
              <a:rPr sz="1800" b="1" u="sng" spc="-35" dirty="0">
                <a:solidFill>
                  <a:srgbClr val="3333CC"/>
                </a:solidFill>
                <a:uFill>
                  <a:solidFill>
                    <a:srgbClr val="3333CC"/>
                  </a:solidFill>
                </a:uFill>
                <a:latin typeface="Calibri"/>
                <a:cs typeface="Calibri"/>
              </a:rPr>
              <a:t> </a:t>
            </a:r>
            <a:r>
              <a:rPr sz="1800" b="1" u="sng" dirty="0">
                <a:solidFill>
                  <a:srgbClr val="3333CC"/>
                </a:solidFill>
                <a:uFill>
                  <a:solidFill>
                    <a:srgbClr val="3333CC"/>
                  </a:solidFill>
                </a:uFill>
                <a:latin typeface="Calibri"/>
                <a:cs typeface="Calibri"/>
              </a:rPr>
              <a:t>of</a:t>
            </a:r>
            <a:r>
              <a:rPr sz="1800" b="1" u="sng" spc="-10" dirty="0">
                <a:solidFill>
                  <a:srgbClr val="3333CC"/>
                </a:solidFill>
                <a:uFill>
                  <a:solidFill>
                    <a:srgbClr val="3333CC"/>
                  </a:solidFill>
                </a:uFill>
                <a:latin typeface="Calibri"/>
                <a:cs typeface="Calibri"/>
              </a:rPr>
              <a:t> </a:t>
            </a:r>
            <a:r>
              <a:rPr sz="1800" b="1" u="sng" spc="-20" dirty="0">
                <a:solidFill>
                  <a:srgbClr val="3333CC"/>
                </a:solidFill>
                <a:uFill>
                  <a:solidFill>
                    <a:srgbClr val="3333CC"/>
                  </a:solidFill>
                </a:uFill>
                <a:latin typeface="Calibri"/>
                <a:cs typeface="Calibri"/>
              </a:rPr>
              <a:t>past</a:t>
            </a:r>
            <a:r>
              <a:rPr sz="1800" b="1" spc="-20" dirty="0">
                <a:solidFill>
                  <a:srgbClr val="3333CC"/>
                </a:solidFill>
                <a:latin typeface="Calibri"/>
                <a:cs typeface="Calibri"/>
              </a:rPr>
              <a:t> </a:t>
            </a:r>
            <a:r>
              <a:rPr sz="1800" b="1" u="sng" dirty="0">
                <a:solidFill>
                  <a:srgbClr val="3333CC"/>
                </a:solidFill>
                <a:uFill>
                  <a:solidFill>
                    <a:srgbClr val="3333CC"/>
                  </a:solidFill>
                </a:uFill>
                <a:latin typeface="Calibri"/>
                <a:cs typeface="Calibri"/>
              </a:rPr>
              <a:t>world</a:t>
            </a:r>
            <a:r>
              <a:rPr sz="1800" b="1" u="sng" spc="-35" dirty="0">
                <a:solidFill>
                  <a:srgbClr val="3333CC"/>
                </a:solidFill>
                <a:uFill>
                  <a:solidFill>
                    <a:srgbClr val="3333CC"/>
                  </a:solidFill>
                </a:uFill>
                <a:latin typeface="Calibri"/>
                <a:cs typeface="Calibri"/>
              </a:rPr>
              <a:t> </a:t>
            </a:r>
            <a:r>
              <a:rPr sz="1800" b="1" u="sng" spc="-10" dirty="0">
                <a:solidFill>
                  <a:srgbClr val="3333CC"/>
                </a:solidFill>
                <a:uFill>
                  <a:solidFill>
                    <a:srgbClr val="3333CC"/>
                  </a:solidFill>
                </a:uFill>
                <a:latin typeface="Calibri"/>
                <a:cs typeface="Calibri"/>
              </a:rPr>
              <a:t>states.</a:t>
            </a:r>
            <a:endParaRPr sz="1800">
              <a:latin typeface="Calibri"/>
              <a:cs typeface="Calibri"/>
            </a:endParaRPr>
          </a:p>
          <a:p>
            <a:pPr marL="354965" indent="-342265">
              <a:lnSpc>
                <a:spcPct val="100000"/>
              </a:lnSpc>
              <a:spcBef>
                <a:spcPts val="430"/>
              </a:spcBef>
              <a:buFont typeface="Arial"/>
              <a:buChar char="•"/>
              <a:tabLst>
                <a:tab pos="354965" algn="l"/>
              </a:tabLst>
            </a:pPr>
            <a:r>
              <a:rPr sz="1800" b="1" dirty="0">
                <a:solidFill>
                  <a:srgbClr val="FF0000"/>
                </a:solidFill>
                <a:latin typeface="Calibri"/>
                <a:cs typeface="Calibri"/>
              </a:rPr>
              <a:t>(2)</a:t>
            </a:r>
            <a:r>
              <a:rPr sz="1800" b="1" spc="-5" dirty="0">
                <a:solidFill>
                  <a:srgbClr val="FF0000"/>
                </a:solidFill>
                <a:latin typeface="Calibri"/>
                <a:cs typeface="Calibri"/>
              </a:rPr>
              <a:t> </a:t>
            </a:r>
            <a:r>
              <a:rPr sz="1800" b="1" dirty="0">
                <a:solidFill>
                  <a:srgbClr val="FF0000"/>
                </a:solidFill>
                <a:latin typeface="Calibri"/>
                <a:cs typeface="Calibri"/>
              </a:rPr>
              <a:t>Agents</a:t>
            </a:r>
            <a:r>
              <a:rPr sz="1800" b="1" spc="-30" dirty="0">
                <a:solidFill>
                  <a:srgbClr val="FF0000"/>
                </a:solidFill>
                <a:latin typeface="Calibri"/>
                <a:cs typeface="Calibri"/>
              </a:rPr>
              <a:t> </a:t>
            </a:r>
            <a:r>
              <a:rPr sz="1800" b="1" dirty="0">
                <a:solidFill>
                  <a:srgbClr val="FF0000"/>
                </a:solidFill>
                <a:latin typeface="Calibri"/>
                <a:cs typeface="Calibri"/>
              </a:rPr>
              <a:t>with</a:t>
            </a:r>
            <a:r>
              <a:rPr sz="1800" b="1" spc="-25" dirty="0">
                <a:solidFill>
                  <a:srgbClr val="FF0000"/>
                </a:solidFill>
                <a:latin typeface="Calibri"/>
                <a:cs typeface="Calibri"/>
              </a:rPr>
              <a:t> </a:t>
            </a:r>
            <a:r>
              <a:rPr sz="1800" b="1" dirty="0">
                <a:solidFill>
                  <a:srgbClr val="FF0000"/>
                </a:solidFill>
                <a:latin typeface="Calibri"/>
                <a:cs typeface="Calibri"/>
              </a:rPr>
              <a:t>memory</a:t>
            </a:r>
            <a:r>
              <a:rPr sz="1800" b="1" spc="-30" dirty="0">
                <a:solidFill>
                  <a:srgbClr val="FF0000"/>
                </a:solidFill>
                <a:latin typeface="Calibri"/>
                <a:cs typeface="Calibri"/>
              </a:rPr>
              <a:t> </a:t>
            </a:r>
            <a:r>
              <a:rPr sz="1800" dirty="0">
                <a:solidFill>
                  <a:srgbClr val="FF0000"/>
                </a:solidFill>
                <a:latin typeface="Calibri"/>
                <a:cs typeface="Calibri"/>
              </a:rPr>
              <a:t>-</a:t>
            </a:r>
            <a:r>
              <a:rPr sz="1800" spc="-5" dirty="0">
                <a:solidFill>
                  <a:srgbClr val="FF0000"/>
                </a:solidFill>
                <a:latin typeface="Calibri"/>
                <a:cs typeface="Calibri"/>
              </a:rPr>
              <a:t> </a:t>
            </a:r>
            <a:r>
              <a:rPr sz="1800" b="1" spc="-10" dirty="0">
                <a:solidFill>
                  <a:srgbClr val="FF0000"/>
                </a:solidFill>
                <a:latin typeface="Calibri"/>
                <a:cs typeface="Calibri"/>
              </a:rPr>
              <a:t>Model-</a:t>
            </a:r>
            <a:r>
              <a:rPr sz="1800" b="1" dirty="0">
                <a:solidFill>
                  <a:srgbClr val="FF0000"/>
                </a:solidFill>
                <a:latin typeface="Calibri"/>
                <a:cs typeface="Calibri"/>
              </a:rPr>
              <a:t>based</a:t>
            </a:r>
            <a:r>
              <a:rPr sz="1800" b="1" spc="-10" dirty="0">
                <a:solidFill>
                  <a:srgbClr val="FF0000"/>
                </a:solidFill>
                <a:latin typeface="Calibri"/>
                <a:cs typeface="Calibri"/>
              </a:rPr>
              <a:t> reflex</a:t>
            </a:r>
            <a:r>
              <a:rPr sz="1800" b="1" spc="-40" dirty="0">
                <a:solidFill>
                  <a:srgbClr val="FF0000"/>
                </a:solidFill>
                <a:latin typeface="Calibri"/>
                <a:cs typeface="Calibri"/>
              </a:rPr>
              <a:t> </a:t>
            </a:r>
            <a:r>
              <a:rPr sz="1800" b="1" spc="-10" dirty="0">
                <a:solidFill>
                  <a:srgbClr val="FF0000"/>
                </a:solidFill>
                <a:latin typeface="Calibri"/>
                <a:cs typeface="Calibri"/>
              </a:rPr>
              <a:t>agents</a:t>
            </a:r>
            <a:endParaRPr sz="1800">
              <a:latin typeface="Calibri"/>
              <a:cs typeface="Calibri"/>
            </a:endParaRPr>
          </a:p>
          <a:p>
            <a:pPr marL="756285" lvl="1" indent="-286385">
              <a:lnSpc>
                <a:spcPct val="100000"/>
              </a:lnSpc>
              <a:spcBef>
                <a:spcPts val="430"/>
              </a:spcBef>
              <a:buFont typeface="Arial"/>
              <a:buChar char="–"/>
              <a:tabLst>
                <a:tab pos="756285" algn="l"/>
              </a:tabLst>
            </a:pPr>
            <a:r>
              <a:rPr sz="1800" b="1" dirty="0">
                <a:solidFill>
                  <a:srgbClr val="3333CC"/>
                </a:solidFill>
                <a:latin typeface="Calibri"/>
                <a:cs typeface="Calibri"/>
              </a:rPr>
              <a:t>have</a:t>
            </a:r>
            <a:r>
              <a:rPr sz="1800" b="1" spc="-45" dirty="0">
                <a:solidFill>
                  <a:srgbClr val="3333CC"/>
                </a:solidFill>
                <a:latin typeface="Calibri"/>
                <a:cs typeface="Calibri"/>
              </a:rPr>
              <a:t> </a:t>
            </a:r>
            <a:r>
              <a:rPr sz="1800" b="1" dirty="0">
                <a:solidFill>
                  <a:srgbClr val="3333CC"/>
                </a:solidFill>
                <a:latin typeface="Calibri"/>
                <a:cs typeface="Calibri"/>
              </a:rPr>
              <a:t>internal</a:t>
            </a:r>
            <a:r>
              <a:rPr sz="1800" b="1" spc="-30" dirty="0">
                <a:solidFill>
                  <a:srgbClr val="3333CC"/>
                </a:solidFill>
                <a:latin typeface="Calibri"/>
                <a:cs typeface="Calibri"/>
              </a:rPr>
              <a:t> </a:t>
            </a:r>
            <a:r>
              <a:rPr sz="1800" b="1" spc="-10" dirty="0">
                <a:solidFill>
                  <a:srgbClr val="3333CC"/>
                </a:solidFill>
                <a:latin typeface="Calibri"/>
                <a:cs typeface="Calibri"/>
              </a:rPr>
              <a:t>state,</a:t>
            </a:r>
            <a:r>
              <a:rPr sz="1800" b="1" spc="-30" dirty="0">
                <a:solidFill>
                  <a:srgbClr val="3333CC"/>
                </a:solidFill>
                <a:latin typeface="Calibri"/>
                <a:cs typeface="Calibri"/>
              </a:rPr>
              <a:t> </a:t>
            </a:r>
            <a:r>
              <a:rPr sz="1800" b="1" dirty="0">
                <a:solidFill>
                  <a:srgbClr val="3333CC"/>
                </a:solidFill>
                <a:latin typeface="Calibri"/>
                <a:cs typeface="Calibri"/>
              </a:rPr>
              <a:t>which</a:t>
            </a:r>
            <a:r>
              <a:rPr sz="1800" b="1" spc="-30" dirty="0">
                <a:solidFill>
                  <a:srgbClr val="3333CC"/>
                </a:solidFill>
                <a:latin typeface="Calibri"/>
                <a:cs typeface="Calibri"/>
              </a:rPr>
              <a:t> </a:t>
            </a:r>
            <a:r>
              <a:rPr sz="1800" b="1" dirty="0">
                <a:solidFill>
                  <a:srgbClr val="3333CC"/>
                </a:solidFill>
                <a:latin typeface="Calibri"/>
                <a:cs typeface="Calibri"/>
              </a:rPr>
              <a:t>is</a:t>
            </a:r>
            <a:r>
              <a:rPr sz="1800" b="1" spc="-55" dirty="0">
                <a:solidFill>
                  <a:srgbClr val="3333CC"/>
                </a:solidFill>
                <a:latin typeface="Calibri"/>
                <a:cs typeface="Calibri"/>
              </a:rPr>
              <a:t> </a:t>
            </a:r>
            <a:r>
              <a:rPr sz="1800" b="1" dirty="0">
                <a:solidFill>
                  <a:srgbClr val="3333CC"/>
                </a:solidFill>
                <a:latin typeface="Calibri"/>
                <a:cs typeface="Calibri"/>
              </a:rPr>
              <a:t>used</a:t>
            </a:r>
            <a:r>
              <a:rPr sz="1800" b="1" spc="-50" dirty="0">
                <a:solidFill>
                  <a:srgbClr val="3333CC"/>
                </a:solidFill>
                <a:latin typeface="Calibri"/>
                <a:cs typeface="Calibri"/>
              </a:rPr>
              <a:t> </a:t>
            </a:r>
            <a:r>
              <a:rPr sz="1800" b="1" dirty="0">
                <a:solidFill>
                  <a:srgbClr val="3333CC"/>
                </a:solidFill>
                <a:latin typeface="Calibri"/>
                <a:cs typeface="Calibri"/>
              </a:rPr>
              <a:t>to</a:t>
            </a:r>
            <a:r>
              <a:rPr sz="1800" b="1" spc="-30" dirty="0">
                <a:solidFill>
                  <a:srgbClr val="3333CC"/>
                </a:solidFill>
                <a:latin typeface="Calibri"/>
                <a:cs typeface="Calibri"/>
              </a:rPr>
              <a:t> </a:t>
            </a:r>
            <a:r>
              <a:rPr sz="1800" b="1" dirty="0">
                <a:solidFill>
                  <a:srgbClr val="3333CC"/>
                </a:solidFill>
                <a:latin typeface="Calibri"/>
                <a:cs typeface="Calibri"/>
              </a:rPr>
              <a:t>keep</a:t>
            </a:r>
            <a:r>
              <a:rPr sz="1800" b="1" spc="-40" dirty="0">
                <a:solidFill>
                  <a:srgbClr val="3333CC"/>
                </a:solidFill>
                <a:latin typeface="Calibri"/>
                <a:cs typeface="Calibri"/>
              </a:rPr>
              <a:t> </a:t>
            </a:r>
            <a:r>
              <a:rPr sz="1800" b="1" dirty="0">
                <a:solidFill>
                  <a:srgbClr val="3333CC"/>
                </a:solidFill>
                <a:latin typeface="Calibri"/>
                <a:cs typeface="Calibri"/>
              </a:rPr>
              <a:t>track</a:t>
            </a:r>
            <a:r>
              <a:rPr sz="1800" b="1" spc="-35" dirty="0">
                <a:solidFill>
                  <a:srgbClr val="3333CC"/>
                </a:solidFill>
                <a:latin typeface="Calibri"/>
                <a:cs typeface="Calibri"/>
              </a:rPr>
              <a:t> </a:t>
            </a:r>
            <a:r>
              <a:rPr sz="1800" b="1" dirty="0">
                <a:solidFill>
                  <a:srgbClr val="3333CC"/>
                </a:solidFill>
                <a:latin typeface="Calibri"/>
                <a:cs typeface="Calibri"/>
              </a:rPr>
              <a:t>of</a:t>
            </a:r>
            <a:r>
              <a:rPr sz="1800" b="1" spc="-20" dirty="0">
                <a:solidFill>
                  <a:srgbClr val="3333CC"/>
                </a:solidFill>
                <a:latin typeface="Calibri"/>
                <a:cs typeface="Calibri"/>
              </a:rPr>
              <a:t> </a:t>
            </a:r>
            <a:r>
              <a:rPr sz="1800" b="1" dirty="0">
                <a:solidFill>
                  <a:srgbClr val="3333CC"/>
                </a:solidFill>
                <a:latin typeface="Calibri"/>
                <a:cs typeface="Calibri"/>
              </a:rPr>
              <a:t>past</a:t>
            </a:r>
            <a:r>
              <a:rPr sz="1800" b="1" spc="-35" dirty="0">
                <a:solidFill>
                  <a:srgbClr val="3333CC"/>
                </a:solidFill>
                <a:latin typeface="Calibri"/>
                <a:cs typeface="Calibri"/>
              </a:rPr>
              <a:t> </a:t>
            </a:r>
            <a:r>
              <a:rPr sz="1800" b="1" spc="-10" dirty="0">
                <a:solidFill>
                  <a:srgbClr val="3333CC"/>
                </a:solidFill>
                <a:latin typeface="Calibri"/>
                <a:cs typeface="Calibri"/>
              </a:rPr>
              <a:t>states</a:t>
            </a:r>
            <a:r>
              <a:rPr sz="1800" b="1" spc="-45" dirty="0">
                <a:solidFill>
                  <a:srgbClr val="3333CC"/>
                </a:solidFill>
                <a:latin typeface="Calibri"/>
                <a:cs typeface="Calibri"/>
              </a:rPr>
              <a:t> </a:t>
            </a:r>
            <a:r>
              <a:rPr sz="1800" b="1" dirty="0">
                <a:solidFill>
                  <a:srgbClr val="3333CC"/>
                </a:solidFill>
                <a:latin typeface="Calibri"/>
                <a:cs typeface="Calibri"/>
              </a:rPr>
              <a:t>of</a:t>
            </a:r>
            <a:r>
              <a:rPr sz="1800" b="1" spc="-15" dirty="0">
                <a:solidFill>
                  <a:srgbClr val="3333CC"/>
                </a:solidFill>
                <a:latin typeface="Calibri"/>
                <a:cs typeface="Calibri"/>
              </a:rPr>
              <a:t> </a:t>
            </a:r>
            <a:r>
              <a:rPr sz="1800" b="1" dirty="0">
                <a:solidFill>
                  <a:srgbClr val="3333CC"/>
                </a:solidFill>
                <a:latin typeface="Calibri"/>
                <a:cs typeface="Calibri"/>
              </a:rPr>
              <a:t>the</a:t>
            </a:r>
            <a:r>
              <a:rPr sz="1800" b="1" spc="-45" dirty="0">
                <a:solidFill>
                  <a:srgbClr val="3333CC"/>
                </a:solidFill>
                <a:latin typeface="Calibri"/>
                <a:cs typeface="Calibri"/>
              </a:rPr>
              <a:t> </a:t>
            </a:r>
            <a:r>
              <a:rPr sz="1800" b="1" spc="-10" dirty="0">
                <a:solidFill>
                  <a:srgbClr val="3333CC"/>
                </a:solidFill>
                <a:latin typeface="Calibri"/>
                <a:cs typeface="Calibri"/>
              </a:rPr>
              <a:t>world.</a:t>
            </a:r>
            <a:endParaRPr sz="1800">
              <a:latin typeface="Calibri"/>
              <a:cs typeface="Calibri"/>
            </a:endParaRPr>
          </a:p>
          <a:p>
            <a:pPr marL="354965" indent="-342265">
              <a:lnSpc>
                <a:spcPct val="100000"/>
              </a:lnSpc>
              <a:spcBef>
                <a:spcPts val="434"/>
              </a:spcBef>
              <a:buFont typeface="Arial"/>
              <a:buChar char="•"/>
              <a:tabLst>
                <a:tab pos="354965" algn="l"/>
              </a:tabLst>
            </a:pPr>
            <a:r>
              <a:rPr sz="1800" b="1" dirty="0">
                <a:solidFill>
                  <a:srgbClr val="FF0000"/>
                </a:solidFill>
                <a:latin typeface="Calibri"/>
                <a:cs typeface="Calibri"/>
              </a:rPr>
              <a:t>(3)</a:t>
            </a:r>
            <a:r>
              <a:rPr sz="1800" b="1" spc="-15" dirty="0">
                <a:solidFill>
                  <a:srgbClr val="FF0000"/>
                </a:solidFill>
                <a:latin typeface="Calibri"/>
                <a:cs typeface="Calibri"/>
              </a:rPr>
              <a:t> </a:t>
            </a:r>
            <a:r>
              <a:rPr sz="1800" b="1" dirty="0">
                <a:solidFill>
                  <a:srgbClr val="FF0000"/>
                </a:solidFill>
                <a:latin typeface="Calibri"/>
                <a:cs typeface="Calibri"/>
              </a:rPr>
              <a:t>Agents</a:t>
            </a:r>
            <a:r>
              <a:rPr sz="1800" b="1" spc="-35" dirty="0">
                <a:solidFill>
                  <a:srgbClr val="FF0000"/>
                </a:solidFill>
                <a:latin typeface="Calibri"/>
                <a:cs typeface="Calibri"/>
              </a:rPr>
              <a:t> </a:t>
            </a:r>
            <a:r>
              <a:rPr sz="1800" b="1" dirty="0">
                <a:solidFill>
                  <a:srgbClr val="FF0000"/>
                </a:solidFill>
                <a:latin typeface="Calibri"/>
                <a:cs typeface="Calibri"/>
              </a:rPr>
              <a:t>with</a:t>
            </a:r>
            <a:r>
              <a:rPr sz="1800" b="1" spc="-30" dirty="0">
                <a:solidFill>
                  <a:srgbClr val="FF0000"/>
                </a:solidFill>
                <a:latin typeface="Calibri"/>
                <a:cs typeface="Calibri"/>
              </a:rPr>
              <a:t> </a:t>
            </a:r>
            <a:r>
              <a:rPr sz="1800" b="1" dirty="0">
                <a:solidFill>
                  <a:srgbClr val="FF0000"/>
                </a:solidFill>
                <a:latin typeface="Calibri"/>
                <a:cs typeface="Calibri"/>
              </a:rPr>
              <a:t>goals</a:t>
            </a:r>
            <a:r>
              <a:rPr sz="1800" b="1" spc="-35" dirty="0">
                <a:solidFill>
                  <a:srgbClr val="FF0000"/>
                </a:solidFill>
                <a:latin typeface="Calibri"/>
                <a:cs typeface="Calibri"/>
              </a:rPr>
              <a:t> </a:t>
            </a:r>
            <a:r>
              <a:rPr sz="1800" dirty="0">
                <a:solidFill>
                  <a:srgbClr val="FF0000"/>
                </a:solidFill>
                <a:latin typeface="Calibri"/>
                <a:cs typeface="Calibri"/>
              </a:rPr>
              <a:t>–</a:t>
            </a:r>
            <a:r>
              <a:rPr sz="1800" spc="-5" dirty="0">
                <a:solidFill>
                  <a:srgbClr val="FF0000"/>
                </a:solidFill>
                <a:latin typeface="Calibri"/>
                <a:cs typeface="Calibri"/>
              </a:rPr>
              <a:t> </a:t>
            </a:r>
            <a:r>
              <a:rPr sz="1800" b="1" spc="-10" dirty="0">
                <a:solidFill>
                  <a:srgbClr val="FF0000"/>
                </a:solidFill>
                <a:latin typeface="Calibri"/>
                <a:cs typeface="Calibri"/>
              </a:rPr>
              <a:t>Goal-</a:t>
            </a:r>
            <a:r>
              <a:rPr sz="1800" b="1" dirty="0">
                <a:solidFill>
                  <a:srgbClr val="FF0000"/>
                </a:solidFill>
                <a:latin typeface="Calibri"/>
                <a:cs typeface="Calibri"/>
              </a:rPr>
              <a:t>based</a:t>
            </a:r>
            <a:r>
              <a:rPr sz="1800" b="1" spc="-15" dirty="0">
                <a:solidFill>
                  <a:srgbClr val="FF0000"/>
                </a:solidFill>
                <a:latin typeface="Calibri"/>
                <a:cs typeface="Calibri"/>
              </a:rPr>
              <a:t> </a:t>
            </a:r>
            <a:r>
              <a:rPr sz="1800" b="1" spc="-10" dirty="0">
                <a:solidFill>
                  <a:srgbClr val="FF0000"/>
                </a:solidFill>
                <a:latin typeface="Calibri"/>
                <a:cs typeface="Calibri"/>
              </a:rPr>
              <a:t>agents</a:t>
            </a:r>
            <a:endParaRPr sz="1800">
              <a:latin typeface="Calibri"/>
              <a:cs typeface="Calibri"/>
            </a:endParaRPr>
          </a:p>
          <a:p>
            <a:pPr marL="756285" marR="509270" lvl="1" indent="-287020">
              <a:lnSpc>
                <a:spcPct val="100000"/>
              </a:lnSpc>
              <a:spcBef>
                <a:spcPts val="430"/>
              </a:spcBef>
              <a:buFont typeface="Arial"/>
              <a:buChar char="–"/>
              <a:tabLst>
                <a:tab pos="756285" algn="l"/>
              </a:tabLst>
            </a:pPr>
            <a:r>
              <a:rPr sz="1800" b="1" dirty="0">
                <a:solidFill>
                  <a:srgbClr val="3333CC"/>
                </a:solidFill>
                <a:latin typeface="Calibri"/>
                <a:cs typeface="Calibri"/>
              </a:rPr>
              <a:t>are</a:t>
            </a:r>
            <a:r>
              <a:rPr sz="1800" b="1" spc="-30" dirty="0">
                <a:solidFill>
                  <a:srgbClr val="3333CC"/>
                </a:solidFill>
                <a:latin typeface="Calibri"/>
                <a:cs typeface="Calibri"/>
              </a:rPr>
              <a:t> </a:t>
            </a:r>
            <a:r>
              <a:rPr sz="1800" b="1" dirty="0">
                <a:solidFill>
                  <a:srgbClr val="3333CC"/>
                </a:solidFill>
                <a:latin typeface="Calibri"/>
                <a:cs typeface="Calibri"/>
              </a:rPr>
              <a:t>agents</a:t>
            </a:r>
            <a:r>
              <a:rPr sz="1800" b="1" spc="-55" dirty="0">
                <a:solidFill>
                  <a:srgbClr val="3333CC"/>
                </a:solidFill>
                <a:latin typeface="Calibri"/>
                <a:cs typeface="Calibri"/>
              </a:rPr>
              <a:t> </a:t>
            </a:r>
            <a:r>
              <a:rPr sz="1800" b="1" dirty="0">
                <a:solidFill>
                  <a:srgbClr val="3333CC"/>
                </a:solidFill>
                <a:latin typeface="Calibri"/>
                <a:cs typeface="Calibri"/>
              </a:rPr>
              <a:t>that,</a:t>
            </a:r>
            <a:r>
              <a:rPr sz="1800" b="1" spc="-50" dirty="0">
                <a:solidFill>
                  <a:srgbClr val="3333CC"/>
                </a:solidFill>
                <a:latin typeface="Calibri"/>
                <a:cs typeface="Calibri"/>
              </a:rPr>
              <a:t> </a:t>
            </a:r>
            <a:r>
              <a:rPr sz="1800" b="1" dirty="0">
                <a:solidFill>
                  <a:srgbClr val="3333CC"/>
                </a:solidFill>
                <a:latin typeface="Calibri"/>
                <a:cs typeface="Calibri"/>
              </a:rPr>
              <a:t>in</a:t>
            </a:r>
            <a:r>
              <a:rPr sz="1800" b="1" spc="-25" dirty="0">
                <a:solidFill>
                  <a:srgbClr val="3333CC"/>
                </a:solidFill>
                <a:latin typeface="Calibri"/>
                <a:cs typeface="Calibri"/>
              </a:rPr>
              <a:t> </a:t>
            </a:r>
            <a:r>
              <a:rPr sz="1800" b="1" dirty="0">
                <a:solidFill>
                  <a:srgbClr val="3333CC"/>
                </a:solidFill>
                <a:latin typeface="Calibri"/>
                <a:cs typeface="Calibri"/>
              </a:rPr>
              <a:t>addition</a:t>
            </a:r>
            <a:r>
              <a:rPr sz="1800" b="1" spc="-35" dirty="0">
                <a:solidFill>
                  <a:srgbClr val="3333CC"/>
                </a:solidFill>
                <a:latin typeface="Calibri"/>
                <a:cs typeface="Calibri"/>
              </a:rPr>
              <a:t> </a:t>
            </a:r>
            <a:r>
              <a:rPr sz="1800" b="1" dirty="0">
                <a:solidFill>
                  <a:srgbClr val="3333CC"/>
                </a:solidFill>
                <a:latin typeface="Calibri"/>
                <a:cs typeface="Calibri"/>
              </a:rPr>
              <a:t>to</a:t>
            </a:r>
            <a:r>
              <a:rPr sz="1800" b="1" spc="-65" dirty="0">
                <a:solidFill>
                  <a:srgbClr val="3333CC"/>
                </a:solidFill>
                <a:latin typeface="Calibri"/>
                <a:cs typeface="Calibri"/>
              </a:rPr>
              <a:t> </a:t>
            </a:r>
            <a:r>
              <a:rPr sz="1800" b="1" spc="-10" dirty="0">
                <a:solidFill>
                  <a:srgbClr val="3333CC"/>
                </a:solidFill>
                <a:latin typeface="Calibri"/>
                <a:cs typeface="Calibri"/>
              </a:rPr>
              <a:t>state</a:t>
            </a:r>
            <a:r>
              <a:rPr sz="1800" b="1" spc="-50" dirty="0">
                <a:solidFill>
                  <a:srgbClr val="3333CC"/>
                </a:solidFill>
                <a:latin typeface="Calibri"/>
                <a:cs typeface="Calibri"/>
              </a:rPr>
              <a:t> </a:t>
            </a:r>
            <a:r>
              <a:rPr sz="1800" b="1" dirty="0">
                <a:solidFill>
                  <a:srgbClr val="3333CC"/>
                </a:solidFill>
                <a:latin typeface="Calibri"/>
                <a:cs typeface="Calibri"/>
              </a:rPr>
              <a:t>information,</a:t>
            </a:r>
            <a:r>
              <a:rPr sz="1800" b="1" spc="-40" dirty="0">
                <a:solidFill>
                  <a:srgbClr val="3333CC"/>
                </a:solidFill>
                <a:latin typeface="Calibri"/>
                <a:cs typeface="Calibri"/>
              </a:rPr>
              <a:t> </a:t>
            </a:r>
            <a:r>
              <a:rPr sz="1800" b="1" dirty="0">
                <a:solidFill>
                  <a:srgbClr val="3333CC"/>
                </a:solidFill>
                <a:latin typeface="Calibri"/>
                <a:cs typeface="Calibri"/>
              </a:rPr>
              <a:t>have</a:t>
            </a:r>
            <a:r>
              <a:rPr sz="1800" b="1" spc="-35" dirty="0">
                <a:solidFill>
                  <a:srgbClr val="3333CC"/>
                </a:solidFill>
                <a:latin typeface="Calibri"/>
                <a:cs typeface="Calibri"/>
              </a:rPr>
              <a:t> </a:t>
            </a:r>
            <a:r>
              <a:rPr sz="1800" b="1" dirty="0">
                <a:solidFill>
                  <a:srgbClr val="3333CC"/>
                </a:solidFill>
                <a:latin typeface="Calibri"/>
                <a:cs typeface="Calibri"/>
              </a:rPr>
              <a:t>goal</a:t>
            </a:r>
            <a:r>
              <a:rPr sz="1800" b="1" spc="-65" dirty="0">
                <a:solidFill>
                  <a:srgbClr val="3333CC"/>
                </a:solidFill>
                <a:latin typeface="Calibri"/>
                <a:cs typeface="Calibri"/>
              </a:rPr>
              <a:t> </a:t>
            </a:r>
            <a:r>
              <a:rPr sz="1800" b="1" dirty="0">
                <a:solidFill>
                  <a:srgbClr val="3333CC"/>
                </a:solidFill>
                <a:latin typeface="Calibri"/>
                <a:cs typeface="Calibri"/>
              </a:rPr>
              <a:t>information</a:t>
            </a:r>
            <a:r>
              <a:rPr sz="1800" b="1" spc="-35" dirty="0">
                <a:solidFill>
                  <a:srgbClr val="3333CC"/>
                </a:solidFill>
                <a:latin typeface="Calibri"/>
                <a:cs typeface="Calibri"/>
              </a:rPr>
              <a:t> </a:t>
            </a:r>
            <a:r>
              <a:rPr sz="1800" b="1" spc="-20" dirty="0">
                <a:solidFill>
                  <a:srgbClr val="3333CC"/>
                </a:solidFill>
                <a:latin typeface="Calibri"/>
                <a:cs typeface="Calibri"/>
              </a:rPr>
              <a:t>that </a:t>
            </a:r>
            <a:r>
              <a:rPr sz="1800" b="1" dirty="0">
                <a:solidFill>
                  <a:srgbClr val="3333CC"/>
                </a:solidFill>
                <a:latin typeface="Calibri"/>
                <a:cs typeface="Calibri"/>
              </a:rPr>
              <a:t>describes</a:t>
            </a:r>
            <a:r>
              <a:rPr sz="1800" b="1" spc="-50" dirty="0">
                <a:solidFill>
                  <a:srgbClr val="3333CC"/>
                </a:solidFill>
                <a:latin typeface="Calibri"/>
                <a:cs typeface="Calibri"/>
              </a:rPr>
              <a:t> </a:t>
            </a:r>
            <a:r>
              <a:rPr sz="1800" b="1" dirty="0">
                <a:solidFill>
                  <a:srgbClr val="3333CC"/>
                </a:solidFill>
                <a:latin typeface="Calibri"/>
                <a:cs typeface="Calibri"/>
              </a:rPr>
              <a:t>desirable</a:t>
            </a:r>
            <a:r>
              <a:rPr sz="1800" b="1" spc="-45" dirty="0">
                <a:solidFill>
                  <a:srgbClr val="3333CC"/>
                </a:solidFill>
                <a:latin typeface="Calibri"/>
                <a:cs typeface="Calibri"/>
              </a:rPr>
              <a:t> </a:t>
            </a:r>
            <a:r>
              <a:rPr sz="1800" b="1" dirty="0">
                <a:solidFill>
                  <a:srgbClr val="3333CC"/>
                </a:solidFill>
                <a:latin typeface="Calibri"/>
                <a:cs typeface="Calibri"/>
              </a:rPr>
              <a:t>situations.</a:t>
            </a:r>
            <a:r>
              <a:rPr sz="1800" b="1" spc="-55" dirty="0">
                <a:solidFill>
                  <a:srgbClr val="3333CC"/>
                </a:solidFill>
                <a:latin typeface="Calibri"/>
                <a:cs typeface="Calibri"/>
              </a:rPr>
              <a:t> </a:t>
            </a:r>
            <a:r>
              <a:rPr sz="1800" b="1" dirty="0">
                <a:solidFill>
                  <a:srgbClr val="3333CC"/>
                </a:solidFill>
                <a:latin typeface="Calibri"/>
                <a:cs typeface="Calibri"/>
              </a:rPr>
              <a:t>Agents</a:t>
            </a:r>
            <a:r>
              <a:rPr sz="1800" b="1" spc="-70" dirty="0">
                <a:solidFill>
                  <a:srgbClr val="3333CC"/>
                </a:solidFill>
                <a:latin typeface="Calibri"/>
                <a:cs typeface="Calibri"/>
              </a:rPr>
              <a:t> </a:t>
            </a:r>
            <a:r>
              <a:rPr sz="1800" b="1" dirty="0">
                <a:solidFill>
                  <a:srgbClr val="3333CC"/>
                </a:solidFill>
                <a:latin typeface="Calibri"/>
                <a:cs typeface="Calibri"/>
              </a:rPr>
              <a:t>of</a:t>
            </a:r>
            <a:r>
              <a:rPr sz="1800" b="1" spc="-35" dirty="0">
                <a:solidFill>
                  <a:srgbClr val="3333CC"/>
                </a:solidFill>
                <a:latin typeface="Calibri"/>
                <a:cs typeface="Calibri"/>
              </a:rPr>
              <a:t> </a:t>
            </a:r>
            <a:r>
              <a:rPr sz="1800" b="1" dirty="0">
                <a:solidFill>
                  <a:srgbClr val="3333CC"/>
                </a:solidFill>
                <a:latin typeface="Calibri"/>
                <a:cs typeface="Calibri"/>
              </a:rPr>
              <a:t>this</a:t>
            </a:r>
            <a:r>
              <a:rPr sz="1800" b="1" spc="-65" dirty="0">
                <a:solidFill>
                  <a:srgbClr val="3333CC"/>
                </a:solidFill>
                <a:latin typeface="Calibri"/>
                <a:cs typeface="Calibri"/>
              </a:rPr>
              <a:t> </a:t>
            </a:r>
            <a:r>
              <a:rPr sz="1800" b="1" dirty="0">
                <a:solidFill>
                  <a:srgbClr val="3333CC"/>
                </a:solidFill>
                <a:latin typeface="Calibri"/>
                <a:cs typeface="Calibri"/>
              </a:rPr>
              <a:t>kind</a:t>
            </a:r>
            <a:r>
              <a:rPr sz="1800" b="1" spc="-55" dirty="0">
                <a:solidFill>
                  <a:srgbClr val="3333CC"/>
                </a:solidFill>
                <a:latin typeface="Calibri"/>
                <a:cs typeface="Calibri"/>
              </a:rPr>
              <a:t> </a:t>
            </a:r>
            <a:r>
              <a:rPr sz="1800" b="1" dirty="0">
                <a:solidFill>
                  <a:srgbClr val="3333CC"/>
                </a:solidFill>
                <a:latin typeface="Calibri"/>
                <a:cs typeface="Calibri"/>
              </a:rPr>
              <a:t>take</a:t>
            </a:r>
            <a:r>
              <a:rPr sz="1800" b="1" spc="-45" dirty="0">
                <a:solidFill>
                  <a:srgbClr val="3333CC"/>
                </a:solidFill>
                <a:latin typeface="Calibri"/>
                <a:cs typeface="Calibri"/>
              </a:rPr>
              <a:t> </a:t>
            </a:r>
            <a:r>
              <a:rPr sz="1800" b="1" dirty="0">
                <a:solidFill>
                  <a:srgbClr val="3333CC"/>
                </a:solidFill>
                <a:latin typeface="Calibri"/>
                <a:cs typeface="Calibri"/>
              </a:rPr>
              <a:t>future</a:t>
            </a:r>
            <a:r>
              <a:rPr sz="1800" b="1" spc="-50" dirty="0">
                <a:solidFill>
                  <a:srgbClr val="3333CC"/>
                </a:solidFill>
                <a:latin typeface="Calibri"/>
                <a:cs typeface="Calibri"/>
              </a:rPr>
              <a:t> </a:t>
            </a:r>
            <a:r>
              <a:rPr sz="1800" b="1" dirty="0">
                <a:solidFill>
                  <a:srgbClr val="3333CC"/>
                </a:solidFill>
                <a:latin typeface="Calibri"/>
                <a:cs typeface="Calibri"/>
              </a:rPr>
              <a:t>events</a:t>
            </a:r>
            <a:r>
              <a:rPr sz="1800" b="1" spc="-50" dirty="0">
                <a:solidFill>
                  <a:srgbClr val="3333CC"/>
                </a:solidFill>
                <a:latin typeface="Calibri"/>
                <a:cs typeface="Calibri"/>
              </a:rPr>
              <a:t> </a:t>
            </a:r>
            <a:r>
              <a:rPr sz="1800" b="1" spc="-20" dirty="0">
                <a:solidFill>
                  <a:srgbClr val="3333CC"/>
                </a:solidFill>
                <a:latin typeface="Calibri"/>
                <a:cs typeface="Calibri"/>
              </a:rPr>
              <a:t>into </a:t>
            </a:r>
            <a:r>
              <a:rPr sz="1800" b="1" spc="-10" dirty="0">
                <a:solidFill>
                  <a:srgbClr val="3333CC"/>
                </a:solidFill>
                <a:latin typeface="Calibri"/>
                <a:cs typeface="Calibri"/>
              </a:rPr>
              <a:t>consideration.</a:t>
            </a:r>
            <a:endParaRPr sz="1800">
              <a:latin typeface="Calibri"/>
              <a:cs typeface="Calibri"/>
            </a:endParaRPr>
          </a:p>
          <a:p>
            <a:pPr marL="354965" indent="-342265">
              <a:lnSpc>
                <a:spcPct val="100000"/>
              </a:lnSpc>
              <a:spcBef>
                <a:spcPts val="434"/>
              </a:spcBef>
              <a:buFont typeface="Arial"/>
              <a:buChar char="•"/>
              <a:tabLst>
                <a:tab pos="354965" algn="l"/>
              </a:tabLst>
            </a:pPr>
            <a:r>
              <a:rPr sz="1800" b="1" dirty="0">
                <a:solidFill>
                  <a:srgbClr val="FF0000"/>
                </a:solidFill>
                <a:latin typeface="Calibri"/>
                <a:cs typeface="Calibri"/>
              </a:rPr>
              <a:t>(4)</a:t>
            </a:r>
            <a:r>
              <a:rPr sz="1800" b="1" spc="15" dirty="0">
                <a:solidFill>
                  <a:srgbClr val="FF0000"/>
                </a:solidFill>
                <a:latin typeface="Calibri"/>
                <a:cs typeface="Calibri"/>
              </a:rPr>
              <a:t> </a:t>
            </a:r>
            <a:r>
              <a:rPr sz="1800" b="1" spc="-10" dirty="0">
                <a:solidFill>
                  <a:srgbClr val="FF0000"/>
                </a:solidFill>
                <a:latin typeface="Calibri"/>
                <a:cs typeface="Calibri"/>
              </a:rPr>
              <a:t>Utility-</a:t>
            </a:r>
            <a:r>
              <a:rPr sz="1800" b="1" dirty="0">
                <a:solidFill>
                  <a:srgbClr val="FF0000"/>
                </a:solidFill>
                <a:latin typeface="Calibri"/>
                <a:cs typeface="Calibri"/>
              </a:rPr>
              <a:t>based</a:t>
            </a:r>
            <a:r>
              <a:rPr sz="1800" b="1" spc="-30" dirty="0">
                <a:solidFill>
                  <a:srgbClr val="FF0000"/>
                </a:solidFill>
                <a:latin typeface="Calibri"/>
                <a:cs typeface="Calibri"/>
              </a:rPr>
              <a:t> </a:t>
            </a:r>
            <a:r>
              <a:rPr sz="1800" b="1" spc="-10" dirty="0">
                <a:solidFill>
                  <a:srgbClr val="FF0000"/>
                </a:solidFill>
                <a:latin typeface="Calibri"/>
                <a:cs typeface="Calibri"/>
              </a:rPr>
              <a:t>agents</a:t>
            </a:r>
            <a:endParaRPr sz="1800">
              <a:latin typeface="Calibri"/>
              <a:cs typeface="Calibri"/>
            </a:endParaRPr>
          </a:p>
          <a:p>
            <a:pPr marL="756285" lvl="1" indent="-286385">
              <a:lnSpc>
                <a:spcPct val="100000"/>
              </a:lnSpc>
              <a:spcBef>
                <a:spcPts val="430"/>
              </a:spcBef>
              <a:buFont typeface="Arial"/>
              <a:buChar char="–"/>
              <a:tabLst>
                <a:tab pos="756285" algn="l"/>
              </a:tabLst>
            </a:pPr>
            <a:r>
              <a:rPr sz="1800" b="1" dirty="0">
                <a:solidFill>
                  <a:srgbClr val="3333CC"/>
                </a:solidFill>
                <a:latin typeface="Calibri"/>
                <a:cs typeface="Calibri"/>
              </a:rPr>
              <a:t>base</a:t>
            </a:r>
            <a:r>
              <a:rPr sz="1800" b="1" spc="-30" dirty="0">
                <a:solidFill>
                  <a:srgbClr val="3333CC"/>
                </a:solidFill>
                <a:latin typeface="Calibri"/>
                <a:cs typeface="Calibri"/>
              </a:rPr>
              <a:t> </a:t>
            </a:r>
            <a:r>
              <a:rPr sz="1800" b="1" dirty="0">
                <a:solidFill>
                  <a:srgbClr val="3333CC"/>
                </a:solidFill>
                <a:latin typeface="Calibri"/>
                <a:cs typeface="Calibri"/>
              </a:rPr>
              <a:t>their</a:t>
            </a:r>
            <a:r>
              <a:rPr sz="1800" b="1" spc="-40" dirty="0">
                <a:solidFill>
                  <a:srgbClr val="3333CC"/>
                </a:solidFill>
                <a:latin typeface="Calibri"/>
                <a:cs typeface="Calibri"/>
              </a:rPr>
              <a:t> </a:t>
            </a:r>
            <a:r>
              <a:rPr sz="1800" b="1" dirty="0">
                <a:solidFill>
                  <a:srgbClr val="3333CC"/>
                </a:solidFill>
                <a:latin typeface="Calibri"/>
                <a:cs typeface="Calibri"/>
              </a:rPr>
              <a:t>decisions</a:t>
            </a:r>
            <a:r>
              <a:rPr sz="1800" b="1" spc="-55" dirty="0">
                <a:solidFill>
                  <a:srgbClr val="3333CC"/>
                </a:solidFill>
                <a:latin typeface="Calibri"/>
                <a:cs typeface="Calibri"/>
              </a:rPr>
              <a:t> </a:t>
            </a:r>
            <a:r>
              <a:rPr sz="1800" b="1" dirty="0">
                <a:solidFill>
                  <a:srgbClr val="3333CC"/>
                </a:solidFill>
                <a:latin typeface="Calibri"/>
                <a:cs typeface="Calibri"/>
              </a:rPr>
              <a:t>on</a:t>
            </a:r>
            <a:r>
              <a:rPr sz="1800" b="1" spc="-15" dirty="0">
                <a:solidFill>
                  <a:srgbClr val="3333CC"/>
                </a:solidFill>
                <a:latin typeface="Calibri"/>
                <a:cs typeface="Calibri"/>
              </a:rPr>
              <a:t> </a:t>
            </a:r>
            <a:r>
              <a:rPr sz="1800" b="1" dirty="0">
                <a:solidFill>
                  <a:srgbClr val="3333CC"/>
                </a:solidFill>
                <a:latin typeface="Calibri"/>
                <a:cs typeface="Calibri"/>
              </a:rPr>
              <a:t>classic</a:t>
            </a:r>
            <a:r>
              <a:rPr sz="1800" b="1" spc="-40" dirty="0">
                <a:solidFill>
                  <a:srgbClr val="3333CC"/>
                </a:solidFill>
                <a:latin typeface="Calibri"/>
                <a:cs typeface="Calibri"/>
              </a:rPr>
              <a:t> </a:t>
            </a:r>
            <a:r>
              <a:rPr sz="1800" b="1" dirty="0">
                <a:solidFill>
                  <a:srgbClr val="3333CC"/>
                </a:solidFill>
                <a:latin typeface="Calibri"/>
                <a:cs typeface="Calibri"/>
              </a:rPr>
              <a:t>axiomatic</a:t>
            </a:r>
            <a:r>
              <a:rPr sz="1800" b="1" spc="-45" dirty="0">
                <a:solidFill>
                  <a:srgbClr val="3333CC"/>
                </a:solidFill>
                <a:latin typeface="Calibri"/>
                <a:cs typeface="Calibri"/>
              </a:rPr>
              <a:t> </a:t>
            </a:r>
            <a:r>
              <a:rPr sz="1800" b="1" dirty="0">
                <a:solidFill>
                  <a:srgbClr val="3333CC"/>
                </a:solidFill>
                <a:latin typeface="Calibri"/>
                <a:cs typeface="Calibri"/>
              </a:rPr>
              <a:t>utility</a:t>
            </a:r>
            <a:r>
              <a:rPr sz="1800" b="1" spc="-35" dirty="0">
                <a:solidFill>
                  <a:srgbClr val="3333CC"/>
                </a:solidFill>
                <a:latin typeface="Calibri"/>
                <a:cs typeface="Calibri"/>
              </a:rPr>
              <a:t> </a:t>
            </a:r>
            <a:r>
              <a:rPr sz="1800" b="1" dirty="0">
                <a:solidFill>
                  <a:srgbClr val="3333CC"/>
                </a:solidFill>
                <a:latin typeface="Calibri"/>
                <a:cs typeface="Calibri"/>
              </a:rPr>
              <a:t>theory</a:t>
            </a:r>
            <a:r>
              <a:rPr sz="1800" b="1" spc="-45" dirty="0">
                <a:solidFill>
                  <a:srgbClr val="3333CC"/>
                </a:solidFill>
                <a:latin typeface="Calibri"/>
                <a:cs typeface="Calibri"/>
              </a:rPr>
              <a:t> </a:t>
            </a:r>
            <a:r>
              <a:rPr sz="1800" b="1" dirty="0">
                <a:solidFill>
                  <a:srgbClr val="3333CC"/>
                </a:solidFill>
                <a:latin typeface="Calibri"/>
                <a:cs typeface="Calibri"/>
              </a:rPr>
              <a:t>in order</a:t>
            </a:r>
            <a:r>
              <a:rPr sz="1800" b="1" spc="-40" dirty="0">
                <a:solidFill>
                  <a:srgbClr val="3333CC"/>
                </a:solidFill>
                <a:latin typeface="Calibri"/>
                <a:cs typeface="Calibri"/>
              </a:rPr>
              <a:t> </a:t>
            </a:r>
            <a:r>
              <a:rPr sz="1800" b="1" dirty="0">
                <a:solidFill>
                  <a:srgbClr val="3333CC"/>
                </a:solidFill>
                <a:latin typeface="Calibri"/>
                <a:cs typeface="Calibri"/>
              </a:rPr>
              <a:t>to</a:t>
            </a:r>
            <a:r>
              <a:rPr sz="1800" b="1" spc="-20" dirty="0">
                <a:solidFill>
                  <a:srgbClr val="3333CC"/>
                </a:solidFill>
                <a:latin typeface="Calibri"/>
                <a:cs typeface="Calibri"/>
              </a:rPr>
              <a:t> </a:t>
            </a:r>
            <a:r>
              <a:rPr sz="1800" b="1" dirty="0">
                <a:solidFill>
                  <a:srgbClr val="3333CC"/>
                </a:solidFill>
                <a:latin typeface="Calibri"/>
                <a:cs typeface="Calibri"/>
              </a:rPr>
              <a:t>act</a:t>
            </a:r>
            <a:r>
              <a:rPr sz="1800" b="1" spc="-10" dirty="0">
                <a:solidFill>
                  <a:srgbClr val="3333CC"/>
                </a:solidFill>
                <a:latin typeface="Calibri"/>
                <a:cs typeface="Calibri"/>
              </a:rPr>
              <a:t> rationally.</a:t>
            </a:r>
            <a:endParaRPr sz="1800">
              <a:latin typeface="Calibri"/>
              <a:cs typeface="Calibri"/>
            </a:endParaRPr>
          </a:p>
          <a:p>
            <a:pPr marL="354965" indent="-342265">
              <a:lnSpc>
                <a:spcPct val="100000"/>
              </a:lnSpc>
              <a:spcBef>
                <a:spcPts val="430"/>
              </a:spcBef>
              <a:buFont typeface="Arial"/>
              <a:buChar char="•"/>
              <a:tabLst>
                <a:tab pos="354965" algn="l"/>
              </a:tabLst>
            </a:pPr>
            <a:r>
              <a:rPr sz="1800" b="1" dirty="0">
                <a:solidFill>
                  <a:srgbClr val="FF0000"/>
                </a:solidFill>
                <a:latin typeface="Calibri"/>
                <a:cs typeface="Calibri"/>
              </a:rPr>
              <a:t>(5)</a:t>
            </a:r>
            <a:r>
              <a:rPr sz="1800" b="1" spc="-15" dirty="0">
                <a:solidFill>
                  <a:srgbClr val="FF0000"/>
                </a:solidFill>
                <a:latin typeface="Calibri"/>
                <a:cs typeface="Calibri"/>
              </a:rPr>
              <a:t> </a:t>
            </a:r>
            <a:r>
              <a:rPr sz="1800" b="1" dirty="0">
                <a:solidFill>
                  <a:srgbClr val="FF0000"/>
                </a:solidFill>
                <a:latin typeface="Calibri"/>
                <a:cs typeface="Calibri"/>
              </a:rPr>
              <a:t>Learning</a:t>
            </a:r>
            <a:r>
              <a:rPr sz="1800" b="1" spc="360" dirty="0">
                <a:solidFill>
                  <a:srgbClr val="FF0000"/>
                </a:solidFill>
                <a:latin typeface="Calibri"/>
                <a:cs typeface="Calibri"/>
              </a:rPr>
              <a:t> </a:t>
            </a:r>
            <a:r>
              <a:rPr sz="1800" b="1" spc="-10" dirty="0">
                <a:solidFill>
                  <a:srgbClr val="FF0000"/>
                </a:solidFill>
                <a:latin typeface="Calibri"/>
                <a:cs typeface="Calibri"/>
              </a:rPr>
              <a:t>agents</a:t>
            </a:r>
            <a:endParaRPr sz="1800">
              <a:latin typeface="Calibri"/>
              <a:cs typeface="Calibri"/>
            </a:endParaRPr>
          </a:p>
          <a:p>
            <a:pPr marL="756285" lvl="1" indent="-286385">
              <a:lnSpc>
                <a:spcPct val="100000"/>
              </a:lnSpc>
              <a:spcBef>
                <a:spcPts val="434"/>
              </a:spcBef>
              <a:buFont typeface="Arial"/>
              <a:buChar char="–"/>
              <a:tabLst>
                <a:tab pos="756285" algn="l"/>
              </a:tabLst>
            </a:pPr>
            <a:r>
              <a:rPr sz="1800" b="1" dirty="0">
                <a:solidFill>
                  <a:srgbClr val="3333CC"/>
                </a:solidFill>
                <a:latin typeface="Calibri"/>
                <a:cs typeface="Calibri"/>
              </a:rPr>
              <a:t>they</a:t>
            </a:r>
            <a:r>
              <a:rPr sz="1800" b="1" spc="-55" dirty="0">
                <a:solidFill>
                  <a:srgbClr val="3333CC"/>
                </a:solidFill>
                <a:latin typeface="Calibri"/>
                <a:cs typeface="Calibri"/>
              </a:rPr>
              <a:t> </a:t>
            </a:r>
            <a:r>
              <a:rPr sz="1800" b="1" dirty="0">
                <a:solidFill>
                  <a:srgbClr val="3333CC"/>
                </a:solidFill>
                <a:latin typeface="Calibri"/>
                <a:cs typeface="Calibri"/>
              </a:rPr>
              <a:t>have</a:t>
            </a:r>
            <a:r>
              <a:rPr sz="1800" b="1" spc="-50" dirty="0">
                <a:solidFill>
                  <a:srgbClr val="3333CC"/>
                </a:solidFill>
                <a:latin typeface="Calibri"/>
                <a:cs typeface="Calibri"/>
              </a:rPr>
              <a:t> </a:t>
            </a:r>
            <a:r>
              <a:rPr sz="1800" b="1" dirty="0">
                <a:solidFill>
                  <a:srgbClr val="3333CC"/>
                </a:solidFill>
                <a:latin typeface="Calibri"/>
                <a:cs typeface="Calibri"/>
              </a:rPr>
              <a:t>the</a:t>
            </a:r>
            <a:r>
              <a:rPr sz="1800" b="1" spc="-35" dirty="0">
                <a:solidFill>
                  <a:srgbClr val="3333CC"/>
                </a:solidFill>
                <a:latin typeface="Calibri"/>
                <a:cs typeface="Calibri"/>
              </a:rPr>
              <a:t> </a:t>
            </a:r>
            <a:r>
              <a:rPr sz="1800" b="1" dirty="0">
                <a:solidFill>
                  <a:srgbClr val="3333CC"/>
                </a:solidFill>
                <a:latin typeface="Calibri"/>
                <a:cs typeface="Calibri"/>
              </a:rPr>
              <a:t>ability</a:t>
            </a:r>
            <a:r>
              <a:rPr sz="1800" b="1" spc="-50" dirty="0">
                <a:solidFill>
                  <a:srgbClr val="3333CC"/>
                </a:solidFill>
                <a:latin typeface="Calibri"/>
                <a:cs typeface="Calibri"/>
              </a:rPr>
              <a:t> </a:t>
            </a:r>
            <a:r>
              <a:rPr sz="1800" b="1" dirty="0">
                <a:solidFill>
                  <a:srgbClr val="3333CC"/>
                </a:solidFill>
                <a:latin typeface="Calibri"/>
                <a:cs typeface="Calibri"/>
              </a:rPr>
              <a:t>to</a:t>
            </a:r>
            <a:r>
              <a:rPr sz="1800" b="1" spc="-40" dirty="0">
                <a:solidFill>
                  <a:srgbClr val="3333CC"/>
                </a:solidFill>
                <a:latin typeface="Calibri"/>
                <a:cs typeface="Calibri"/>
              </a:rPr>
              <a:t> </a:t>
            </a:r>
            <a:r>
              <a:rPr sz="1800" b="1" dirty="0">
                <a:solidFill>
                  <a:srgbClr val="3333CC"/>
                </a:solidFill>
                <a:latin typeface="Calibri"/>
                <a:cs typeface="Calibri"/>
              </a:rPr>
              <a:t>improve</a:t>
            </a:r>
            <a:r>
              <a:rPr sz="1800" b="1" spc="-70" dirty="0">
                <a:solidFill>
                  <a:srgbClr val="3333CC"/>
                </a:solidFill>
                <a:latin typeface="Calibri"/>
                <a:cs typeface="Calibri"/>
              </a:rPr>
              <a:t> </a:t>
            </a:r>
            <a:r>
              <a:rPr sz="1800" b="1" dirty="0">
                <a:solidFill>
                  <a:srgbClr val="3333CC"/>
                </a:solidFill>
                <a:latin typeface="Calibri"/>
                <a:cs typeface="Calibri"/>
              </a:rPr>
              <a:t>performance</a:t>
            </a:r>
            <a:r>
              <a:rPr sz="1800" b="1" spc="-75" dirty="0">
                <a:solidFill>
                  <a:srgbClr val="3333CC"/>
                </a:solidFill>
                <a:latin typeface="Calibri"/>
                <a:cs typeface="Calibri"/>
              </a:rPr>
              <a:t> </a:t>
            </a:r>
            <a:r>
              <a:rPr sz="1800" b="1" dirty="0">
                <a:solidFill>
                  <a:srgbClr val="3333CC"/>
                </a:solidFill>
                <a:latin typeface="Calibri"/>
                <a:cs typeface="Calibri"/>
              </a:rPr>
              <a:t>through</a:t>
            </a:r>
            <a:r>
              <a:rPr sz="1800" b="1" spc="-45" dirty="0">
                <a:solidFill>
                  <a:srgbClr val="3333CC"/>
                </a:solidFill>
                <a:latin typeface="Calibri"/>
                <a:cs typeface="Calibri"/>
              </a:rPr>
              <a:t> </a:t>
            </a:r>
            <a:r>
              <a:rPr sz="1800" b="1" spc="-10" dirty="0">
                <a:solidFill>
                  <a:srgbClr val="3333CC"/>
                </a:solidFill>
                <a:latin typeface="Calibri"/>
                <a:cs typeface="Calibri"/>
              </a:rPr>
              <a:t>learning.</a:t>
            </a:r>
            <a:endParaRPr sz="180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7322" y="162560"/>
            <a:ext cx="1398270" cy="452120"/>
          </a:xfrm>
          <a:prstGeom prst="rect">
            <a:avLst/>
          </a:prstGeom>
        </p:spPr>
        <p:txBody>
          <a:bodyPr vert="horz" wrap="square" lIns="0" tIns="12065" rIns="0" bIns="0" rtlCol="0">
            <a:spAutoFit/>
          </a:bodyPr>
          <a:lstStyle/>
          <a:p>
            <a:pPr marL="12700">
              <a:lnSpc>
                <a:spcPct val="100000"/>
              </a:lnSpc>
              <a:spcBef>
                <a:spcPts val="95"/>
              </a:spcBef>
            </a:pPr>
            <a:r>
              <a:rPr sz="2800" spc="-10" dirty="0"/>
              <a:t>Summary</a:t>
            </a:r>
            <a:endParaRPr sz="2800" dirty="0"/>
          </a:p>
        </p:txBody>
      </p:sp>
      <p:sp>
        <p:nvSpPr>
          <p:cNvPr id="3" name="object 3"/>
          <p:cNvSpPr txBox="1"/>
          <p:nvPr/>
        </p:nvSpPr>
        <p:spPr>
          <a:xfrm>
            <a:off x="154939" y="1008379"/>
            <a:ext cx="8695055" cy="4688840"/>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5600" algn="l"/>
              </a:tabLst>
            </a:pPr>
            <a:r>
              <a:rPr sz="1800" b="1" dirty="0">
                <a:latin typeface="Calibri"/>
                <a:cs typeface="Calibri"/>
              </a:rPr>
              <a:t>An</a:t>
            </a:r>
            <a:r>
              <a:rPr sz="1800" b="1" spc="-20" dirty="0">
                <a:latin typeface="Calibri"/>
                <a:cs typeface="Calibri"/>
              </a:rPr>
              <a:t> </a:t>
            </a:r>
            <a:r>
              <a:rPr sz="1800" b="1" dirty="0">
                <a:solidFill>
                  <a:srgbClr val="C0504D"/>
                </a:solidFill>
                <a:latin typeface="Calibri"/>
                <a:cs typeface="Calibri"/>
              </a:rPr>
              <a:t>agent</a:t>
            </a:r>
            <a:r>
              <a:rPr sz="1800" b="1" spc="-20" dirty="0">
                <a:solidFill>
                  <a:srgbClr val="C0504D"/>
                </a:solidFill>
                <a:latin typeface="Calibri"/>
                <a:cs typeface="Calibri"/>
              </a:rPr>
              <a:t> </a:t>
            </a:r>
            <a:r>
              <a:rPr sz="1800" b="1" dirty="0">
                <a:latin typeface="Calibri"/>
                <a:cs typeface="Calibri"/>
              </a:rPr>
              <a:t>perceives</a:t>
            </a:r>
            <a:r>
              <a:rPr sz="1800" b="1" spc="-40" dirty="0">
                <a:latin typeface="Calibri"/>
                <a:cs typeface="Calibri"/>
              </a:rPr>
              <a:t> </a:t>
            </a:r>
            <a:r>
              <a:rPr sz="1800" b="1" dirty="0">
                <a:latin typeface="Calibri"/>
                <a:cs typeface="Calibri"/>
              </a:rPr>
              <a:t>and</a:t>
            </a:r>
            <a:r>
              <a:rPr sz="1800" b="1" spc="-15" dirty="0">
                <a:latin typeface="Calibri"/>
                <a:cs typeface="Calibri"/>
              </a:rPr>
              <a:t> </a:t>
            </a:r>
            <a:r>
              <a:rPr sz="1800" b="1" dirty="0">
                <a:latin typeface="Calibri"/>
                <a:cs typeface="Calibri"/>
              </a:rPr>
              <a:t>acts</a:t>
            </a:r>
            <a:r>
              <a:rPr sz="1800" b="1" spc="-15" dirty="0">
                <a:latin typeface="Calibri"/>
                <a:cs typeface="Calibri"/>
              </a:rPr>
              <a:t> </a:t>
            </a:r>
            <a:r>
              <a:rPr sz="1800" b="1" dirty="0">
                <a:latin typeface="Calibri"/>
                <a:cs typeface="Calibri"/>
              </a:rPr>
              <a:t>in</a:t>
            </a:r>
            <a:r>
              <a:rPr sz="1800" b="1" spc="-10" dirty="0">
                <a:latin typeface="Calibri"/>
                <a:cs typeface="Calibri"/>
              </a:rPr>
              <a:t> </a:t>
            </a:r>
            <a:r>
              <a:rPr sz="1800" b="1" dirty="0">
                <a:latin typeface="Calibri"/>
                <a:cs typeface="Calibri"/>
              </a:rPr>
              <a:t>an</a:t>
            </a:r>
            <a:r>
              <a:rPr sz="1800" b="1" spc="-5" dirty="0">
                <a:latin typeface="Calibri"/>
                <a:cs typeface="Calibri"/>
              </a:rPr>
              <a:t> </a:t>
            </a:r>
            <a:r>
              <a:rPr sz="1800" b="1" spc="-10" dirty="0">
                <a:latin typeface="Calibri"/>
                <a:cs typeface="Calibri"/>
              </a:rPr>
              <a:t>environment,</a:t>
            </a:r>
            <a:r>
              <a:rPr sz="1800" b="1" spc="-40" dirty="0">
                <a:latin typeface="Calibri"/>
                <a:cs typeface="Calibri"/>
              </a:rPr>
              <a:t> </a:t>
            </a:r>
            <a:r>
              <a:rPr sz="1800" b="1" dirty="0">
                <a:latin typeface="Calibri"/>
                <a:cs typeface="Calibri"/>
              </a:rPr>
              <a:t>has</a:t>
            </a:r>
            <a:r>
              <a:rPr sz="1800" b="1" spc="-15" dirty="0">
                <a:latin typeface="Calibri"/>
                <a:cs typeface="Calibri"/>
              </a:rPr>
              <a:t> </a:t>
            </a:r>
            <a:r>
              <a:rPr sz="1800" b="1" dirty="0">
                <a:latin typeface="Calibri"/>
                <a:cs typeface="Calibri"/>
              </a:rPr>
              <a:t>an </a:t>
            </a:r>
            <a:r>
              <a:rPr sz="1800" b="1" spc="-10" dirty="0">
                <a:latin typeface="Calibri"/>
                <a:cs typeface="Calibri"/>
              </a:rPr>
              <a:t>architecture,</a:t>
            </a:r>
            <a:r>
              <a:rPr sz="1800" b="1" spc="-55" dirty="0">
                <a:latin typeface="Calibri"/>
                <a:cs typeface="Calibri"/>
              </a:rPr>
              <a:t> </a:t>
            </a:r>
            <a:r>
              <a:rPr sz="1800" b="1" dirty="0">
                <a:latin typeface="Calibri"/>
                <a:cs typeface="Calibri"/>
              </a:rPr>
              <a:t>and</a:t>
            </a:r>
            <a:r>
              <a:rPr sz="1800" b="1" spc="-10" dirty="0">
                <a:latin typeface="Calibri"/>
                <a:cs typeface="Calibri"/>
              </a:rPr>
              <a:t> </a:t>
            </a:r>
            <a:r>
              <a:rPr sz="1800" b="1" dirty="0">
                <a:latin typeface="Calibri"/>
                <a:cs typeface="Calibri"/>
              </a:rPr>
              <a:t>is</a:t>
            </a:r>
            <a:r>
              <a:rPr sz="1800" b="1" spc="-15" dirty="0">
                <a:latin typeface="Calibri"/>
                <a:cs typeface="Calibri"/>
              </a:rPr>
              <a:t> </a:t>
            </a:r>
            <a:r>
              <a:rPr sz="1800" b="1" spc="-10" dirty="0">
                <a:latin typeface="Calibri"/>
                <a:cs typeface="Calibri"/>
              </a:rPr>
              <a:t>implemented </a:t>
            </a:r>
            <a:r>
              <a:rPr sz="1800" b="1" dirty="0">
                <a:latin typeface="Calibri"/>
                <a:cs typeface="Calibri"/>
              </a:rPr>
              <a:t>by</a:t>
            </a:r>
            <a:r>
              <a:rPr sz="1800" b="1" spc="-25" dirty="0">
                <a:latin typeface="Calibri"/>
                <a:cs typeface="Calibri"/>
              </a:rPr>
              <a:t> </a:t>
            </a:r>
            <a:r>
              <a:rPr sz="1800" b="1" dirty="0">
                <a:latin typeface="Calibri"/>
                <a:cs typeface="Calibri"/>
              </a:rPr>
              <a:t>an</a:t>
            </a:r>
            <a:r>
              <a:rPr sz="1800" b="1" spc="-25" dirty="0">
                <a:latin typeface="Calibri"/>
                <a:cs typeface="Calibri"/>
              </a:rPr>
              <a:t> </a:t>
            </a:r>
            <a:r>
              <a:rPr sz="1800" b="1" dirty="0">
                <a:latin typeface="Calibri"/>
                <a:cs typeface="Calibri"/>
              </a:rPr>
              <a:t>agent</a:t>
            </a:r>
            <a:r>
              <a:rPr sz="1800" b="1" spc="-35" dirty="0">
                <a:latin typeface="Calibri"/>
                <a:cs typeface="Calibri"/>
              </a:rPr>
              <a:t> </a:t>
            </a:r>
            <a:r>
              <a:rPr sz="1800" b="1" spc="-10" dirty="0">
                <a:latin typeface="Calibri"/>
                <a:cs typeface="Calibri"/>
              </a:rPr>
              <a:t>program.</a:t>
            </a:r>
            <a:endParaRPr sz="1800">
              <a:latin typeface="Calibri"/>
              <a:cs typeface="Calibri"/>
            </a:endParaRPr>
          </a:p>
          <a:p>
            <a:pPr marL="355600" marR="124460" indent="-342900">
              <a:lnSpc>
                <a:spcPct val="100000"/>
              </a:lnSpc>
              <a:spcBef>
                <a:spcPts val="430"/>
              </a:spcBef>
              <a:buFont typeface="Arial"/>
              <a:buChar char="•"/>
              <a:tabLst>
                <a:tab pos="355600" algn="l"/>
              </a:tabLst>
            </a:pPr>
            <a:r>
              <a:rPr sz="1800" b="1" dirty="0">
                <a:latin typeface="Calibri"/>
                <a:cs typeface="Calibri"/>
              </a:rPr>
              <a:t>A</a:t>
            </a:r>
            <a:r>
              <a:rPr sz="1800" b="1" spc="-25" dirty="0">
                <a:latin typeface="Calibri"/>
                <a:cs typeface="Calibri"/>
              </a:rPr>
              <a:t> </a:t>
            </a:r>
            <a:r>
              <a:rPr sz="1800" b="1" dirty="0">
                <a:solidFill>
                  <a:srgbClr val="C0504D"/>
                </a:solidFill>
                <a:latin typeface="Calibri"/>
                <a:cs typeface="Calibri"/>
              </a:rPr>
              <a:t>rational</a:t>
            </a:r>
            <a:r>
              <a:rPr sz="1800" b="1" spc="-50" dirty="0">
                <a:solidFill>
                  <a:srgbClr val="C0504D"/>
                </a:solidFill>
                <a:latin typeface="Calibri"/>
                <a:cs typeface="Calibri"/>
              </a:rPr>
              <a:t> </a:t>
            </a:r>
            <a:r>
              <a:rPr sz="1800" b="1" dirty="0">
                <a:solidFill>
                  <a:srgbClr val="C0504D"/>
                </a:solidFill>
                <a:latin typeface="Calibri"/>
                <a:cs typeface="Calibri"/>
              </a:rPr>
              <a:t>agent</a:t>
            </a:r>
            <a:r>
              <a:rPr sz="1800" b="1" spc="-35" dirty="0">
                <a:solidFill>
                  <a:srgbClr val="C0504D"/>
                </a:solidFill>
                <a:latin typeface="Calibri"/>
                <a:cs typeface="Calibri"/>
              </a:rPr>
              <a:t> </a:t>
            </a:r>
            <a:r>
              <a:rPr sz="1800" b="1" dirty="0">
                <a:latin typeface="Calibri"/>
                <a:cs typeface="Calibri"/>
              </a:rPr>
              <a:t>always</a:t>
            </a:r>
            <a:r>
              <a:rPr sz="1800" b="1" spc="-30" dirty="0">
                <a:latin typeface="Calibri"/>
                <a:cs typeface="Calibri"/>
              </a:rPr>
              <a:t> </a:t>
            </a:r>
            <a:r>
              <a:rPr sz="1800" b="1" dirty="0">
                <a:latin typeface="Calibri"/>
                <a:cs typeface="Calibri"/>
              </a:rPr>
              <a:t>chooses</a:t>
            </a:r>
            <a:r>
              <a:rPr sz="1800" b="1" spc="-55" dirty="0">
                <a:latin typeface="Calibri"/>
                <a:cs typeface="Calibri"/>
              </a:rPr>
              <a:t> </a:t>
            </a:r>
            <a:r>
              <a:rPr sz="1800" b="1" dirty="0">
                <a:latin typeface="Calibri"/>
                <a:cs typeface="Calibri"/>
              </a:rPr>
              <a:t>the</a:t>
            </a:r>
            <a:r>
              <a:rPr sz="1800" b="1" spc="-25" dirty="0">
                <a:latin typeface="Calibri"/>
                <a:cs typeface="Calibri"/>
              </a:rPr>
              <a:t> </a:t>
            </a:r>
            <a:r>
              <a:rPr sz="1800" b="1" dirty="0">
                <a:latin typeface="Calibri"/>
                <a:cs typeface="Calibri"/>
              </a:rPr>
              <a:t>action</a:t>
            </a:r>
            <a:r>
              <a:rPr sz="1800" b="1" spc="-50" dirty="0">
                <a:latin typeface="Calibri"/>
                <a:cs typeface="Calibri"/>
              </a:rPr>
              <a:t> </a:t>
            </a:r>
            <a:r>
              <a:rPr sz="1800" b="1" dirty="0">
                <a:latin typeface="Calibri"/>
                <a:cs typeface="Calibri"/>
              </a:rPr>
              <a:t>which</a:t>
            </a:r>
            <a:r>
              <a:rPr sz="1800" b="1" spc="-40" dirty="0">
                <a:latin typeface="Calibri"/>
                <a:cs typeface="Calibri"/>
              </a:rPr>
              <a:t> </a:t>
            </a:r>
            <a:r>
              <a:rPr sz="1800" b="1" spc="-10" dirty="0">
                <a:solidFill>
                  <a:srgbClr val="FF0000"/>
                </a:solidFill>
                <a:latin typeface="Calibri"/>
                <a:cs typeface="Calibri"/>
              </a:rPr>
              <a:t>maximizes</a:t>
            </a:r>
            <a:r>
              <a:rPr sz="1800" b="1" spc="-55" dirty="0">
                <a:solidFill>
                  <a:srgbClr val="FF0000"/>
                </a:solidFill>
                <a:latin typeface="Calibri"/>
                <a:cs typeface="Calibri"/>
              </a:rPr>
              <a:t> </a:t>
            </a:r>
            <a:r>
              <a:rPr sz="1800" b="1" dirty="0">
                <a:solidFill>
                  <a:srgbClr val="FF0000"/>
                </a:solidFill>
                <a:latin typeface="Calibri"/>
                <a:cs typeface="Calibri"/>
              </a:rPr>
              <a:t>its</a:t>
            </a:r>
            <a:r>
              <a:rPr sz="1800" b="1" spc="-30" dirty="0">
                <a:solidFill>
                  <a:srgbClr val="FF0000"/>
                </a:solidFill>
                <a:latin typeface="Calibri"/>
                <a:cs typeface="Calibri"/>
              </a:rPr>
              <a:t> </a:t>
            </a:r>
            <a:r>
              <a:rPr sz="1800" b="1" dirty="0">
                <a:solidFill>
                  <a:srgbClr val="FF0000"/>
                </a:solidFill>
                <a:latin typeface="Calibri"/>
                <a:cs typeface="Calibri"/>
              </a:rPr>
              <a:t>expected</a:t>
            </a:r>
            <a:r>
              <a:rPr sz="1800" b="1" spc="-65" dirty="0">
                <a:solidFill>
                  <a:srgbClr val="FF0000"/>
                </a:solidFill>
                <a:latin typeface="Calibri"/>
                <a:cs typeface="Calibri"/>
              </a:rPr>
              <a:t> </a:t>
            </a:r>
            <a:r>
              <a:rPr sz="1800" b="1" spc="-10" dirty="0">
                <a:solidFill>
                  <a:srgbClr val="FF0000"/>
                </a:solidFill>
                <a:latin typeface="Calibri"/>
                <a:cs typeface="Calibri"/>
              </a:rPr>
              <a:t>performance</a:t>
            </a:r>
            <a:r>
              <a:rPr sz="1800" b="1" spc="-10" dirty="0">
                <a:latin typeface="Calibri"/>
                <a:cs typeface="Calibri"/>
              </a:rPr>
              <a:t>, </a:t>
            </a:r>
            <a:r>
              <a:rPr sz="1800" b="1" dirty="0">
                <a:latin typeface="Calibri"/>
                <a:cs typeface="Calibri"/>
              </a:rPr>
              <a:t>given</a:t>
            </a:r>
            <a:r>
              <a:rPr sz="1800" b="1" spc="-50" dirty="0">
                <a:latin typeface="Calibri"/>
                <a:cs typeface="Calibri"/>
              </a:rPr>
              <a:t> </a:t>
            </a:r>
            <a:r>
              <a:rPr sz="1800" b="1" dirty="0">
                <a:latin typeface="Calibri"/>
                <a:cs typeface="Calibri"/>
              </a:rPr>
              <a:t>its</a:t>
            </a:r>
            <a:r>
              <a:rPr sz="1800" b="1" spc="-15" dirty="0">
                <a:latin typeface="Calibri"/>
                <a:cs typeface="Calibri"/>
              </a:rPr>
              <a:t> </a:t>
            </a:r>
            <a:r>
              <a:rPr sz="1800" b="1" dirty="0">
                <a:latin typeface="Calibri"/>
                <a:cs typeface="Calibri"/>
              </a:rPr>
              <a:t>percept</a:t>
            </a:r>
            <a:r>
              <a:rPr sz="1800" b="1" spc="-50" dirty="0">
                <a:latin typeface="Calibri"/>
                <a:cs typeface="Calibri"/>
              </a:rPr>
              <a:t> </a:t>
            </a:r>
            <a:r>
              <a:rPr sz="1800" b="1" dirty="0">
                <a:latin typeface="Calibri"/>
                <a:cs typeface="Calibri"/>
              </a:rPr>
              <a:t>sequence</a:t>
            </a:r>
            <a:r>
              <a:rPr sz="1800" b="1" spc="-60" dirty="0">
                <a:latin typeface="Calibri"/>
                <a:cs typeface="Calibri"/>
              </a:rPr>
              <a:t> </a:t>
            </a:r>
            <a:r>
              <a:rPr sz="1800" b="1" dirty="0">
                <a:latin typeface="Calibri"/>
                <a:cs typeface="Calibri"/>
              </a:rPr>
              <a:t>so</a:t>
            </a:r>
            <a:r>
              <a:rPr sz="1800" b="1" spc="-25" dirty="0">
                <a:latin typeface="Calibri"/>
                <a:cs typeface="Calibri"/>
              </a:rPr>
              <a:t> </a:t>
            </a:r>
            <a:r>
              <a:rPr sz="1800" b="1" spc="-20" dirty="0">
                <a:latin typeface="Calibri"/>
                <a:cs typeface="Calibri"/>
              </a:rPr>
              <a:t>far.</a:t>
            </a:r>
            <a:endParaRPr sz="1800">
              <a:latin typeface="Calibri"/>
              <a:cs typeface="Calibri"/>
            </a:endParaRPr>
          </a:p>
          <a:p>
            <a:pPr marL="355600" marR="367030" indent="-343535">
              <a:lnSpc>
                <a:spcPct val="100000"/>
              </a:lnSpc>
              <a:spcBef>
                <a:spcPts val="434"/>
              </a:spcBef>
              <a:buFont typeface="Arial"/>
              <a:buChar char="•"/>
              <a:tabLst>
                <a:tab pos="355600" algn="l"/>
              </a:tabLst>
            </a:pPr>
            <a:r>
              <a:rPr sz="1800" b="1" dirty="0">
                <a:latin typeface="Calibri"/>
                <a:cs typeface="Calibri"/>
              </a:rPr>
              <a:t>An</a:t>
            </a:r>
            <a:r>
              <a:rPr sz="1800" b="1" spc="-35" dirty="0">
                <a:latin typeface="Calibri"/>
                <a:cs typeface="Calibri"/>
              </a:rPr>
              <a:t> </a:t>
            </a:r>
            <a:r>
              <a:rPr sz="1800" b="1" dirty="0">
                <a:solidFill>
                  <a:srgbClr val="C0504D"/>
                </a:solidFill>
                <a:latin typeface="Calibri"/>
                <a:cs typeface="Calibri"/>
              </a:rPr>
              <a:t>autonomous</a:t>
            </a:r>
            <a:r>
              <a:rPr sz="1800" b="1" spc="-30" dirty="0">
                <a:solidFill>
                  <a:srgbClr val="C0504D"/>
                </a:solidFill>
                <a:latin typeface="Calibri"/>
                <a:cs typeface="Calibri"/>
              </a:rPr>
              <a:t> </a:t>
            </a:r>
            <a:r>
              <a:rPr sz="1800" b="1" dirty="0">
                <a:solidFill>
                  <a:srgbClr val="C0504D"/>
                </a:solidFill>
                <a:latin typeface="Calibri"/>
                <a:cs typeface="Calibri"/>
              </a:rPr>
              <a:t>agent</a:t>
            </a:r>
            <a:r>
              <a:rPr sz="1800" b="1" spc="-55" dirty="0">
                <a:solidFill>
                  <a:srgbClr val="C0504D"/>
                </a:solidFill>
                <a:latin typeface="Calibri"/>
                <a:cs typeface="Calibri"/>
              </a:rPr>
              <a:t> </a:t>
            </a:r>
            <a:r>
              <a:rPr sz="1800" b="1" dirty="0">
                <a:latin typeface="Calibri"/>
                <a:cs typeface="Calibri"/>
              </a:rPr>
              <a:t>uses</a:t>
            </a:r>
            <a:r>
              <a:rPr sz="1800" b="1" spc="-55" dirty="0">
                <a:latin typeface="Calibri"/>
                <a:cs typeface="Calibri"/>
              </a:rPr>
              <a:t> </a:t>
            </a:r>
            <a:r>
              <a:rPr sz="1800" b="1" dirty="0">
                <a:latin typeface="Calibri"/>
                <a:cs typeface="Calibri"/>
              </a:rPr>
              <a:t>its</a:t>
            </a:r>
            <a:r>
              <a:rPr sz="1800" b="1" spc="-20" dirty="0">
                <a:latin typeface="Calibri"/>
                <a:cs typeface="Calibri"/>
              </a:rPr>
              <a:t> </a:t>
            </a:r>
            <a:r>
              <a:rPr sz="1800" b="1" dirty="0">
                <a:latin typeface="Calibri"/>
                <a:cs typeface="Calibri"/>
              </a:rPr>
              <a:t>own</a:t>
            </a:r>
            <a:r>
              <a:rPr sz="1800" b="1" spc="-40" dirty="0">
                <a:latin typeface="Calibri"/>
                <a:cs typeface="Calibri"/>
              </a:rPr>
              <a:t> </a:t>
            </a:r>
            <a:r>
              <a:rPr sz="1800" b="1" dirty="0">
                <a:latin typeface="Calibri"/>
                <a:cs typeface="Calibri"/>
              </a:rPr>
              <a:t>experience</a:t>
            </a:r>
            <a:r>
              <a:rPr sz="1800" b="1" spc="-65" dirty="0">
                <a:latin typeface="Calibri"/>
                <a:cs typeface="Calibri"/>
              </a:rPr>
              <a:t> </a:t>
            </a:r>
            <a:r>
              <a:rPr sz="1800" b="1" dirty="0">
                <a:latin typeface="Calibri"/>
                <a:cs typeface="Calibri"/>
              </a:rPr>
              <a:t>rather</a:t>
            </a:r>
            <a:r>
              <a:rPr sz="1800" b="1" spc="-50" dirty="0">
                <a:latin typeface="Calibri"/>
                <a:cs typeface="Calibri"/>
              </a:rPr>
              <a:t> </a:t>
            </a:r>
            <a:r>
              <a:rPr sz="1800" b="1" dirty="0">
                <a:latin typeface="Calibri"/>
                <a:cs typeface="Calibri"/>
              </a:rPr>
              <a:t>than</a:t>
            </a:r>
            <a:r>
              <a:rPr sz="1800" b="1" spc="-25" dirty="0">
                <a:latin typeface="Calibri"/>
                <a:cs typeface="Calibri"/>
              </a:rPr>
              <a:t> </a:t>
            </a:r>
            <a:r>
              <a:rPr sz="1800" b="1" dirty="0">
                <a:latin typeface="Calibri"/>
                <a:cs typeface="Calibri"/>
              </a:rPr>
              <a:t>built-in</a:t>
            </a:r>
            <a:r>
              <a:rPr sz="1800" b="1" spc="-65" dirty="0">
                <a:latin typeface="Calibri"/>
                <a:cs typeface="Calibri"/>
              </a:rPr>
              <a:t> </a:t>
            </a:r>
            <a:r>
              <a:rPr sz="1800" b="1" dirty="0">
                <a:latin typeface="Calibri"/>
                <a:cs typeface="Calibri"/>
              </a:rPr>
              <a:t>knowledge</a:t>
            </a:r>
            <a:r>
              <a:rPr sz="1800" b="1" spc="-45" dirty="0">
                <a:latin typeface="Calibri"/>
                <a:cs typeface="Calibri"/>
              </a:rPr>
              <a:t> </a:t>
            </a:r>
            <a:r>
              <a:rPr sz="1800" b="1" dirty="0">
                <a:latin typeface="Calibri"/>
                <a:cs typeface="Calibri"/>
              </a:rPr>
              <a:t>of</a:t>
            </a:r>
            <a:r>
              <a:rPr sz="1800" b="1" spc="-20" dirty="0">
                <a:latin typeface="Calibri"/>
                <a:cs typeface="Calibri"/>
              </a:rPr>
              <a:t> </a:t>
            </a:r>
            <a:r>
              <a:rPr sz="1800" b="1" spc="-25" dirty="0">
                <a:latin typeface="Calibri"/>
                <a:cs typeface="Calibri"/>
              </a:rPr>
              <a:t>the </a:t>
            </a:r>
            <a:r>
              <a:rPr sz="1800" b="1" spc="-10" dirty="0">
                <a:latin typeface="Calibri"/>
                <a:cs typeface="Calibri"/>
              </a:rPr>
              <a:t>environment</a:t>
            </a:r>
            <a:r>
              <a:rPr sz="1800" b="1" spc="-40" dirty="0">
                <a:latin typeface="Calibri"/>
                <a:cs typeface="Calibri"/>
              </a:rPr>
              <a:t> </a:t>
            </a:r>
            <a:r>
              <a:rPr sz="1800" b="1" dirty="0">
                <a:latin typeface="Calibri"/>
                <a:cs typeface="Calibri"/>
              </a:rPr>
              <a:t>by the</a:t>
            </a:r>
            <a:r>
              <a:rPr sz="1800" b="1" spc="-5" dirty="0">
                <a:latin typeface="Calibri"/>
                <a:cs typeface="Calibri"/>
              </a:rPr>
              <a:t> </a:t>
            </a:r>
            <a:r>
              <a:rPr sz="1800" b="1" spc="-10" dirty="0">
                <a:latin typeface="Calibri"/>
                <a:cs typeface="Calibri"/>
              </a:rPr>
              <a:t>designer.</a:t>
            </a:r>
            <a:endParaRPr sz="1800">
              <a:latin typeface="Calibri"/>
              <a:cs typeface="Calibri"/>
            </a:endParaRPr>
          </a:p>
          <a:p>
            <a:pPr marL="354965" indent="-342265">
              <a:lnSpc>
                <a:spcPct val="100000"/>
              </a:lnSpc>
              <a:spcBef>
                <a:spcPts val="430"/>
              </a:spcBef>
              <a:buFont typeface="Arial"/>
              <a:buChar char="•"/>
              <a:tabLst>
                <a:tab pos="354965" algn="l"/>
              </a:tabLst>
            </a:pPr>
            <a:r>
              <a:rPr sz="1800" b="1" dirty="0">
                <a:latin typeface="Calibri"/>
                <a:cs typeface="Calibri"/>
              </a:rPr>
              <a:t>An</a:t>
            </a:r>
            <a:r>
              <a:rPr sz="1800" b="1" spc="-40" dirty="0">
                <a:latin typeface="Calibri"/>
                <a:cs typeface="Calibri"/>
              </a:rPr>
              <a:t> </a:t>
            </a:r>
            <a:r>
              <a:rPr sz="1800" b="1" dirty="0">
                <a:solidFill>
                  <a:srgbClr val="C0504D"/>
                </a:solidFill>
                <a:latin typeface="Calibri"/>
                <a:cs typeface="Calibri"/>
              </a:rPr>
              <a:t>agent</a:t>
            </a:r>
            <a:r>
              <a:rPr sz="1800" b="1" spc="-45" dirty="0">
                <a:solidFill>
                  <a:srgbClr val="C0504D"/>
                </a:solidFill>
                <a:latin typeface="Calibri"/>
                <a:cs typeface="Calibri"/>
              </a:rPr>
              <a:t> </a:t>
            </a:r>
            <a:r>
              <a:rPr sz="1800" b="1" dirty="0">
                <a:solidFill>
                  <a:srgbClr val="C0504D"/>
                </a:solidFill>
                <a:latin typeface="Calibri"/>
                <a:cs typeface="Calibri"/>
              </a:rPr>
              <a:t>program</a:t>
            </a:r>
            <a:r>
              <a:rPr sz="1800" b="1" spc="-50" dirty="0">
                <a:solidFill>
                  <a:srgbClr val="C0504D"/>
                </a:solidFill>
                <a:latin typeface="Calibri"/>
                <a:cs typeface="Calibri"/>
              </a:rPr>
              <a:t> </a:t>
            </a:r>
            <a:r>
              <a:rPr sz="1800" b="1" dirty="0">
                <a:latin typeface="Calibri"/>
                <a:cs typeface="Calibri"/>
              </a:rPr>
              <a:t>maps</a:t>
            </a:r>
            <a:r>
              <a:rPr sz="1800" b="1" spc="-40" dirty="0">
                <a:latin typeface="Calibri"/>
                <a:cs typeface="Calibri"/>
              </a:rPr>
              <a:t> </a:t>
            </a:r>
            <a:r>
              <a:rPr sz="1800" b="1" dirty="0">
                <a:latin typeface="Calibri"/>
                <a:cs typeface="Calibri"/>
              </a:rPr>
              <a:t>from</a:t>
            </a:r>
            <a:r>
              <a:rPr sz="1800" b="1" spc="-20" dirty="0">
                <a:latin typeface="Calibri"/>
                <a:cs typeface="Calibri"/>
              </a:rPr>
              <a:t> </a:t>
            </a:r>
            <a:r>
              <a:rPr sz="1800" b="1" dirty="0">
                <a:latin typeface="Calibri"/>
                <a:cs typeface="Calibri"/>
              </a:rPr>
              <a:t>percept</a:t>
            </a:r>
            <a:r>
              <a:rPr sz="1800" b="1" spc="-55" dirty="0">
                <a:latin typeface="Calibri"/>
                <a:cs typeface="Calibri"/>
              </a:rPr>
              <a:t> </a:t>
            </a:r>
            <a:r>
              <a:rPr sz="1800" b="1" dirty="0">
                <a:latin typeface="Calibri"/>
                <a:cs typeface="Calibri"/>
              </a:rPr>
              <a:t>to</a:t>
            </a:r>
            <a:r>
              <a:rPr sz="1800" b="1" spc="-40" dirty="0">
                <a:latin typeface="Calibri"/>
                <a:cs typeface="Calibri"/>
              </a:rPr>
              <a:t> </a:t>
            </a:r>
            <a:r>
              <a:rPr sz="1800" b="1" dirty="0">
                <a:latin typeface="Calibri"/>
                <a:cs typeface="Calibri"/>
              </a:rPr>
              <a:t>action</a:t>
            </a:r>
            <a:r>
              <a:rPr sz="1800" b="1" spc="-45" dirty="0">
                <a:latin typeface="Calibri"/>
                <a:cs typeface="Calibri"/>
              </a:rPr>
              <a:t> </a:t>
            </a:r>
            <a:r>
              <a:rPr sz="1800" b="1" dirty="0">
                <a:latin typeface="Calibri"/>
                <a:cs typeface="Calibri"/>
              </a:rPr>
              <a:t>and</a:t>
            </a:r>
            <a:r>
              <a:rPr sz="1800" b="1" spc="-35" dirty="0">
                <a:latin typeface="Calibri"/>
                <a:cs typeface="Calibri"/>
              </a:rPr>
              <a:t> </a:t>
            </a:r>
            <a:r>
              <a:rPr sz="1800" b="1" dirty="0">
                <a:latin typeface="Calibri"/>
                <a:cs typeface="Calibri"/>
              </a:rPr>
              <a:t>updates</a:t>
            </a:r>
            <a:r>
              <a:rPr sz="1800" b="1" spc="-40" dirty="0">
                <a:latin typeface="Calibri"/>
                <a:cs typeface="Calibri"/>
              </a:rPr>
              <a:t> </a:t>
            </a:r>
            <a:r>
              <a:rPr sz="1800" b="1" dirty="0">
                <a:latin typeface="Calibri"/>
                <a:cs typeface="Calibri"/>
              </a:rPr>
              <a:t>its</a:t>
            </a:r>
            <a:r>
              <a:rPr sz="1800" b="1" spc="-60" dirty="0">
                <a:latin typeface="Calibri"/>
                <a:cs typeface="Calibri"/>
              </a:rPr>
              <a:t> </a:t>
            </a:r>
            <a:r>
              <a:rPr sz="1800" b="1" dirty="0">
                <a:latin typeface="Calibri"/>
                <a:cs typeface="Calibri"/>
              </a:rPr>
              <a:t>internal</a:t>
            </a:r>
            <a:r>
              <a:rPr sz="1800" b="1" spc="-40" dirty="0">
                <a:latin typeface="Calibri"/>
                <a:cs typeface="Calibri"/>
              </a:rPr>
              <a:t> </a:t>
            </a:r>
            <a:r>
              <a:rPr sz="1800" b="1" spc="-10" dirty="0">
                <a:latin typeface="Calibri"/>
                <a:cs typeface="Calibri"/>
              </a:rPr>
              <a:t>state.</a:t>
            </a:r>
            <a:endParaRPr sz="1800">
              <a:latin typeface="Calibri"/>
              <a:cs typeface="Calibri"/>
            </a:endParaRPr>
          </a:p>
          <a:p>
            <a:pPr marL="756285" lvl="1" indent="-286385">
              <a:lnSpc>
                <a:spcPct val="100000"/>
              </a:lnSpc>
              <a:spcBef>
                <a:spcPts val="430"/>
              </a:spcBef>
              <a:buFont typeface="Arial"/>
              <a:buChar char="–"/>
              <a:tabLst>
                <a:tab pos="756285" algn="l"/>
              </a:tabLst>
            </a:pPr>
            <a:r>
              <a:rPr sz="1800" b="1" dirty="0">
                <a:solidFill>
                  <a:srgbClr val="C0504D"/>
                </a:solidFill>
                <a:latin typeface="Calibri"/>
                <a:cs typeface="Calibri"/>
              </a:rPr>
              <a:t>Reflex</a:t>
            </a:r>
            <a:r>
              <a:rPr sz="1800" b="1" spc="-50" dirty="0">
                <a:solidFill>
                  <a:srgbClr val="C0504D"/>
                </a:solidFill>
                <a:latin typeface="Calibri"/>
                <a:cs typeface="Calibri"/>
              </a:rPr>
              <a:t> </a:t>
            </a:r>
            <a:r>
              <a:rPr sz="1800" b="1" dirty="0">
                <a:solidFill>
                  <a:srgbClr val="C0504D"/>
                </a:solidFill>
                <a:latin typeface="Calibri"/>
                <a:cs typeface="Calibri"/>
              </a:rPr>
              <a:t>agents</a:t>
            </a:r>
            <a:r>
              <a:rPr sz="1800" b="1" spc="-50" dirty="0">
                <a:solidFill>
                  <a:srgbClr val="C0504D"/>
                </a:solidFill>
                <a:latin typeface="Calibri"/>
                <a:cs typeface="Calibri"/>
              </a:rPr>
              <a:t> </a:t>
            </a:r>
            <a:r>
              <a:rPr sz="1800" b="1" dirty="0">
                <a:solidFill>
                  <a:srgbClr val="C0504D"/>
                </a:solidFill>
                <a:latin typeface="Calibri"/>
                <a:cs typeface="Calibri"/>
              </a:rPr>
              <a:t>(simple</a:t>
            </a:r>
            <a:r>
              <a:rPr sz="1800" b="1" spc="-35" dirty="0">
                <a:solidFill>
                  <a:srgbClr val="C0504D"/>
                </a:solidFill>
                <a:latin typeface="Calibri"/>
                <a:cs typeface="Calibri"/>
              </a:rPr>
              <a:t> </a:t>
            </a:r>
            <a:r>
              <a:rPr sz="1800" b="1" dirty="0">
                <a:solidFill>
                  <a:srgbClr val="C0504D"/>
                </a:solidFill>
                <a:latin typeface="Calibri"/>
                <a:cs typeface="Calibri"/>
              </a:rPr>
              <a:t>/</a:t>
            </a:r>
            <a:r>
              <a:rPr sz="1800" b="1" spc="-45" dirty="0">
                <a:solidFill>
                  <a:srgbClr val="C0504D"/>
                </a:solidFill>
                <a:latin typeface="Calibri"/>
                <a:cs typeface="Calibri"/>
              </a:rPr>
              <a:t> </a:t>
            </a:r>
            <a:r>
              <a:rPr sz="1800" b="1" spc="-10" dirty="0">
                <a:solidFill>
                  <a:srgbClr val="C0504D"/>
                </a:solidFill>
                <a:latin typeface="Calibri"/>
                <a:cs typeface="Calibri"/>
              </a:rPr>
              <a:t>model-</a:t>
            </a:r>
            <a:r>
              <a:rPr sz="1800" b="1" dirty="0">
                <a:solidFill>
                  <a:srgbClr val="C0504D"/>
                </a:solidFill>
                <a:latin typeface="Calibri"/>
                <a:cs typeface="Calibri"/>
              </a:rPr>
              <a:t>based)</a:t>
            </a:r>
            <a:r>
              <a:rPr sz="1800" b="1" spc="-55" dirty="0">
                <a:solidFill>
                  <a:srgbClr val="C0504D"/>
                </a:solidFill>
                <a:latin typeface="Calibri"/>
                <a:cs typeface="Calibri"/>
              </a:rPr>
              <a:t> </a:t>
            </a:r>
            <a:r>
              <a:rPr sz="1800" b="1" dirty="0">
                <a:latin typeface="Calibri"/>
                <a:cs typeface="Calibri"/>
              </a:rPr>
              <a:t>respond</a:t>
            </a:r>
            <a:r>
              <a:rPr sz="1800" b="1" spc="-70" dirty="0">
                <a:latin typeface="Calibri"/>
                <a:cs typeface="Calibri"/>
              </a:rPr>
              <a:t> </a:t>
            </a:r>
            <a:r>
              <a:rPr sz="1800" b="1" dirty="0">
                <a:latin typeface="Calibri"/>
                <a:cs typeface="Calibri"/>
              </a:rPr>
              <a:t>immediately</a:t>
            </a:r>
            <a:r>
              <a:rPr sz="1800" b="1" spc="-45" dirty="0">
                <a:latin typeface="Calibri"/>
                <a:cs typeface="Calibri"/>
              </a:rPr>
              <a:t> </a:t>
            </a:r>
            <a:r>
              <a:rPr sz="1800" b="1" dirty="0">
                <a:latin typeface="Calibri"/>
                <a:cs typeface="Calibri"/>
              </a:rPr>
              <a:t>to</a:t>
            </a:r>
            <a:r>
              <a:rPr sz="1800" b="1" spc="-35" dirty="0">
                <a:latin typeface="Calibri"/>
                <a:cs typeface="Calibri"/>
              </a:rPr>
              <a:t> </a:t>
            </a:r>
            <a:r>
              <a:rPr sz="1800" b="1" spc="-10" dirty="0">
                <a:latin typeface="Calibri"/>
                <a:cs typeface="Calibri"/>
              </a:rPr>
              <a:t>percepts.</a:t>
            </a:r>
            <a:endParaRPr sz="1800">
              <a:latin typeface="Calibri"/>
              <a:cs typeface="Calibri"/>
            </a:endParaRPr>
          </a:p>
          <a:p>
            <a:pPr marL="756285" lvl="1" indent="-286385">
              <a:lnSpc>
                <a:spcPct val="100000"/>
              </a:lnSpc>
              <a:spcBef>
                <a:spcPts val="434"/>
              </a:spcBef>
              <a:buFont typeface="Arial"/>
              <a:buChar char="–"/>
              <a:tabLst>
                <a:tab pos="756285" algn="l"/>
              </a:tabLst>
            </a:pPr>
            <a:r>
              <a:rPr sz="1800" b="1" spc="-10" dirty="0">
                <a:solidFill>
                  <a:srgbClr val="C0504D"/>
                </a:solidFill>
                <a:latin typeface="Calibri"/>
                <a:cs typeface="Calibri"/>
              </a:rPr>
              <a:t>Goal-</a:t>
            </a:r>
            <a:r>
              <a:rPr sz="1800" b="1" dirty="0">
                <a:solidFill>
                  <a:srgbClr val="C0504D"/>
                </a:solidFill>
                <a:latin typeface="Calibri"/>
                <a:cs typeface="Calibri"/>
              </a:rPr>
              <a:t>based</a:t>
            </a:r>
            <a:r>
              <a:rPr sz="1800" b="1" spc="-60" dirty="0">
                <a:solidFill>
                  <a:srgbClr val="C0504D"/>
                </a:solidFill>
                <a:latin typeface="Calibri"/>
                <a:cs typeface="Calibri"/>
              </a:rPr>
              <a:t> </a:t>
            </a:r>
            <a:r>
              <a:rPr sz="1800" b="1" dirty="0">
                <a:solidFill>
                  <a:srgbClr val="C0504D"/>
                </a:solidFill>
                <a:latin typeface="Calibri"/>
                <a:cs typeface="Calibri"/>
              </a:rPr>
              <a:t>agents</a:t>
            </a:r>
            <a:r>
              <a:rPr sz="1800" b="1" spc="-40" dirty="0">
                <a:solidFill>
                  <a:srgbClr val="C0504D"/>
                </a:solidFill>
                <a:latin typeface="Calibri"/>
                <a:cs typeface="Calibri"/>
              </a:rPr>
              <a:t> </a:t>
            </a:r>
            <a:r>
              <a:rPr sz="1800" b="1" dirty="0">
                <a:latin typeface="Calibri"/>
                <a:cs typeface="Calibri"/>
              </a:rPr>
              <a:t>act</a:t>
            </a:r>
            <a:r>
              <a:rPr sz="1800" b="1" spc="-15" dirty="0">
                <a:latin typeface="Calibri"/>
                <a:cs typeface="Calibri"/>
              </a:rPr>
              <a:t> </a:t>
            </a:r>
            <a:r>
              <a:rPr sz="1800" b="1" dirty="0">
                <a:latin typeface="Calibri"/>
                <a:cs typeface="Calibri"/>
              </a:rPr>
              <a:t>in</a:t>
            </a:r>
            <a:r>
              <a:rPr sz="1800" b="1" spc="-20" dirty="0">
                <a:latin typeface="Calibri"/>
                <a:cs typeface="Calibri"/>
              </a:rPr>
              <a:t> </a:t>
            </a:r>
            <a:r>
              <a:rPr sz="1800" b="1" dirty="0">
                <a:latin typeface="Calibri"/>
                <a:cs typeface="Calibri"/>
              </a:rPr>
              <a:t>order</a:t>
            </a:r>
            <a:r>
              <a:rPr sz="1800" b="1" spc="-45" dirty="0">
                <a:latin typeface="Calibri"/>
                <a:cs typeface="Calibri"/>
              </a:rPr>
              <a:t> </a:t>
            </a:r>
            <a:r>
              <a:rPr sz="1800" b="1" dirty="0">
                <a:latin typeface="Calibri"/>
                <a:cs typeface="Calibri"/>
              </a:rPr>
              <a:t>to</a:t>
            </a:r>
            <a:r>
              <a:rPr sz="1800" b="1" spc="-10" dirty="0">
                <a:latin typeface="Calibri"/>
                <a:cs typeface="Calibri"/>
              </a:rPr>
              <a:t> </a:t>
            </a:r>
            <a:r>
              <a:rPr sz="1800" b="1" dirty="0">
                <a:latin typeface="Calibri"/>
                <a:cs typeface="Calibri"/>
              </a:rPr>
              <a:t>achieve</a:t>
            </a:r>
            <a:r>
              <a:rPr sz="1800" b="1" spc="-20" dirty="0">
                <a:latin typeface="Calibri"/>
                <a:cs typeface="Calibri"/>
              </a:rPr>
              <a:t> </a:t>
            </a:r>
            <a:r>
              <a:rPr sz="1800" b="1" dirty="0">
                <a:latin typeface="Calibri"/>
                <a:cs typeface="Calibri"/>
              </a:rPr>
              <a:t>their</a:t>
            </a:r>
            <a:r>
              <a:rPr sz="1800" b="1" spc="-55" dirty="0">
                <a:latin typeface="Calibri"/>
                <a:cs typeface="Calibri"/>
              </a:rPr>
              <a:t> </a:t>
            </a:r>
            <a:r>
              <a:rPr sz="1800" b="1" dirty="0">
                <a:latin typeface="Calibri"/>
                <a:cs typeface="Calibri"/>
              </a:rPr>
              <a:t>goal(s),</a:t>
            </a:r>
            <a:r>
              <a:rPr sz="1800" b="1" spc="-50" dirty="0">
                <a:latin typeface="Calibri"/>
                <a:cs typeface="Calibri"/>
              </a:rPr>
              <a:t> </a:t>
            </a:r>
            <a:r>
              <a:rPr sz="1800" b="1" dirty="0">
                <a:latin typeface="Calibri"/>
                <a:cs typeface="Calibri"/>
              </a:rPr>
              <a:t>possible</a:t>
            </a:r>
            <a:r>
              <a:rPr sz="1800" b="1" spc="-20" dirty="0">
                <a:latin typeface="Calibri"/>
                <a:cs typeface="Calibri"/>
              </a:rPr>
              <a:t> </a:t>
            </a:r>
            <a:r>
              <a:rPr sz="1800" b="1" dirty="0">
                <a:latin typeface="Calibri"/>
                <a:cs typeface="Calibri"/>
              </a:rPr>
              <a:t>sequence</a:t>
            </a:r>
            <a:r>
              <a:rPr sz="1800" b="1" spc="-20" dirty="0">
                <a:latin typeface="Calibri"/>
                <a:cs typeface="Calibri"/>
              </a:rPr>
              <a:t> </a:t>
            </a:r>
            <a:r>
              <a:rPr sz="1800" b="1" dirty="0">
                <a:latin typeface="Calibri"/>
                <a:cs typeface="Calibri"/>
              </a:rPr>
              <a:t>of</a:t>
            </a:r>
            <a:r>
              <a:rPr sz="1800" b="1" spc="-45" dirty="0">
                <a:latin typeface="Calibri"/>
                <a:cs typeface="Calibri"/>
              </a:rPr>
              <a:t> </a:t>
            </a:r>
            <a:r>
              <a:rPr sz="1800" b="1" spc="-10" dirty="0">
                <a:latin typeface="Calibri"/>
                <a:cs typeface="Calibri"/>
              </a:rPr>
              <a:t>steps.</a:t>
            </a:r>
            <a:endParaRPr sz="1800">
              <a:latin typeface="Calibri"/>
              <a:cs typeface="Calibri"/>
            </a:endParaRPr>
          </a:p>
          <a:p>
            <a:pPr marL="756285" lvl="1" indent="-286385">
              <a:lnSpc>
                <a:spcPct val="100000"/>
              </a:lnSpc>
              <a:spcBef>
                <a:spcPts val="430"/>
              </a:spcBef>
              <a:buFont typeface="Arial"/>
              <a:buChar char="–"/>
              <a:tabLst>
                <a:tab pos="756285" algn="l"/>
              </a:tabLst>
            </a:pPr>
            <a:r>
              <a:rPr sz="1800" b="1" spc="-10" dirty="0">
                <a:solidFill>
                  <a:srgbClr val="C0504D"/>
                </a:solidFill>
                <a:latin typeface="Calibri"/>
                <a:cs typeface="Calibri"/>
              </a:rPr>
              <a:t>Utility-</a:t>
            </a:r>
            <a:r>
              <a:rPr sz="1800" b="1" dirty="0">
                <a:solidFill>
                  <a:srgbClr val="C0504D"/>
                </a:solidFill>
                <a:latin typeface="Calibri"/>
                <a:cs typeface="Calibri"/>
              </a:rPr>
              <a:t>based</a:t>
            </a:r>
            <a:r>
              <a:rPr sz="1800" b="1" spc="-60" dirty="0">
                <a:solidFill>
                  <a:srgbClr val="C0504D"/>
                </a:solidFill>
                <a:latin typeface="Calibri"/>
                <a:cs typeface="Calibri"/>
              </a:rPr>
              <a:t> </a:t>
            </a:r>
            <a:r>
              <a:rPr sz="1800" b="1" dirty="0">
                <a:solidFill>
                  <a:srgbClr val="C0504D"/>
                </a:solidFill>
                <a:latin typeface="Calibri"/>
                <a:cs typeface="Calibri"/>
              </a:rPr>
              <a:t>agents</a:t>
            </a:r>
            <a:r>
              <a:rPr sz="1800" b="1" spc="-25" dirty="0">
                <a:solidFill>
                  <a:srgbClr val="C0504D"/>
                </a:solidFill>
                <a:latin typeface="Calibri"/>
                <a:cs typeface="Calibri"/>
              </a:rPr>
              <a:t> </a:t>
            </a:r>
            <a:r>
              <a:rPr sz="1800" b="1" dirty="0">
                <a:latin typeface="Calibri"/>
                <a:cs typeface="Calibri"/>
              </a:rPr>
              <a:t>maximize</a:t>
            </a:r>
            <a:r>
              <a:rPr sz="1800" b="1" spc="-30" dirty="0">
                <a:latin typeface="Calibri"/>
                <a:cs typeface="Calibri"/>
              </a:rPr>
              <a:t> </a:t>
            </a:r>
            <a:r>
              <a:rPr sz="1800" b="1" dirty="0">
                <a:latin typeface="Calibri"/>
                <a:cs typeface="Calibri"/>
              </a:rPr>
              <a:t>their</a:t>
            </a:r>
            <a:r>
              <a:rPr sz="1800" b="1" spc="-30" dirty="0">
                <a:latin typeface="Calibri"/>
                <a:cs typeface="Calibri"/>
              </a:rPr>
              <a:t> </a:t>
            </a:r>
            <a:r>
              <a:rPr sz="1800" b="1" dirty="0">
                <a:latin typeface="Calibri"/>
                <a:cs typeface="Calibri"/>
              </a:rPr>
              <a:t>own</a:t>
            </a:r>
            <a:r>
              <a:rPr sz="1800" b="1" spc="-20" dirty="0">
                <a:latin typeface="Calibri"/>
                <a:cs typeface="Calibri"/>
              </a:rPr>
              <a:t> </a:t>
            </a:r>
            <a:r>
              <a:rPr sz="1800" b="1" dirty="0">
                <a:latin typeface="Calibri"/>
                <a:cs typeface="Calibri"/>
              </a:rPr>
              <a:t>utility</a:t>
            </a:r>
            <a:r>
              <a:rPr sz="1800" b="1" spc="-25" dirty="0">
                <a:latin typeface="Calibri"/>
                <a:cs typeface="Calibri"/>
              </a:rPr>
              <a:t> </a:t>
            </a:r>
            <a:r>
              <a:rPr sz="1800" b="1" spc="-10" dirty="0">
                <a:latin typeface="Calibri"/>
                <a:cs typeface="Calibri"/>
              </a:rPr>
              <a:t>function.</a:t>
            </a:r>
            <a:endParaRPr sz="1800">
              <a:latin typeface="Calibri"/>
              <a:cs typeface="Calibri"/>
            </a:endParaRPr>
          </a:p>
          <a:p>
            <a:pPr marL="756285" lvl="1" indent="-286385">
              <a:lnSpc>
                <a:spcPct val="100000"/>
              </a:lnSpc>
              <a:spcBef>
                <a:spcPts val="434"/>
              </a:spcBef>
              <a:buFont typeface="Arial"/>
              <a:buChar char="–"/>
              <a:tabLst>
                <a:tab pos="756285" algn="l"/>
              </a:tabLst>
            </a:pPr>
            <a:r>
              <a:rPr sz="1800" b="1" dirty="0">
                <a:solidFill>
                  <a:srgbClr val="C0504D"/>
                </a:solidFill>
                <a:latin typeface="Calibri"/>
                <a:cs typeface="Calibri"/>
              </a:rPr>
              <a:t>Learning</a:t>
            </a:r>
            <a:r>
              <a:rPr sz="1800" b="1" spc="-60" dirty="0">
                <a:solidFill>
                  <a:srgbClr val="C0504D"/>
                </a:solidFill>
                <a:latin typeface="Calibri"/>
                <a:cs typeface="Calibri"/>
              </a:rPr>
              <a:t> </a:t>
            </a:r>
            <a:r>
              <a:rPr sz="1800" b="1" dirty="0">
                <a:solidFill>
                  <a:srgbClr val="C0504D"/>
                </a:solidFill>
                <a:latin typeface="Calibri"/>
                <a:cs typeface="Calibri"/>
              </a:rPr>
              <a:t>agents</a:t>
            </a:r>
            <a:r>
              <a:rPr sz="1800" b="1" spc="-55" dirty="0">
                <a:solidFill>
                  <a:srgbClr val="C0504D"/>
                </a:solidFill>
                <a:latin typeface="Calibri"/>
                <a:cs typeface="Calibri"/>
              </a:rPr>
              <a:t> </a:t>
            </a:r>
            <a:r>
              <a:rPr sz="1800" b="1" dirty="0">
                <a:latin typeface="Calibri"/>
                <a:cs typeface="Calibri"/>
              </a:rPr>
              <a:t>improve</a:t>
            </a:r>
            <a:r>
              <a:rPr sz="1800" b="1" spc="-75" dirty="0">
                <a:latin typeface="Calibri"/>
                <a:cs typeface="Calibri"/>
              </a:rPr>
              <a:t> </a:t>
            </a:r>
            <a:r>
              <a:rPr sz="1800" b="1" dirty="0">
                <a:latin typeface="Calibri"/>
                <a:cs typeface="Calibri"/>
              </a:rPr>
              <a:t>their</a:t>
            </a:r>
            <a:r>
              <a:rPr sz="1800" b="1" spc="-60" dirty="0">
                <a:latin typeface="Calibri"/>
                <a:cs typeface="Calibri"/>
              </a:rPr>
              <a:t> </a:t>
            </a:r>
            <a:r>
              <a:rPr sz="1800" b="1" dirty="0">
                <a:latin typeface="Calibri"/>
                <a:cs typeface="Calibri"/>
              </a:rPr>
              <a:t>performance</a:t>
            </a:r>
            <a:r>
              <a:rPr sz="1800" b="1" spc="-80" dirty="0">
                <a:latin typeface="Calibri"/>
                <a:cs typeface="Calibri"/>
              </a:rPr>
              <a:t> </a:t>
            </a:r>
            <a:r>
              <a:rPr sz="1800" b="1" dirty="0">
                <a:latin typeface="Calibri"/>
                <a:cs typeface="Calibri"/>
              </a:rPr>
              <a:t>through</a:t>
            </a:r>
            <a:r>
              <a:rPr sz="1800" b="1" spc="-50" dirty="0">
                <a:latin typeface="Calibri"/>
                <a:cs typeface="Calibri"/>
              </a:rPr>
              <a:t> </a:t>
            </a:r>
            <a:r>
              <a:rPr sz="1800" b="1" spc="-10" dirty="0">
                <a:latin typeface="Calibri"/>
                <a:cs typeface="Calibri"/>
              </a:rPr>
              <a:t>learning.</a:t>
            </a:r>
            <a:endParaRPr sz="1800">
              <a:latin typeface="Calibri"/>
              <a:cs typeface="Calibri"/>
            </a:endParaRPr>
          </a:p>
          <a:p>
            <a:pPr marL="354965" indent="-342265">
              <a:lnSpc>
                <a:spcPct val="100000"/>
              </a:lnSpc>
              <a:spcBef>
                <a:spcPts val="430"/>
              </a:spcBef>
              <a:buFont typeface="Arial"/>
              <a:buChar char="•"/>
              <a:tabLst>
                <a:tab pos="354965" algn="l"/>
              </a:tabLst>
            </a:pPr>
            <a:r>
              <a:rPr sz="1800" b="1" spc="-10" dirty="0">
                <a:solidFill>
                  <a:srgbClr val="C0504D"/>
                </a:solidFill>
                <a:latin typeface="Calibri"/>
                <a:cs typeface="Calibri"/>
              </a:rPr>
              <a:t>Representing</a:t>
            </a:r>
            <a:r>
              <a:rPr sz="1800" b="1" spc="-65" dirty="0">
                <a:solidFill>
                  <a:srgbClr val="C0504D"/>
                </a:solidFill>
                <a:latin typeface="Calibri"/>
                <a:cs typeface="Calibri"/>
              </a:rPr>
              <a:t> </a:t>
            </a:r>
            <a:r>
              <a:rPr sz="1800" b="1" dirty="0">
                <a:solidFill>
                  <a:srgbClr val="C0504D"/>
                </a:solidFill>
                <a:latin typeface="Calibri"/>
                <a:cs typeface="Calibri"/>
              </a:rPr>
              <a:t>knowledge</a:t>
            </a:r>
            <a:r>
              <a:rPr sz="1800" b="1" spc="-35" dirty="0">
                <a:solidFill>
                  <a:srgbClr val="C0504D"/>
                </a:solidFill>
                <a:latin typeface="Calibri"/>
                <a:cs typeface="Calibri"/>
              </a:rPr>
              <a:t> </a:t>
            </a:r>
            <a:r>
              <a:rPr sz="1800" b="1" dirty="0">
                <a:latin typeface="Calibri"/>
                <a:cs typeface="Calibri"/>
              </a:rPr>
              <a:t>is</a:t>
            </a:r>
            <a:r>
              <a:rPr sz="1800" b="1" spc="-60" dirty="0">
                <a:latin typeface="Calibri"/>
                <a:cs typeface="Calibri"/>
              </a:rPr>
              <a:t> </a:t>
            </a:r>
            <a:r>
              <a:rPr sz="1800" b="1" dirty="0">
                <a:latin typeface="Calibri"/>
                <a:cs typeface="Calibri"/>
              </a:rPr>
              <a:t>important</a:t>
            </a:r>
            <a:r>
              <a:rPr sz="1800" b="1" spc="-50" dirty="0">
                <a:latin typeface="Calibri"/>
                <a:cs typeface="Calibri"/>
              </a:rPr>
              <a:t> </a:t>
            </a:r>
            <a:r>
              <a:rPr sz="1800" b="1" dirty="0">
                <a:latin typeface="Calibri"/>
                <a:cs typeface="Calibri"/>
              </a:rPr>
              <a:t>for</a:t>
            </a:r>
            <a:r>
              <a:rPr sz="1800" b="1" spc="-30" dirty="0">
                <a:latin typeface="Calibri"/>
                <a:cs typeface="Calibri"/>
              </a:rPr>
              <a:t> </a:t>
            </a:r>
            <a:r>
              <a:rPr sz="1800" b="1" dirty="0">
                <a:latin typeface="Calibri"/>
                <a:cs typeface="Calibri"/>
              </a:rPr>
              <a:t>successful</a:t>
            </a:r>
            <a:r>
              <a:rPr sz="1800" b="1" spc="-60" dirty="0">
                <a:latin typeface="Calibri"/>
                <a:cs typeface="Calibri"/>
              </a:rPr>
              <a:t> </a:t>
            </a:r>
            <a:r>
              <a:rPr sz="1800" b="1" dirty="0">
                <a:latin typeface="Calibri"/>
                <a:cs typeface="Calibri"/>
              </a:rPr>
              <a:t>agent</a:t>
            </a:r>
            <a:r>
              <a:rPr sz="1800" b="1" spc="-40" dirty="0">
                <a:latin typeface="Calibri"/>
                <a:cs typeface="Calibri"/>
              </a:rPr>
              <a:t> </a:t>
            </a:r>
            <a:r>
              <a:rPr sz="1800" b="1" spc="-10" dirty="0">
                <a:latin typeface="Calibri"/>
                <a:cs typeface="Calibri"/>
              </a:rPr>
              <a:t>design.</a:t>
            </a:r>
            <a:endParaRPr sz="1800">
              <a:latin typeface="Calibri"/>
              <a:cs typeface="Calibri"/>
            </a:endParaRPr>
          </a:p>
          <a:p>
            <a:pPr marL="12700">
              <a:lnSpc>
                <a:spcPct val="100000"/>
              </a:lnSpc>
              <a:spcBef>
                <a:spcPts val="430"/>
              </a:spcBef>
            </a:pPr>
            <a:r>
              <a:rPr sz="1800" spc="-50" dirty="0">
                <a:latin typeface="Arial"/>
                <a:cs typeface="Arial"/>
              </a:rPr>
              <a:t>•</a:t>
            </a:r>
            <a:endParaRPr sz="1800">
              <a:latin typeface="Arial"/>
              <a:cs typeface="Arial"/>
            </a:endParaRPr>
          </a:p>
          <a:p>
            <a:pPr marL="354965" marR="473075" indent="-342900">
              <a:lnSpc>
                <a:spcPct val="100000"/>
              </a:lnSpc>
              <a:spcBef>
                <a:spcPts val="434"/>
              </a:spcBef>
              <a:buFont typeface="Arial"/>
              <a:buChar char="•"/>
              <a:tabLst>
                <a:tab pos="354965" algn="l"/>
              </a:tabLst>
            </a:pPr>
            <a:r>
              <a:rPr sz="1800" b="1" dirty="0">
                <a:latin typeface="Calibri"/>
                <a:cs typeface="Calibri"/>
              </a:rPr>
              <a:t>The</a:t>
            </a:r>
            <a:r>
              <a:rPr sz="1800" b="1" spc="-20" dirty="0">
                <a:latin typeface="Calibri"/>
                <a:cs typeface="Calibri"/>
              </a:rPr>
              <a:t> </a:t>
            </a:r>
            <a:r>
              <a:rPr sz="1800" b="1" dirty="0">
                <a:latin typeface="Calibri"/>
                <a:cs typeface="Calibri"/>
              </a:rPr>
              <a:t>most</a:t>
            </a:r>
            <a:r>
              <a:rPr sz="1800" b="1" spc="-25" dirty="0">
                <a:latin typeface="Calibri"/>
                <a:cs typeface="Calibri"/>
              </a:rPr>
              <a:t> </a:t>
            </a:r>
            <a:r>
              <a:rPr sz="1800" b="1" dirty="0">
                <a:latin typeface="Calibri"/>
                <a:cs typeface="Calibri"/>
              </a:rPr>
              <a:t>challenging</a:t>
            </a:r>
            <a:r>
              <a:rPr sz="1800" b="1" spc="-50" dirty="0">
                <a:latin typeface="Calibri"/>
                <a:cs typeface="Calibri"/>
              </a:rPr>
              <a:t> </a:t>
            </a:r>
            <a:r>
              <a:rPr sz="1800" b="1" spc="-10" dirty="0">
                <a:latin typeface="Calibri"/>
                <a:cs typeface="Calibri"/>
              </a:rPr>
              <a:t>environments</a:t>
            </a:r>
            <a:r>
              <a:rPr sz="1800" b="1" spc="-45" dirty="0">
                <a:latin typeface="Calibri"/>
                <a:cs typeface="Calibri"/>
              </a:rPr>
              <a:t> </a:t>
            </a:r>
            <a:r>
              <a:rPr sz="1800" b="1" dirty="0">
                <a:latin typeface="Calibri"/>
                <a:cs typeface="Calibri"/>
              </a:rPr>
              <a:t>are</a:t>
            </a:r>
            <a:r>
              <a:rPr sz="1800" b="1" spc="-10" dirty="0">
                <a:latin typeface="Calibri"/>
                <a:cs typeface="Calibri"/>
              </a:rPr>
              <a:t> </a:t>
            </a:r>
            <a:r>
              <a:rPr sz="1800" b="1" dirty="0">
                <a:solidFill>
                  <a:srgbClr val="C0504D"/>
                </a:solidFill>
                <a:latin typeface="Calibri"/>
                <a:cs typeface="Calibri"/>
              </a:rPr>
              <a:t>partially</a:t>
            </a:r>
            <a:r>
              <a:rPr sz="1800" b="1" spc="-40" dirty="0">
                <a:solidFill>
                  <a:srgbClr val="C0504D"/>
                </a:solidFill>
                <a:latin typeface="Calibri"/>
                <a:cs typeface="Calibri"/>
              </a:rPr>
              <a:t> </a:t>
            </a:r>
            <a:r>
              <a:rPr sz="1800" b="1" dirty="0">
                <a:solidFill>
                  <a:srgbClr val="C0504D"/>
                </a:solidFill>
                <a:latin typeface="Calibri"/>
                <a:cs typeface="Calibri"/>
              </a:rPr>
              <a:t>observable,</a:t>
            </a:r>
            <a:r>
              <a:rPr sz="1800" b="1" spc="-45" dirty="0">
                <a:solidFill>
                  <a:srgbClr val="C0504D"/>
                </a:solidFill>
                <a:latin typeface="Calibri"/>
                <a:cs typeface="Calibri"/>
              </a:rPr>
              <a:t> </a:t>
            </a:r>
            <a:r>
              <a:rPr sz="1800" b="1" spc="-10" dirty="0">
                <a:solidFill>
                  <a:srgbClr val="C0504D"/>
                </a:solidFill>
                <a:latin typeface="Calibri"/>
                <a:cs typeface="Calibri"/>
              </a:rPr>
              <a:t>stochastic,</a:t>
            </a:r>
            <a:r>
              <a:rPr sz="1800" b="1" spc="-45" dirty="0">
                <a:solidFill>
                  <a:srgbClr val="C0504D"/>
                </a:solidFill>
                <a:latin typeface="Calibri"/>
                <a:cs typeface="Calibri"/>
              </a:rPr>
              <a:t> </a:t>
            </a:r>
            <a:r>
              <a:rPr sz="1800" b="1" spc="-10" dirty="0">
                <a:solidFill>
                  <a:srgbClr val="C0504D"/>
                </a:solidFill>
                <a:latin typeface="Calibri"/>
                <a:cs typeface="Calibri"/>
              </a:rPr>
              <a:t>sequential, </a:t>
            </a:r>
            <a:r>
              <a:rPr sz="1800" b="1" dirty="0">
                <a:solidFill>
                  <a:srgbClr val="C0504D"/>
                </a:solidFill>
                <a:latin typeface="Calibri"/>
                <a:cs typeface="Calibri"/>
              </a:rPr>
              <a:t>dynamic,</a:t>
            </a:r>
            <a:r>
              <a:rPr sz="1800" b="1" spc="-50" dirty="0">
                <a:solidFill>
                  <a:srgbClr val="C0504D"/>
                </a:solidFill>
                <a:latin typeface="Calibri"/>
                <a:cs typeface="Calibri"/>
              </a:rPr>
              <a:t> </a:t>
            </a:r>
            <a:r>
              <a:rPr sz="1800" b="1" dirty="0">
                <a:latin typeface="Calibri"/>
                <a:cs typeface="Calibri"/>
              </a:rPr>
              <a:t>and</a:t>
            </a:r>
            <a:r>
              <a:rPr sz="1800" b="1" spc="-25" dirty="0">
                <a:latin typeface="Calibri"/>
                <a:cs typeface="Calibri"/>
              </a:rPr>
              <a:t> </a:t>
            </a:r>
            <a:r>
              <a:rPr sz="1800" b="1" dirty="0">
                <a:solidFill>
                  <a:srgbClr val="C0504D"/>
                </a:solidFill>
                <a:latin typeface="Calibri"/>
                <a:cs typeface="Calibri"/>
              </a:rPr>
              <a:t>continuous,</a:t>
            </a:r>
            <a:r>
              <a:rPr sz="1800" b="1" spc="-50" dirty="0">
                <a:solidFill>
                  <a:srgbClr val="C0504D"/>
                </a:solidFill>
                <a:latin typeface="Calibri"/>
                <a:cs typeface="Calibri"/>
              </a:rPr>
              <a:t> </a:t>
            </a:r>
            <a:r>
              <a:rPr sz="1800" b="1" dirty="0">
                <a:latin typeface="Calibri"/>
                <a:cs typeface="Calibri"/>
              </a:rPr>
              <a:t>and</a:t>
            </a:r>
            <a:r>
              <a:rPr sz="1800" b="1" spc="-25" dirty="0">
                <a:latin typeface="Calibri"/>
                <a:cs typeface="Calibri"/>
              </a:rPr>
              <a:t> </a:t>
            </a:r>
            <a:r>
              <a:rPr sz="1800" b="1" dirty="0">
                <a:latin typeface="Calibri"/>
                <a:cs typeface="Calibri"/>
              </a:rPr>
              <a:t>contain</a:t>
            </a:r>
            <a:r>
              <a:rPr sz="1800" b="1" spc="-55" dirty="0">
                <a:latin typeface="Calibri"/>
                <a:cs typeface="Calibri"/>
              </a:rPr>
              <a:t> </a:t>
            </a:r>
            <a:r>
              <a:rPr sz="1800" b="1" dirty="0">
                <a:solidFill>
                  <a:srgbClr val="C0504D"/>
                </a:solidFill>
                <a:latin typeface="Calibri"/>
                <a:cs typeface="Calibri"/>
              </a:rPr>
              <a:t>multiple</a:t>
            </a:r>
            <a:r>
              <a:rPr sz="1800" b="1" spc="-60" dirty="0">
                <a:solidFill>
                  <a:srgbClr val="C0504D"/>
                </a:solidFill>
                <a:latin typeface="Calibri"/>
                <a:cs typeface="Calibri"/>
              </a:rPr>
              <a:t> </a:t>
            </a:r>
            <a:r>
              <a:rPr sz="1800" b="1" spc="-10" dirty="0">
                <a:solidFill>
                  <a:srgbClr val="C0504D"/>
                </a:solidFill>
                <a:latin typeface="Calibri"/>
                <a:cs typeface="Calibri"/>
              </a:rPr>
              <a:t>intelligent</a:t>
            </a:r>
            <a:r>
              <a:rPr sz="1800" b="1" spc="-40" dirty="0">
                <a:solidFill>
                  <a:srgbClr val="C0504D"/>
                </a:solidFill>
                <a:latin typeface="Calibri"/>
                <a:cs typeface="Calibri"/>
              </a:rPr>
              <a:t> </a:t>
            </a:r>
            <a:r>
              <a:rPr sz="1800" b="1" spc="-10" dirty="0">
                <a:solidFill>
                  <a:srgbClr val="C0504D"/>
                </a:solidFill>
                <a:latin typeface="Calibri"/>
                <a:cs typeface="Calibri"/>
              </a:rPr>
              <a:t>agents.</a:t>
            </a:r>
            <a:endParaRPr sz="18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383A-C957-BAF0-DE85-60373B07194B}"/>
            </a:ext>
          </a:extLst>
        </p:cNvPr>
        <p:cNvGrpSpPr/>
        <p:nvPr/>
      </p:nvGrpSpPr>
      <p:grpSpPr>
        <a:xfrm>
          <a:off x="0" y="0"/>
          <a:ext cx="0" cy="0"/>
          <a:chOff x="0" y="0"/>
          <a:chExt cx="0" cy="0"/>
        </a:xfrm>
      </p:grpSpPr>
      <p:sp>
        <p:nvSpPr>
          <p:cNvPr id="1309698" name="Rectangle 2">
            <a:extLst>
              <a:ext uri="{FF2B5EF4-FFF2-40B4-BE49-F238E27FC236}">
                <a16:creationId xmlns:a16="http://schemas.microsoft.com/office/drawing/2014/main" id="{5B88123C-8028-6CE7-B54D-6AE95C63AB2F}"/>
              </a:ext>
            </a:extLst>
          </p:cNvPr>
          <p:cNvSpPr>
            <a:spLocks noGrp="1" noChangeArrowheads="1"/>
          </p:cNvSpPr>
          <p:nvPr>
            <p:ph type="title"/>
          </p:nvPr>
        </p:nvSpPr>
        <p:spPr>
          <a:xfrm>
            <a:off x="1524000" y="152400"/>
            <a:ext cx="2743200" cy="430887"/>
          </a:xfrm>
        </p:spPr>
        <p:txBody>
          <a:bodyPr/>
          <a:lstStyle/>
          <a:p>
            <a:pPr marL="12700" eaLnBrk="1" hangingPunct="1">
              <a:spcBef>
                <a:spcPts val="95"/>
              </a:spcBef>
              <a:defRPr/>
            </a:pPr>
            <a:r>
              <a:rPr lang="en-US" sz="2800" spc="-10" dirty="0"/>
              <a:t>Summary</a:t>
            </a:r>
          </a:p>
        </p:txBody>
      </p:sp>
      <p:sp>
        <p:nvSpPr>
          <p:cNvPr id="1309699" name="Rectangle 3">
            <a:extLst>
              <a:ext uri="{FF2B5EF4-FFF2-40B4-BE49-F238E27FC236}">
                <a16:creationId xmlns:a16="http://schemas.microsoft.com/office/drawing/2014/main" id="{0069E4BF-9DC5-565A-04B2-2302550336E3}"/>
              </a:ext>
            </a:extLst>
          </p:cNvPr>
          <p:cNvSpPr>
            <a:spLocks noGrp="1" noChangeArrowheads="1"/>
          </p:cNvSpPr>
          <p:nvPr>
            <p:ph type="body" idx="1"/>
          </p:nvPr>
        </p:nvSpPr>
        <p:spPr>
          <a:xfrm>
            <a:off x="76200" y="990600"/>
            <a:ext cx="8991600" cy="4431983"/>
          </a:xfrm>
        </p:spPr>
        <p:txBody>
          <a:bodyPr/>
          <a:lstStyle/>
          <a:p>
            <a:pPr eaLnBrk="1" hangingPunct="1">
              <a:defRPr/>
            </a:pPr>
            <a:r>
              <a:rPr lang="en-US" sz="1800" b="1" dirty="0">
                <a:cs typeface="+mn-cs"/>
              </a:rPr>
              <a:t>An </a:t>
            </a:r>
            <a:r>
              <a:rPr lang="en-US" sz="1800" b="1" dirty="0">
                <a:solidFill>
                  <a:schemeClr val="accent2"/>
                </a:solidFill>
                <a:cs typeface="+mn-cs"/>
              </a:rPr>
              <a:t>agent</a:t>
            </a:r>
            <a:r>
              <a:rPr lang="en-US" sz="1800" b="1" dirty="0">
                <a:cs typeface="+mn-cs"/>
              </a:rPr>
              <a:t> perceives and acts in an environment, has an architecture, and is implemented by an agent program. </a:t>
            </a:r>
          </a:p>
          <a:p>
            <a:pPr eaLnBrk="1" hangingPunct="1">
              <a:defRPr/>
            </a:pPr>
            <a:r>
              <a:rPr lang="en-US" sz="1800" b="1" dirty="0">
                <a:cs typeface="+mn-cs"/>
              </a:rPr>
              <a:t>A </a:t>
            </a:r>
            <a:r>
              <a:rPr lang="en-US" sz="1800" b="1" dirty="0">
                <a:solidFill>
                  <a:schemeClr val="accent2"/>
                </a:solidFill>
                <a:cs typeface="+mn-cs"/>
              </a:rPr>
              <a:t>rational agent</a:t>
            </a:r>
            <a:r>
              <a:rPr lang="en-US" sz="1800" b="1" dirty="0">
                <a:cs typeface="+mn-cs"/>
              </a:rPr>
              <a:t> always chooses the action which </a:t>
            </a:r>
            <a:r>
              <a:rPr lang="en-US" sz="1800" b="1" dirty="0">
                <a:solidFill>
                  <a:srgbClr val="FF0000"/>
                </a:solidFill>
                <a:cs typeface="+mn-cs"/>
              </a:rPr>
              <a:t>maximizes its expected performance</a:t>
            </a:r>
            <a:r>
              <a:rPr lang="en-US" sz="1800" b="1" dirty="0">
                <a:cs typeface="+mn-cs"/>
              </a:rPr>
              <a:t>, given its percept sequence so far.</a:t>
            </a:r>
          </a:p>
          <a:p>
            <a:pPr eaLnBrk="1" hangingPunct="1">
              <a:defRPr/>
            </a:pPr>
            <a:r>
              <a:rPr lang="en-US" sz="1800" b="1" dirty="0">
                <a:cs typeface="+mn-cs"/>
              </a:rPr>
              <a:t>An </a:t>
            </a:r>
            <a:r>
              <a:rPr lang="en-US" sz="1800" b="1" dirty="0">
                <a:solidFill>
                  <a:schemeClr val="accent2"/>
                </a:solidFill>
                <a:cs typeface="+mn-cs"/>
              </a:rPr>
              <a:t>autonomous agent</a:t>
            </a:r>
            <a:r>
              <a:rPr lang="en-US" sz="1800" b="1" dirty="0">
                <a:cs typeface="+mn-cs"/>
              </a:rPr>
              <a:t> uses its own experience rather than built-in knowledge of the environment by the designer. </a:t>
            </a:r>
          </a:p>
          <a:p>
            <a:pPr eaLnBrk="1" hangingPunct="1">
              <a:defRPr/>
            </a:pPr>
            <a:r>
              <a:rPr lang="en-US" sz="1800" b="1" dirty="0">
                <a:cs typeface="+mn-cs"/>
              </a:rPr>
              <a:t>An </a:t>
            </a:r>
            <a:r>
              <a:rPr lang="en-US" sz="1800" b="1" dirty="0">
                <a:solidFill>
                  <a:schemeClr val="accent2"/>
                </a:solidFill>
                <a:cs typeface="+mn-cs"/>
              </a:rPr>
              <a:t>agent program</a:t>
            </a:r>
            <a:r>
              <a:rPr lang="en-US" sz="1800" b="1" dirty="0">
                <a:cs typeface="+mn-cs"/>
              </a:rPr>
              <a:t> maps from percept to action and updates its internal state. </a:t>
            </a:r>
          </a:p>
          <a:p>
            <a:pPr lvl="1" eaLnBrk="1" hangingPunct="1">
              <a:defRPr/>
            </a:pPr>
            <a:r>
              <a:rPr lang="en-US" sz="1800" b="1" dirty="0">
                <a:solidFill>
                  <a:schemeClr val="accent2"/>
                </a:solidFill>
              </a:rPr>
              <a:t>Reflex agents</a:t>
            </a:r>
            <a:r>
              <a:rPr lang="en-US" sz="1800" b="1" dirty="0"/>
              <a:t> </a:t>
            </a:r>
            <a:r>
              <a:rPr lang="en-US" sz="1800" b="1" dirty="0">
                <a:solidFill>
                  <a:schemeClr val="accent2"/>
                </a:solidFill>
              </a:rPr>
              <a:t>(simple / model-based) </a:t>
            </a:r>
            <a:r>
              <a:rPr lang="en-US" sz="1800" b="1" dirty="0"/>
              <a:t>respond immediately to percepts. </a:t>
            </a:r>
          </a:p>
          <a:p>
            <a:pPr lvl="1" eaLnBrk="1" hangingPunct="1">
              <a:defRPr/>
            </a:pPr>
            <a:r>
              <a:rPr lang="en-US" sz="1800" b="1" dirty="0">
                <a:solidFill>
                  <a:schemeClr val="accent2"/>
                </a:solidFill>
              </a:rPr>
              <a:t>Goal-based agents</a:t>
            </a:r>
            <a:r>
              <a:rPr lang="en-US" sz="1800" b="1" dirty="0"/>
              <a:t> act in order to achieve their goal(s), possible sequence of steps. </a:t>
            </a:r>
          </a:p>
          <a:p>
            <a:pPr lvl="1" eaLnBrk="1" hangingPunct="1">
              <a:defRPr/>
            </a:pPr>
            <a:r>
              <a:rPr lang="en-US" sz="1800" b="1" dirty="0">
                <a:solidFill>
                  <a:schemeClr val="accent2"/>
                </a:solidFill>
              </a:rPr>
              <a:t>Utility-based agents</a:t>
            </a:r>
            <a:r>
              <a:rPr lang="en-US" sz="1800" b="1" dirty="0"/>
              <a:t> maximize their own utility function. </a:t>
            </a:r>
          </a:p>
          <a:p>
            <a:pPr lvl="1" eaLnBrk="1" hangingPunct="1">
              <a:defRPr/>
            </a:pPr>
            <a:r>
              <a:rPr lang="en-US" sz="1800" b="1" dirty="0">
                <a:solidFill>
                  <a:schemeClr val="accent2"/>
                </a:solidFill>
              </a:rPr>
              <a:t>Learning agents</a:t>
            </a:r>
            <a:r>
              <a:rPr lang="en-US" sz="1800" b="1" dirty="0"/>
              <a:t> improve their performance through learning.</a:t>
            </a:r>
          </a:p>
          <a:p>
            <a:pPr eaLnBrk="1" hangingPunct="1">
              <a:defRPr/>
            </a:pPr>
            <a:r>
              <a:rPr lang="en-US" sz="1800" b="1" dirty="0">
                <a:solidFill>
                  <a:schemeClr val="accent2"/>
                </a:solidFill>
                <a:cs typeface="+mn-cs"/>
              </a:rPr>
              <a:t>Representing knowledge</a:t>
            </a:r>
            <a:r>
              <a:rPr lang="en-US" sz="1800" b="1" dirty="0">
                <a:cs typeface="+mn-cs"/>
              </a:rPr>
              <a:t> is important for successful agent design.</a:t>
            </a:r>
          </a:p>
          <a:p>
            <a:pPr eaLnBrk="1" hangingPunct="1">
              <a:defRPr/>
            </a:pPr>
            <a:r>
              <a:rPr lang="en-US" sz="1800" b="1" dirty="0">
                <a:cs typeface="+mn-cs"/>
              </a:rPr>
              <a:t> </a:t>
            </a:r>
          </a:p>
          <a:p>
            <a:pPr eaLnBrk="1" hangingPunct="1">
              <a:defRPr/>
            </a:pPr>
            <a:r>
              <a:rPr lang="en-US" sz="1800" b="1" dirty="0">
                <a:cs typeface="+mn-cs"/>
              </a:rPr>
              <a:t>The most challenging environments are </a:t>
            </a:r>
            <a:r>
              <a:rPr lang="en-US" sz="1800" b="1" dirty="0">
                <a:solidFill>
                  <a:schemeClr val="accent2"/>
                </a:solidFill>
                <a:cs typeface="+mn-cs"/>
              </a:rPr>
              <a:t>partially observable, stochastic, sequential, dynamic, </a:t>
            </a:r>
            <a:r>
              <a:rPr lang="en-US" sz="1800" b="1" dirty="0">
                <a:cs typeface="+mn-cs"/>
              </a:rPr>
              <a:t>and</a:t>
            </a:r>
            <a:r>
              <a:rPr lang="en-US" sz="1800" b="1" dirty="0">
                <a:solidFill>
                  <a:schemeClr val="accent2"/>
                </a:solidFill>
                <a:cs typeface="+mn-cs"/>
              </a:rPr>
              <a:t> continuous, </a:t>
            </a:r>
            <a:r>
              <a:rPr lang="en-US" sz="1800" b="1" dirty="0">
                <a:cs typeface="+mn-cs"/>
              </a:rPr>
              <a:t>and contain</a:t>
            </a:r>
            <a:r>
              <a:rPr lang="en-US" sz="1800" b="1" dirty="0">
                <a:solidFill>
                  <a:schemeClr val="accent2"/>
                </a:solidFill>
                <a:cs typeface="+mn-cs"/>
              </a:rPr>
              <a:t> multiple intelligent agents.</a:t>
            </a:r>
          </a:p>
          <a:p>
            <a:pPr eaLnBrk="1" hangingPunct="1">
              <a:defRPr/>
            </a:pPr>
            <a:endParaRPr lang="en-US" sz="1800" b="1" dirty="0">
              <a:solidFill>
                <a:schemeClr val="accent2"/>
              </a:solidFill>
              <a:cs typeface="+mn-cs"/>
            </a:endParaRPr>
          </a:p>
        </p:txBody>
      </p:sp>
    </p:spTree>
    <p:extLst>
      <p:ext uri="{BB962C8B-B14F-4D97-AF65-F5344CB8AC3E}">
        <p14:creationId xmlns:p14="http://schemas.microsoft.com/office/powerpoint/2010/main" val="293631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9699">
                                            <p:txEl>
                                              <p:pRg st="0" end="0"/>
                                            </p:txEl>
                                          </p:spTgt>
                                        </p:tgtEl>
                                        <p:attrNameLst>
                                          <p:attrName>style.visibility</p:attrName>
                                        </p:attrNameLst>
                                      </p:cBhvr>
                                      <p:to>
                                        <p:strVal val="visible"/>
                                      </p:to>
                                    </p:set>
                                    <p:anim calcmode="lin" valueType="num">
                                      <p:cBhvr additive="base">
                                        <p:cTn id="7" dur="500" fill="hold"/>
                                        <p:tgtEl>
                                          <p:spTgt spid="130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0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09699">
                                            <p:txEl>
                                              <p:pRg st="1" end="1"/>
                                            </p:txEl>
                                          </p:spTgt>
                                        </p:tgtEl>
                                        <p:attrNameLst>
                                          <p:attrName>style.visibility</p:attrName>
                                        </p:attrNameLst>
                                      </p:cBhvr>
                                      <p:to>
                                        <p:strVal val="visible"/>
                                      </p:to>
                                    </p:set>
                                    <p:anim calcmode="lin" valueType="num">
                                      <p:cBhvr additive="base">
                                        <p:cTn id="13" dur="500" fill="hold"/>
                                        <p:tgtEl>
                                          <p:spTgt spid="130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0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09699">
                                            <p:txEl>
                                              <p:pRg st="2" end="2"/>
                                            </p:txEl>
                                          </p:spTgt>
                                        </p:tgtEl>
                                        <p:attrNameLst>
                                          <p:attrName>style.visibility</p:attrName>
                                        </p:attrNameLst>
                                      </p:cBhvr>
                                      <p:to>
                                        <p:strVal val="visible"/>
                                      </p:to>
                                    </p:set>
                                    <p:anim calcmode="lin" valueType="num">
                                      <p:cBhvr additive="base">
                                        <p:cTn id="19" dur="500" fill="hold"/>
                                        <p:tgtEl>
                                          <p:spTgt spid="1309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0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09699">
                                            <p:txEl>
                                              <p:pRg st="3" end="3"/>
                                            </p:txEl>
                                          </p:spTgt>
                                        </p:tgtEl>
                                        <p:attrNameLst>
                                          <p:attrName>style.visibility</p:attrName>
                                        </p:attrNameLst>
                                      </p:cBhvr>
                                      <p:to>
                                        <p:strVal val="visible"/>
                                      </p:to>
                                    </p:set>
                                    <p:anim calcmode="lin" valueType="num">
                                      <p:cBhvr additive="base">
                                        <p:cTn id="25" dur="500" fill="hold"/>
                                        <p:tgtEl>
                                          <p:spTgt spid="1309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09699">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09699">
                                            <p:txEl>
                                              <p:pRg st="4" end="4"/>
                                            </p:txEl>
                                          </p:spTgt>
                                        </p:tgtEl>
                                        <p:attrNameLst>
                                          <p:attrName>style.visibility</p:attrName>
                                        </p:attrNameLst>
                                      </p:cBhvr>
                                      <p:to>
                                        <p:strVal val="visible"/>
                                      </p:to>
                                    </p:set>
                                    <p:anim calcmode="lin" valueType="num">
                                      <p:cBhvr additive="base">
                                        <p:cTn id="29" dur="500" fill="hold"/>
                                        <p:tgtEl>
                                          <p:spTgt spid="130969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09699">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309699">
                                            <p:txEl>
                                              <p:pRg st="5" end="5"/>
                                            </p:txEl>
                                          </p:spTgt>
                                        </p:tgtEl>
                                        <p:attrNameLst>
                                          <p:attrName>style.visibility</p:attrName>
                                        </p:attrNameLst>
                                      </p:cBhvr>
                                      <p:to>
                                        <p:strVal val="visible"/>
                                      </p:to>
                                    </p:set>
                                    <p:anim calcmode="lin" valueType="num">
                                      <p:cBhvr additive="base">
                                        <p:cTn id="33" dur="500" fill="hold"/>
                                        <p:tgtEl>
                                          <p:spTgt spid="130969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09699">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09699">
                                            <p:txEl>
                                              <p:pRg st="6" end="6"/>
                                            </p:txEl>
                                          </p:spTgt>
                                        </p:tgtEl>
                                        <p:attrNameLst>
                                          <p:attrName>style.visibility</p:attrName>
                                        </p:attrNameLst>
                                      </p:cBhvr>
                                      <p:to>
                                        <p:strVal val="visible"/>
                                      </p:to>
                                    </p:set>
                                    <p:anim calcmode="lin" valueType="num">
                                      <p:cBhvr additive="base">
                                        <p:cTn id="37" dur="500" fill="hold"/>
                                        <p:tgtEl>
                                          <p:spTgt spid="130969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09699">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309699">
                                            <p:txEl>
                                              <p:pRg st="7" end="7"/>
                                            </p:txEl>
                                          </p:spTgt>
                                        </p:tgtEl>
                                        <p:attrNameLst>
                                          <p:attrName>style.visibility</p:attrName>
                                        </p:attrNameLst>
                                      </p:cBhvr>
                                      <p:to>
                                        <p:strVal val="visible"/>
                                      </p:to>
                                    </p:set>
                                    <p:anim calcmode="lin" valueType="num">
                                      <p:cBhvr additive="base">
                                        <p:cTn id="41" dur="500" fill="hold"/>
                                        <p:tgtEl>
                                          <p:spTgt spid="130969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0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309699">
                                            <p:txEl>
                                              <p:pRg st="8" end="8"/>
                                            </p:txEl>
                                          </p:spTgt>
                                        </p:tgtEl>
                                        <p:attrNameLst>
                                          <p:attrName>style.visibility</p:attrName>
                                        </p:attrNameLst>
                                      </p:cBhvr>
                                      <p:to>
                                        <p:strVal val="visible"/>
                                      </p:to>
                                    </p:set>
                                    <p:anim calcmode="lin" valueType="num">
                                      <p:cBhvr additive="base">
                                        <p:cTn id="47" dur="500" fill="hold"/>
                                        <p:tgtEl>
                                          <p:spTgt spid="1309699">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0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309699">
                                            <p:txEl>
                                              <p:pRg st="9" end="9"/>
                                            </p:txEl>
                                          </p:spTgt>
                                        </p:tgtEl>
                                        <p:attrNameLst>
                                          <p:attrName>style.visibility</p:attrName>
                                        </p:attrNameLst>
                                      </p:cBhvr>
                                      <p:to>
                                        <p:strVal val="visible"/>
                                      </p:to>
                                    </p:set>
                                    <p:anim calcmode="lin" valueType="num">
                                      <p:cBhvr additive="base">
                                        <p:cTn id="53" dur="500" fill="hold"/>
                                        <p:tgtEl>
                                          <p:spTgt spid="1309699">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30969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309699">
                                            <p:txEl>
                                              <p:pRg st="10" end="10"/>
                                            </p:txEl>
                                          </p:spTgt>
                                        </p:tgtEl>
                                        <p:attrNameLst>
                                          <p:attrName>style.visibility</p:attrName>
                                        </p:attrNameLst>
                                      </p:cBhvr>
                                      <p:to>
                                        <p:strVal val="visible"/>
                                      </p:to>
                                    </p:set>
                                    <p:anim calcmode="lin" valueType="num">
                                      <p:cBhvr additive="base">
                                        <p:cTn id="59" dur="500" fill="hold"/>
                                        <p:tgtEl>
                                          <p:spTgt spid="1309699">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30969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23" y="0"/>
            <a:ext cx="9142475" cy="6857999"/>
          </a:xfrm>
          <a:prstGeom prst="rect">
            <a:avLst/>
          </a:prstGeom>
        </p:spPr>
      </p:pic>
      <p:sp>
        <p:nvSpPr>
          <p:cNvPr id="3" name="object 3"/>
          <p:cNvSpPr txBox="1">
            <a:spLocks noGrp="1"/>
          </p:cNvSpPr>
          <p:nvPr>
            <p:ph type="title"/>
          </p:nvPr>
        </p:nvSpPr>
        <p:spPr>
          <a:xfrm>
            <a:off x="3027584" y="1411541"/>
            <a:ext cx="2536190"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FFFF"/>
                </a:solidFill>
                <a:latin typeface="Trebuchet MS"/>
                <a:cs typeface="Trebuchet MS"/>
              </a:rPr>
              <a:t>THANK</a:t>
            </a:r>
            <a:r>
              <a:rPr sz="3600" b="1" spc="-100" dirty="0">
                <a:solidFill>
                  <a:srgbClr val="FFFFFF"/>
                </a:solidFill>
                <a:latin typeface="Trebuchet MS"/>
                <a:cs typeface="Trebuchet MS"/>
              </a:rPr>
              <a:t> </a:t>
            </a:r>
            <a:r>
              <a:rPr sz="3600" b="1" spc="-25" dirty="0">
                <a:solidFill>
                  <a:srgbClr val="FFFFFF"/>
                </a:solidFill>
                <a:latin typeface="Trebuchet MS"/>
                <a:cs typeface="Trebuchet MS"/>
              </a:rPr>
              <a:t>YOU</a:t>
            </a:r>
            <a:endParaRPr sz="36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837</TotalTime>
  <Words>4254</Words>
  <Application>Microsoft Office PowerPoint</Application>
  <PresentationFormat>On-screen Show (4:3)</PresentationFormat>
  <Paragraphs>456</Paragraphs>
  <Slides>64</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宋体</vt:lpstr>
      <vt:lpstr>Arial</vt:lpstr>
      <vt:lpstr>Calibri</vt:lpstr>
      <vt:lpstr>Comic Sans MS</vt:lpstr>
      <vt:lpstr>Symbol</vt:lpstr>
      <vt:lpstr>Times New Roman</vt:lpstr>
      <vt:lpstr>Trebuchet MS</vt:lpstr>
      <vt:lpstr>Wingdings</vt:lpstr>
      <vt:lpstr>Office Theme</vt:lpstr>
      <vt:lpstr>PowerPoint Presentation</vt:lpstr>
      <vt:lpstr>Intelligent Agents  21 February 2026</vt:lpstr>
      <vt:lpstr>Course Outline</vt:lpstr>
      <vt:lpstr> Assessments (Continuous)</vt:lpstr>
      <vt:lpstr>Intelligent Agents</vt:lpstr>
      <vt:lpstr>What is an Agent?</vt:lpstr>
      <vt:lpstr>Agents</vt:lpstr>
      <vt:lpstr>Intelligent Agents</vt:lpstr>
      <vt:lpstr>Intelligent Agents</vt:lpstr>
      <vt:lpstr>Dear child gets many names…</vt:lpstr>
      <vt:lpstr>Other Properties</vt:lpstr>
      <vt:lpstr>Concept of Rationality</vt:lpstr>
      <vt:lpstr>Rational agent…</vt:lpstr>
      <vt:lpstr>Rationality…</vt:lpstr>
      <vt:lpstr>Rationality</vt:lpstr>
      <vt:lpstr>PAGE Descriptors vs. PEAS Descriptors</vt:lpstr>
      <vt:lpstr>Rational agents</vt:lpstr>
      <vt:lpstr>Reactivity</vt:lpstr>
      <vt:lpstr>Proactiveness</vt:lpstr>
      <vt:lpstr>Balancing Reactive and Goal-Oriented Behavior</vt:lpstr>
      <vt:lpstr>Social Ability</vt:lpstr>
      <vt:lpstr>Autonomy</vt:lpstr>
      <vt:lpstr>Examples of agents</vt:lpstr>
      <vt:lpstr>Agent types</vt:lpstr>
      <vt:lpstr>Simple reflex agents</vt:lpstr>
      <vt:lpstr>Model-based reflex agents</vt:lpstr>
      <vt:lpstr>Utility-based agents</vt:lpstr>
      <vt:lpstr>Goal-based agents</vt:lpstr>
      <vt:lpstr>Learning agents</vt:lpstr>
      <vt:lpstr>Simple reflex agents…</vt:lpstr>
      <vt:lpstr>Reflex Agents with State</vt:lpstr>
      <vt:lpstr>Reflex Agents with State…</vt:lpstr>
      <vt:lpstr>PowerPoint Presentation</vt:lpstr>
      <vt:lpstr>Goal-based agents</vt:lpstr>
      <vt:lpstr>Incorporating Goals</vt:lpstr>
      <vt:lpstr>Utility-based agents</vt:lpstr>
      <vt:lpstr>Utility-based agents…</vt:lpstr>
      <vt:lpstr>Incorporating Performance</vt:lpstr>
      <vt:lpstr>Learning Agents…</vt:lpstr>
      <vt:lpstr>Goal Based Agents</vt:lpstr>
      <vt:lpstr>Utility Based Agents</vt:lpstr>
      <vt:lpstr>Machine Learning</vt:lpstr>
      <vt:lpstr>Learning Agents</vt:lpstr>
      <vt:lpstr>The Agent Environments</vt:lpstr>
      <vt:lpstr>PowerPoint Presentation</vt:lpstr>
      <vt:lpstr>How to design an intelligent agent?</vt:lpstr>
      <vt:lpstr>Properties of environments</vt:lpstr>
      <vt:lpstr>Properties of environments …</vt:lpstr>
      <vt:lpstr>Type of environment </vt:lpstr>
      <vt:lpstr>Accessible vs. inaccessible</vt:lpstr>
      <vt:lpstr>Deterministic vs. non-deterministic</vt:lpstr>
      <vt:lpstr>Episodic vs. non-episodic</vt:lpstr>
      <vt:lpstr>Static vs. dynamic</vt:lpstr>
      <vt:lpstr>Discrete vs. continuous</vt:lpstr>
      <vt:lpstr>Foundations of AI</vt:lpstr>
      <vt:lpstr>Learning Agents</vt:lpstr>
      <vt:lpstr>Software Agents</vt:lpstr>
      <vt:lpstr>Properties of task environments…</vt:lpstr>
      <vt:lpstr>Properties of task environments…</vt:lpstr>
      <vt:lpstr>Examples of task environments…</vt:lpstr>
      <vt:lpstr>Summary: agent types</vt:lpstr>
      <vt:lpstr>Summary</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Mandla Mbasane</dc:creator>
  <cp:lastModifiedBy>Mhlanga, Thamie</cp:lastModifiedBy>
  <cp:revision>6</cp:revision>
  <dcterms:created xsi:type="dcterms:W3CDTF">2024-02-17T18:06:32Z</dcterms:created>
  <dcterms:modified xsi:type="dcterms:W3CDTF">2026-02-21T12:11:22Z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2021-05-23T00:00:00Z</vt:filetime>
  </property>
  <property fmtid="{D5CDD505-2E9C-101B-9397-08002B2CF9AE}" pid="3" name="Creator">
    <vt:lpwstr>Acrobat PDFMaker 15 for PowerPoint</vt:lpwstr>
  </property>
  <property fmtid="{D5CDD505-2E9C-101B-9397-08002B2CF9AE}" pid="4" name="LastSaved">
    <vt:filetime>2024-02-17T00:00:00Z</vt:filetime>
  </property>
  <property fmtid="{D5CDD505-2E9C-101B-9397-08002B2CF9AE}" pid="5" name="Producer">
    <vt:lpwstr>Adobe PDF Library 15.0</vt:lpwstr>
  </property>
  <property fmtid="{D5CDD505-2E9C-101B-9397-08002B2CF9AE}" pid="6" name="MSIP_Label_ad03699a-af8b-4ab4-b573-ab42382494ec_Enabled">
    <vt:lpwstr>true</vt:lpwstr>
  </property>
  <property fmtid="{D5CDD505-2E9C-101B-9397-08002B2CF9AE}" pid="7" name="MSIP_Label_ad03699a-af8b-4ab4-b573-ab42382494ec_SetDate">
    <vt:lpwstr>2026-02-21T09:38:22Z</vt:lpwstr>
  </property>
  <property fmtid="{D5CDD505-2E9C-101B-9397-08002B2CF9AE}" pid="8" name="MSIP_Label_ad03699a-af8b-4ab4-b573-ab42382494ec_Method">
    <vt:lpwstr>Privileged</vt:lpwstr>
  </property>
  <property fmtid="{D5CDD505-2E9C-101B-9397-08002B2CF9AE}" pid="9" name="MSIP_Label_ad03699a-af8b-4ab4-b573-ab42382494ec_Name">
    <vt:lpwstr>Sensitive</vt:lpwstr>
  </property>
  <property fmtid="{D5CDD505-2E9C-101B-9397-08002B2CF9AE}" pid="10" name="MSIP_Label_ad03699a-af8b-4ab4-b573-ab42382494ec_SiteId">
    <vt:lpwstr>fa785acd-36ef-41bc-8a94-89841327e045</vt:lpwstr>
  </property>
  <property fmtid="{D5CDD505-2E9C-101B-9397-08002B2CF9AE}" pid="11" name="MSIP_Label_ad03699a-af8b-4ab4-b573-ab42382494ec_ActionId">
    <vt:lpwstr>126c181c-b467-45e2-bbe7-22c0905bafe5</vt:lpwstr>
  </property>
  <property fmtid="{D5CDD505-2E9C-101B-9397-08002B2CF9AE}" pid="12" name="MSIP_Label_ad03699a-af8b-4ab4-b573-ab42382494ec_ContentBits">
    <vt:lpwstr>0</vt:lpwstr>
  </property>
  <property fmtid="{D5CDD505-2E9C-101B-9397-08002B2CF9AE}" pid="13" name="MSIP_Label_ad03699a-af8b-4ab4-b573-ab42382494ec_Tag">
    <vt:lpwstr>10, 0, 1, 1</vt:lpwstr>
  </property>
</Properties>
</file>